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0" r:id="rId2"/>
    <p:sldId id="299" r:id="rId3"/>
    <p:sldId id="257" r:id="rId4"/>
    <p:sldId id="279" r:id="rId5"/>
    <p:sldId id="277" r:id="rId6"/>
    <p:sldId id="260" r:id="rId7"/>
    <p:sldId id="283" r:id="rId8"/>
    <p:sldId id="284" r:id="rId9"/>
    <p:sldId id="285" r:id="rId10"/>
    <p:sldId id="274" r:id="rId11"/>
    <p:sldId id="286" r:id="rId12"/>
    <p:sldId id="278" r:id="rId13"/>
    <p:sldId id="282" r:id="rId14"/>
    <p:sldId id="265" r:id="rId15"/>
    <p:sldId id="266" r:id="rId16"/>
    <p:sldId id="290" r:id="rId17"/>
    <p:sldId id="289" r:id="rId18"/>
    <p:sldId id="287" r:id="rId19"/>
    <p:sldId id="288" r:id="rId20"/>
    <p:sldId id="268" r:id="rId21"/>
    <p:sldId id="256" r:id="rId22"/>
    <p:sldId id="281" r:id="rId23"/>
    <p:sldId id="298" r:id="rId24"/>
    <p:sldId id="291" r:id="rId25"/>
    <p:sldId id="292" r:id="rId26"/>
    <p:sldId id="293" r:id="rId27"/>
    <p:sldId id="294" r:id="rId28"/>
    <p:sldId id="295" r:id="rId29"/>
    <p:sldId id="296" r:id="rId30"/>
    <p:sldId id="297" r:id="rId31"/>
    <p:sldId id="273"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DAAAAA4-54A2-8D4D-5D26-83A18468B59F}">
          <p14:sldIdLst>
            <p14:sldId id="280"/>
            <p14:sldId id="299"/>
          </p14:sldIdLst>
        </p14:section>
        <p14:section name="Introduction" id="{EBE703CF-FDBB-8626-B8E0-FE19990A6D40}">
          <p14:sldIdLst>
            <p14:sldId id="257"/>
            <p14:sldId id="279"/>
          </p14:sldIdLst>
        </p14:section>
        <p14:section name="Preliminary" id="{0DB47C3A-8CF0-D18B-7091-F1A4368053BD}">
          <p14:sldIdLst>
            <p14:sldId id="277"/>
          </p14:sldIdLst>
        </p14:section>
        <p14:section name="Data" id="{E35D85C3-8549-71C1-6FDA-E04E853B87A8}">
          <p14:sldIdLst>
            <p14:sldId id="260"/>
            <p14:sldId id="283"/>
            <p14:sldId id="284"/>
          </p14:sldIdLst>
        </p14:section>
        <p14:section name="Proposed Method" id="{F39D3B4C-4BE8-F116-0CC0-D78230FC566E}">
          <p14:sldIdLst>
            <p14:sldId id="285"/>
            <p14:sldId id="274"/>
            <p14:sldId id="286"/>
            <p14:sldId id="278"/>
            <p14:sldId id="282"/>
          </p14:sldIdLst>
        </p14:section>
        <p14:section name="Experiments" id="{6397A79A-CF66-CB43-B7B0-1F0BD1E43080}">
          <p14:sldIdLst>
            <p14:sldId id="265"/>
            <p14:sldId id="266"/>
            <p14:sldId id="290"/>
            <p14:sldId id="289"/>
            <p14:sldId id="287"/>
            <p14:sldId id="288"/>
            <p14:sldId id="268"/>
          </p14:sldIdLst>
        </p14:section>
        <p14:section name="Application" id="{BCE5CCFE-AF61-CC28-A699-CF633EEFC4B4}">
          <p14:sldIdLst>
            <p14:sldId id="256"/>
            <p14:sldId id="281"/>
            <p14:sldId id="298"/>
          </p14:sldIdLst>
        </p14:section>
        <p14:section name="어펜딕스" id="{30242CAB-8E5B-2A42-606F-C0127827CFD5}">
          <p14:sldIdLst>
            <p14:sldId id="291"/>
            <p14:sldId id="292"/>
            <p14:sldId id="293"/>
            <p14:sldId id="294"/>
            <p14:sldId id="295"/>
            <p14:sldId id="296"/>
            <p14:sldId id="297"/>
          </p14:sldIdLst>
        </p14:section>
        <p14:section name="References" id="{E3B59855-9A71-989C-7025-46022F9D70B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262626"/>
                </a:solidFill>
                <a:latin typeface="+mn-lt"/>
              </a:defRPr>
            </a:pPr>
            <a:r>
              <a:rPr lang="ko-KR" altLang="en-US" sz="1200" b="0" i="0" u="none" strike="noStrike" dirty="0">
                <a:solidFill>
                  <a:srgbClr val="262626"/>
                </a:solidFill>
                <a:latin typeface="+mn-lt"/>
              </a:rPr>
              <a:t>진동 채널 </a:t>
            </a:r>
            <a:r>
              <a:rPr lang="en-US" altLang="ko-KR" sz="1200" b="0" i="0" u="none" strike="noStrike" dirty="0">
                <a:solidFill>
                  <a:srgbClr val="262626"/>
                </a:solidFill>
                <a:latin typeface="+mn-lt"/>
              </a:rPr>
              <a:t>0</a:t>
            </a:r>
            <a:r>
              <a:rPr lang="en-US" altLang="ko-KR" sz="1200" b="0" i="0" u="none" strike="noStrike" baseline="0" dirty="0">
                <a:solidFill>
                  <a:srgbClr val="262626"/>
                </a:solidFill>
                <a:latin typeface="+mn-lt"/>
              </a:rPr>
              <a:t> : v0</a:t>
            </a:r>
            <a:endParaRPr lang="en-US" altLang="ko-KR" sz="1200" b="0" i="0" u="none" strike="noStrike" dirty="0">
              <a:solidFill>
                <a:srgbClr val="262626"/>
              </a:solidFill>
              <a:latin typeface="+mn-lt"/>
            </a:endParaRPr>
          </a:p>
        </c:rich>
      </c:tx>
      <c:overlay val="0"/>
    </c:title>
    <c:autoTitleDeleted val="0"/>
    <c:plotArea>
      <c:layout/>
      <c:lineChart>
        <c:grouping val="standard"/>
        <c:varyColors val="0"/>
        <c:ser>
          <c:idx val="0"/>
          <c:order val="0"/>
          <c:tx>
            <c:strRef>
              <c:f>Sheet1!$B$1</c:f>
              <c:strCache>
                <c:ptCount val="1"/>
                <c:pt idx="0">
                  <c:v>정상</c:v>
                </c:pt>
              </c:strCache>
            </c:strRef>
          </c:tx>
          <c:spPr>
            <a:ln w="19050" cap="flat">
              <a:solidFill>
                <a:srgbClr val="1F4E79"/>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Sheet1!$B$2:$B$51</c:f>
              <c:numCache>
                <c:formatCode>General</c:formatCode>
                <c:ptCount val="50"/>
                <c:pt idx="0">
                  <c:v>7.5399999999999995E-2</c:v>
                </c:pt>
                <c:pt idx="1">
                  <c:v>-3.6299999999999999E-2</c:v>
                </c:pt>
                <c:pt idx="2">
                  <c:v>-4.8500000000000001E-2</c:v>
                </c:pt>
                <c:pt idx="3">
                  <c:v>6.4399999999999999E-2</c:v>
                </c:pt>
                <c:pt idx="4">
                  <c:v>-7.2700000000000001E-2</c:v>
                </c:pt>
                <c:pt idx="5">
                  <c:v>1E-4</c:v>
                </c:pt>
                <c:pt idx="6">
                  <c:v>5.0900000000000001E-2</c:v>
                </c:pt>
                <c:pt idx="7">
                  <c:v>-4.7300000000000002E-2</c:v>
                </c:pt>
                <c:pt idx="8">
                  <c:v>7.6600000000000001E-2</c:v>
                </c:pt>
                <c:pt idx="9">
                  <c:v>2.4199999999999999E-2</c:v>
                </c:pt>
                <c:pt idx="10">
                  <c:v>-6.0400000000000002E-2</c:v>
                </c:pt>
                <c:pt idx="11">
                  <c:v>1.43E-2</c:v>
                </c:pt>
                <c:pt idx="12">
                  <c:v>-4.7800000000000002E-2</c:v>
                </c:pt>
                <c:pt idx="13">
                  <c:v>-3.1099999999999999E-2</c:v>
                </c:pt>
                <c:pt idx="14">
                  <c:v>0.1056</c:v>
                </c:pt>
                <c:pt idx="15">
                  <c:v>2.5999999999999999E-3</c:v>
                </c:pt>
                <c:pt idx="16">
                  <c:v>-2.6499999999999999E-2</c:v>
                </c:pt>
                <c:pt idx="17">
                  <c:v>1.44E-2</c:v>
                </c:pt>
                <c:pt idx="18">
                  <c:v>-8.43E-2</c:v>
                </c:pt>
                <c:pt idx="19">
                  <c:v>3.2199999999999999E-2</c:v>
                </c:pt>
                <c:pt idx="20">
                  <c:v>6.0499999999999998E-2</c:v>
                </c:pt>
                <c:pt idx="21">
                  <c:v>-3.2300000000000002E-2</c:v>
                </c:pt>
                <c:pt idx="22">
                  <c:v>4.6399999999999997E-2</c:v>
                </c:pt>
                <c:pt idx="23">
                  <c:v>-1.6199999999999999E-2</c:v>
                </c:pt>
                <c:pt idx="24">
                  <c:v>-7.0999999999999994E-2</c:v>
                </c:pt>
                <c:pt idx="25">
                  <c:v>4.5999999999999999E-2</c:v>
                </c:pt>
                <c:pt idx="26">
                  <c:v>-3.5000000000000001E-3</c:v>
                </c:pt>
                <c:pt idx="27">
                  <c:v>-1.52E-2</c:v>
                </c:pt>
                <c:pt idx="28">
                  <c:v>5.6800000000000003E-2</c:v>
                </c:pt>
                <c:pt idx="29">
                  <c:v>-2.7699999999999999E-2</c:v>
                </c:pt>
                <c:pt idx="30">
                  <c:v>-1.1599999999999999E-2</c:v>
                </c:pt>
                <c:pt idx="31">
                  <c:v>2.3099999999999999E-2</c:v>
                </c:pt>
                <c:pt idx="32">
                  <c:v>-5.91E-2</c:v>
                </c:pt>
                <c:pt idx="33">
                  <c:v>-4.0000000000000002E-4</c:v>
                </c:pt>
                <c:pt idx="34">
                  <c:v>5.1799999999999999E-2</c:v>
                </c:pt>
                <c:pt idx="35">
                  <c:v>-2.35E-2</c:v>
                </c:pt>
                <c:pt idx="36">
                  <c:v>4.5900000000000003E-2</c:v>
                </c:pt>
                <c:pt idx="37">
                  <c:v>-1.1900000000000001E-2</c:v>
                </c:pt>
                <c:pt idx="38">
                  <c:v>-9.6299999999999997E-2</c:v>
                </c:pt>
                <c:pt idx="39">
                  <c:v>4.8099999999999997E-2</c:v>
                </c:pt>
                <c:pt idx="40">
                  <c:v>-1.7999999999999999E-2</c:v>
                </c:pt>
                <c:pt idx="41">
                  <c:v>-6.1000000000000004E-3</c:v>
                </c:pt>
                <c:pt idx="42">
                  <c:v>6.0400000000000002E-2</c:v>
                </c:pt>
                <c:pt idx="43">
                  <c:v>-5.9299999999999999E-2</c:v>
                </c:pt>
                <c:pt idx="44">
                  <c:v>1.8800000000000001E-2</c:v>
                </c:pt>
                <c:pt idx="45">
                  <c:v>1.9099999999999999E-2</c:v>
                </c:pt>
                <c:pt idx="46">
                  <c:v>-6.3799999999999996E-2</c:v>
                </c:pt>
                <c:pt idx="47">
                  <c:v>5.5899999999999998E-2</c:v>
                </c:pt>
                <c:pt idx="48">
                  <c:v>9.1000000000000004E-3</c:v>
                </c:pt>
                <c:pt idx="49">
                  <c:v>-3.2099999999999997E-2</c:v>
                </c:pt>
              </c:numCache>
            </c:numRef>
          </c:val>
          <c:smooth val="0"/>
          <c:extLst>
            <c:ext xmlns:c16="http://schemas.microsoft.com/office/drawing/2014/chart" uri="{C3380CC4-5D6E-409C-BE32-E72D297353CC}">
              <c16:uniqueId val="{00000000-492F-4AF8-8A79-28A482DC1BD3}"/>
            </c:ext>
          </c:extLst>
        </c:ser>
        <c:ser>
          <c:idx val="1"/>
          <c:order val="1"/>
          <c:tx>
            <c:strRef>
              <c:f>Sheet1!$C$1</c:f>
              <c:strCache>
                <c:ptCount val="1"/>
                <c:pt idx="0">
                  <c:v>이상</c:v>
                </c:pt>
              </c:strCache>
            </c:strRef>
          </c:tx>
          <c:spPr>
            <a:ln w="19050" cap="flat">
              <a:solidFill>
                <a:srgbClr val="C00000"/>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Sheet1!$C$2:$C$51</c:f>
              <c:numCache>
                <c:formatCode>General</c:formatCode>
                <c:ptCount val="50"/>
                <c:pt idx="0">
                  <c:v>0.3155</c:v>
                </c:pt>
                <c:pt idx="1">
                  <c:v>-0.30299999999999999</c:v>
                </c:pt>
                <c:pt idx="2">
                  <c:v>-0.20849999999999999</c:v>
                </c:pt>
                <c:pt idx="3">
                  <c:v>-0.1033</c:v>
                </c:pt>
                <c:pt idx="4">
                  <c:v>-3.0000000000000001E-3</c:v>
                </c:pt>
                <c:pt idx="5">
                  <c:v>-3.4700000000000002E-2</c:v>
                </c:pt>
                <c:pt idx="6">
                  <c:v>0.1022</c:v>
                </c:pt>
                <c:pt idx="7">
                  <c:v>-0.25180000000000002</c:v>
                </c:pt>
                <c:pt idx="8">
                  <c:v>-0.72070000000000001</c:v>
                </c:pt>
                <c:pt idx="9">
                  <c:v>-1.0084</c:v>
                </c:pt>
                <c:pt idx="10">
                  <c:v>-0.55159999999999998</c:v>
                </c:pt>
                <c:pt idx="11">
                  <c:v>5.62E-2</c:v>
                </c:pt>
                <c:pt idx="12">
                  <c:v>0.77669999999999995</c:v>
                </c:pt>
                <c:pt idx="13">
                  <c:v>1.0141</c:v>
                </c:pt>
                <c:pt idx="14">
                  <c:v>0.66569999999999996</c:v>
                </c:pt>
                <c:pt idx="15">
                  <c:v>0.1429</c:v>
                </c:pt>
                <c:pt idx="16">
                  <c:v>-0.35210000000000002</c:v>
                </c:pt>
                <c:pt idx="17">
                  <c:v>-0.78300000000000003</c:v>
                </c:pt>
                <c:pt idx="18">
                  <c:v>-0.74280000000000002</c:v>
                </c:pt>
                <c:pt idx="19">
                  <c:v>-0.38069999999999998</c:v>
                </c:pt>
                <c:pt idx="20">
                  <c:v>0.4496</c:v>
                </c:pt>
                <c:pt idx="21">
                  <c:v>0.9758</c:v>
                </c:pt>
                <c:pt idx="22">
                  <c:v>0.45140000000000002</c:v>
                </c:pt>
                <c:pt idx="23">
                  <c:v>0.5121</c:v>
                </c:pt>
                <c:pt idx="24">
                  <c:v>-0.2984</c:v>
                </c:pt>
                <c:pt idx="25">
                  <c:v>-0.22489999999999999</c:v>
                </c:pt>
                <c:pt idx="26">
                  <c:v>-0.15279999999999999</c:v>
                </c:pt>
                <c:pt idx="27">
                  <c:v>-0.1711</c:v>
                </c:pt>
                <c:pt idx="28">
                  <c:v>8.8700000000000001E-2</c:v>
                </c:pt>
                <c:pt idx="29">
                  <c:v>-2.76E-2</c:v>
                </c:pt>
                <c:pt idx="30">
                  <c:v>2.07E-2</c:v>
                </c:pt>
                <c:pt idx="31">
                  <c:v>1.5800000000000002E-2</c:v>
                </c:pt>
                <c:pt idx="32">
                  <c:v>3.9800000000000002E-2</c:v>
                </c:pt>
                <c:pt idx="33">
                  <c:v>7.1599999999999997E-2</c:v>
                </c:pt>
                <c:pt idx="34">
                  <c:v>6.3500000000000001E-2</c:v>
                </c:pt>
                <c:pt idx="35">
                  <c:v>8.3699999999999997E-2</c:v>
                </c:pt>
                <c:pt idx="36">
                  <c:v>0.1108</c:v>
                </c:pt>
                <c:pt idx="37">
                  <c:v>4.0800000000000003E-2</c:v>
                </c:pt>
                <c:pt idx="38">
                  <c:v>0.1482</c:v>
                </c:pt>
                <c:pt idx="39">
                  <c:v>0.12720000000000001</c:v>
                </c:pt>
                <c:pt idx="40">
                  <c:v>0.1045</c:v>
                </c:pt>
                <c:pt idx="41">
                  <c:v>7.4200000000000002E-2</c:v>
                </c:pt>
                <c:pt idx="42">
                  <c:v>9.2999999999999999E-2</c:v>
                </c:pt>
                <c:pt idx="43">
                  <c:v>9.1600000000000001E-2</c:v>
                </c:pt>
                <c:pt idx="44">
                  <c:v>6.2100000000000002E-2</c:v>
                </c:pt>
                <c:pt idx="45">
                  <c:v>6.6299999999999998E-2</c:v>
                </c:pt>
                <c:pt idx="46">
                  <c:v>4.1399999999999999E-2</c:v>
                </c:pt>
                <c:pt idx="47">
                  <c:v>7.2499999999999995E-2</c:v>
                </c:pt>
                <c:pt idx="48">
                  <c:v>9.4299999999999995E-2</c:v>
                </c:pt>
                <c:pt idx="49">
                  <c:v>0.1075</c:v>
                </c:pt>
              </c:numCache>
            </c:numRef>
          </c:val>
          <c:smooth val="0"/>
          <c:extLst>
            <c:ext xmlns:c16="http://schemas.microsoft.com/office/drawing/2014/chart" uri="{C3380CC4-5D6E-409C-BE32-E72D297353CC}">
              <c16:uniqueId val="{00000001-492F-4AF8-8A79-28A482DC1BD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lblOffset val="100"/>
        <c:tickLblSkip val="10"/>
        <c:noMultiLvlLbl val="1"/>
      </c:catAx>
      <c:valAx>
        <c:axId val="2094734552"/>
        <c:scaling>
          <c:orientation val="minMax"/>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262626"/>
                </a:solidFill>
                <a:latin typeface="+mn-lt"/>
              </a:defRPr>
            </a:pPr>
            <a:r>
              <a:rPr lang="ko-KR" altLang="en-US" sz="1200" b="0" i="0" u="none" strike="noStrike" dirty="0">
                <a:solidFill>
                  <a:srgbClr val="262626"/>
                </a:solidFill>
                <a:latin typeface="+mn-lt"/>
              </a:rPr>
              <a:t>진동 채널 </a:t>
            </a:r>
            <a:r>
              <a:rPr lang="en-US" altLang="ko-KR" sz="1200" b="0" i="0" u="none" strike="noStrike" dirty="0">
                <a:solidFill>
                  <a:srgbClr val="262626"/>
                </a:solidFill>
                <a:latin typeface="+mn-lt"/>
              </a:rPr>
              <a:t>1 : v1</a:t>
            </a:r>
            <a:endParaRPr lang="en-US" altLang="ko-KR" sz="1200" b="1" i="0" u="none" strike="noStrike" dirty="0">
              <a:solidFill>
                <a:srgbClr val="262626"/>
              </a:solidFill>
              <a:latin typeface="+mn-lt"/>
            </a:endParaRPr>
          </a:p>
        </c:rich>
      </c:tx>
      <c:overlay val="0"/>
    </c:title>
    <c:autoTitleDeleted val="0"/>
    <c:plotArea>
      <c:layout/>
      <c:lineChart>
        <c:grouping val="standard"/>
        <c:varyColors val="0"/>
        <c:ser>
          <c:idx val="0"/>
          <c:order val="0"/>
          <c:tx>
            <c:strRef>
              <c:f>Sheet1!$B$1</c:f>
              <c:strCache>
                <c:ptCount val="1"/>
                <c:pt idx="0">
                  <c:v>정상</c:v>
                </c:pt>
              </c:strCache>
            </c:strRef>
          </c:tx>
          <c:spPr>
            <a:ln w="19050" cap="flat">
              <a:solidFill>
                <a:srgbClr val="1F4E79"/>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Sheet1!$B$2:$B$51</c:f>
              <c:numCache>
                <c:formatCode>General</c:formatCode>
                <c:ptCount val="50"/>
                <c:pt idx="0">
                  <c:v>-4.3200000000000002E-2</c:v>
                </c:pt>
                <c:pt idx="1">
                  <c:v>-8.9999999999999998E-4</c:v>
                </c:pt>
                <c:pt idx="2">
                  <c:v>-2.3800000000000002E-2</c:v>
                </c:pt>
                <c:pt idx="3">
                  <c:v>7.9299999999999995E-2</c:v>
                </c:pt>
                <c:pt idx="4">
                  <c:v>6.4000000000000001E-2</c:v>
                </c:pt>
                <c:pt idx="5">
                  <c:v>-3.6700000000000003E-2</c:v>
                </c:pt>
                <c:pt idx="6">
                  <c:v>4.8099999999999997E-2</c:v>
                </c:pt>
                <c:pt idx="7">
                  <c:v>-4.3700000000000003E-2</c:v>
                </c:pt>
                <c:pt idx="8">
                  <c:v>-8.9099999999999999E-2</c:v>
                </c:pt>
                <c:pt idx="9">
                  <c:v>8.4400000000000003E-2</c:v>
                </c:pt>
                <c:pt idx="10">
                  <c:v>-7.1999999999999998E-3</c:v>
                </c:pt>
                <c:pt idx="11">
                  <c:v>-6.4899999999999999E-2</c:v>
                </c:pt>
                <c:pt idx="12">
                  <c:v>1.9900000000000001E-2</c:v>
                </c:pt>
                <c:pt idx="13">
                  <c:v>-4.7399999999999998E-2</c:v>
                </c:pt>
                <c:pt idx="14">
                  <c:v>5.8700000000000002E-2</c:v>
                </c:pt>
                <c:pt idx="15">
                  <c:v>0.1042</c:v>
                </c:pt>
                <c:pt idx="16">
                  <c:v>-7.2599999999999998E-2</c:v>
                </c:pt>
                <c:pt idx="17">
                  <c:v>8.9999999999999998E-4</c:v>
                </c:pt>
                <c:pt idx="18">
                  <c:v>2.8999999999999998E-3</c:v>
                </c:pt>
                <c:pt idx="19">
                  <c:v>-6.0199999999999997E-2</c:v>
                </c:pt>
                <c:pt idx="20">
                  <c:v>7.8200000000000006E-2</c:v>
                </c:pt>
                <c:pt idx="21">
                  <c:v>2.3199999999999998E-2</c:v>
                </c:pt>
                <c:pt idx="22">
                  <c:v>-3.3599999999999998E-2</c:v>
                </c:pt>
                <c:pt idx="23">
                  <c:v>1.9400000000000001E-2</c:v>
                </c:pt>
                <c:pt idx="24">
                  <c:v>-6.3100000000000003E-2</c:v>
                </c:pt>
                <c:pt idx="25">
                  <c:v>9.4000000000000004E-3</c:v>
                </c:pt>
                <c:pt idx="26">
                  <c:v>7.1499999999999994E-2</c:v>
                </c:pt>
                <c:pt idx="27">
                  <c:v>-6.9400000000000003E-2</c:v>
                </c:pt>
                <c:pt idx="28">
                  <c:v>1.67E-2</c:v>
                </c:pt>
                <c:pt idx="29">
                  <c:v>6.25E-2</c:v>
                </c:pt>
                <c:pt idx="30">
                  <c:v>-5.74E-2</c:v>
                </c:pt>
                <c:pt idx="31">
                  <c:v>4.5100000000000001E-2</c:v>
                </c:pt>
                <c:pt idx="32">
                  <c:v>2.9399999999999999E-2</c:v>
                </c:pt>
                <c:pt idx="33">
                  <c:v>-8.5000000000000006E-2</c:v>
                </c:pt>
                <c:pt idx="34">
                  <c:v>-3.5999999999999999E-3</c:v>
                </c:pt>
                <c:pt idx="35">
                  <c:v>-1.6000000000000001E-3</c:v>
                </c:pt>
                <c:pt idx="36">
                  <c:v>3.2000000000000002E-3</c:v>
                </c:pt>
                <c:pt idx="37">
                  <c:v>2.2599999999999999E-2</c:v>
                </c:pt>
                <c:pt idx="38">
                  <c:v>-5.3199999999999997E-2</c:v>
                </c:pt>
                <c:pt idx="39">
                  <c:v>4.9500000000000002E-2</c:v>
                </c:pt>
                <c:pt idx="40">
                  <c:v>4.0500000000000001E-2</c:v>
                </c:pt>
                <c:pt idx="41">
                  <c:v>-9.9199999999999997E-2</c:v>
                </c:pt>
                <c:pt idx="42">
                  <c:v>5.0900000000000001E-2</c:v>
                </c:pt>
                <c:pt idx="43">
                  <c:v>4.9799999999999997E-2</c:v>
                </c:pt>
                <c:pt idx="44">
                  <c:v>-4.87E-2</c:v>
                </c:pt>
                <c:pt idx="45">
                  <c:v>3.5299999999999998E-2</c:v>
                </c:pt>
                <c:pt idx="46">
                  <c:v>-4.2599999999999999E-2</c:v>
                </c:pt>
                <c:pt idx="47">
                  <c:v>-6.3200000000000006E-2</c:v>
                </c:pt>
                <c:pt idx="48">
                  <c:v>4.5900000000000003E-2</c:v>
                </c:pt>
                <c:pt idx="49">
                  <c:v>-5.3E-3</c:v>
                </c:pt>
              </c:numCache>
            </c:numRef>
          </c:val>
          <c:smooth val="0"/>
          <c:extLst>
            <c:ext xmlns:c16="http://schemas.microsoft.com/office/drawing/2014/chart" uri="{C3380CC4-5D6E-409C-BE32-E72D297353CC}">
              <c16:uniqueId val="{00000000-F49C-427A-B282-3516EC771D72}"/>
            </c:ext>
          </c:extLst>
        </c:ser>
        <c:ser>
          <c:idx val="1"/>
          <c:order val="1"/>
          <c:tx>
            <c:strRef>
              <c:f>Sheet1!$C$1</c:f>
              <c:strCache>
                <c:ptCount val="1"/>
                <c:pt idx="0">
                  <c:v>이상</c:v>
                </c:pt>
              </c:strCache>
            </c:strRef>
          </c:tx>
          <c:spPr>
            <a:ln w="19050" cap="flat">
              <a:solidFill>
                <a:srgbClr val="C00000"/>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Sheet1!$C$2:$C$51</c:f>
              <c:numCache>
                <c:formatCode>General</c:formatCode>
                <c:ptCount val="50"/>
                <c:pt idx="0">
                  <c:v>0.20530000000000001</c:v>
                </c:pt>
                <c:pt idx="1">
                  <c:v>0.30919999999999997</c:v>
                </c:pt>
                <c:pt idx="2">
                  <c:v>0.2472</c:v>
                </c:pt>
                <c:pt idx="3">
                  <c:v>0.25259999999999999</c:v>
                </c:pt>
                <c:pt idx="4">
                  <c:v>0.26229999999999998</c:v>
                </c:pt>
                <c:pt idx="5">
                  <c:v>0.1633</c:v>
                </c:pt>
                <c:pt idx="6">
                  <c:v>0.18940000000000001</c:v>
                </c:pt>
                <c:pt idx="7">
                  <c:v>6.2E-2</c:v>
                </c:pt>
                <c:pt idx="8">
                  <c:v>0.18659999999999999</c:v>
                </c:pt>
                <c:pt idx="9">
                  <c:v>0.18379999999999999</c:v>
                </c:pt>
                <c:pt idx="10">
                  <c:v>-3.0499999999999999E-2</c:v>
                </c:pt>
                <c:pt idx="11">
                  <c:v>-0.41099999999999998</c:v>
                </c:pt>
                <c:pt idx="12">
                  <c:v>-0.63460000000000005</c:v>
                </c:pt>
                <c:pt idx="13">
                  <c:v>-0.27729999999999999</c:v>
                </c:pt>
                <c:pt idx="14">
                  <c:v>0.22639999999999999</c:v>
                </c:pt>
                <c:pt idx="15">
                  <c:v>0.35289999999999999</c:v>
                </c:pt>
                <c:pt idx="16">
                  <c:v>0.2717</c:v>
                </c:pt>
                <c:pt idx="17">
                  <c:v>0.27739999999999998</c:v>
                </c:pt>
                <c:pt idx="18">
                  <c:v>0.2535</c:v>
                </c:pt>
                <c:pt idx="19">
                  <c:v>-0.28539999999999999</c:v>
                </c:pt>
                <c:pt idx="20">
                  <c:v>-0.61829999999999996</c:v>
                </c:pt>
                <c:pt idx="21">
                  <c:v>-0.31240000000000001</c:v>
                </c:pt>
                <c:pt idx="22">
                  <c:v>0.37490000000000001</c:v>
                </c:pt>
                <c:pt idx="23">
                  <c:v>-0.44269999999999998</c:v>
                </c:pt>
                <c:pt idx="24">
                  <c:v>-3.2899999999999999E-2</c:v>
                </c:pt>
                <c:pt idx="25">
                  <c:v>-5.4199999999999998E-2</c:v>
                </c:pt>
                <c:pt idx="26">
                  <c:v>-7.0300000000000001E-2</c:v>
                </c:pt>
                <c:pt idx="27">
                  <c:v>2.9100000000000001E-2</c:v>
                </c:pt>
                <c:pt idx="28">
                  <c:v>0.21629999999999999</c:v>
                </c:pt>
                <c:pt idx="29">
                  <c:v>0.26119999999999999</c:v>
                </c:pt>
                <c:pt idx="30">
                  <c:v>0.26979999999999998</c:v>
                </c:pt>
                <c:pt idx="31">
                  <c:v>0.27910000000000001</c:v>
                </c:pt>
                <c:pt idx="32">
                  <c:v>0.25950000000000001</c:v>
                </c:pt>
                <c:pt idx="33">
                  <c:v>0.21959999999999999</c:v>
                </c:pt>
                <c:pt idx="34">
                  <c:v>0.2437</c:v>
                </c:pt>
                <c:pt idx="35">
                  <c:v>-0.1759</c:v>
                </c:pt>
                <c:pt idx="36">
                  <c:v>-0.183</c:v>
                </c:pt>
                <c:pt idx="37">
                  <c:v>-9.7299999999999998E-2</c:v>
                </c:pt>
                <c:pt idx="38">
                  <c:v>-0.16969999999999999</c:v>
                </c:pt>
                <c:pt idx="39">
                  <c:v>-0.17330000000000001</c:v>
                </c:pt>
                <c:pt idx="40">
                  <c:v>-0.13159999999999999</c:v>
                </c:pt>
                <c:pt idx="41">
                  <c:v>-0.128</c:v>
                </c:pt>
                <c:pt idx="42">
                  <c:v>-0.16839999999999999</c:v>
                </c:pt>
                <c:pt idx="43">
                  <c:v>-0.14829999999999999</c:v>
                </c:pt>
                <c:pt idx="44">
                  <c:v>-0.16539999999999999</c:v>
                </c:pt>
                <c:pt idx="45">
                  <c:v>-0.1502</c:v>
                </c:pt>
                <c:pt idx="46">
                  <c:v>-0.1401</c:v>
                </c:pt>
                <c:pt idx="47">
                  <c:v>-0.13639999999999999</c:v>
                </c:pt>
                <c:pt idx="48">
                  <c:v>-0.13320000000000001</c:v>
                </c:pt>
                <c:pt idx="49">
                  <c:v>-0.15579999999999999</c:v>
                </c:pt>
              </c:numCache>
            </c:numRef>
          </c:val>
          <c:smooth val="0"/>
          <c:extLst>
            <c:ext xmlns:c16="http://schemas.microsoft.com/office/drawing/2014/chart" uri="{C3380CC4-5D6E-409C-BE32-E72D297353CC}">
              <c16:uniqueId val="{00000001-F49C-427A-B282-3516EC771D7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lblOffset val="100"/>
        <c:tickLblSkip val="10"/>
        <c:noMultiLvlLbl val="1"/>
      </c:catAx>
      <c:valAx>
        <c:axId val="2094734552"/>
        <c:scaling>
          <c:orientation val="minMax"/>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262626"/>
                </a:solidFill>
                <a:latin typeface="+mn-lt"/>
              </a:defRPr>
            </a:pPr>
            <a:r>
              <a:rPr lang="ko-KR" altLang="en-US" sz="1200" b="0" i="0" u="none" strike="noStrike" dirty="0">
                <a:solidFill>
                  <a:srgbClr val="262626"/>
                </a:solidFill>
                <a:latin typeface="+mn-lt"/>
              </a:rPr>
              <a:t>전류</a:t>
            </a:r>
            <a:r>
              <a:rPr lang="en-US" altLang="ko-KR" sz="1200" b="0" i="0" u="none" strike="noStrike" baseline="0" dirty="0">
                <a:solidFill>
                  <a:srgbClr val="262626"/>
                </a:solidFill>
                <a:latin typeface="+mn-lt"/>
              </a:rPr>
              <a:t> : c</a:t>
            </a:r>
            <a:endParaRPr lang="ko-KR" altLang="en-US" sz="1200" b="0" i="0" u="none" strike="noStrike" dirty="0">
              <a:solidFill>
                <a:srgbClr val="262626"/>
              </a:solidFill>
              <a:latin typeface="+mn-lt"/>
            </a:endParaRPr>
          </a:p>
        </c:rich>
      </c:tx>
      <c:overlay val="0"/>
    </c:title>
    <c:autoTitleDeleted val="0"/>
    <c:plotArea>
      <c:layout/>
      <c:lineChart>
        <c:grouping val="standard"/>
        <c:varyColors val="0"/>
        <c:ser>
          <c:idx val="0"/>
          <c:order val="0"/>
          <c:tx>
            <c:strRef>
              <c:f>Sheet1!$B$1</c:f>
              <c:strCache>
                <c:ptCount val="1"/>
                <c:pt idx="0">
                  <c:v>정상</c:v>
                </c:pt>
              </c:strCache>
            </c:strRef>
          </c:tx>
          <c:spPr>
            <a:ln w="19050" cap="flat">
              <a:solidFill>
                <a:srgbClr val="1F4E79"/>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Sheet1!$B$2:$B$51</c:f>
              <c:numCache>
                <c:formatCode>General</c:formatCode>
                <c:ptCount val="50"/>
                <c:pt idx="0">
                  <c:v>93.188299999999998</c:v>
                </c:pt>
                <c:pt idx="1">
                  <c:v>110.57859999999999</c:v>
                </c:pt>
                <c:pt idx="2">
                  <c:v>115.7028</c:v>
                </c:pt>
                <c:pt idx="3">
                  <c:v>107.2852</c:v>
                </c:pt>
                <c:pt idx="4">
                  <c:v>90.485900000000001</c:v>
                </c:pt>
                <c:pt idx="5">
                  <c:v>62.677300000000002</c:v>
                </c:pt>
                <c:pt idx="6">
                  <c:v>21.901700000000002</c:v>
                </c:pt>
                <c:pt idx="7">
                  <c:v>-28.827200000000001</c:v>
                </c:pt>
                <c:pt idx="8">
                  <c:v>-80.61</c:v>
                </c:pt>
                <c:pt idx="9">
                  <c:v>-105.8043</c:v>
                </c:pt>
                <c:pt idx="10">
                  <c:v>-113.9894</c:v>
                </c:pt>
                <c:pt idx="11">
                  <c:v>-110.7397</c:v>
                </c:pt>
                <c:pt idx="12">
                  <c:v>-95.841899999999995</c:v>
                </c:pt>
                <c:pt idx="13">
                  <c:v>-72.703999999999994</c:v>
                </c:pt>
                <c:pt idx="14">
                  <c:v>-35.184899999999999</c:v>
                </c:pt>
                <c:pt idx="15">
                  <c:v>12.2836</c:v>
                </c:pt>
                <c:pt idx="16">
                  <c:v>66.892899999999997</c:v>
                </c:pt>
                <c:pt idx="17">
                  <c:v>101.6661</c:v>
                </c:pt>
                <c:pt idx="18">
                  <c:v>113.291</c:v>
                </c:pt>
                <c:pt idx="19">
                  <c:v>114.4376</c:v>
                </c:pt>
                <c:pt idx="20">
                  <c:v>102.0553</c:v>
                </c:pt>
                <c:pt idx="21">
                  <c:v>82.62</c:v>
                </c:pt>
                <c:pt idx="22">
                  <c:v>49.487000000000002</c:v>
                </c:pt>
                <c:pt idx="23">
                  <c:v>5.5559000000000003</c:v>
                </c:pt>
                <c:pt idx="24">
                  <c:v>-48.241399999999999</c:v>
                </c:pt>
                <c:pt idx="25">
                  <c:v>-92.762699999999995</c:v>
                </c:pt>
                <c:pt idx="26">
                  <c:v>-109.6127</c:v>
                </c:pt>
                <c:pt idx="27">
                  <c:v>-114.7334</c:v>
                </c:pt>
                <c:pt idx="28">
                  <c:v>-106.4808</c:v>
                </c:pt>
                <c:pt idx="29">
                  <c:v>-89.249399999999994</c:v>
                </c:pt>
                <c:pt idx="30">
                  <c:v>-61.199300000000001</c:v>
                </c:pt>
                <c:pt idx="31">
                  <c:v>-20.102699999999999</c:v>
                </c:pt>
                <c:pt idx="32">
                  <c:v>30.933499999999999</c:v>
                </c:pt>
                <c:pt idx="33">
                  <c:v>82.318299999999994</c:v>
                </c:pt>
                <c:pt idx="34">
                  <c:v>107.2534</c:v>
                </c:pt>
                <c:pt idx="35">
                  <c:v>115.3193</c:v>
                </c:pt>
                <c:pt idx="36">
                  <c:v>111.584</c:v>
                </c:pt>
                <c:pt idx="37">
                  <c:v>96.652000000000001</c:v>
                </c:pt>
                <c:pt idx="38">
                  <c:v>73.567999999999998</c:v>
                </c:pt>
                <c:pt idx="39">
                  <c:v>35.942300000000003</c:v>
                </c:pt>
                <c:pt idx="40">
                  <c:v>-11.290900000000001</c:v>
                </c:pt>
                <c:pt idx="41">
                  <c:v>-65.902500000000003</c:v>
                </c:pt>
                <c:pt idx="42">
                  <c:v>-100.786</c:v>
                </c:pt>
                <c:pt idx="43">
                  <c:v>-112.3147</c:v>
                </c:pt>
                <c:pt idx="44">
                  <c:v>-113.6315</c:v>
                </c:pt>
                <c:pt idx="45">
                  <c:v>-101.44759999999999</c:v>
                </c:pt>
                <c:pt idx="46">
                  <c:v>-81.958200000000005</c:v>
                </c:pt>
                <c:pt idx="47">
                  <c:v>-49.083599999999997</c:v>
                </c:pt>
                <c:pt idx="48">
                  <c:v>-5.0479000000000003</c:v>
                </c:pt>
                <c:pt idx="49">
                  <c:v>49.124400000000001</c:v>
                </c:pt>
              </c:numCache>
            </c:numRef>
          </c:val>
          <c:smooth val="0"/>
          <c:extLst>
            <c:ext xmlns:c16="http://schemas.microsoft.com/office/drawing/2014/chart" uri="{C3380CC4-5D6E-409C-BE32-E72D297353CC}">
              <c16:uniqueId val="{00000000-14D0-4D1B-9638-F519A3270468}"/>
            </c:ext>
          </c:extLst>
        </c:ser>
        <c:ser>
          <c:idx val="1"/>
          <c:order val="1"/>
          <c:tx>
            <c:strRef>
              <c:f>Sheet1!$C$1</c:f>
              <c:strCache>
                <c:ptCount val="1"/>
                <c:pt idx="0">
                  <c:v>이상</c:v>
                </c:pt>
              </c:strCache>
            </c:strRef>
          </c:tx>
          <c:spPr>
            <a:ln w="19050" cap="flat">
              <a:solidFill>
                <a:srgbClr val="C00000"/>
              </a:solidFill>
              <a:prstDash val="solid"/>
              <a:round/>
            </a:ln>
            <a:effectLst/>
          </c:spPr>
          <c:marker>
            <c:symbol val="none"/>
          </c:marker>
          <c:cat>
            <c:strRef>
              <c:f>Sheet1!$A$2:$A$51</c:f>
              <c:strCache>
                <c:ptCount val="50"/>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strCache>
            </c:strRef>
          </c:cat>
          <c:val>
            <c:numRef>
              <c:f>Sheet1!$C$2:$C$51</c:f>
              <c:numCache>
                <c:formatCode>General</c:formatCode>
                <c:ptCount val="50"/>
                <c:pt idx="0">
                  <c:v>34.570700000000002</c:v>
                </c:pt>
                <c:pt idx="1">
                  <c:v>70.333500000000001</c:v>
                </c:pt>
                <c:pt idx="2">
                  <c:v>151.39580000000001</c:v>
                </c:pt>
                <c:pt idx="3">
                  <c:v>147.81950000000001</c:v>
                </c:pt>
                <c:pt idx="4">
                  <c:v>110.8646</c:v>
                </c:pt>
                <c:pt idx="5">
                  <c:v>32.186500000000002</c:v>
                </c:pt>
                <c:pt idx="6">
                  <c:v>185.9665</c:v>
                </c:pt>
                <c:pt idx="7">
                  <c:v>-107.2884</c:v>
                </c:pt>
                <c:pt idx="8">
                  <c:v>103.71210000000001</c:v>
                </c:pt>
                <c:pt idx="9">
                  <c:v>-59.604700000000001</c:v>
                </c:pt>
                <c:pt idx="10">
                  <c:v>-98.943700000000007</c:v>
                </c:pt>
                <c:pt idx="11">
                  <c:v>-58.412599999999998</c:v>
                </c:pt>
                <c:pt idx="12">
                  <c:v>-41.723300000000002</c:v>
                </c:pt>
                <c:pt idx="13">
                  <c:v>-4.7683999999999997</c:v>
                </c:pt>
                <c:pt idx="14">
                  <c:v>19.073499999999999</c:v>
                </c:pt>
                <c:pt idx="15">
                  <c:v>-10.7288</c:v>
                </c:pt>
                <c:pt idx="16">
                  <c:v>20.265599999999999</c:v>
                </c:pt>
                <c:pt idx="17">
                  <c:v>11.9209</c:v>
                </c:pt>
                <c:pt idx="18">
                  <c:v>-183.5823</c:v>
                </c:pt>
                <c:pt idx="19">
                  <c:v>-141.85910000000001</c:v>
                </c:pt>
                <c:pt idx="20">
                  <c:v>-84.638599999999997</c:v>
                </c:pt>
                <c:pt idx="21">
                  <c:v>-54.836300000000001</c:v>
                </c:pt>
                <c:pt idx="22">
                  <c:v>-183.5823</c:v>
                </c:pt>
                <c:pt idx="23">
                  <c:v>181.19810000000001</c:v>
                </c:pt>
                <c:pt idx="24">
                  <c:v>87.022800000000004</c:v>
                </c:pt>
                <c:pt idx="25">
                  <c:v>25.033999999999999</c:v>
                </c:pt>
                <c:pt idx="26">
                  <c:v>76.293999999999997</c:v>
                </c:pt>
                <c:pt idx="27">
                  <c:v>125.1698</c:v>
                </c:pt>
                <c:pt idx="28">
                  <c:v>95.367400000000004</c:v>
                </c:pt>
                <c:pt idx="29">
                  <c:v>128.74600000000001</c:v>
                </c:pt>
                <c:pt idx="30">
                  <c:v>72.717699999999994</c:v>
                </c:pt>
                <c:pt idx="31">
                  <c:v>95.367400000000004</c:v>
                </c:pt>
                <c:pt idx="32">
                  <c:v>27.418099999999999</c:v>
                </c:pt>
                <c:pt idx="33">
                  <c:v>90.599100000000007</c:v>
                </c:pt>
                <c:pt idx="34">
                  <c:v>47.683700000000002</c:v>
                </c:pt>
                <c:pt idx="35">
                  <c:v>69.141400000000004</c:v>
                </c:pt>
                <c:pt idx="36">
                  <c:v>72.717699999999994</c:v>
                </c:pt>
                <c:pt idx="37">
                  <c:v>119.2093</c:v>
                </c:pt>
                <c:pt idx="38">
                  <c:v>60.796700000000001</c:v>
                </c:pt>
                <c:pt idx="39">
                  <c:v>-7.1525999999999996</c:v>
                </c:pt>
                <c:pt idx="40">
                  <c:v>135.89859999999999</c:v>
                </c:pt>
                <c:pt idx="41">
                  <c:v>85.830699999999993</c:v>
                </c:pt>
                <c:pt idx="42">
                  <c:v>79.870199999999997</c:v>
                </c:pt>
                <c:pt idx="43">
                  <c:v>94.175399999999996</c:v>
                </c:pt>
                <c:pt idx="44">
                  <c:v>67.949299999999994</c:v>
                </c:pt>
                <c:pt idx="45">
                  <c:v>44.107399999999998</c:v>
                </c:pt>
                <c:pt idx="46">
                  <c:v>95.367400000000004</c:v>
                </c:pt>
                <c:pt idx="47">
                  <c:v>132.32230000000001</c:v>
                </c:pt>
                <c:pt idx="48">
                  <c:v>181.19810000000001</c:v>
                </c:pt>
                <c:pt idx="49">
                  <c:v>57.220500000000001</c:v>
                </c:pt>
              </c:numCache>
            </c:numRef>
          </c:val>
          <c:smooth val="0"/>
          <c:extLst>
            <c:ext xmlns:c16="http://schemas.microsoft.com/office/drawing/2014/chart" uri="{C3380CC4-5D6E-409C-BE32-E72D297353CC}">
              <c16:uniqueId val="{00000001-14D0-4D1B-9638-F519A327046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lblOffset val="100"/>
        <c:tickLblSkip val="10"/>
        <c:noMultiLvlLbl val="1"/>
      </c:catAx>
      <c:valAx>
        <c:axId val="2094734552"/>
        <c:scaling>
          <c:orientation val="minMax"/>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262626"/>
                </a:solidFill>
                <a:latin typeface="+mn-lt"/>
              </a:defRPr>
            </a:pPr>
            <a:r>
              <a:rPr lang="en-US" altLang="ko-KR" sz="1200" b="0" i="0" u="none" strike="noStrike">
                <a:solidFill>
                  <a:srgbClr val="262626"/>
                </a:solidFill>
                <a:latin typeface="+mn-lt"/>
              </a:rPr>
              <a:t>clip </a:t>
            </a:r>
            <a:r>
              <a:rPr lang="ko-KR" altLang="en-US" sz="1200" b="0" i="0" u="none" strike="noStrike">
                <a:solidFill>
                  <a:srgbClr val="262626"/>
                </a:solidFill>
                <a:latin typeface="+mn-lt"/>
              </a:rPr>
              <a:t>시작 후 누적 첫 경보율 </a:t>
            </a:r>
            <a:r>
              <a:rPr lang="en-US" altLang="ko-KR" sz="1200" b="0" i="0" u="none" strike="noStrike">
                <a:solidFill>
                  <a:srgbClr val="262626"/>
                </a:solidFill>
                <a:latin typeface="+mn-lt"/>
              </a:rPr>
              <a:t>(%) · seed </a:t>
            </a:r>
            <a:r>
              <a:rPr lang="ko-KR" altLang="en-US" sz="1200" b="0" i="0" u="none" strike="noStrike">
                <a:solidFill>
                  <a:srgbClr val="262626"/>
                </a:solidFill>
                <a:latin typeface="+mn-lt"/>
              </a:rPr>
              <a:t>평균</a:t>
            </a:r>
          </a:p>
        </c:rich>
      </c:tx>
      <c:overlay val="0"/>
    </c:title>
    <c:autoTitleDeleted val="0"/>
    <c:plotArea>
      <c:layout/>
      <c:lineChart>
        <c:grouping val="standard"/>
        <c:varyColors val="0"/>
        <c:ser>
          <c:idx val="0"/>
          <c:order val="0"/>
          <c:tx>
            <c:strRef>
              <c:f>Sheet1!$B$1</c:f>
              <c:strCache>
                <c:ptCount val="1"/>
                <c:pt idx="0">
                  <c:v>3센서</c:v>
                </c:pt>
              </c:strCache>
            </c:strRef>
          </c:tx>
          <c:spPr>
            <a:ln w="25400" cap="flat">
              <a:solidFill>
                <a:srgbClr val="C00000"/>
              </a:solidFill>
              <a:prstDash val="solid"/>
              <a:round/>
            </a:ln>
            <a:effectLst/>
          </c:spPr>
          <c:marker>
            <c:symbol val="none"/>
          </c:marker>
          <c:cat>
            <c:strRef>
              <c:f>Sheet1!$A$2:$A$22</c:f>
              <c:strCache>
                <c:ptCount val="21"/>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52.38095238095239</c:v>
                </c:pt>
                <c:pt idx="1">
                  <c:v>58.73015873015873</c:v>
                </c:pt>
                <c:pt idx="2">
                  <c:v>85.71428571428571</c:v>
                </c:pt>
                <c:pt idx="3">
                  <c:v>95.23809523809523</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numCache>
            </c:numRef>
          </c:val>
          <c:smooth val="0"/>
          <c:extLst>
            <c:ext xmlns:c16="http://schemas.microsoft.com/office/drawing/2014/chart" uri="{C3380CC4-5D6E-409C-BE32-E72D297353CC}">
              <c16:uniqueId val="{00000000-82B8-4A3D-A4FF-82C1B17CFB78}"/>
            </c:ext>
          </c:extLst>
        </c:ser>
        <c:ser>
          <c:idx val="1"/>
          <c:order val="1"/>
          <c:tx>
            <c:strRef>
              <c:f>Sheet1!$C$1</c:f>
              <c:strCache>
                <c:ptCount val="1"/>
                <c:pt idx="0">
                  <c:v>전류만</c:v>
                </c:pt>
              </c:strCache>
            </c:strRef>
          </c:tx>
          <c:spPr>
            <a:ln w="25400" cap="flat">
              <a:solidFill>
                <a:srgbClr val="E59A3A"/>
              </a:solidFill>
              <a:prstDash val="solid"/>
              <a:round/>
            </a:ln>
            <a:effectLst/>
          </c:spPr>
          <c:marker>
            <c:symbol val="none"/>
          </c:marker>
          <c:cat>
            <c:strRef>
              <c:f>Sheet1!$A$2:$A$22</c:f>
              <c:strCache>
                <c:ptCount val="21"/>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Sheet1!$C$2:$C$22</c:f>
              <c:numCache>
                <c:formatCode>General</c:formatCode>
                <c:ptCount val="21"/>
                <c:pt idx="0">
                  <c:v>14.285714285714285</c:v>
                </c:pt>
                <c:pt idx="1">
                  <c:v>34.92063492063492</c:v>
                </c:pt>
                <c:pt idx="2">
                  <c:v>80.95238095238095</c:v>
                </c:pt>
                <c:pt idx="3">
                  <c:v>90.47619047619048</c:v>
                </c:pt>
                <c:pt idx="4">
                  <c:v>95.23809523809523</c:v>
                </c:pt>
                <c:pt idx="5">
                  <c:v>95.23809523809523</c:v>
                </c:pt>
                <c:pt idx="6">
                  <c:v>95.23809523809523</c:v>
                </c:pt>
                <c:pt idx="7">
                  <c:v>95.23809523809523</c:v>
                </c:pt>
                <c:pt idx="8">
                  <c:v>95.23809523809523</c:v>
                </c:pt>
                <c:pt idx="9">
                  <c:v>95.23809523809523</c:v>
                </c:pt>
                <c:pt idx="10">
                  <c:v>95.23809523809523</c:v>
                </c:pt>
                <c:pt idx="11">
                  <c:v>95.23809523809523</c:v>
                </c:pt>
                <c:pt idx="12">
                  <c:v>95.23809523809523</c:v>
                </c:pt>
                <c:pt idx="13">
                  <c:v>95.23809523809523</c:v>
                </c:pt>
                <c:pt idx="14">
                  <c:v>95.23809523809523</c:v>
                </c:pt>
                <c:pt idx="15">
                  <c:v>95.23809523809523</c:v>
                </c:pt>
                <c:pt idx="16">
                  <c:v>95.23809523809523</c:v>
                </c:pt>
                <c:pt idx="17">
                  <c:v>95.23809523809523</c:v>
                </c:pt>
                <c:pt idx="18">
                  <c:v>95.23809523809523</c:v>
                </c:pt>
                <c:pt idx="19">
                  <c:v>95.23809523809523</c:v>
                </c:pt>
                <c:pt idx="20">
                  <c:v>95.23809523809523</c:v>
                </c:pt>
              </c:numCache>
            </c:numRef>
          </c:val>
          <c:smooth val="0"/>
          <c:extLst>
            <c:ext xmlns:c16="http://schemas.microsoft.com/office/drawing/2014/chart" uri="{C3380CC4-5D6E-409C-BE32-E72D297353CC}">
              <c16:uniqueId val="{00000001-82B8-4A3D-A4FF-82C1B17CFB78}"/>
            </c:ext>
          </c:extLst>
        </c:ser>
        <c:ser>
          <c:idx val="2"/>
          <c:order val="2"/>
          <c:tx>
            <c:strRef>
              <c:f>Sheet1!$D$1</c:f>
              <c:strCache>
                <c:ptCount val="1"/>
                <c:pt idx="0">
                  <c:v>진동만</c:v>
                </c:pt>
              </c:strCache>
            </c:strRef>
          </c:tx>
          <c:spPr>
            <a:ln w="25400" cap="flat">
              <a:solidFill>
                <a:srgbClr val="1F4E79"/>
              </a:solidFill>
              <a:prstDash val="solid"/>
              <a:round/>
            </a:ln>
            <a:effectLst/>
          </c:spPr>
          <c:marker>
            <c:symbol val="none"/>
          </c:marker>
          <c:cat>
            <c:strRef>
              <c:f>Sheet1!$A$2:$A$22</c:f>
              <c:strCache>
                <c:ptCount val="21"/>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Sheet1!$D$2:$D$22</c:f>
              <c:numCache>
                <c:formatCode>General</c:formatCode>
                <c:ptCount val="21"/>
                <c:pt idx="0">
                  <c:v>52.38095238095239</c:v>
                </c:pt>
                <c:pt idx="1">
                  <c:v>57.14285714285714</c:v>
                </c:pt>
                <c:pt idx="2">
                  <c:v>76.19047619047619</c:v>
                </c:pt>
                <c:pt idx="3">
                  <c:v>76.19047619047619</c:v>
                </c:pt>
                <c:pt idx="4">
                  <c:v>76.19047619047619</c:v>
                </c:pt>
                <c:pt idx="5">
                  <c:v>76.19047619047619</c:v>
                </c:pt>
                <c:pt idx="6">
                  <c:v>76.19047619047619</c:v>
                </c:pt>
                <c:pt idx="7">
                  <c:v>76.19047619047619</c:v>
                </c:pt>
                <c:pt idx="8">
                  <c:v>76.19047619047619</c:v>
                </c:pt>
                <c:pt idx="9">
                  <c:v>80.95238095238095</c:v>
                </c:pt>
                <c:pt idx="10">
                  <c:v>80.95238095238095</c:v>
                </c:pt>
                <c:pt idx="11">
                  <c:v>80.95238095238095</c:v>
                </c:pt>
                <c:pt idx="12">
                  <c:v>80.95238095238095</c:v>
                </c:pt>
                <c:pt idx="13">
                  <c:v>85.71428571428571</c:v>
                </c:pt>
                <c:pt idx="14">
                  <c:v>85.71428571428571</c:v>
                </c:pt>
                <c:pt idx="15">
                  <c:v>85.71428571428571</c:v>
                </c:pt>
                <c:pt idx="16">
                  <c:v>85.71428571428571</c:v>
                </c:pt>
                <c:pt idx="17">
                  <c:v>85.71428571428571</c:v>
                </c:pt>
                <c:pt idx="18">
                  <c:v>85.71428571428571</c:v>
                </c:pt>
                <c:pt idx="19">
                  <c:v>85.71428571428571</c:v>
                </c:pt>
                <c:pt idx="20">
                  <c:v>90.47619047619048</c:v>
                </c:pt>
              </c:numCache>
            </c:numRef>
          </c:val>
          <c:smooth val="0"/>
          <c:extLst>
            <c:ext xmlns:c16="http://schemas.microsoft.com/office/drawing/2014/chart" uri="{C3380CC4-5D6E-409C-BE32-E72D297353CC}">
              <c16:uniqueId val="{00000002-82B8-4A3D-A4FF-82C1B17CFB7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95959"/>
                    </a:solidFill>
                    <a:latin typeface="Arial"/>
                  </a:defRPr>
                </a:pPr>
                <a:r>
                  <a:rPr lang="ko-KR" altLang="en-US" sz="1000" b="0" i="0" u="none" strike="noStrike">
                    <a:solidFill>
                      <a:srgbClr val="595959"/>
                    </a:solidFill>
                    <a:latin typeface="Arial"/>
                  </a:rPr>
                  <a:t>경과 시간 </a:t>
                </a:r>
                <a:r>
                  <a:rPr lang="en-US" altLang="ko-KR" sz="1000" b="0" i="0" u="none" strike="noStrike">
                    <a:solidFill>
                      <a:srgbClr val="595959"/>
                    </a:solidFill>
                    <a:latin typeface="Arial"/>
                  </a:rPr>
                  <a:t>(</a:t>
                </a:r>
                <a:r>
                  <a:rPr lang="ko-KR" altLang="en-US" sz="1000" b="0" i="0" u="none" strike="noStrike">
                    <a:solidFill>
                      <a:srgbClr val="595959"/>
                    </a:solidFill>
                    <a:latin typeface="Arial"/>
                  </a:rPr>
                  <a:t>초</a:t>
                </a:r>
                <a:r>
                  <a:rPr lang="en-US" altLang="ko-KR" sz="1000" b="0" i="0" u="none" strike="noStrike">
                    <a:solidFill>
                      <a:srgbClr val="595959"/>
                    </a:solidFill>
                    <a:latin typeface="Arial"/>
                  </a:rPr>
                  <a: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lblOffset val="100"/>
        <c:tickLblSkip val="5"/>
        <c:noMultiLvlLbl val="1"/>
      </c:catAx>
      <c:valAx>
        <c:axId val="2094734552"/>
        <c:scaling>
          <c:orientation val="minMax"/>
          <c:max val="100"/>
          <c:min val="0"/>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1200" b="1">
                <a:solidFill>
                  <a:srgbClr val="262626"/>
                </a:solidFill>
                <a:latin typeface="맑은 고딕"/>
              </a:rPr>
              <a:t>미탐 시점 구성 </a:t>
            </a:r>
            <a:r>
              <a:rPr lang="en-US" altLang="ko-KR" sz="1200" b="1">
                <a:solidFill>
                  <a:srgbClr val="262626"/>
                </a:solidFill>
                <a:latin typeface="맑은 고딕"/>
              </a:rPr>
              <a:t>(seed 0)</a:t>
            </a:r>
          </a:p>
        </c:rich>
      </c:tx>
      <c:overlay val="0"/>
    </c:title>
    <c:autoTitleDeleted val="0"/>
    <c:plotArea>
      <c:layout/>
      <c:barChart>
        <c:barDir val="bar"/>
        <c:grouping val="stacked"/>
        <c:varyColors val="1"/>
        <c:ser>
          <c:idx val="0"/>
          <c:order val="0"/>
          <c:tx>
            <c:strRef>
              <c:f>Sheet1!$B$1</c:f>
              <c:strCache>
                <c:ptCount val="1"/>
                <c:pt idx="0">
                  <c:v>처음 3시점 미탐</c:v>
                </c:pt>
              </c:strCache>
            </c:strRef>
          </c:tx>
          <c:spPr>
            <a:solidFill>
              <a:srgbClr val="C00000"/>
            </a:solidFill>
            <a:ln>
              <a:solidFill>
                <a:srgbClr val="FFFFFF"/>
              </a:solidFill>
            </a:ln>
          </c:spPr>
          <c:invertIfNegative val="1"/>
          <c:dLbls>
            <c:numFmt formatCode="0" sourceLinked="0"/>
            <c:spPr>
              <a:noFill/>
              <a:ln>
                <a:noFill/>
              </a:ln>
              <a:effectLst/>
            </c:spPr>
            <c:txPr>
              <a:bodyPr/>
              <a:lstStyle/>
              <a:p>
                <a:pPr>
                  <a:defRPr sz="1200" b="1">
                    <a:solidFill>
                      <a:srgbClr val="FFFFFF"/>
                    </a:solidFill>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최종 GMM (계 30)</c:v>
                </c:pt>
                <c:pt idx="1">
                  <c:v>기본 GMM (계 71)</c:v>
                </c:pt>
              </c:strCache>
            </c:strRef>
          </c:cat>
          <c:val>
            <c:numRef>
              <c:f>Sheet1!$B$2:$B$3</c:f>
              <c:numCache>
                <c:formatCode>General</c:formatCode>
                <c:ptCount val="2"/>
                <c:pt idx="0">
                  <c:v>22</c:v>
                </c:pt>
                <c:pt idx="1">
                  <c:v>63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0-726D-44FF-9CC0-E880C23795F1}"/>
            </c:ext>
          </c:extLst>
        </c:ser>
        <c:ser>
          <c:idx val="1"/>
          <c:order val="1"/>
          <c:tx>
            <c:strRef>
              <c:f>Sheet1!$C$1</c:f>
              <c:strCache>
                <c:ptCount val="1"/>
                <c:pt idx="0">
                  <c:v>첫 경보 전 미탐</c:v>
                </c:pt>
              </c:strCache>
            </c:strRef>
          </c:tx>
          <c:spPr>
            <a:solidFill>
              <a:srgbClr val="F4B6B6"/>
            </a:solidFill>
            <a:ln>
              <a:solidFill>
                <a:srgbClr val="FFFFFF"/>
              </a:solidFill>
            </a:ln>
          </c:spPr>
          <c:invertIfNegative val="1"/>
          <c:dLbls>
            <c:numFmt formatCode="0" sourceLinked="0"/>
            <c:spPr>
              <a:noFill/>
              <a:ln>
                <a:noFill/>
              </a:ln>
              <a:effectLst/>
            </c:spPr>
            <c:txPr>
              <a:bodyPr/>
              <a:lstStyle/>
              <a:p>
                <a:pPr>
                  <a:defRPr sz="1200" b="1"/>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최종 GMM (계 30)</c:v>
                </c:pt>
                <c:pt idx="1">
                  <c:v>기본 GMM (계 71)</c:v>
                </c:pt>
              </c:strCache>
            </c:strRef>
          </c:cat>
          <c:val>
            <c:numRef>
              <c:f>Sheet1!$C$2:$C$3</c:f>
              <c:numCache>
                <c:formatCode>General</c:formatCode>
                <c:ptCount val="2"/>
                <c:pt idx="0">
                  <c:v>1</c:v>
                </c:pt>
                <c:pt idx="1">
                  <c:v>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1-726D-44FF-9CC0-E880C23795F1}"/>
            </c:ext>
          </c:extLst>
        </c:ser>
        <c:ser>
          <c:idx val="2"/>
          <c:order val="2"/>
          <c:tx>
            <c:strRef>
              <c:f>Sheet1!$D$1</c:f>
              <c:strCache>
                <c:ptCount val="1"/>
                <c:pt idx="0">
                  <c:v>첫 경보 후 미탐</c:v>
                </c:pt>
              </c:strCache>
            </c:strRef>
          </c:tx>
          <c:spPr>
            <a:solidFill>
              <a:srgbClr val="BFBFBF"/>
            </a:solidFill>
            <a:ln>
              <a:solidFill>
                <a:srgbClr val="FFFFFF"/>
              </a:solidFill>
            </a:ln>
          </c:spPr>
          <c:invertIfNegative val="1"/>
          <c:dLbls>
            <c:numFmt formatCode="0" sourceLinked="0"/>
            <c:spPr>
              <a:noFill/>
              <a:ln>
                <a:noFill/>
              </a:ln>
              <a:effectLst/>
            </c:spPr>
            <c:txPr>
              <a:bodyPr/>
              <a:lstStyle/>
              <a:p>
                <a:pPr>
                  <a:defRPr sz="1200" b="1"/>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최종 GMM (계 30)</c:v>
                </c:pt>
                <c:pt idx="1">
                  <c:v>기본 GMM (계 71)</c:v>
                </c:pt>
              </c:strCache>
            </c:strRef>
          </c:cat>
          <c:val>
            <c:numRef>
              <c:f>Sheet1!$D$2:$D$3</c:f>
              <c:numCache>
                <c:formatCode>General</c:formatCode>
                <c:ptCount val="2"/>
                <c:pt idx="0">
                  <c:v>7</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2-726D-44FF-9CC0-E880C23795F1}"/>
            </c:ext>
          </c:extLst>
        </c:ser>
        <c:dLbls>
          <c:dLblPos val="ctr"/>
          <c:showLegendKey val="0"/>
          <c:showVal val="1"/>
          <c:showCatName val="0"/>
          <c:showSerName val="0"/>
          <c:showPercent val="0"/>
          <c:showBubbleSize val="0"/>
        </c:dLbls>
        <c:gapWidth val="55"/>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crossAx val="-2113994440"/>
        <c:crosses val="autoZero"/>
        <c:auto val="1"/>
        <c:lblAlgn val="ctr"/>
        <c:lblOffset val="100"/>
        <c:noMultiLvlLbl val="0"/>
      </c:catAx>
      <c:valAx>
        <c:axId val="-2113994440"/>
        <c:scaling>
          <c:orientation val="minMax"/>
          <c:max val="90"/>
          <c:min val="0"/>
        </c:scaling>
        <c:delete val="0"/>
        <c:axPos val="b"/>
        <c:majorGridlines>
          <c:spPr>
            <a:ln>
              <a:solidFill>
                <a:srgbClr val="E7E7E7"/>
              </a:solidFill>
            </a:ln>
          </c:spPr>
        </c:majorGridlines>
        <c:numFmt formatCode="0" sourceLinked="0"/>
        <c:majorTickMark val="out"/>
        <c:minorTickMark val="none"/>
        <c:tickLblPos val="nextTo"/>
        <c:spPr>
          <a:ln>
            <a:noFill/>
          </a:ln>
        </c:spPr>
        <c:crossAx val="-2068027336"/>
        <c:crosses val="autoZero"/>
        <c:crossBetween val="between"/>
      </c:valAx>
    </c:plotArea>
    <c:legend>
      <c:legendPos val="b"/>
      <c:overlay val="0"/>
      <c:txPr>
        <a:bodyPr/>
        <a:lstStyle/>
        <a:p>
          <a:pPr>
            <a:defRPr sz="1100"/>
          </a:pPr>
          <a:endParaRPr lang="ko-KR"/>
        </a:p>
      </c:txPr>
    </c:legend>
    <c:plotVisOnly val="1"/>
    <c:dispBlanksAs val="gap"/>
    <c:showDLblsOverMax val="1"/>
  </c:chart>
  <c:txPr>
    <a:bodyPr/>
    <a:lstStyle/>
    <a:p>
      <a:pPr>
        <a:defRPr sz="1100">
          <a:solidFill>
            <a:srgbClr val="404040"/>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1200" b="1">
                <a:solidFill>
                  <a:srgbClr val="262626"/>
                </a:solidFill>
                <a:latin typeface="맑은 고딕"/>
              </a:rPr>
              <a:t>오경보 시점 센서 크기 </a:t>
            </a:r>
            <a:r>
              <a:rPr lang="en-US" altLang="ko-KR" sz="1200" b="1">
                <a:solidFill>
                  <a:srgbClr val="262626"/>
                </a:solidFill>
                <a:latin typeface="맑은 고딕"/>
              </a:rPr>
              <a:t>(</a:t>
            </a:r>
            <a:r>
              <a:rPr lang="ko-KR" altLang="en-US" sz="1200" b="1">
                <a:solidFill>
                  <a:srgbClr val="262626"/>
                </a:solidFill>
                <a:latin typeface="맑은 고딕"/>
              </a:rPr>
              <a:t>정상</a:t>
            </a:r>
            <a:r>
              <a:rPr lang="en-US" altLang="ko-KR" sz="1200" b="1">
                <a:solidFill>
                  <a:srgbClr val="262626"/>
                </a:solidFill>
                <a:latin typeface="맑은 고딕"/>
              </a:rPr>
              <a:t>=1)</a:t>
            </a:r>
          </a:p>
        </c:rich>
      </c:tx>
      <c:overlay val="0"/>
    </c:title>
    <c:autoTitleDeleted val="0"/>
    <c:plotArea>
      <c:layout/>
      <c:barChart>
        <c:barDir val="col"/>
        <c:grouping val="clustered"/>
        <c:varyColors val="1"/>
        <c:ser>
          <c:idx val="0"/>
          <c:order val="0"/>
          <c:tx>
            <c:strRef>
              <c:f>Sheet1!$B$1</c:f>
              <c:strCache>
                <c:ptCount val="1"/>
                <c:pt idx="0">
                  <c:v>오경보 시점 / 정상 평균</c:v>
                </c:pt>
              </c:strCache>
            </c:strRef>
          </c:tx>
          <c:spPr>
            <a:solidFill>
              <a:srgbClr val="C00000"/>
            </a:solidFill>
          </c:spPr>
          <c:invertIfNegative val="1"/>
          <c:dLbls>
            <c:numFmt formatCode="0.0&quot;배&quot;" sourceLinked="0"/>
            <c:spPr>
              <a:noFill/>
              <a:ln>
                <a:noFill/>
              </a:ln>
              <a:effectLst/>
            </c:spPr>
            <c:txPr>
              <a:bodyPr/>
              <a:lstStyle/>
              <a:p>
                <a:pPr>
                  <a:defRPr sz="1200" b="1"/>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상부 진동</c:v>
                </c:pt>
                <c:pt idx="1">
                  <c:v>하부 진동</c:v>
                </c:pt>
                <c:pt idx="2">
                  <c:v>전류</c:v>
                </c:pt>
              </c:strCache>
            </c:strRef>
          </c:cat>
          <c:val>
            <c:numRef>
              <c:f>Sheet1!$B$2:$B$4</c:f>
              <c:numCache>
                <c:formatCode>General</c:formatCode>
                <c:ptCount val="3"/>
                <c:pt idx="0">
                  <c:v>3.1443261711683776</c:v>
                </c:pt>
                <c:pt idx="1">
                  <c:v>1.318549468199288</c:v>
                </c:pt>
                <c:pt idx="2">
                  <c:v>1.5066984539869983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11A-4F12-99FD-EF3D9FD1B06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crossAx val="-2113994440"/>
        <c:crosses val="autoZero"/>
        <c:auto val="1"/>
        <c:lblAlgn val="ctr"/>
        <c:lblOffset val="100"/>
        <c:noMultiLvlLbl val="0"/>
      </c:catAx>
      <c:valAx>
        <c:axId val="-2113994440"/>
        <c:scaling>
          <c:orientation val="minMax"/>
          <c:max val="3.6"/>
          <c:min val="0"/>
        </c:scaling>
        <c:delete val="0"/>
        <c:axPos val="l"/>
        <c:majorGridlines>
          <c:spPr>
            <a:ln>
              <a:solidFill>
                <a:srgbClr val="E7E7E7"/>
              </a:solidFill>
            </a:ln>
          </c:spPr>
        </c:majorGridlines>
        <c:numFmt formatCode="0" sourceLinked="0"/>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1100">
          <a:solidFill>
            <a:srgbClr val="404040"/>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1200" b="1">
                <a:solidFill>
                  <a:srgbClr val="262626"/>
                </a:solidFill>
                <a:latin typeface="맑은 고딕"/>
              </a:rPr>
              <a:t>조건별 </a:t>
            </a:r>
            <a:r>
              <a:rPr lang="en-US" altLang="ko-KR" sz="1200" b="1">
                <a:solidFill>
                  <a:srgbClr val="262626"/>
                </a:solidFill>
                <a:latin typeface="맑은 고딕"/>
              </a:rPr>
              <a:t>F1 (3</a:t>
            </a:r>
            <a:r>
              <a:rPr lang="ko-KR" altLang="en-US" sz="1200" b="1">
                <a:solidFill>
                  <a:srgbClr val="262626"/>
                </a:solidFill>
                <a:latin typeface="맑은 고딕"/>
              </a:rPr>
              <a:t>센서</a:t>
            </a:r>
            <a:r>
              <a:rPr lang="en-US" altLang="ko-KR" sz="1200" b="1">
                <a:solidFill>
                  <a:srgbClr val="262626"/>
                </a:solidFill>
                <a:latin typeface="맑은 고딕"/>
              </a:rPr>
              <a:t>, W=3)</a:t>
            </a:r>
          </a:p>
        </c:rich>
      </c:tx>
      <c:overlay val="0"/>
    </c:title>
    <c:autoTitleDeleted val="0"/>
    <c:plotArea>
      <c:layout/>
      <c:barChart>
        <c:barDir val="col"/>
        <c:grouping val="clustered"/>
        <c:varyColors val="1"/>
        <c:ser>
          <c:idx val="0"/>
          <c:order val="0"/>
          <c:tx>
            <c:strRef>
              <c:f>Sheet1!$B$1</c:f>
              <c:strCache>
                <c:ptCount val="1"/>
                <c:pt idx="0">
                  <c:v>원본</c:v>
                </c:pt>
              </c:strCache>
            </c:strRef>
          </c:tx>
          <c:spPr>
            <a:solidFill>
              <a:srgbClr val="1F4E79"/>
            </a:solidFill>
          </c:spPr>
          <c:invertIfNegative val="1"/>
          <c:cat>
            <c:strRef>
              <c:f>Sheet1!$A$2:$A$10</c:f>
              <c:strCache>
                <c:ptCount val="9"/>
                <c:pt idx="0">
                  <c:v>GMM (최종)</c:v>
                </c:pt>
                <c:pt idx="1">
                  <c:v>GMM (기본)</c:v>
                </c:pt>
                <c:pt idx="2">
                  <c:v>Mahalanobis</c:v>
                </c:pt>
                <c:pt idx="3">
                  <c:v>LOF</c:v>
                </c:pt>
                <c:pt idx="4">
                  <c:v>PCA</c:v>
                </c:pt>
                <c:pt idx="5">
                  <c:v>KDE</c:v>
                </c:pt>
                <c:pt idx="6">
                  <c:v>kNN</c:v>
                </c:pt>
                <c:pt idx="7">
                  <c:v>OCSVM</c:v>
                </c:pt>
                <c:pt idx="8">
                  <c:v>IsolationForest</c:v>
                </c:pt>
              </c:strCache>
            </c:strRef>
          </c:cat>
          <c:val>
            <c:numRef>
              <c:f>Sheet1!$B$2:$B$10</c:f>
              <c:numCache>
                <c:formatCode>General</c:formatCode>
                <c:ptCount val="9"/>
                <c:pt idx="0">
                  <c:v>0.96503148108433</c:v>
                </c:pt>
                <c:pt idx="1">
                  <c:v>0.9277985351927877</c:v>
                </c:pt>
                <c:pt idx="2">
                  <c:v>0.9233480176211454</c:v>
                </c:pt>
                <c:pt idx="3">
                  <c:v>0.829686013320647</c:v>
                </c:pt>
                <c:pt idx="4">
                  <c:v>0.7785501489572989</c:v>
                </c:pt>
                <c:pt idx="5">
                  <c:v>0.6883116883116883</c:v>
                </c:pt>
                <c:pt idx="6">
                  <c:v>0.647450110864745</c:v>
                </c:pt>
                <c:pt idx="7">
                  <c:v>0.6248574686431014</c:v>
                </c:pt>
                <c:pt idx="8">
                  <c:v>0.510937731766349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47F-4696-9308-51CBD2BD26F4}"/>
            </c:ext>
          </c:extLst>
        </c:ser>
        <c:ser>
          <c:idx val="1"/>
          <c:order val="1"/>
          <c:tx>
            <c:strRef>
              <c:f>Sheet1!$C$1</c:f>
              <c:strCache>
                <c:ptCount val="1"/>
                <c:pt idx="0">
                  <c:v>기록 형식 통일</c:v>
                </c:pt>
              </c:strCache>
            </c:strRef>
          </c:tx>
          <c:spPr>
            <a:solidFill>
              <a:srgbClr val="9DB3D1"/>
            </a:solidFill>
          </c:spPr>
          <c:invertIfNegative val="1"/>
          <c:cat>
            <c:strRef>
              <c:f>Sheet1!$A$2:$A$10</c:f>
              <c:strCache>
                <c:ptCount val="9"/>
                <c:pt idx="0">
                  <c:v>GMM (최종)</c:v>
                </c:pt>
                <c:pt idx="1">
                  <c:v>GMM (기본)</c:v>
                </c:pt>
                <c:pt idx="2">
                  <c:v>Mahalanobis</c:v>
                </c:pt>
                <c:pt idx="3">
                  <c:v>LOF</c:v>
                </c:pt>
                <c:pt idx="4">
                  <c:v>PCA</c:v>
                </c:pt>
                <c:pt idx="5">
                  <c:v>KDE</c:v>
                </c:pt>
                <c:pt idx="6">
                  <c:v>kNN</c:v>
                </c:pt>
                <c:pt idx="7">
                  <c:v>OCSVM</c:v>
                </c:pt>
                <c:pt idx="8">
                  <c:v>IsolationForest</c:v>
                </c:pt>
              </c:strCache>
            </c:strRef>
          </c:cat>
          <c:val>
            <c:numRef>
              <c:f>Sheet1!$C$2:$C$10</c:f>
              <c:numCache>
                <c:formatCode>General</c:formatCode>
                <c:ptCount val="9"/>
                <c:pt idx="0">
                  <c:v>0.9650319259184972</c:v>
                </c:pt>
                <c:pt idx="1">
                  <c:v>0.9274858561972348</c:v>
                </c:pt>
                <c:pt idx="2">
                  <c:v>0.9233480176211454</c:v>
                </c:pt>
                <c:pt idx="3">
                  <c:v>0.8300094966761633</c:v>
                </c:pt>
                <c:pt idx="4">
                  <c:v>0.7785501489572989</c:v>
                </c:pt>
                <c:pt idx="5">
                  <c:v>0.6889848812095032</c:v>
                </c:pt>
                <c:pt idx="6">
                  <c:v>0.647450110864745</c:v>
                </c:pt>
                <c:pt idx="7">
                  <c:v>0.6248574686431014</c:v>
                </c:pt>
                <c:pt idx="8">
                  <c:v>0.5099168659852431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47F-4696-9308-51CBD2BD26F4}"/>
            </c:ext>
          </c:extLst>
        </c:ser>
        <c:ser>
          <c:idx val="2"/>
          <c:order val="2"/>
          <c:tx>
            <c:strRef>
              <c:f>Sheet1!$D$1</c:f>
              <c:strCache>
                <c:ptCount val="1"/>
                <c:pt idx="0">
                  <c:v>전류 레벨 제거</c:v>
                </c:pt>
              </c:strCache>
            </c:strRef>
          </c:tx>
          <c:spPr>
            <a:solidFill>
              <a:srgbClr val="C00000"/>
            </a:solidFill>
          </c:spPr>
          <c:invertIfNegative val="1"/>
          <c:cat>
            <c:strRef>
              <c:f>Sheet1!$A$2:$A$10</c:f>
              <c:strCache>
                <c:ptCount val="9"/>
                <c:pt idx="0">
                  <c:v>GMM (최종)</c:v>
                </c:pt>
                <c:pt idx="1">
                  <c:v>GMM (기본)</c:v>
                </c:pt>
                <c:pt idx="2">
                  <c:v>Mahalanobis</c:v>
                </c:pt>
                <c:pt idx="3">
                  <c:v>LOF</c:v>
                </c:pt>
                <c:pt idx="4">
                  <c:v>PCA</c:v>
                </c:pt>
                <c:pt idx="5">
                  <c:v>KDE</c:v>
                </c:pt>
                <c:pt idx="6">
                  <c:v>kNN</c:v>
                </c:pt>
                <c:pt idx="7">
                  <c:v>OCSVM</c:v>
                </c:pt>
                <c:pt idx="8">
                  <c:v>IsolationForest</c:v>
                </c:pt>
              </c:strCache>
            </c:strRef>
          </c:cat>
          <c:val>
            <c:numRef>
              <c:f>Sheet1!$D$2:$D$10</c:f>
              <c:numCache>
                <c:formatCode>General</c:formatCode>
                <c:ptCount val="9"/>
                <c:pt idx="0">
                  <c:v>0.9423192900835704</c:v>
                </c:pt>
                <c:pt idx="1">
                  <c:v>0.9072049074898584</c:v>
                </c:pt>
                <c:pt idx="2">
                  <c:v>0.9089285714285714</c:v>
                </c:pt>
                <c:pt idx="3">
                  <c:v>0.8346007604562737</c:v>
                </c:pt>
                <c:pt idx="4">
                  <c:v>0.836676217765043</c:v>
                </c:pt>
                <c:pt idx="5">
                  <c:v>0.7651821862348178</c:v>
                </c:pt>
                <c:pt idx="6">
                  <c:v>0.7068783068783069</c:v>
                </c:pt>
                <c:pt idx="7">
                  <c:v>0.6968716289104638</c:v>
                </c:pt>
                <c:pt idx="8">
                  <c:v>0.5631339997382928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47F-4696-9308-51CBD2BD26F4}"/>
            </c:ext>
          </c:extLst>
        </c:ser>
        <c:dLbls>
          <c:showLegendKey val="0"/>
          <c:showVal val="0"/>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crossAx val="-2113994440"/>
        <c:crosses val="autoZero"/>
        <c:auto val="1"/>
        <c:lblAlgn val="ctr"/>
        <c:lblOffset val="100"/>
        <c:noMultiLvlLbl val="0"/>
      </c:catAx>
      <c:valAx>
        <c:axId val="-2113994440"/>
        <c:scaling>
          <c:orientation val="minMax"/>
          <c:max val="1"/>
          <c:min val="0.4"/>
        </c:scaling>
        <c:delete val="0"/>
        <c:axPos val="l"/>
        <c:majorGridlines>
          <c:spPr>
            <a:ln>
              <a:solidFill>
                <a:srgbClr val="E7E7E7"/>
              </a:solidFill>
            </a:ln>
          </c:spPr>
        </c:majorGridlines>
        <c:numFmt formatCode="0.0" sourceLinked="0"/>
        <c:majorTickMark val="out"/>
        <c:minorTickMark val="none"/>
        <c:tickLblPos val="nextTo"/>
        <c:spPr>
          <a:ln>
            <a:noFill/>
          </a:ln>
        </c:spPr>
        <c:crossAx val="-2068027336"/>
        <c:crosses val="autoZero"/>
        <c:crossBetween val="between"/>
      </c:valAx>
    </c:plotArea>
    <c:legend>
      <c:legendPos val="b"/>
      <c:overlay val="0"/>
      <c:txPr>
        <a:bodyPr/>
        <a:lstStyle/>
        <a:p>
          <a:pPr>
            <a:defRPr sz="1100"/>
          </a:pPr>
          <a:endParaRPr lang="ko-KR"/>
        </a:p>
      </c:txPr>
    </c:legend>
    <c:plotVisOnly val="1"/>
    <c:dispBlanksAs val="gap"/>
    <c:showDLblsOverMax val="1"/>
  </c:chart>
  <c:txPr>
    <a:bodyPr/>
    <a:lstStyle/>
    <a:p>
      <a:pPr>
        <a:defRPr sz="1000">
          <a:solidFill>
            <a:srgbClr val="404040"/>
          </a:solidFill>
          <a:latin typeface="맑은 고딕"/>
          <a:ea typeface="맑은 고딕"/>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1200" b="1">
                <a:solidFill>
                  <a:srgbClr val="262626"/>
                </a:solidFill>
                <a:latin typeface="맑은 고딕"/>
              </a:rPr>
              <a:t>변수 관계 반영 수준에 따른 </a:t>
            </a:r>
            <a:r>
              <a:rPr lang="en-US" altLang="ko-KR" sz="1200" b="1">
                <a:solidFill>
                  <a:srgbClr val="262626"/>
                </a:solidFill>
                <a:latin typeface="맑은 고딕"/>
              </a:rPr>
              <a:t>F1 (W=3)</a:t>
            </a:r>
          </a:p>
        </c:rich>
      </c:tx>
      <c:overlay val="0"/>
    </c:title>
    <c:autoTitleDeleted val="0"/>
    <c:plotArea>
      <c:layout/>
      <c:barChart>
        <c:barDir val="bar"/>
        <c:grouping val="clustered"/>
        <c:varyColors val="1"/>
        <c:ser>
          <c:idx val="0"/>
          <c:order val="0"/>
          <c:tx>
            <c:strRef>
              <c:f>Sheet1!$B$1</c:f>
              <c:strCache>
                <c:ptCount val="1"/>
                <c:pt idx="0">
                  <c:v>F1</c:v>
                </c:pt>
              </c:strCache>
            </c:strRef>
          </c:tx>
          <c:invertIfNegative val="1"/>
          <c:dPt>
            <c:idx val="0"/>
            <c:invertIfNegative val="1"/>
            <c:bubble3D val="0"/>
            <c:spPr>
              <a:solidFill>
                <a:srgbClr val="C00000"/>
              </a:solidFill>
            </c:spPr>
            <c:extLst>
              <c:ext xmlns:c16="http://schemas.microsoft.com/office/drawing/2014/chart" uri="{C3380CC4-5D6E-409C-BE32-E72D297353CC}">
                <c16:uniqueId val="{00000001-03DF-4C59-9BC0-003EB817F93C}"/>
              </c:ext>
            </c:extLst>
          </c:dPt>
          <c:dPt>
            <c:idx val="1"/>
            <c:invertIfNegative val="1"/>
            <c:bubble3D val="0"/>
            <c:spPr>
              <a:solidFill>
                <a:srgbClr val="1F4E79"/>
              </a:solidFill>
            </c:spPr>
            <c:extLst>
              <c:ext xmlns:c16="http://schemas.microsoft.com/office/drawing/2014/chart" uri="{C3380CC4-5D6E-409C-BE32-E72D297353CC}">
                <c16:uniqueId val="{00000003-03DF-4C59-9BC0-003EB817F93C}"/>
              </c:ext>
            </c:extLst>
          </c:dPt>
          <c:dPt>
            <c:idx val="2"/>
            <c:invertIfNegative val="1"/>
            <c:bubble3D val="0"/>
            <c:spPr>
              <a:solidFill>
                <a:srgbClr val="7F9DC4"/>
              </a:solidFill>
            </c:spPr>
            <c:extLst>
              <c:ext xmlns:c16="http://schemas.microsoft.com/office/drawing/2014/chart" uri="{C3380CC4-5D6E-409C-BE32-E72D297353CC}">
                <c16:uniqueId val="{00000005-03DF-4C59-9BC0-003EB817F93C}"/>
              </c:ext>
            </c:extLst>
          </c:dPt>
          <c:dPt>
            <c:idx val="3"/>
            <c:invertIfNegative val="1"/>
            <c:bubble3D val="0"/>
            <c:spPr>
              <a:solidFill>
                <a:srgbClr val="BFBFBF"/>
              </a:solidFill>
            </c:spPr>
            <c:extLst>
              <c:ext xmlns:c16="http://schemas.microsoft.com/office/drawing/2014/chart" uri="{C3380CC4-5D6E-409C-BE32-E72D297353CC}">
                <c16:uniqueId val="{00000007-03DF-4C59-9BC0-003EB817F93C}"/>
              </c:ext>
            </c:extLst>
          </c:dPt>
          <c:dPt>
            <c:idx val="4"/>
            <c:invertIfNegative val="1"/>
            <c:bubble3D val="0"/>
            <c:spPr>
              <a:solidFill>
                <a:srgbClr val="BFBFBF"/>
              </a:solidFill>
            </c:spPr>
            <c:extLst>
              <c:ext xmlns:c16="http://schemas.microsoft.com/office/drawing/2014/chart" uri="{C3380CC4-5D6E-409C-BE32-E72D297353CC}">
                <c16:uniqueId val="{00000009-03DF-4C59-9BC0-003EB817F93C}"/>
              </c:ext>
            </c:extLst>
          </c:dPt>
          <c:dLbls>
            <c:numFmt formatCode="0.000" sourceLinked="0"/>
            <c:spPr>
              <a:noFill/>
              <a:ln>
                <a:noFill/>
              </a:ln>
              <a:effectLst/>
            </c:spPr>
            <c:txPr>
              <a:bodyPr/>
              <a:lstStyle/>
              <a:p>
                <a:pPr>
                  <a:defRPr sz="1200" b="1"/>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GMM 최종 (+초기 판정)</c:v>
                </c:pt>
                <c:pt idx="1">
                  <c:v>GMM 기본 (혼합 공분산)</c:v>
                </c:pt>
                <c:pt idx="2">
                  <c:v>Mahalanobis (공분산)</c:v>
                </c:pt>
                <c:pt idx="3">
                  <c:v>AR_Relation (+센서 간 관계)</c:v>
                </c:pt>
                <c:pt idx="4">
                  <c:v>AR (센서별 독립)</c:v>
                </c:pt>
              </c:strCache>
            </c:strRef>
          </c:cat>
          <c:val>
            <c:numRef>
              <c:f>Sheet1!$B$2:$B$6</c:f>
              <c:numCache>
                <c:formatCode>General</c:formatCode>
                <c:ptCount val="5"/>
                <c:pt idx="0">
                  <c:v>0.96503148108433</c:v>
                </c:pt>
                <c:pt idx="1">
                  <c:v>0.9277985351927877</c:v>
                </c:pt>
                <c:pt idx="2">
                  <c:v>0.9233480176211454</c:v>
                </c:pt>
                <c:pt idx="3">
                  <c:v>0.6320541760722348</c:v>
                </c:pt>
                <c:pt idx="4">
                  <c:v>0.5707547169811321</c:v>
                </c:pt>
              </c:numCache>
            </c:numRef>
          </c:val>
          <c:extLst>
            <c:ext xmlns:c16="http://schemas.microsoft.com/office/drawing/2014/chart" uri="{C3380CC4-5D6E-409C-BE32-E72D297353CC}">
              <c16:uniqueId val="{0000000A-03DF-4C59-9BC0-003EB817F93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crossAx val="-2113994440"/>
        <c:crosses val="autoZero"/>
        <c:auto val="1"/>
        <c:lblAlgn val="ctr"/>
        <c:lblOffset val="100"/>
        <c:noMultiLvlLbl val="0"/>
      </c:catAx>
      <c:valAx>
        <c:axId val="-2113994440"/>
        <c:scaling>
          <c:orientation val="minMax"/>
          <c:max val="1"/>
          <c:min val="0.4"/>
        </c:scaling>
        <c:delete val="0"/>
        <c:axPos val="b"/>
        <c:majorGridlines>
          <c:spPr>
            <a:ln>
              <a:solidFill>
                <a:srgbClr val="E7E7E7"/>
              </a:solidFill>
            </a:ln>
          </c:spPr>
        </c:majorGridlines>
        <c:numFmt formatCode="0.0" sourceLinked="0"/>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1100">
          <a:solidFill>
            <a:srgbClr val="404040"/>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2964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발표는 다섯 부분으로 진행합니다. 먼저 서론에서 유압펌프 이상이 왜 프레스 공정의 문제인지와 문제 정의를 다루고, 사전지식에서 시계열 이상 탐지 접근 방식, 데이터셋, 선행 연구를 소개합니다. 제안방법론에서는 밀도 기반 탐지를 선택한 이유와 전체 프레임워크, 입력 창, Gaussian Mixture Model, 이상 점수와 임계값을 설명합니다. 실험에서는 17개 detector와 비교하고, 마지막으로 현장 활용성을 다룹니다.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파인블랭킹은 세 힘의 균형이 핵심이고, 이를 유압펌프가 유지합니다. 펌프 이상은 곧 품질과 가동률 문제로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설비는 이상이 시작된 P 시점부터 고장 F까지 서서히 나빠집니다. 고장 후 수리하면 비가동이 생기고, 주기 점검은 점검 사이의 징후를 놓칩니다. AI로 센서를 계속 보면 P 직후 경보를 내고, 정상 구간에서는 경보를 내지 않아 계획 정비로 전환할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예측은 다음 값을 맞히지 못하면, 재구축은 정상 패턴으로 복원하지 못하면, 밀도는 정상에서 보기 드문 조합이면 이상으로 봅니다. 우리는 다음 값 예측 없이 지금 관측 조합의 희소도를 바로 보는 밀도 방법을 택했습니다.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 쪽 진동·전류 진폭이 큽니다. 다만 정상과 이상이 서로 다른 날짜의 한 기록씩이라는 점을 뒤에서 다시 짚습니다.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연속 기록이 아니라 약 8초마다 최대 5초씩 끊겨 들어오는 clip으로 구성됩니다. 진동 두 채널과 전류 모두 같은 시점에 기록이 있고 없습니다. 그래서 공백을 보간하지 않고 clip 안에서만 창을 만듭니다.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4C431-5AC8-8A77-9350-CDAB3A499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A3B4F-C112-FCD5-AB9D-6B35CF07B4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1C4DC-DC51-F746-DDCA-E24F37A67783}"/>
              </a:ext>
            </a:extLst>
          </p:cNvPr>
          <p:cNvSpPr>
            <a:spLocks noGrp="1"/>
          </p:cNvSpPr>
          <p:nvPr>
            <p:ph type="body" idx="1"/>
          </p:nvPr>
        </p:nvSpPr>
        <p:spPr/>
        <p:txBody>
          <a:bodyPr/>
          <a:lstStyle/>
          <a:p>
            <a:r>
              <a:rPr lang="en-US" dirty="0"/>
              <a:t>프레스 현장에서는 고장 데이터를 모으기 어렵기 때문에, 정상 데이터만으로 정상성을 배우고 그 경계를 벗어나는 정도로 이상을 판단하는 semi-supervised 방식이 주로 쓰입니다. Serradilla 등은 프레스 stroke 신호를 autoencoder로 복원해 복원 오차가 정상 검증의 95 백분위를 넘으면 이상으로 봤고, 합성 고장에서 F1 0.99로 현장 기술자 판단(0.82)보다 높았습니다. 우리 모델도 같은 골격을 따르되 0.1초 시점 단위로 판단합니다.</a:t>
            </a:r>
          </a:p>
        </p:txBody>
      </p:sp>
      <p:sp>
        <p:nvSpPr>
          <p:cNvPr id="4" name="Slide Number Placeholder 3">
            <a:extLst>
              <a:ext uri="{FF2B5EF4-FFF2-40B4-BE49-F238E27FC236}">
                <a16:creationId xmlns:a16="http://schemas.microsoft.com/office/drawing/2014/main" id="{748D6C51-6DA9-9CF7-096B-F53BAD4AA78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9775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사례에서 가져온 것은 정상만 학습하고 정상 분위수로 임계값을 정하는 semi-supervised 구조입니다. 다만 그 사례는 stroke 하나가 끝난 뒤 전체 신호를 복원해 판단하는 반면, 우리 데이터는 짧은 clip이고 과제는 조기 탐지입니다. 그래서 최근 0.3초 창만 보고 바로 희소도를 재는 밀도 모델 GMM을 택했고, 이 선택은 Experiments의 17개 방법 비교에서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W=3은 과거 3시점과 현재 1시점의 세 센서 값을 쌓은 12차원 벡터입니다. 0.0·0.1·0.2초에는 관측된 3·6·9차원 주변분포로 판정하고 0.3초부터 전체 12차원 분포로 판정합니다. 미래값과 클립 경계를 넘는 값은 사용하지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E-step은 각 정상 데이터가 어느 산에서 나왔을지 확률로 나누고, M-step은 그 확률을 가중치로 산의 위치·폭·비중을 다시 맞춥니다. 이를 반복하면 정상 데이터를 가장 잘 설명하는 산들의 조합이 완성되고, 새 값이 이 산들 바깥에 떨어질수록 −log p가 커집니다.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clip은 처음 1초 동안 점수가 정상 범위에 머물다가 서서히 올라 2.0초에 처음 임계값을 넘습니다. 이후 임계값 근처를 오르내리다 3.3초부터 급격히 악화됩니다. 매 시점 다시 판단하므로 임계값 아래로 내려온 순간은 경보가 꺼집니다.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시점 지표는 매 순간 판정의 정확도, clip 지표는 얼마나 빨리 첫 경보를 냈는지를 봅니다. 둘은 서로 다른 질문입니다.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모든 방법을 W = 3, 같은 분할과 같은 99 백분위 임계값으로 비교했습니다. 최종 GMM이 F1 0.965로 가장 높고, 단일 가우시안인 Mahalanobis가 0.923로 뒤를 잇습니다. 신경망·재구축 계열은 0.7을 넘지 못해 모델 복잡도가 성능으로 이어지지 않았습니다. 오른쪽은 GMM의 판정 결과를 네 칸으로 나눈 것으로, 다음 두 장에서 오경보(FP)와 미탐(FN)을 각각 방법별로 비교합니다.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이번에는 반대로 실제 이상 시점을 얼마나 놓치는지 봅니다. GMM의 Miss rate는 4.9%로 Mahalanobis의 절반 이하입니다. 오른쪽처럼 기존 방법은 W = 3 창이 차기 전인 clip 처음 0.0~0.2초, 이상 21 clip × 3시점 = 63시점을 판단할 수 없어 모두 미탐이 됩니다. 최종 GMM은 이 구간에서도 이미 관측된 값의 주변분포로 판정해 63시점 중 약 41시점을 잡아냅니다.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F1이 높은 이유가 경보를 많이 내서인지 확인하기 위해 정상 구간의 오경보 비율을 봤습니다. 모든 방법이 정상 보정 점수의 99 백분위를 임계값으로 쓰기 때문에 FAR은 0.4% 미만으로 비슷합니다. FAR이 가장 낮은 Persistence와 IsolationForest는 애초에 경보를 거의 내지 않아 이상도 대부분 놓칩니다. 오른쪽 그림에서 왼쪽 아래가 좋은 방법인데, GMM은 FAR을 다른 방법 수준으로 유지하면서 Miss rate가 가장 낮습니다.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F1이 매 순간 판정의 정확도라면, 이 장은 이상 clip이 시작된 뒤 얼마나 빨리 첫 경보가 나는지를 봅니다. 기존 방법은 W = 3 창이 다 차는 0.3초가 되어야 첫 판단을 할 수 있습니다. 최종 GMM은 첫 관측부터 판정하므로 21개 이상 clip 모두 0.5초 안에 경보했고, 그중 11개는 첫 관측인 0.0초에 바로 경보했습니다. 단, 이 빠른 경보에는 이상 기록이 시작부터 정상과 달랐던 점도 반영되어 있어, 뒤 센서 기여 분석에서 다시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최종 GMM으로 W를 1부터 30까지 바꿔 봤습니다. W가 3 이상이면 F1이 0.954~0.966로 거의 같고, 창이 다 차는 시각은 W × 0.1초로 늦어지지만 첫 경보는 W와 무관하게 평균 약 0.11초입니다. 창이 차기 전에도 관측된 값의 주변분포로 판단하기 때문입니다. 다만 W가 5 이상이면 정상 구간 오경보가 18~33시점으로 늘어나, F1과 오경보의 균형이 가장 좋은 W = 3을 택했습니다. W가 20·30처럼 길면 차원 대비 학습 창이 줄어 seed에 따라 선택되는 성분 수가 달라지는 불안정성도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최종 GMM에서 입력 센서만 바꿔 처음부터 다시 학습했습니다. 전류만 써도 F1 0.955로 3센서(0.965)에 가깝고, 진동만 쓰면 0.839로 떨어집니다. 진동만 모델은 진동 변화가 작은 이상 clip(fault_0020, fault_0021)을 끝까지 놓치는데, 3센서 모델은 전류로 이를 보완합니다. 전류만으로도 성능이 높으므로 전류가 무엇을 보고 있는지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PLC가 0.1초마다 보내는 센서 한 줄이 들어오면, 모델은 최근 세 줄을 묶어 점수를 내고 임계값과 비교해 바로 정상/이상을 출력합니다. 위는 실제 정상 기록, 아래는 실제 이상 기록이 처리된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펌프의 진동·전류 센서가 0.1초 단위로 Edge PC에 들어오면, 학습된 GMM이 바로 점수를 계산해 판정합니다. 이상이면 경광등이 켜지고, 운전실 모니터에 근거가 표시되며, 경보 전후 데이터가 로그로 남아 오경보 분석과 임계값 재보정에 쓰입니다.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84048"/>
            <a:ext cx="868680" cy="566928"/>
          </a:xfrm>
          <a:prstGeom prst="rect">
            <a:avLst/>
          </a:prstGeom>
          <a:solidFill>
            <a:srgbClr val="1F4E79"/>
          </a:solidFill>
          <a:ln w="12700">
            <a:solidFill>
              <a:srgbClr val="1F4E79"/>
            </a:solidFill>
            <a:prstDash val="solid"/>
          </a:ln>
        </p:spPr>
        <p:txBody>
          <a:bodyPr/>
          <a:lstStyle/>
          <a:p>
            <a:endParaRPr lang="ko-KR" altLang="en-US"/>
          </a:p>
        </p:txBody>
      </p:sp>
      <p:sp>
        <p:nvSpPr>
          <p:cNvPr id="3" name="Text 1"/>
          <p:cNvSpPr>
            <a:spLocks noGrp="1"/>
          </p:cNvSpPr>
          <p:nvPr>
            <p:ph type="title" idx="101" hasCustomPrompt="1"/>
          </p:nvPr>
        </p:nvSpPr>
        <p:spPr>
          <a:xfrm>
            <a:off x="1005840" y="329184"/>
            <a:ext cx="10515600" cy="676656"/>
          </a:xfrm>
          <a:prstGeom prst="rect">
            <a:avLst/>
          </a:prstGeom>
          <a:noFill/>
          <a:ln/>
        </p:spPr>
        <p:txBody>
          <a:bodyPr wrap="square" rtlCol="0"/>
          <a:lstStyle>
            <a:lvl1pPr marL="0" indent="0" algn="l">
              <a:buNone/>
              <a:defRPr lang="en-US" sz="3200" b="1" dirty="0">
                <a:solidFill>
                  <a:srgbClr val="000000"/>
                </a:solidFill>
                <a:latin typeface="Times New Roman" pitchFamily="34" charset="0"/>
                <a:ea typeface="Times New Roman" pitchFamily="34" charset="-122"/>
                <a:cs typeface="Times New Roman" pitchFamily="34" charset="-120"/>
              </a:defRPr>
            </a:lvl1pPr>
          </a:lstStyle>
          <a:p>
            <a:pPr marL="0" indent="0" algn="l">
              <a:buNone/>
            </a:pPr>
            <a:endParaRPr lang="en-US" sz="3200" dirty="0"/>
          </a:p>
        </p:txBody>
      </p:sp>
      <p:sp>
        <p:nvSpPr>
          <p:cNvPr id="4" name="Text 1"/>
          <p:cNvSpPr>
            <a:spLocks noGrp="1"/>
          </p:cNvSpPr>
          <p:nvPr>
            <p:ph type="body" idx="102" hasCustomPrompt="1"/>
          </p:nvPr>
        </p:nvSpPr>
        <p:spPr>
          <a:xfrm>
            <a:off x="1005840" y="987552"/>
            <a:ext cx="10515600" cy="384048"/>
          </a:xfrm>
          <a:prstGeom prst="rect">
            <a:avLst/>
          </a:prstGeom>
          <a:noFill/>
          <a:ln/>
        </p:spPr>
        <p:txBody>
          <a:bodyPr wrap="square" rtlCol="0"/>
          <a:lstStyle>
            <a:lvl1pPr marL="0" indent="0" algn="l">
              <a:buNone/>
              <a:defRPr lang="en-US" sz="1800" dirty="0">
                <a:solidFill>
                  <a:srgbClr val="7F7F7F"/>
                </a:solidFill>
                <a:latin typeface="Times New Roman" pitchFamily="34" charset="0"/>
                <a:ea typeface="Times New Roman" pitchFamily="34" charset="-122"/>
                <a:cs typeface="Times New Roman"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20240"/>
            <a:ext cx="10515600" cy="1463040"/>
          </a:xfrm>
          <a:prstGeom prst="rect">
            <a:avLst/>
          </a:prstGeom>
          <a:noFill/>
          <a:ln/>
        </p:spPr>
        <p:txBody>
          <a:bodyPr wrap="square" rtlCol="0"/>
          <a:lstStyle>
            <a:lvl1pPr marL="0" indent="0" algn="l">
              <a:buNone/>
              <a:defRPr lang="en-US" sz="4000" b="1" dirty="0">
                <a:solidFill>
                  <a:srgbClr val="FFFFFF"/>
                </a:solidFill>
                <a:latin typeface="맑은 고딕" pitchFamily="34" charset="0"/>
                <a:ea typeface="맑은 고딕" pitchFamily="34" charset="-122"/>
                <a:cs typeface="맑은 고딕"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822960" y="3611880"/>
            <a:ext cx="10515600" cy="548640"/>
          </a:xfrm>
          <a:prstGeom prst="rect">
            <a:avLst/>
          </a:prstGeom>
          <a:noFill/>
          <a:ln/>
        </p:spPr>
        <p:txBody>
          <a:bodyPr wrap="square" rtlCol="0"/>
          <a:lstStyle>
            <a:lvl1pPr marL="0" indent="0" algn="l">
              <a:buNone/>
              <a:defRPr lang="en-US" sz="2000" dirty="0">
                <a:solidFill>
                  <a:srgbClr val="D6E4F0"/>
                </a:solidFill>
                <a:latin typeface="맑은 고딕" pitchFamily="34" charset="0"/>
                <a:ea typeface="맑은 고딕" pitchFamily="34" charset="-122"/>
                <a:cs typeface="맑은 고딕" pitchFamily="34" charset="-120"/>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8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594746-097D-16C6-7AB9-293882E8E511}"/>
              </a:ext>
            </a:extLst>
          </p:cNvPr>
          <p:cNvSpPr>
            <a:spLocks noGrp="1"/>
          </p:cNvSpPr>
          <p:nvPr>
            <p:ph type="title" idx="101"/>
          </p:nvPr>
        </p:nvSpPr>
        <p:spPr>
          <a:xfrm>
            <a:off x="894874" y="2322322"/>
            <a:ext cx="10402252" cy="676656"/>
          </a:xfrm>
        </p:spPr>
        <p:txBody>
          <a:bodyPr/>
          <a:lstStyle/>
          <a:p>
            <a:r>
              <a:rPr lang="en-US" altLang="ko-KR" sz="2800" b="0" spc="-150" dirty="0">
                <a:latin typeface="+mj-ea"/>
                <a:ea typeface="+mj-ea"/>
              </a:rPr>
              <a:t>Gaussian Mixture Model</a:t>
            </a:r>
            <a:r>
              <a:rPr lang="ko-KR" altLang="en-US" sz="2800" b="0" spc="-150" dirty="0">
                <a:latin typeface="+mj-ea"/>
                <a:ea typeface="+mj-ea"/>
              </a:rPr>
              <a:t>을 활용한 유압프레스 공정의 조기 이상 탐지</a:t>
            </a:r>
          </a:p>
        </p:txBody>
      </p:sp>
      <p:sp>
        <p:nvSpPr>
          <p:cNvPr id="4" name="TextBox 3">
            <a:extLst>
              <a:ext uri="{FF2B5EF4-FFF2-40B4-BE49-F238E27FC236}">
                <a16:creationId xmlns:a16="http://schemas.microsoft.com/office/drawing/2014/main" id="{D222EFA4-187C-FBBD-D681-5C886A4E43C4}"/>
              </a:ext>
            </a:extLst>
          </p:cNvPr>
          <p:cNvSpPr txBox="1"/>
          <p:nvPr/>
        </p:nvSpPr>
        <p:spPr>
          <a:xfrm>
            <a:off x="3541713" y="4044950"/>
            <a:ext cx="5108575" cy="1200329"/>
          </a:xfrm>
          <a:prstGeom prst="rect">
            <a:avLst/>
          </a:prstGeom>
          <a:noFill/>
        </p:spPr>
        <p:txBody>
          <a:bodyPr wrap="square" rtlCol="0">
            <a:spAutoFit/>
          </a:bodyPr>
          <a:lstStyle/>
          <a:p>
            <a:pPr algn="ctr"/>
            <a:r>
              <a:rPr lang="en-US" altLang="ko-KR" dirty="0"/>
              <a:t>KAMP(Korea AI Manufacturing Platform) </a:t>
            </a:r>
            <a:r>
              <a:rPr lang="en-US" altLang="ko-KR" dirty="0" err="1"/>
              <a:t>제조AI</a:t>
            </a:r>
            <a:r>
              <a:rPr lang="en-US" altLang="ko-KR" dirty="0"/>
              <a:t> </a:t>
            </a:r>
            <a:r>
              <a:rPr lang="en-US" altLang="ko-KR" dirty="0" err="1"/>
              <a:t>경진대회</a:t>
            </a:r>
            <a:endParaRPr lang="en-US" altLang="ko-KR" dirty="0"/>
          </a:p>
          <a:p>
            <a:pPr algn="ctr"/>
            <a:endParaRPr lang="en-US" altLang="ko-KR" dirty="0"/>
          </a:p>
          <a:p>
            <a:pPr algn="ctr"/>
            <a:r>
              <a:rPr lang="ko-KR" altLang="en-US" b="1" dirty="0" err="1"/>
              <a:t>곽준우</a:t>
            </a:r>
            <a:r>
              <a:rPr lang="en-US" altLang="ko-KR" b="1" dirty="0"/>
              <a:t>,</a:t>
            </a:r>
            <a:r>
              <a:rPr lang="ko-KR" altLang="en-US" b="1" dirty="0" err="1"/>
              <a:t>천세환</a:t>
            </a:r>
            <a:r>
              <a:rPr lang="en-US" altLang="ko-KR" b="1" dirty="0"/>
              <a:t>,</a:t>
            </a:r>
            <a:r>
              <a:rPr lang="ko-KR" altLang="en-US" b="1" dirty="0"/>
              <a:t>최정우</a:t>
            </a:r>
          </a:p>
        </p:txBody>
      </p:sp>
      <p:sp>
        <p:nvSpPr>
          <p:cNvPr id="5" name="직사각형 4">
            <a:extLst>
              <a:ext uri="{FF2B5EF4-FFF2-40B4-BE49-F238E27FC236}">
                <a16:creationId xmlns:a16="http://schemas.microsoft.com/office/drawing/2014/main" id="{D79A46FF-243B-0F44-9D95-1D09F8B2B823}"/>
              </a:ext>
            </a:extLst>
          </p:cNvPr>
          <p:cNvSpPr/>
          <p:nvPr/>
        </p:nvSpPr>
        <p:spPr>
          <a:xfrm>
            <a:off x="1206500" y="3383153"/>
            <a:ext cx="9601200" cy="288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5017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목차</a:t>
            </a:r>
            <a:endParaRPr lang="en-US" dirty="0">
              <a:latin typeface="+mj-ea"/>
              <a:ea typeface="+mj-ea"/>
            </a:endParaRPr>
          </a:p>
        </p:txBody>
      </p:sp>
      <p:sp>
        <p:nvSpPr>
          <p:cNvPr id="44"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a:t>
            </a:fld>
            <a:endParaRPr lang="en-US"/>
          </a:p>
        </p:txBody>
      </p:sp>
      <p:cxnSp>
        <p:nvCxnSpPr>
          <p:cNvPr id="45" name="toc line"/>
          <p:cNvCxnSpPr>
            <a:cxnSpLocks/>
          </p:cNvCxnSpPr>
          <p:nvPr/>
        </p:nvCxnSpPr>
        <p:spPr>
          <a:xfrm>
            <a:off x="1005840" y="3391016"/>
            <a:ext cx="10515600" cy="0"/>
          </a:xfrm>
          <a:prstGeom prst="line">
            <a:avLst/>
          </a:prstGeom>
          <a:ln w="95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num1"/>
          <p:cNvSpPr txBox="1"/>
          <p:nvPr/>
        </p:nvSpPr>
        <p:spPr>
          <a:xfrm>
            <a:off x="1005840" y="2824088"/>
            <a:ext cx="731520" cy="457200"/>
          </a:xfrm>
          <a:prstGeom prst="rect">
            <a:avLst/>
          </a:prstGeom>
          <a:noFill/>
        </p:spPr>
        <p:txBody>
          <a:bodyPr wrap="square" lIns="0" tIns="0" rIns="0" bIns="0" anchor="t">
            <a:spAutoFit/>
          </a:bodyPr>
          <a:lstStyle/>
          <a:p>
            <a:pPr algn="l">
              <a:spcAft>
                <a:spcPts val="0"/>
              </a:spcAft>
            </a:pPr>
            <a:r>
              <a:rPr sz="2800" b="1">
                <a:solidFill>
                  <a:srgbClr val="1F4E79"/>
                </a:solidFill>
                <a:latin typeface="Times New Roman"/>
                <a:ea typeface="Times New Roman"/>
                <a:cs typeface="Times New Roman"/>
              </a:rPr>
              <a:t>1</a:t>
            </a:r>
          </a:p>
        </p:txBody>
      </p:sp>
      <p:sp>
        <p:nvSpPr>
          <p:cNvPr id="48" name="dot1"/>
          <p:cNvSpPr/>
          <p:nvPr/>
        </p:nvSpPr>
        <p:spPr>
          <a:xfrm>
            <a:off x="1005840" y="3331580"/>
            <a:ext cx="118872" cy="118872"/>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name1"/>
          <p:cNvSpPr txBox="1"/>
          <p:nvPr/>
        </p:nvSpPr>
        <p:spPr>
          <a:xfrm>
            <a:off x="1005840" y="3573896"/>
            <a:ext cx="1965960" cy="640080"/>
          </a:xfrm>
          <a:prstGeom prst="rect">
            <a:avLst/>
          </a:prstGeom>
          <a:noFill/>
        </p:spPr>
        <p:txBody>
          <a:bodyPr wrap="square" lIns="0" tIns="0" rIns="0" bIns="0" anchor="t">
            <a:spAutoFit/>
          </a:bodyPr>
          <a:lstStyle/>
          <a:p>
            <a:pPr algn="l">
              <a:spcAft>
                <a:spcPts val="0"/>
              </a:spcAft>
            </a:pPr>
            <a:r>
              <a:rPr sz="1800" b="1">
                <a:solidFill>
                  <a:srgbClr val="262626"/>
                </a:solidFill>
                <a:latin typeface="맑은 고딕"/>
                <a:ea typeface="맑은 고딕"/>
                <a:cs typeface="맑은 고딕"/>
              </a:rPr>
              <a:t>서론</a:t>
            </a:r>
          </a:p>
          <a:p>
            <a:pPr algn="l">
              <a:spcAft>
                <a:spcPts val="0"/>
              </a:spcAft>
            </a:pPr>
            <a:r>
              <a:rPr sz="1400" b="0">
                <a:solidFill>
                  <a:srgbClr val="7F7F7F"/>
                </a:solidFill>
                <a:latin typeface="Times New Roman"/>
                <a:ea typeface="Times New Roman"/>
                <a:cs typeface="Times New Roman"/>
              </a:rPr>
              <a:t>Introduction</a:t>
            </a:r>
          </a:p>
        </p:txBody>
      </p:sp>
      <p:sp>
        <p:nvSpPr>
          <p:cNvPr id="51" name="num2"/>
          <p:cNvSpPr txBox="1"/>
          <p:nvPr/>
        </p:nvSpPr>
        <p:spPr>
          <a:xfrm>
            <a:off x="3108960" y="2824088"/>
            <a:ext cx="731520" cy="457200"/>
          </a:xfrm>
          <a:prstGeom prst="rect">
            <a:avLst/>
          </a:prstGeom>
          <a:noFill/>
        </p:spPr>
        <p:txBody>
          <a:bodyPr wrap="square" lIns="0" tIns="0" rIns="0" bIns="0" anchor="t">
            <a:spAutoFit/>
          </a:bodyPr>
          <a:lstStyle/>
          <a:p>
            <a:pPr algn="l">
              <a:spcAft>
                <a:spcPts val="0"/>
              </a:spcAft>
            </a:pPr>
            <a:r>
              <a:rPr sz="2800" b="1">
                <a:solidFill>
                  <a:srgbClr val="1F4E79"/>
                </a:solidFill>
                <a:latin typeface="Times New Roman"/>
                <a:ea typeface="Times New Roman"/>
                <a:cs typeface="Times New Roman"/>
              </a:rPr>
              <a:t>2</a:t>
            </a:r>
          </a:p>
        </p:txBody>
      </p:sp>
      <p:sp>
        <p:nvSpPr>
          <p:cNvPr id="53" name="dot2"/>
          <p:cNvSpPr/>
          <p:nvPr/>
        </p:nvSpPr>
        <p:spPr>
          <a:xfrm>
            <a:off x="3108960" y="3331580"/>
            <a:ext cx="118872" cy="118872"/>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name2"/>
          <p:cNvSpPr txBox="1"/>
          <p:nvPr/>
        </p:nvSpPr>
        <p:spPr>
          <a:xfrm>
            <a:off x="3108960" y="3573896"/>
            <a:ext cx="1965960" cy="640080"/>
          </a:xfrm>
          <a:prstGeom prst="rect">
            <a:avLst/>
          </a:prstGeom>
          <a:noFill/>
        </p:spPr>
        <p:txBody>
          <a:bodyPr wrap="square" lIns="0" tIns="0" rIns="0" bIns="0" anchor="t">
            <a:spAutoFit/>
          </a:bodyPr>
          <a:lstStyle/>
          <a:p>
            <a:pPr algn="l">
              <a:spcAft>
                <a:spcPts val="0"/>
              </a:spcAft>
            </a:pPr>
            <a:r>
              <a:rPr sz="1800" b="1">
                <a:solidFill>
                  <a:srgbClr val="262626"/>
                </a:solidFill>
                <a:latin typeface="맑은 고딕"/>
                <a:ea typeface="맑은 고딕"/>
                <a:cs typeface="맑은 고딕"/>
              </a:rPr>
              <a:t>사전지식</a:t>
            </a:r>
          </a:p>
          <a:p>
            <a:pPr algn="l">
              <a:spcAft>
                <a:spcPts val="0"/>
              </a:spcAft>
            </a:pPr>
            <a:r>
              <a:rPr sz="1400" b="0">
                <a:solidFill>
                  <a:srgbClr val="7F7F7F"/>
                </a:solidFill>
                <a:latin typeface="Times New Roman"/>
                <a:ea typeface="Times New Roman"/>
                <a:cs typeface="Times New Roman"/>
              </a:rPr>
              <a:t>Preliminary</a:t>
            </a:r>
          </a:p>
        </p:txBody>
      </p:sp>
      <p:sp>
        <p:nvSpPr>
          <p:cNvPr id="56" name="num3"/>
          <p:cNvSpPr txBox="1"/>
          <p:nvPr/>
        </p:nvSpPr>
        <p:spPr>
          <a:xfrm>
            <a:off x="5212080" y="2824088"/>
            <a:ext cx="731520" cy="457200"/>
          </a:xfrm>
          <a:prstGeom prst="rect">
            <a:avLst/>
          </a:prstGeom>
          <a:noFill/>
        </p:spPr>
        <p:txBody>
          <a:bodyPr wrap="square" lIns="0" tIns="0" rIns="0" bIns="0" anchor="t">
            <a:spAutoFit/>
          </a:bodyPr>
          <a:lstStyle/>
          <a:p>
            <a:pPr algn="l">
              <a:spcAft>
                <a:spcPts val="0"/>
              </a:spcAft>
            </a:pPr>
            <a:r>
              <a:rPr sz="2800" b="1">
                <a:solidFill>
                  <a:srgbClr val="1F4E79"/>
                </a:solidFill>
                <a:latin typeface="Times New Roman"/>
                <a:ea typeface="Times New Roman"/>
                <a:cs typeface="Times New Roman"/>
              </a:rPr>
              <a:t>3</a:t>
            </a:r>
          </a:p>
        </p:txBody>
      </p:sp>
      <p:sp>
        <p:nvSpPr>
          <p:cNvPr id="58" name="dot3"/>
          <p:cNvSpPr/>
          <p:nvPr/>
        </p:nvSpPr>
        <p:spPr>
          <a:xfrm>
            <a:off x="5212080" y="3331580"/>
            <a:ext cx="118872" cy="118872"/>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name3"/>
          <p:cNvSpPr txBox="1"/>
          <p:nvPr/>
        </p:nvSpPr>
        <p:spPr>
          <a:xfrm>
            <a:off x="5212080" y="3573896"/>
            <a:ext cx="1965960" cy="640080"/>
          </a:xfrm>
          <a:prstGeom prst="rect">
            <a:avLst/>
          </a:prstGeom>
          <a:noFill/>
        </p:spPr>
        <p:txBody>
          <a:bodyPr wrap="square" lIns="0" tIns="0" rIns="0" bIns="0" anchor="t">
            <a:spAutoFit/>
          </a:bodyPr>
          <a:lstStyle/>
          <a:p>
            <a:pPr algn="l">
              <a:spcAft>
                <a:spcPts val="0"/>
              </a:spcAft>
            </a:pPr>
            <a:r>
              <a:rPr sz="1800" b="1">
                <a:solidFill>
                  <a:srgbClr val="262626"/>
                </a:solidFill>
                <a:latin typeface="맑은 고딕"/>
                <a:ea typeface="맑은 고딕"/>
                <a:cs typeface="맑은 고딕"/>
              </a:rPr>
              <a:t>제안방법론</a:t>
            </a:r>
          </a:p>
          <a:p>
            <a:pPr algn="l">
              <a:spcAft>
                <a:spcPts val="0"/>
              </a:spcAft>
            </a:pPr>
            <a:r>
              <a:rPr sz="1400" b="0">
                <a:solidFill>
                  <a:srgbClr val="7F7F7F"/>
                </a:solidFill>
                <a:latin typeface="Times New Roman"/>
                <a:ea typeface="Times New Roman"/>
                <a:cs typeface="Times New Roman"/>
              </a:rPr>
              <a:t>Proposed Method</a:t>
            </a:r>
          </a:p>
        </p:txBody>
      </p:sp>
      <p:sp>
        <p:nvSpPr>
          <p:cNvPr id="61" name="num4"/>
          <p:cNvSpPr txBox="1"/>
          <p:nvPr/>
        </p:nvSpPr>
        <p:spPr>
          <a:xfrm>
            <a:off x="7315200" y="2824088"/>
            <a:ext cx="731520" cy="457200"/>
          </a:xfrm>
          <a:prstGeom prst="rect">
            <a:avLst/>
          </a:prstGeom>
          <a:noFill/>
        </p:spPr>
        <p:txBody>
          <a:bodyPr wrap="square" lIns="0" tIns="0" rIns="0" bIns="0" anchor="t">
            <a:spAutoFit/>
          </a:bodyPr>
          <a:lstStyle/>
          <a:p>
            <a:pPr algn="l">
              <a:spcAft>
                <a:spcPts val="0"/>
              </a:spcAft>
            </a:pPr>
            <a:r>
              <a:rPr sz="2800" b="1">
                <a:solidFill>
                  <a:srgbClr val="1F4E79"/>
                </a:solidFill>
                <a:latin typeface="Times New Roman"/>
                <a:ea typeface="Times New Roman"/>
                <a:cs typeface="Times New Roman"/>
              </a:rPr>
              <a:t>4</a:t>
            </a:r>
          </a:p>
        </p:txBody>
      </p:sp>
      <p:sp>
        <p:nvSpPr>
          <p:cNvPr id="63" name="dot4"/>
          <p:cNvSpPr/>
          <p:nvPr/>
        </p:nvSpPr>
        <p:spPr>
          <a:xfrm>
            <a:off x="7315200" y="3331580"/>
            <a:ext cx="118872" cy="118872"/>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name4"/>
          <p:cNvSpPr txBox="1"/>
          <p:nvPr/>
        </p:nvSpPr>
        <p:spPr>
          <a:xfrm>
            <a:off x="7315200" y="3573896"/>
            <a:ext cx="1965960" cy="640080"/>
          </a:xfrm>
          <a:prstGeom prst="rect">
            <a:avLst/>
          </a:prstGeom>
          <a:noFill/>
        </p:spPr>
        <p:txBody>
          <a:bodyPr wrap="square" lIns="0" tIns="0" rIns="0" bIns="0" anchor="t">
            <a:spAutoFit/>
          </a:bodyPr>
          <a:lstStyle/>
          <a:p>
            <a:pPr algn="l">
              <a:spcAft>
                <a:spcPts val="0"/>
              </a:spcAft>
            </a:pPr>
            <a:r>
              <a:rPr sz="1800" b="1">
                <a:solidFill>
                  <a:srgbClr val="262626"/>
                </a:solidFill>
                <a:latin typeface="맑은 고딕"/>
                <a:ea typeface="맑은 고딕"/>
                <a:cs typeface="맑은 고딕"/>
              </a:rPr>
              <a:t>실험</a:t>
            </a:r>
          </a:p>
          <a:p>
            <a:pPr algn="l">
              <a:spcAft>
                <a:spcPts val="0"/>
              </a:spcAft>
            </a:pPr>
            <a:r>
              <a:rPr sz="1400" b="0">
                <a:solidFill>
                  <a:srgbClr val="7F7F7F"/>
                </a:solidFill>
                <a:latin typeface="Times New Roman"/>
                <a:ea typeface="Times New Roman"/>
                <a:cs typeface="Times New Roman"/>
              </a:rPr>
              <a:t>Experiments</a:t>
            </a:r>
          </a:p>
        </p:txBody>
      </p:sp>
      <p:sp>
        <p:nvSpPr>
          <p:cNvPr id="66" name="num5"/>
          <p:cNvSpPr txBox="1"/>
          <p:nvPr/>
        </p:nvSpPr>
        <p:spPr>
          <a:xfrm>
            <a:off x="9418320" y="2824088"/>
            <a:ext cx="731520" cy="457200"/>
          </a:xfrm>
          <a:prstGeom prst="rect">
            <a:avLst/>
          </a:prstGeom>
          <a:noFill/>
        </p:spPr>
        <p:txBody>
          <a:bodyPr wrap="square" lIns="0" tIns="0" rIns="0" bIns="0" anchor="t">
            <a:spAutoFit/>
          </a:bodyPr>
          <a:lstStyle/>
          <a:p>
            <a:pPr algn="l">
              <a:spcAft>
                <a:spcPts val="0"/>
              </a:spcAft>
            </a:pPr>
            <a:r>
              <a:rPr sz="2800" b="1">
                <a:solidFill>
                  <a:srgbClr val="1F4E79"/>
                </a:solidFill>
                <a:latin typeface="Times New Roman"/>
                <a:ea typeface="Times New Roman"/>
                <a:cs typeface="Times New Roman"/>
              </a:rPr>
              <a:t>5</a:t>
            </a:r>
          </a:p>
        </p:txBody>
      </p:sp>
      <p:sp>
        <p:nvSpPr>
          <p:cNvPr id="68" name="dot5"/>
          <p:cNvSpPr/>
          <p:nvPr/>
        </p:nvSpPr>
        <p:spPr>
          <a:xfrm>
            <a:off x="9418320" y="3331580"/>
            <a:ext cx="118872" cy="118872"/>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name5"/>
          <p:cNvSpPr txBox="1"/>
          <p:nvPr/>
        </p:nvSpPr>
        <p:spPr>
          <a:xfrm>
            <a:off x="9418320" y="3573896"/>
            <a:ext cx="1965960" cy="640080"/>
          </a:xfrm>
          <a:prstGeom prst="rect">
            <a:avLst/>
          </a:prstGeom>
          <a:noFill/>
        </p:spPr>
        <p:txBody>
          <a:bodyPr wrap="square" lIns="0" tIns="0" rIns="0" bIns="0" anchor="t">
            <a:spAutoFit/>
          </a:bodyPr>
          <a:lstStyle/>
          <a:p>
            <a:pPr algn="l">
              <a:spcAft>
                <a:spcPts val="0"/>
              </a:spcAft>
            </a:pPr>
            <a:r>
              <a:rPr sz="1800" b="1">
                <a:solidFill>
                  <a:srgbClr val="262626"/>
                </a:solidFill>
                <a:latin typeface="맑은 고딕"/>
                <a:ea typeface="맑은 고딕"/>
                <a:cs typeface="맑은 고딕"/>
              </a:rPr>
              <a:t>현장 활용성</a:t>
            </a:r>
          </a:p>
          <a:p>
            <a:pPr algn="l">
              <a:spcAft>
                <a:spcPts val="0"/>
              </a:spcAft>
            </a:pPr>
            <a:r>
              <a:rPr sz="1400" b="0">
                <a:solidFill>
                  <a:srgbClr val="7F7F7F"/>
                </a:solidFill>
                <a:latin typeface="Times New Roman"/>
                <a:ea typeface="Times New Roman"/>
                <a:cs typeface="Times New Roman"/>
              </a:rPr>
              <a:t>Field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sz="3200" dirty="0">
                <a:latin typeface="+mj-ea"/>
                <a:ea typeface="+mj-ea"/>
              </a:rPr>
              <a:t>서론</a:t>
            </a:r>
            <a:endParaRPr lang="en-US" sz="3200"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Fineblanking Press and Hydraulic Pump</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유압펌프 이상은 왜 프레스 공정의 문제가 될까?</a:t>
            </a:r>
            <a:endParaRPr lang="en-US" sz="2100" dirty="0"/>
          </a:p>
        </p:txBody>
      </p:sp>
      <p:sp>
        <p:nvSpPr>
          <p:cNvPr id="5" name="bullets"/>
          <p:cNvSpPr txBox="1"/>
          <p:nvPr/>
        </p:nvSpPr>
        <p:spPr>
          <a:xfrm>
            <a:off x="1280160" y="2012400"/>
            <a:ext cx="10332720" cy="128016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공정 조건: 소재 고정력·반대 방향 힘을 먼저 건 뒤 절단력 작용 → 세 힘이 안정적으로 유지되어야 정밀 절단면 확보</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펌프 이상의 영향: 프레스 압력 불안정 → 가공품 불량·설비 비가동·검사 및 재작업 </a:t>
            </a:r>
            <a:r>
              <a:rPr lang="en-US" sz="1600" dirty="0" err="1">
                <a:solidFill>
                  <a:srgbClr val="262626"/>
                </a:solidFill>
                <a:latin typeface="맑은 고딕" pitchFamily="34" charset="0"/>
                <a:ea typeface="맑은 고딕" pitchFamily="34" charset="-122"/>
                <a:cs typeface="맑은 고딕" pitchFamily="34" charset="-120"/>
              </a:rPr>
              <a:t>부담</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증가</a:t>
            </a:r>
            <a:endParaRPr lang="en-US" sz="1600" dirty="0"/>
          </a:p>
          <a:p>
            <a:pPr marL="742950" lvl="1" indent="-285750">
              <a:spcAft>
                <a:spcPts val="600"/>
              </a:spcAft>
              <a:buSzPct val="100000"/>
              <a:buFont typeface="Wingdings" panose="05000000000000000000" pitchFamily="2" charset="2"/>
              <a:buChar char="ü"/>
            </a:pPr>
            <a:r>
              <a:rPr lang="en-US" sz="1400" dirty="0" err="1">
                <a:solidFill>
                  <a:srgbClr val="404040"/>
                </a:solidFill>
                <a:latin typeface="맑은 고딕" pitchFamily="34" charset="0"/>
                <a:ea typeface="맑은 고딕" pitchFamily="34" charset="-122"/>
                <a:cs typeface="맑은 고딕" pitchFamily="34" charset="-120"/>
              </a:rPr>
              <a:t>주</a:t>
            </a:r>
            <a:r>
              <a:rPr lang="en-US" sz="1400" dirty="0" err="1">
                <a:latin typeface="맑은 고딕" pitchFamily="34" charset="0"/>
                <a:ea typeface="맑은 고딕" pitchFamily="34" charset="-122"/>
                <a:cs typeface="맑은 고딕" pitchFamily="34" charset="-120"/>
              </a:rPr>
              <a:t>기</a:t>
            </a:r>
            <a:r>
              <a:rPr lang="ko-KR" altLang="en-US" sz="1400" dirty="0">
                <a:latin typeface="맑은 고딕" pitchFamily="34" charset="0"/>
                <a:ea typeface="맑은 고딕" pitchFamily="34" charset="-122"/>
                <a:cs typeface="맑은 고딕" pitchFamily="34" charset="-120"/>
              </a:rPr>
              <a:t>적 </a:t>
            </a:r>
            <a:r>
              <a:rPr lang="en-US" sz="1400" dirty="0" err="1">
                <a:latin typeface="맑은 고딕" pitchFamily="34" charset="0"/>
                <a:ea typeface="맑은 고딕" pitchFamily="34" charset="-122"/>
                <a:cs typeface="맑은 고딕" pitchFamily="34" charset="-120"/>
              </a:rPr>
              <a:t>점검</a:t>
            </a:r>
            <a:r>
              <a:rPr lang="ko-KR" altLang="en-US" sz="1400" dirty="0">
                <a:latin typeface="맑은 고딕" pitchFamily="34" charset="0"/>
                <a:ea typeface="맑은 고딕" pitchFamily="34" charset="-122"/>
                <a:cs typeface="맑은 고딕" pitchFamily="34" charset="-120"/>
              </a:rPr>
              <a:t> 사이에</a:t>
            </a:r>
            <a:r>
              <a:rPr lang="en-US" sz="1400" dirty="0">
                <a:latin typeface="맑은 고딕" pitchFamily="34" charset="0"/>
                <a:ea typeface="맑은 고딕" pitchFamily="34" charset="-122"/>
                <a:cs typeface="맑은 고딕" pitchFamily="34" charset="-120"/>
              </a:rPr>
              <a:t> </a:t>
            </a:r>
            <a:r>
              <a:rPr lang="ko-KR" altLang="en-US" sz="1400" dirty="0">
                <a:latin typeface="맑은 고딕" pitchFamily="34" charset="0"/>
                <a:ea typeface="맑은 고딕" pitchFamily="34" charset="-122"/>
                <a:cs typeface="맑은 고딕" pitchFamily="34" charset="-120"/>
              </a:rPr>
              <a:t>이상이 발생할 경우 손해 발생</a:t>
            </a:r>
            <a:r>
              <a:rPr lang="en-US" sz="1400" dirty="0">
                <a:latin typeface="맑은 고딕" pitchFamily="34" charset="0"/>
                <a:ea typeface="맑은 고딕" pitchFamily="34" charset="-122"/>
                <a:cs typeface="맑은 고딕" pitchFamily="34" charset="-120"/>
              </a:rPr>
              <a:t>, 작업자 경험에 따라 판단 기준이 달라짐</a:t>
            </a:r>
            <a:endParaRPr lang="en-US" sz="1600" dirty="0"/>
          </a:p>
        </p:txBody>
      </p:sp>
      <p:sp>
        <p:nvSpPr>
          <p:cNvPr id="7" name="Text 5"/>
          <p:cNvSpPr txBox="1"/>
          <p:nvPr/>
        </p:nvSpPr>
        <p:spPr>
          <a:xfrm>
            <a:off x="1188720" y="3794760"/>
            <a:ext cx="1554480" cy="960120"/>
          </a:xfrm>
          <a:prstGeom prst="rect">
            <a:avLst/>
          </a:prstGeom>
          <a:noFill/>
          <a:ln/>
        </p:spPr>
        <p:txBody>
          <a:bodyPr wrap="square" lIns="0" tIns="0" rIns="0" bIns="0" rtlCol="0" anchor="ctr"/>
          <a:lstStyle/>
          <a:p>
            <a:pPr marL="0" indent="0" algn="ctr">
              <a:spcAft>
                <a:spcPts val="600"/>
              </a:spcAft>
              <a:buNone/>
            </a:pPr>
            <a:r>
              <a:rPr lang="en-US" sz="1600" b="1" dirty="0">
                <a:solidFill>
                  <a:srgbClr val="C00000"/>
                </a:solidFill>
                <a:latin typeface="맑은 고딕" pitchFamily="34" charset="0"/>
                <a:ea typeface="맑은 고딕" pitchFamily="34" charset="-122"/>
                <a:cs typeface="맑은 고딕" pitchFamily="34" charset="-120"/>
              </a:rPr>
              <a:t>유압펌프 이상</a:t>
            </a:r>
            <a:endParaRPr lang="en-US" sz="1600" dirty="0"/>
          </a:p>
          <a:p>
            <a:pPr marL="0" indent="0" algn="ctr">
              <a:spcAft>
                <a:spcPts val="300"/>
              </a:spcAft>
              <a:buNone/>
            </a:pPr>
            <a:r>
              <a:rPr lang="en-US" sz="1300" dirty="0">
                <a:solidFill>
                  <a:srgbClr val="262626"/>
                </a:solidFill>
                <a:latin typeface="맑은 고딕" pitchFamily="34" charset="0"/>
                <a:ea typeface="맑은 고딕" pitchFamily="34" charset="-122"/>
                <a:cs typeface="맑은 고딕" pitchFamily="34" charset="-120"/>
              </a:rPr>
              <a:t>진동·전류 변화</a:t>
            </a:r>
            <a:endParaRPr lang="en-US" sz="1600" dirty="0"/>
          </a:p>
        </p:txBody>
      </p:sp>
      <p:sp>
        <p:nvSpPr>
          <p:cNvPr id="8" name="arrow"/>
          <p:cNvSpPr/>
          <p:nvPr/>
        </p:nvSpPr>
        <p:spPr>
          <a:xfrm>
            <a:off x="2953512" y="4114800"/>
            <a:ext cx="320040" cy="320040"/>
          </a:xfrm>
          <a:prstGeom prst="rightArrow">
            <a:avLst/>
          </a:prstGeom>
          <a:solidFill>
            <a:srgbClr val="1F4E79"/>
          </a:solidFill>
          <a:ln w="12700">
            <a:solidFill>
              <a:srgbClr val="1F4E79"/>
            </a:solidFill>
            <a:prstDash val="solid"/>
          </a:ln>
        </p:spPr>
        <p:txBody>
          <a:bodyPr/>
          <a:lstStyle/>
          <a:p>
            <a:endParaRPr lang="ko-KR" altLang="en-US"/>
          </a:p>
        </p:txBody>
      </p:sp>
      <p:sp>
        <p:nvSpPr>
          <p:cNvPr id="10" name="Text 8"/>
          <p:cNvSpPr txBox="1"/>
          <p:nvPr/>
        </p:nvSpPr>
        <p:spPr>
          <a:xfrm>
            <a:off x="3520440" y="3794760"/>
            <a:ext cx="1554480" cy="960120"/>
          </a:xfrm>
          <a:prstGeom prst="rect">
            <a:avLst/>
          </a:prstGeom>
          <a:noFill/>
          <a:ln/>
        </p:spPr>
        <p:txBody>
          <a:bodyPr wrap="square" lIns="0" tIns="0" rIns="0" bIns="0" rtlCol="0" anchor="ctr"/>
          <a:lstStyle/>
          <a:p>
            <a:pPr marL="0" indent="0" algn="ctr">
              <a:spcAft>
                <a:spcPts val="600"/>
              </a:spcAft>
              <a:buNone/>
            </a:pPr>
            <a:r>
              <a:rPr lang="en-US" sz="1600" b="1" dirty="0">
                <a:solidFill>
                  <a:srgbClr val="1F4E79"/>
                </a:solidFill>
                <a:latin typeface="맑은 고딕" pitchFamily="34" charset="0"/>
                <a:ea typeface="맑은 고딕" pitchFamily="34" charset="-122"/>
                <a:cs typeface="맑은 고딕" pitchFamily="34" charset="-120"/>
              </a:rPr>
              <a:t>압력 불안정</a:t>
            </a:r>
            <a:endParaRPr lang="en-US" sz="1600" dirty="0"/>
          </a:p>
          <a:p>
            <a:pPr marL="0" indent="0" algn="ctr">
              <a:spcAft>
                <a:spcPts val="300"/>
              </a:spcAft>
              <a:buNone/>
            </a:pPr>
            <a:r>
              <a:rPr lang="en-US" sz="1300" dirty="0">
                <a:solidFill>
                  <a:srgbClr val="262626"/>
                </a:solidFill>
                <a:latin typeface="맑은 고딕" pitchFamily="34" charset="0"/>
                <a:ea typeface="맑은 고딕" pitchFamily="34" charset="-122"/>
                <a:cs typeface="맑은 고딕" pitchFamily="34" charset="-120"/>
              </a:rPr>
              <a:t>세 힘의 균형 붕괴</a:t>
            </a:r>
            <a:endParaRPr lang="en-US" sz="1600" dirty="0"/>
          </a:p>
        </p:txBody>
      </p:sp>
      <p:sp>
        <p:nvSpPr>
          <p:cNvPr id="11" name="arrow"/>
          <p:cNvSpPr/>
          <p:nvPr/>
        </p:nvSpPr>
        <p:spPr>
          <a:xfrm>
            <a:off x="5285232" y="4114800"/>
            <a:ext cx="320040" cy="320040"/>
          </a:xfrm>
          <a:prstGeom prst="rightArrow">
            <a:avLst/>
          </a:prstGeom>
          <a:solidFill>
            <a:srgbClr val="1F4E79"/>
          </a:solidFill>
          <a:ln w="12700">
            <a:solidFill>
              <a:srgbClr val="1F4E79"/>
            </a:solidFill>
            <a:prstDash val="solid"/>
          </a:ln>
        </p:spPr>
        <p:txBody>
          <a:bodyPr/>
          <a:lstStyle/>
          <a:p>
            <a:endParaRPr lang="ko-KR" altLang="en-US"/>
          </a:p>
        </p:txBody>
      </p:sp>
      <p:sp>
        <p:nvSpPr>
          <p:cNvPr id="13" name="Text 11"/>
          <p:cNvSpPr txBox="1"/>
          <p:nvPr/>
        </p:nvSpPr>
        <p:spPr>
          <a:xfrm>
            <a:off x="5852160" y="3794760"/>
            <a:ext cx="1554480" cy="960120"/>
          </a:xfrm>
          <a:prstGeom prst="rect">
            <a:avLst/>
          </a:prstGeom>
          <a:noFill/>
          <a:ln/>
        </p:spPr>
        <p:txBody>
          <a:bodyPr wrap="square" lIns="0" tIns="0" rIns="0" bIns="0" rtlCol="0" anchor="ctr"/>
          <a:lstStyle/>
          <a:p>
            <a:pPr marL="0" indent="0" algn="ctr">
              <a:spcAft>
                <a:spcPts val="600"/>
              </a:spcAft>
              <a:buNone/>
            </a:pPr>
            <a:r>
              <a:rPr lang="en-US" sz="1600" b="1" dirty="0">
                <a:solidFill>
                  <a:srgbClr val="1F4E79"/>
                </a:solidFill>
                <a:latin typeface="맑은 고딕" pitchFamily="34" charset="0"/>
                <a:ea typeface="맑은 고딕" pitchFamily="34" charset="-122"/>
                <a:cs typeface="맑은 고딕" pitchFamily="34" charset="-120"/>
              </a:rPr>
              <a:t>불량·비가동</a:t>
            </a:r>
            <a:endParaRPr lang="en-US" sz="1600" dirty="0"/>
          </a:p>
          <a:p>
            <a:pPr marL="0" indent="0" algn="ctr">
              <a:spcAft>
                <a:spcPts val="300"/>
              </a:spcAft>
              <a:buNone/>
            </a:pPr>
            <a:r>
              <a:rPr lang="en-US" sz="1300" dirty="0">
                <a:solidFill>
                  <a:srgbClr val="262626"/>
                </a:solidFill>
                <a:latin typeface="맑은 고딕" pitchFamily="34" charset="0"/>
                <a:ea typeface="맑은 고딕" pitchFamily="34" charset="-122"/>
                <a:cs typeface="맑은 고딕" pitchFamily="34" charset="-120"/>
              </a:rPr>
              <a:t>검사·재작업·정지</a:t>
            </a:r>
            <a:endParaRPr lang="en-US" sz="1600" dirty="0"/>
          </a:p>
        </p:txBody>
      </p:sp>
      <p:pic>
        <p:nvPicPr>
          <p:cNvPr id="14" name="Image 0" descr="/home/claude/deck/feintool.png"/>
          <p:cNvPicPr>
            <a:picLocks noChangeAspect="1"/>
          </p:cNvPicPr>
          <p:nvPr/>
        </p:nvPicPr>
        <p:blipFill>
          <a:blip r:embed="rId3"/>
          <a:stretch>
            <a:fillRect/>
          </a:stretch>
        </p:blipFill>
        <p:spPr>
          <a:xfrm>
            <a:off x="8366760" y="3291840"/>
            <a:ext cx="3075940" cy="2212840"/>
          </a:xfrm>
          <a:prstGeom prst="rect">
            <a:avLst/>
          </a:prstGeom>
        </p:spPr>
      </p:pic>
      <p:sp>
        <p:nvSpPr>
          <p:cNvPr id="15" name="caption"/>
          <p:cNvSpPr txBox="1"/>
          <p:nvPr/>
        </p:nvSpPr>
        <p:spPr>
          <a:xfrm>
            <a:off x="8599170" y="5504680"/>
            <a:ext cx="2785110" cy="475488"/>
          </a:xfrm>
          <a:prstGeom prst="rect">
            <a:avLst/>
          </a:prstGeom>
          <a:noFill/>
          <a:ln/>
        </p:spPr>
        <p:txBody>
          <a:bodyPr wrap="square" lIns="0" tIns="0" rIns="0" bIns="0" rtlCol="0" anchor="t"/>
          <a:lstStyle/>
          <a:p>
            <a:pPr marL="0" indent="0" algn="l">
              <a:buNone/>
            </a:pPr>
            <a:r>
              <a:rPr lang="en-US" sz="1050" dirty="0">
                <a:latin typeface="맑은 고딕" pitchFamily="34" charset="0"/>
                <a:ea typeface="맑은 고딕" pitchFamily="34" charset="-122"/>
                <a:cs typeface="맑은 고딕" pitchFamily="34" charset="-120"/>
              </a:rPr>
              <a:t>F</a:t>
            </a:r>
            <a:r>
              <a:rPr lang="en-US" sz="1050" baseline="-40000" dirty="0">
                <a:latin typeface="맑은 고딕" pitchFamily="34" charset="0"/>
                <a:ea typeface="맑은 고딕" pitchFamily="34" charset="-122"/>
                <a:cs typeface="맑은 고딕" pitchFamily="34" charset="-120"/>
              </a:rPr>
              <a:t>R</a:t>
            </a:r>
            <a:r>
              <a:rPr lang="en-US" sz="1050" dirty="0">
                <a:latin typeface="맑은 고딕" pitchFamily="34" charset="0"/>
                <a:ea typeface="맑은 고딕" pitchFamily="34" charset="-122"/>
                <a:cs typeface="맑은 고딕" pitchFamily="34" charset="-120"/>
              </a:rPr>
              <a:t>: 소재 고정력 / F</a:t>
            </a:r>
            <a:r>
              <a:rPr lang="en-US" sz="1050" baseline="-40000" dirty="0">
                <a:latin typeface="맑은 고딕" pitchFamily="34" charset="0"/>
                <a:ea typeface="맑은 고딕" pitchFamily="34" charset="-122"/>
                <a:cs typeface="맑은 고딕" pitchFamily="34" charset="-120"/>
              </a:rPr>
              <a:t>G</a:t>
            </a:r>
            <a:r>
              <a:rPr lang="en-US" sz="1050" dirty="0">
                <a:latin typeface="맑은 고딕" pitchFamily="34" charset="0"/>
                <a:ea typeface="맑은 고딕" pitchFamily="34" charset="-122"/>
                <a:cs typeface="맑은 고딕" pitchFamily="34" charset="-120"/>
              </a:rPr>
              <a:t>: 반대 방향 힘 / F</a:t>
            </a:r>
            <a:r>
              <a:rPr lang="en-US" sz="1050" baseline="-40000" dirty="0">
                <a:latin typeface="맑은 고딕" pitchFamily="34" charset="0"/>
                <a:ea typeface="맑은 고딕" pitchFamily="34" charset="-122"/>
                <a:cs typeface="맑은 고딕" pitchFamily="34" charset="-120"/>
              </a:rPr>
              <a:t>S</a:t>
            </a:r>
            <a:r>
              <a:rPr lang="en-US" sz="1050" dirty="0">
                <a:latin typeface="맑은 고딕" pitchFamily="34" charset="0"/>
                <a:ea typeface="맑은 고딕" pitchFamily="34" charset="-122"/>
                <a:cs typeface="맑은 고딕" pitchFamily="34" charset="-120"/>
              </a:rPr>
              <a:t>: </a:t>
            </a:r>
            <a:r>
              <a:rPr lang="en-US" sz="1050" dirty="0" err="1">
                <a:latin typeface="맑은 고딕" pitchFamily="34" charset="0"/>
                <a:ea typeface="맑은 고딕" pitchFamily="34" charset="-122"/>
                <a:cs typeface="맑은 고딕" pitchFamily="34" charset="-120"/>
              </a:rPr>
              <a:t>절단력</a:t>
            </a:r>
            <a:r>
              <a:rPr lang="en-US" sz="1050" dirty="0">
                <a:latin typeface="맑은 고딕" pitchFamily="34" charset="0"/>
                <a:ea typeface="맑은 고딕" pitchFamily="34" charset="-122"/>
                <a:cs typeface="맑은 고딕" pitchFamily="34" charset="-120"/>
              </a:rPr>
              <a:t> </a:t>
            </a:r>
          </a:p>
          <a:p>
            <a:pPr marL="0" indent="0" algn="l">
              <a:buNone/>
            </a:pPr>
            <a:r>
              <a:rPr lang="en-US" sz="1050" dirty="0">
                <a:latin typeface="맑은 고딕" pitchFamily="34" charset="0"/>
                <a:ea typeface="맑은 고딕" pitchFamily="34" charset="-122"/>
                <a:cs typeface="맑은 고딕" pitchFamily="34" charset="-120"/>
              </a:rPr>
              <a:t>(그림: Feintool 공식 공정 자료)</a:t>
            </a:r>
            <a:endParaRPr lang="en-US" sz="105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서론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Problem Definition</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AI를 활용해 프레스 공정의 이상탐지를 어떻게 할 수 있을까?</a:t>
            </a:r>
            <a:endParaRPr lang="en-US" sz="2100" dirty="0"/>
          </a:p>
        </p:txBody>
      </p:sp>
      <p:sp>
        <p:nvSpPr>
          <p:cNvPr id="5" name="bullets"/>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en-US" sz="1600" dirty="0" err="1">
                <a:solidFill>
                  <a:srgbClr val="262626"/>
                </a:solidFill>
                <a:latin typeface="맑은 고딕" pitchFamily="34" charset="0"/>
                <a:ea typeface="맑은 고딕" pitchFamily="34" charset="-122"/>
                <a:cs typeface="맑은 고딕" pitchFamily="34" charset="-120"/>
              </a:rPr>
              <a:t>조기</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탐지</a:t>
            </a:r>
            <a:r>
              <a:rPr lang="en-US" sz="1600" dirty="0">
                <a:solidFill>
                  <a:srgbClr val="262626"/>
                </a:solidFill>
                <a:latin typeface="맑은 고딕" pitchFamily="34" charset="0"/>
                <a:ea typeface="맑은 고딕" pitchFamily="34" charset="-122"/>
                <a:cs typeface="맑은 고딕" pitchFamily="34" charset="-120"/>
              </a:rPr>
              <a:t>: 프레스 유압펌프의 진동·전류 시계열 데이터로 초기 이상을 </a:t>
            </a:r>
            <a:r>
              <a:rPr lang="en-US" sz="1600" dirty="0" err="1">
                <a:solidFill>
                  <a:srgbClr val="262626"/>
                </a:solidFill>
                <a:latin typeface="맑은 고딕" pitchFamily="34" charset="0"/>
                <a:ea typeface="맑은 고딕" pitchFamily="34" charset="-122"/>
                <a:cs typeface="맑은 고딕" pitchFamily="34" charset="-120"/>
              </a:rPr>
              <a:t>조기</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탐지</a:t>
            </a:r>
            <a:r>
              <a:rPr lang="ko-KR" altLang="en-US" sz="1600" dirty="0">
                <a:solidFill>
                  <a:srgbClr val="262626"/>
                </a:solidFill>
                <a:latin typeface="맑은 고딕" pitchFamily="34" charset="0"/>
                <a:ea typeface="맑은 고딕" pitchFamily="34" charset="-122"/>
                <a:cs typeface="맑은 고딕" pitchFamily="34" charset="-120"/>
              </a:rPr>
              <a:t>하는 예지 보전</a:t>
            </a:r>
            <a:endParaRPr lang="en-US" sz="1600" dirty="0"/>
          </a:p>
        </p:txBody>
      </p:sp>
      <p:sp>
        <p:nvSpPr>
          <p:cNvPr id="6" name="Shape 4"/>
          <p:cNvSpPr/>
          <p:nvPr/>
        </p:nvSpPr>
        <p:spPr>
          <a:xfrm>
            <a:off x="2514600" y="4709160"/>
            <a:ext cx="7315200" cy="91"/>
          </a:xfrm>
          <a:prstGeom prst="line">
            <a:avLst/>
          </a:prstGeom>
          <a:noFill/>
          <a:ln w="12700">
            <a:solidFill>
              <a:srgbClr val="000000"/>
            </a:solidFill>
            <a:prstDash val="solid"/>
            <a:tailEnd type="triangle"/>
          </a:ln>
        </p:spPr>
        <p:txBody>
          <a:bodyPr/>
          <a:lstStyle/>
          <a:p>
            <a:endParaRPr lang="ko-KR" altLang="en-US"/>
          </a:p>
        </p:txBody>
      </p:sp>
      <p:sp>
        <p:nvSpPr>
          <p:cNvPr id="7" name="Shape 5"/>
          <p:cNvSpPr/>
          <p:nvPr/>
        </p:nvSpPr>
        <p:spPr>
          <a:xfrm flipV="1">
            <a:off x="2514600" y="3063240"/>
            <a:ext cx="91" cy="1645920"/>
          </a:xfrm>
          <a:prstGeom prst="line">
            <a:avLst/>
          </a:prstGeom>
          <a:noFill/>
          <a:ln w="12700">
            <a:solidFill>
              <a:srgbClr val="000000"/>
            </a:solidFill>
            <a:prstDash val="solid"/>
            <a:tailEnd type="triangle"/>
          </a:ln>
        </p:spPr>
        <p:txBody>
          <a:bodyPr/>
          <a:lstStyle/>
          <a:p>
            <a:endParaRPr lang="ko-KR" altLang="en-US"/>
          </a:p>
        </p:txBody>
      </p:sp>
      <p:sp>
        <p:nvSpPr>
          <p:cNvPr id="8" name="Text 6"/>
          <p:cNvSpPr txBox="1"/>
          <p:nvPr/>
        </p:nvSpPr>
        <p:spPr>
          <a:xfrm>
            <a:off x="1600200" y="3044952"/>
            <a:ext cx="868680" cy="237744"/>
          </a:xfrm>
          <a:prstGeom prst="rect">
            <a:avLst/>
          </a:prstGeom>
          <a:noFill/>
          <a:ln/>
        </p:spPr>
        <p:txBody>
          <a:bodyPr wrap="square" lIns="0" tIns="0" rIns="0" bIns="0" rtlCol="0" anchor="ctr"/>
          <a:lstStyle/>
          <a:p>
            <a:pPr marL="0" indent="0" algn="r">
              <a:buNone/>
            </a:pPr>
            <a:r>
              <a:rPr lang="en-US" sz="1100" dirty="0">
                <a:solidFill>
                  <a:srgbClr val="595959"/>
                </a:solidFill>
                <a:latin typeface="맑은 고딕" pitchFamily="34" charset="0"/>
                <a:ea typeface="맑은 고딕" pitchFamily="34" charset="-122"/>
                <a:cs typeface="맑은 고딕" pitchFamily="34" charset="-120"/>
              </a:rPr>
              <a:t>설비 상태</a:t>
            </a:r>
            <a:endParaRPr lang="en-US" sz="1100" dirty="0"/>
          </a:p>
        </p:txBody>
      </p:sp>
      <p:sp>
        <p:nvSpPr>
          <p:cNvPr id="9" name="Text 7"/>
          <p:cNvSpPr txBox="1"/>
          <p:nvPr/>
        </p:nvSpPr>
        <p:spPr>
          <a:xfrm>
            <a:off x="9875520" y="4590288"/>
            <a:ext cx="548640" cy="237744"/>
          </a:xfrm>
          <a:prstGeom prst="rect">
            <a:avLst/>
          </a:prstGeom>
          <a:noFill/>
          <a:ln/>
        </p:spPr>
        <p:txBody>
          <a:bodyPr wrap="square" lIns="0" tIns="0" rIns="0" bIns="0" rtlCol="0" anchor="ctr"/>
          <a:lstStyle/>
          <a:p>
            <a:pPr marL="0" indent="0" algn="l">
              <a:buNone/>
            </a:pPr>
            <a:r>
              <a:rPr lang="en-US" sz="1100" dirty="0">
                <a:solidFill>
                  <a:srgbClr val="595959"/>
                </a:solidFill>
                <a:latin typeface="맑은 고딕" pitchFamily="34" charset="0"/>
                <a:ea typeface="맑은 고딕" pitchFamily="34" charset="-122"/>
                <a:cs typeface="맑은 고딕" pitchFamily="34" charset="-120"/>
              </a:rPr>
              <a:t>시간</a:t>
            </a:r>
            <a:endParaRPr lang="en-US" sz="1100" dirty="0"/>
          </a:p>
        </p:txBody>
      </p:sp>
      <p:sp>
        <p:nvSpPr>
          <p:cNvPr id="10" name="Shape 8"/>
          <p:cNvSpPr/>
          <p:nvPr/>
        </p:nvSpPr>
        <p:spPr>
          <a:xfrm>
            <a:off x="2514600" y="3154680"/>
            <a:ext cx="5981700" cy="1554480"/>
          </a:xfrm>
          <a:custGeom>
            <a:avLst/>
            <a:gdLst/>
            <a:ahLst/>
            <a:cxnLst/>
            <a:rect l="l" t="t" r="r" b="b"/>
            <a:pathLst>
              <a:path w="5981700" h="1554480">
                <a:moveTo>
                  <a:pt x="0" y="124358"/>
                </a:moveTo>
                <a:lnTo>
                  <a:pt x="99695" y="124358"/>
                </a:lnTo>
                <a:lnTo>
                  <a:pt x="199390" y="124358"/>
                </a:lnTo>
                <a:lnTo>
                  <a:pt x="299085" y="124358"/>
                </a:lnTo>
                <a:lnTo>
                  <a:pt x="398780" y="124358"/>
                </a:lnTo>
                <a:lnTo>
                  <a:pt x="498475" y="124358"/>
                </a:lnTo>
                <a:lnTo>
                  <a:pt x="598170" y="124358"/>
                </a:lnTo>
                <a:lnTo>
                  <a:pt x="697865" y="124358"/>
                </a:lnTo>
                <a:lnTo>
                  <a:pt x="797560" y="124358"/>
                </a:lnTo>
                <a:lnTo>
                  <a:pt x="897255" y="124358"/>
                </a:lnTo>
                <a:lnTo>
                  <a:pt x="996950" y="124358"/>
                </a:lnTo>
                <a:lnTo>
                  <a:pt x="1096645" y="124358"/>
                </a:lnTo>
                <a:lnTo>
                  <a:pt x="1196340" y="124358"/>
                </a:lnTo>
                <a:lnTo>
                  <a:pt x="1296035" y="124358"/>
                </a:lnTo>
                <a:lnTo>
                  <a:pt x="1395730" y="124358"/>
                </a:lnTo>
                <a:lnTo>
                  <a:pt x="1495425" y="124358"/>
                </a:lnTo>
                <a:lnTo>
                  <a:pt x="1595120" y="124358"/>
                </a:lnTo>
                <a:lnTo>
                  <a:pt x="1694815" y="124358"/>
                </a:lnTo>
                <a:lnTo>
                  <a:pt x="1794510" y="124358"/>
                </a:lnTo>
                <a:lnTo>
                  <a:pt x="1894205" y="124358"/>
                </a:lnTo>
                <a:lnTo>
                  <a:pt x="1993900" y="124358"/>
                </a:lnTo>
                <a:lnTo>
                  <a:pt x="2093595" y="124358"/>
                </a:lnTo>
                <a:lnTo>
                  <a:pt x="2193290" y="124358"/>
                </a:lnTo>
                <a:lnTo>
                  <a:pt x="2292985" y="124358"/>
                </a:lnTo>
                <a:lnTo>
                  <a:pt x="2392680" y="124358"/>
                </a:lnTo>
                <a:lnTo>
                  <a:pt x="2492375" y="126274"/>
                </a:lnTo>
                <a:lnTo>
                  <a:pt x="2592070" y="131029"/>
                </a:lnTo>
                <a:lnTo>
                  <a:pt x="2691765" y="138199"/>
                </a:lnTo>
                <a:lnTo>
                  <a:pt x="2791460" y="147588"/>
                </a:lnTo>
                <a:lnTo>
                  <a:pt x="2891155" y="159071"/>
                </a:lnTo>
                <a:lnTo>
                  <a:pt x="2990850" y="172554"/>
                </a:lnTo>
                <a:lnTo>
                  <a:pt x="3090545" y="187966"/>
                </a:lnTo>
                <a:lnTo>
                  <a:pt x="3190240" y="205249"/>
                </a:lnTo>
                <a:lnTo>
                  <a:pt x="3289935" y="224352"/>
                </a:lnTo>
                <a:lnTo>
                  <a:pt x="3389630" y="245233"/>
                </a:lnTo>
                <a:lnTo>
                  <a:pt x="3489325" y="267855"/>
                </a:lnTo>
                <a:lnTo>
                  <a:pt x="3589020" y="292185"/>
                </a:lnTo>
                <a:lnTo>
                  <a:pt x="3688715" y="318194"/>
                </a:lnTo>
                <a:lnTo>
                  <a:pt x="3788410" y="345854"/>
                </a:lnTo>
                <a:lnTo>
                  <a:pt x="3888105" y="375142"/>
                </a:lnTo>
                <a:lnTo>
                  <a:pt x="3987800" y="406035"/>
                </a:lnTo>
                <a:lnTo>
                  <a:pt x="4087495" y="438513"/>
                </a:lnTo>
                <a:lnTo>
                  <a:pt x="4187190" y="472556"/>
                </a:lnTo>
                <a:lnTo>
                  <a:pt x="4286885" y="508147"/>
                </a:lnTo>
                <a:lnTo>
                  <a:pt x="4386580" y="545268"/>
                </a:lnTo>
                <a:lnTo>
                  <a:pt x="4486275" y="583905"/>
                </a:lnTo>
                <a:lnTo>
                  <a:pt x="4585970" y="624043"/>
                </a:lnTo>
                <a:lnTo>
                  <a:pt x="4685665" y="665668"/>
                </a:lnTo>
                <a:lnTo>
                  <a:pt x="4785360" y="708765"/>
                </a:lnTo>
                <a:lnTo>
                  <a:pt x="4885055" y="753325"/>
                </a:lnTo>
                <a:lnTo>
                  <a:pt x="4984750" y="799333"/>
                </a:lnTo>
                <a:lnTo>
                  <a:pt x="5084445" y="846779"/>
                </a:lnTo>
                <a:lnTo>
                  <a:pt x="5184140" y="895652"/>
                </a:lnTo>
                <a:lnTo>
                  <a:pt x="5283835" y="945942"/>
                </a:lnTo>
                <a:lnTo>
                  <a:pt x="5383530" y="997638"/>
                </a:lnTo>
                <a:lnTo>
                  <a:pt x="5483225" y="1050732"/>
                </a:lnTo>
                <a:lnTo>
                  <a:pt x="5582920" y="1105214"/>
                </a:lnTo>
                <a:lnTo>
                  <a:pt x="5682615" y="1161076"/>
                </a:lnTo>
                <a:lnTo>
                  <a:pt x="5782310" y="1218308"/>
                </a:lnTo>
                <a:lnTo>
                  <a:pt x="5882005" y="1276903"/>
                </a:lnTo>
                <a:lnTo>
                  <a:pt x="5981700" y="1336853"/>
                </a:lnTo>
              </a:path>
            </a:pathLst>
          </a:custGeom>
          <a:ln w="25400">
            <a:solidFill>
              <a:srgbClr val="000000"/>
            </a:solidFill>
            <a:prstDash val="solid"/>
          </a:ln>
        </p:spPr>
        <p:txBody>
          <a:bodyPr/>
          <a:lstStyle/>
          <a:p>
            <a:endParaRPr lang="ko-KR" altLang="en-US"/>
          </a:p>
        </p:txBody>
      </p:sp>
      <p:sp>
        <p:nvSpPr>
          <p:cNvPr id="11" name="Shape 9"/>
          <p:cNvSpPr/>
          <p:nvPr/>
        </p:nvSpPr>
        <p:spPr>
          <a:xfrm>
            <a:off x="4843272" y="3215030"/>
            <a:ext cx="128016" cy="128016"/>
          </a:xfrm>
          <a:prstGeom prst="ellipse">
            <a:avLst/>
          </a:prstGeom>
          <a:solidFill>
            <a:srgbClr val="1F4E79"/>
          </a:solidFill>
          <a:ln w="12700">
            <a:solidFill>
              <a:srgbClr val="1F4E79"/>
            </a:solidFill>
            <a:prstDash val="solid"/>
          </a:ln>
        </p:spPr>
        <p:txBody>
          <a:bodyPr/>
          <a:lstStyle/>
          <a:p>
            <a:endParaRPr lang="ko-KR" altLang="en-US"/>
          </a:p>
        </p:txBody>
      </p:sp>
      <p:sp>
        <p:nvSpPr>
          <p:cNvPr id="12" name="Text 10"/>
          <p:cNvSpPr txBox="1"/>
          <p:nvPr/>
        </p:nvSpPr>
        <p:spPr>
          <a:xfrm>
            <a:off x="4358640" y="2949854"/>
            <a:ext cx="1280160" cy="237744"/>
          </a:xfrm>
          <a:prstGeom prst="rect">
            <a:avLst/>
          </a:prstGeom>
          <a:noFill/>
          <a:ln/>
        </p:spPr>
        <p:txBody>
          <a:bodyPr wrap="square" lIns="0" tIns="0" rIns="0" bIns="0" rtlCol="0" anchor="ctr"/>
          <a:lstStyle/>
          <a:p>
            <a:pPr marL="0" indent="0" algn="l">
              <a:buNone/>
            </a:pPr>
            <a:r>
              <a:rPr lang="en-US" sz="1200" b="1" dirty="0">
                <a:solidFill>
                  <a:srgbClr val="1F4E79"/>
                </a:solidFill>
                <a:latin typeface="맑은 고딕" pitchFamily="34" charset="0"/>
                <a:ea typeface="맑은 고딕" pitchFamily="34" charset="-122"/>
                <a:cs typeface="맑은 고딕" pitchFamily="34" charset="-120"/>
              </a:rPr>
              <a:t>P: 이상 시작</a:t>
            </a:r>
            <a:endParaRPr lang="en-US" sz="1200" dirty="0"/>
          </a:p>
        </p:txBody>
      </p:sp>
      <p:sp>
        <p:nvSpPr>
          <p:cNvPr id="13" name="Shape 11"/>
          <p:cNvSpPr/>
          <p:nvPr/>
        </p:nvSpPr>
        <p:spPr>
          <a:xfrm>
            <a:off x="8423148" y="4418381"/>
            <a:ext cx="146304" cy="146304"/>
          </a:xfrm>
          <a:prstGeom prst="line">
            <a:avLst/>
          </a:prstGeom>
          <a:noFill/>
          <a:ln w="28575">
            <a:solidFill>
              <a:srgbClr val="C00000"/>
            </a:solidFill>
            <a:prstDash val="solid"/>
          </a:ln>
        </p:spPr>
        <p:txBody>
          <a:bodyPr/>
          <a:lstStyle/>
          <a:p>
            <a:endParaRPr lang="ko-KR" altLang="en-US"/>
          </a:p>
        </p:txBody>
      </p:sp>
      <p:sp>
        <p:nvSpPr>
          <p:cNvPr id="14" name="Shape 12"/>
          <p:cNvSpPr/>
          <p:nvPr/>
        </p:nvSpPr>
        <p:spPr>
          <a:xfrm flipV="1">
            <a:off x="8423148" y="4418381"/>
            <a:ext cx="146304" cy="146304"/>
          </a:xfrm>
          <a:prstGeom prst="line">
            <a:avLst/>
          </a:prstGeom>
          <a:noFill/>
          <a:ln w="28575">
            <a:solidFill>
              <a:srgbClr val="C00000"/>
            </a:solidFill>
            <a:prstDash val="solid"/>
          </a:ln>
        </p:spPr>
        <p:txBody>
          <a:bodyPr/>
          <a:lstStyle/>
          <a:p>
            <a:endParaRPr lang="ko-KR" altLang="en-US"/>
          </a:p>
        </p:txBody>
      </p:sp>
      <p:sp>
        <p:nvSpPr>
          <p:cNvPr id="15" name="Text 13"/>
          <p:cNvSpPr txBox="1"/>
          <p:nvPr/>
        </p:nvSpPr>
        <p:spPr>
          <a:xfrm>
            <a:off x="8633460" y="4372661"/>
            <a:ext cx="822960" cy="237744"/>
          </a:xfrm>
          <a:prstGeom prst="rect">
            <a:avLst/>
          </a:prstGeom>
          <a:noFill/>
          <a:ln/>
        </p:spPr>
        <p:txBody>
          <a:bodyPr wrap="square" lIns="0" tIns="0" rIns="0" bIns="0" rtlCol="0" anchor="ctr"/>
          <a:lstStyle/>
          <a:p>
            <a:pPr marL="0" indent="0" algn="l">
              <a:buNone/>
            </a:pPr>
            <a:r>
              <a:rPr lang="en-US" sz="1200" b="1" dirty="0">
                <a:solidFill>
                  <a:srgbClr val="C00000"/>
                </a:solidFill>
                <a:latin typeface="맑은 고딕" pitchFamily="34" charset="0"/>
                <a:ea typeface="맑은 고딕" pitchFamily="34" charset="-122"/>
                <a:cs typeface="맑은 고딕" pitchFamily="34" charset="-120"/>
              </a:rPr>
              <a:t>F: 고장</a:t>
            </a:r>
            <a:endParaRPr lang="en-US" sz="1200" dirty="0"/>
          </a:p>
        </p:txBody>
      </p:sp>
      <p:sp>
        <p:nvSpPr>
          <p:cNvPr id="16" name="Shape 14"/>
          <p:cNvSpPr/>
          <p:nvPr/>
        </p:nvSpPr>
        <p:spPr>
          <a:xfrm>
            <a:off x="4907280" y="4818888"/>
            <a:ext cx="3589020" cy="91"/>
          </a:xfrm>
          <a:prstGeom prst="line">
            <a:avLst/>
          </a:prstGeom>
          <a:noFill/>
          <a:ln w="12700">
            <a:solidFill>
              <a:srgbClr val="595959"/>
            </a:solidFill>
            <a:prstDash val="solid"/>
            <a:tailEnd type="triangle"/>
          </a:ln>
        </p:spPr>
        <p:txBody>
          <a:bodyPr/>
          <a:lstStyle/>
          <a:p>
            <a:endParaRPr lang="ko-KR" altLang="en-US"/>
          </a:p>
        </p:txBody>
      </p:sp>
      <p:sp>
        <p:nvSpPr>
          <p:cNvPr id="17" name="Shape 15"/>
          <p:cNvSpPr/>
          <p:nvPr/>
        </p:nvSpPr>
        <p:spPr>
          <a:xfrm flipH="1">
            <a:off x="4907280" y="4818888"/>
            <a:ext cx="3589020" cy="91"/>
          </a:xfrm>
          <a:prstGeom prst="line">
            <a:avLst/>
          </a:prstGeom>
          <a:noFill/>
          <a:ln w="12700">
            <a:solidFill>
              <a:srgbClr val="595959"/>
            </a:solidFill>
            <a:prstDash val="solid"/>
            <a:tailEnd type="triangle"/>
          </a:ln>
        </p:spPr>
        <p:txBody>
          <a:bodyPr/>
          <a:lstStyle/>
          <a:p>
            <a:endParaRPr lang="ko-KR" altLang="en-US"/>
          </a:p>
        </p:txBody>
      </p:sp>
      <p:sp>
        <p:nvSpPr>
          <p:cNvPr id="18" name="Text 16"/>
          <p:cNvSpPr txBox="1"/>
          <p:nvPr/>
        </p:nvSpPr>
        <p:spPr>
          <a:xfrm>
            <a:off x="5864352" y="4846320"/>
            <a:ext cx="2194560" cy="237744"/>
          </a:xfrm>
          <a:prstGeom prst="rect">
            <a:avLst/>
          </a:prstGeom>
          <a:noFill/>
          <a:ln/>
        </p:spPr>
        <p:txBody>
          <a:bodyPr wrap="square" lIns="0" tIns="0" rIns="0" bIns="0" rtlCol="0" anchor="ctr"/>
          <a:lstStyle/>
          <a:p>
            <a:pPr marL="0" indent="0" algn="ctr">
              <a:buNone/>
            </a:pPr>
            <a:r>
              <a:rPr lang="en-US" sz="1100" dirty="0">
                <a:solidFill>
                  <a:srgbClr val="595959"/>
                </a:solidFill>
                <a:latin typeface="맑은 고딕" pitchFamily="34" charset="0"/>
                <a:ea typeface="맑은 고딕" pitchFamily="34" charset="-122"/>
                <a:cs typeface="맑은 고딕" pitchFamily="34" charset="-120"/>
              </a:rPr>
              <a:t>이 구간 안에 잡아야 함</a:t>
            </a:r>
            <a:endParaRPr lang="en-US" sz="1100" dirty="0"/>
          </a:p>
        </p:txBody>
      </p:sp>
      <p:sp>
        <p:nvSpPr>
          <p:cNvPr id="19" name="Shape 17"/>
          <p:cNvSpPr/>
          <p:nvPr/>
        </p:nvSpPr>
        <p:spPr>
          <a:xfrm>
            <a:off x="4907280" y="3352190"/>
            <a:ext cx="91" cy="3002890"/>
          </a:xfrm>
          <a:prstGeom prst="line">
            <a:avLst/>
          </a:prstGeom>
          <a:noFill/>
          <a:ln w="9525">
            <a:solidFill>
              <a:srgbClr val="D9D9D9"/>
            </a:solidFill>
            <a:prstDash val="dash"/>
          </a:ln>
        </p:spPr>
        <p:txBody>
          <a:bodyPr/>
          <a:lstStyle/>
          <a:p>
            <a:endParaRPr lang="ko-KR" altLang="en-US"/>
          </a:p>
        </p:txBody>
      </p:sp>
      <p:sp>
        <p:nvSpPr>
          <p:cNvPr id="20" name="Shape 18"/>
          <p:cNvSpPr/>
          <p:nvPr/>
        </p:nvSpPr>
        <p:spPr>
          <a:xfrm>
            <a:off x="8496300" y="4564685"/>
            <a:ext cx="91" cy="1790395"/>
          </a:xfrm>
          <a:prstGeom prst="line">
            <a:avLst/>
          </a:prstGeom>
          <a:noFill/>
          <a:ln w="9525">
            <a:solidFill>
              <a:srgbClr val="D9D9D9"/>
            </a:solidFill>
            <a:prstDash val="dash"/>
          </a:ln>
        </p:spPr>
        <p:txBody>
          <a:bodyPr/>
          <a:lstStyle/>
          <a:p>
            <a:endParaRPr lang="ko-KR" altLang="en-US"/>
          </a:p>
        </p:txBody>
      </p:sp>
      <p:sp>
        <p:nvSpPr>
          <p:cNvPr id="21" name="Text 19"/>
          <p:cNvSpPr txBox="1"/>
          <p:nvPr/>
        </p:nvSpPr>
        <p:spPr>
          <a:xfrm>
            <a:off x="731520" y="5074920"/>
            <a:ext cx="1691640" cy="274320"/>
          </a:xfrm>
          <a:prstGeom prst="rect">
            <a:avLst/>
          </a:prstGeom>
          <a:noFill/>
          <a:ln/>
        </p:spPr>
        <p:txBody>
          <a:bodyPr wrap="square" lIns="0" tIns="0" rIns="0" bIns="0" rtlCol="0" anchor="ctr"/>
          <a:lstStyle/>
          <a:p>
            <a:pPr marL="0" indent="0" algn="r">
              <a:buNone/>
            </a:pPr>
            <a:r>
              <a:rPr lang="en-US" sz="1300" b="1" dirty="0">
                <a:solidFill>
                  <a:srgbClr val="262626"/>
                </a:solidFill>
                <a:latin typeface="맑은 고딕" pitchFamily="34" charset="0"/>
                <a:ea typeface="맑은 고딕" pitchFamily="34" charset="-122"/>
                <a:cs typeface="맑은 고딕" pitchFamily="34" charset="-120"/>
              </a:rPr>
              <a:t>사후 보전</a:t>
            </a:r>
            <a:endParaRPr lang="en-US" sz="1300" dirty="0"/>
          </a:p>
        </p:txBody>
      </p:sp>
      <p:sp>
        <p:nvSpPr>
          <p:cNvPr id="22" name="Shape 20"/>
          <p:cNvSpPr/>
          <p:nvPr/>
        </p:nvSpPr>
        <p:spPr>
          <a:xfrm>
            <a:off x="2514600" y="5212080"/>
            <a:ext cx="7178040" cy="91"/>
          </a:xfrm>
          <a:prstGeom prst="line">
            <a:avLst/>
          </a:prstGeom>
          <a:noFill/>
          <a:ln w="9525">
            <a:solidFill>
              <a:srgbClr val="E3E3E3"/>
            </a:solidFill>
            <a:prstDash val="solid"/>
          </a:ln>
        </p:spPr>
        <p:txBody>
          <a:bodyPr/>
          <a:lstStyle/>
          <a:p>
            <a:endParaRPr lang="ko-KR" altLang="en-US"/>
          </a:p>
        </p:txBody>
      </p:sp>
      <p:sp>
        <p:nvSpPr>
          <p:cNvPr id="23" name="Text 21"/>
          <p:cNvSpPr txBox="1"/>
          <p:nvPr/>
        </p:nvSpPr>
        <p:spPr>
          <a:xfrm>
            <a:off x="8705660" y="5074920"/>
            <a:ext cx="2194560" cy="274320"/>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고장 후 수리 → 비가동</a:t>
            </a:r>
            <a:endParaRPr lang="en-US" sz="1100" dirty="0"/>
          </a:p>
        </p:txBody>
      </p:sp>
      <p:sp>
        <p:nvSpPr>
          <p:cNvPr id="24" name="Text 22"/>
          <p:cNvSpPr txBox="1"/>
          <p:nvPr/>
        </p:nvSpPr>
        <p:spPr>
          <a:xfrm>
            <a:off x="731520" y="5532120"/>
            <a:ext cx="1691640" cy="274320"/>
          </a:xfrm>
          <a:prstGeom prst="rect">
            <a:avLst/>
          </a:prstGeom>
          <a:noFill/>
          <a:ln/>
        </p:spPr>
        <p:txBody>
          <a:bodyPr wrap="square" lIns="0" tIns="0" rIns="0" bIns="0" rtlCol="0" anchor="ctr"/>
          <a:lstStyle/>
          <a:p>
            <a:pPr marL="0" indent="0" algn="r">
              <a:buNone/>
            </a:pPr>
            <a:r>
              <a:rPr lang="en-US" sz="1300" b="1" dirty="0">
                <a:solidFill>
                  <a:srgbClr val="262626"/>
                </a:solidFill>
                <a:latin typeface="맑은 고딕" pitchFamily="34" charset="0"/>
                <a:ea typeface="맑은 고딕" pitchFamily="34" charset="-122"/>
                <a:cs typeface="맑은 고딕" pitchFamily="34" charset="-120"/>
              </a:rPr>
              <a:t>주기 점검</a:t>
            </a:r>
            <a:endParaRPr lang="en-US" sz="1300" dirty="0"/>
          </a:p>
        </p:txBody>
      </p:sp>
      <p:sp>
        <p:nvSpPr>
          <p:cNvPr id="25" name="Shape 23"/>
          <p:cNvSpPr/>
          <p:nvPr/>
        </p:nvSpPr>
        <p:spPr>
          <a:xfrm>
            <a:off x="2514600" y="5669280"/>
            <a:ext cx="7178040" cy="91"/>
          </a:xfrm>
          <a:prstGeom prst="line">
            <a:avLst/>
          </a:prstGeom>
          <a:noFill/>
          <a:ln w="9525">
            <a:solidFill>
              <a:srgbClr val="E3E3E3"/>
            </a:solidFill>
            <a:prstDash val="solid"/>
          </a:ln>
        </p:spPr>
        <p:txBody>
          <a:bodyPr/>
          <a:lstStyle/>
          <a:p>
            <a:endParaRPr lang="ko-KR" altLang="en-US"/>
          </a:p>
        </p:txBody>
      </p:sp>
      <p:sp>
        <p:nvSpPr>
          <p:cNvPr id="26" name="Text 24"/>
          <p:cNvSpPr txBox="1"/>
          <p:nvPr/>
        </p:nvSpPr>
        <p:spPr>
          <a:xfrm>
            <a:off x="8705660" y="5532120"/>
            <a:ext cx="2194560" cy="274320"/>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점검 사이 징후 놓침</a:t>
            </a:r>
            <a:endParaRPr lang="en-US" sz="1100" dirty="0"/>
          </a:p>
        </p:txBody>
      </p:sp>
      <p:sp>
        <p:nvSpPr>
          <p:cNvPr id="27" name="Text 25"/>
          <p:cNvSpPr txBox="1"/>
          <p:nvPr/>
        </p:nvSpPr>
        <p:spPr>
          <a:xfrm>
            <a:off x="731520" y="5989320"/>
            <a:ext cx="1691640" cy="274320"/>
          </a:xfrm>
          <a:prstGeom prst="rect">
            <a:avLst/>
          </a:prstGeom>
          <a:noFill/>
          <a:ln/>
        </p:spPr>
        <p:txBody>
          <a:bodyPr wrap="square" lIns="0" tIns="0" rIns="0" bIns="0" rtlCol="0" anchor="ctr"/>
          <a:lstStyle/>
          <a:p>
            <a:pPr marL="0" indent="0" algn="r">
              <a:buNone/>
            </a:pPr>
            <a:r>
              <a:rPr lang="en-US" sz="1300" b="1" dirty="0">
                <a:solidFill>
                  <a:srgbClr val="C00000"/>
                </a:solidFill>
                <a:latin typeface="맑은 고딕" pitchFamily="34" charset="0"/>
                <a:ea typeface="맑은 고딕" pitchFamily="34" charset="-122"/>
                <a:cs typeface="맑은 고딕" pitchFamily="34" charset="-120"/>
              </a:rPr>
              <a:t>AI 예지 보전</a:t>
            </a:r>
            <a:endParaRPr lang="en-US" sz="1300" dirty="0"/>
          </a:p>
        </p:txBody>
      </p:sp>
      <p:sp>
        <p:nvSpPr>
          <p:cNvPr id="28" name="Shape 26"/>
          <p:cNvSpPr/>
          <p:nvPr/>
        </p:nvSpPr>
        <p:spPr>
          <a:xfrm>
            <a:off x="2514600" y="6126480"/>
            <a:ext cx="7178040" cy="91"/>
          </a:xfrm>
          <a:prstGeom prst="line">
            <a:avLst/>
          </a:prstGeom>
          <a:noFill/>
          <a:ln w="9525">
            <a:solidFill>
              <a:srgbClr val="E3E3E3"/>
            </a:solidFill>
            <a:prstDash val="solid"/>
          </a:ln>
        </p:spPr>
        <p:txBody>
          <a:bodyPr/>
          <a:lstStyle/>
          <a:p>
            <a:endParaRPr lang="ko-KR" altLang="en-US"/>
          </a:p>
        </p:txBody>
      </p:sp>
      <p:sp>
        <p:nvSpPr>
          <p:cNvPr id="29" name="Text 27"/>
          <p:cNvSpPr txBox="1"/>
          <p:nvPr/>
        </p:nvSpPr>
        <p:spPr>
          <a:xfrm>
            <a:off x="8705660" y="5989320"/>
            <a:ext cx="2194560" cy="274320"/>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이상 직후 경보 → 계획 정비</a:t>
            </a:r>
            <a:endParaRPr lang="en-US" sz="1100" dirty="0"/>
          </a:p>
        </p:txBody>
      </p:sp>
      <p:sp>
        <p:nvSpPr>
          <p:cNvPr id="30" name="Shape 28"/>
          <p:cNvSpPr/>
          <p:nvPr/>
        </p:nvSpPr>
        <p:spPr>
          <a:xfrm>
            <a:off x="8423148" y="5138928"/>
            <a:ext cx="146304" cy="146304"/>
          </a:xfrm>
          <a:prstGeom prst="line">
            <a:avLst/>
          </a:prstGeom>
          <a:noFill/>
          <a:ln w="28575">
            <a:solidFill>
              <a:srgbClr val="C00000"/>
            </a:solidFill>
            <a:prstDash val="solid"/>
          </a:ln>
        </p:spPr>
        <p:txBody>
          <a:bodyPr/>
          <a:lstStyle/>
          <a:p>
            <a:endParaRPr lang="ko-KR" altLang="en-US"/>
          </a:p>
        </p:txBody>
      </p:sp>
      <p:sp>
        <p:nvSpPr>
          <p:cNvPr id="31" name="Shape 29"/>
          <p:cNvSpPr/>
          <p:nvPr/>
        </p:nvSpPr>
        <p:spPr>
          <a:xfrm flipV="1">
            <a:off x="8423148" y="5138928"/>
            <a:ext cx="146304" cy="146304"/>
          </a:xfrm>
          <a:prstGeom prst="line">
            <a:avLst/>
          </a:prstGeom>
          <a:noFill/>
          <a:ln w="28575">
            <a:solidFill>
              <a:srgbClr val="C00000"/>
            </a:solidFill>
            <a:prstDash val="solid"/>
          </a:ln>
        </p:spPr>
        <p:txBody>
          <a:bodyPr/>
          <a:lstStyle/>
          <a:p>
            <a:endParaRPr lang="ko-KR" altLang="en-US"/>
          </a:p>
        </p:txBody>
      </p:sp>
      <p:sp>
        <p:nvSpPr>
          <p:cNvPr id="32" name="Shape 30"/>
          <p:cNvSpPr/>
          <p:nvPr/>
        </p:nvSpPr>
        <p:spPr>
          <a:xfrm>
            <a:off x="3366135" y="5559552"/>
            <a:ext cx="91440" cy="219456"/>
          </a:xfrm>
          <a:prstGeom prst="rect">
            <a:avLst/>
          </a:prstGeom>
          <a:solidFill>
            <a:srgbClr val="7F7F7F"/>
          </a:solidFill>
          <a:ln w="12700">
            <a:solidFill>
              <a:srgbClr val="7F7F7F"/>
            </a:solidFill>
            <a:prstDash val="solid"/>
          </a:ln>
        </p:spPr>
        <p:txBody>
          <a:bodyPr/>
          <a:lstStyle/>
          <a:p>
            <a:endParaRPr lang="ko-KR" altLang="en-US"/>
          </a:p>
        </p:txBody>
      </p:sp>
      <p:sp>
        <p:nvSpPr>
          <p:cNvPr id="33" name="Shape 31"/>
          <p:cNvSpPr/>
          <p:nvPr/>
        </p:nvSpPr>
        <p:spPr>
          <a:xfrm>
            <a:off x="5160645" y="5559552"/>
            <a:ext cx="91440" cy="219456"/>
          </a:xfrm>
          <a:prstGeom prst="rect">
            <a:avLst/>
          </a:prstGeom>
          <a:solidFill>
            <a:srgbClr val="7F7F7F"/>
          </a:solidFill>
          <a:ln w="12700">
            <a:solidFill>
              <a:srgbClr val="7F7F7F"/>
            </a:solidFill>
            <a:prstDash val="solid"/>
          </a:ln>
        </p:spPr>
        <p:txBody>
          <a:bodyPr/>
          <a:lstStyle/>
          <a:p>
            <a:endParaRPr lang="ko-KR" altLang="en-US"/>
          </a:p>
        </p:txBody>
      </p:sp>
      <p:sp>
        <p:nvSpPr>
          <p:cNvPr id="34" name="Shape 32"/>
          <p:cNvSpPr/>
          <p:nvPr/>
        </p:nvSpPr>
        <p:spPr>
          <a:xfrm>
            <a:off x="6955155" y="5559552"/>
            <a:ext cx="91440" cy="219456"/>
          </a:xfrm>
          <a:prstGeom prst="rect">
            <a:avLst/>
          </a:prstGeom>
          <a:solidFill>
            <a:srgbClr val="7F7F7F"/>
          </a:solidFill>
          <a:ln w="12700">
            <a:solidFill>
              <a:srgbClr val="7F7F7F"/>
            </a:solidFill>
            <a:prstDash val="solid"/>
          </a:ln>
        </p:spPr>
        <p:txBody>
          <a:bodyPr/>
          <a:lstStyle/>
          <a:p>
            <a:endParaRPr lang="ko-KR" altLang="en-US"/>
          </a:p>
        </p:txBody>
      </p:sp>
      <p:sp>
        <p:nvSpPr>
          <p:cNvPr id="35" name="Text 33"/>
          <p:cNvSpPr txBox="1"/>
          <p:nvPr/>
        </p:nvSpPr>
        <p:spPr>
          <a:xfrm>
            <a:off x="3503295" y="5550408"/>
            <a:ext cx="457200" cy="237744"/>
          </a:xfrm>
          <a:prstGeom prst="rect">
            <a:avLst/>
          </a:prstGeom>
          <a:noFill/>
          <a:ln/>
        </p:spPr>
        <p:txBody>
          <a:bodyPr wrap="square" lIns="0" tIns="0" rIns="0" bIns="0" rtlCol="0" anchor="ctr"/>
          <a:lstStyle/>
          <a:p>
            <a:pPr marL="0" indent="0" algn="l">
              <a:buNone/>
            </a:pPr>
            <a:r>
              <a:rPr lang="en-US" sz="1000" dirty="0">
                <a:solidFill>
                  <a:srgbClr val="7F7F7F"/>
                </a:solidFill>
                <a:latin typeface="맑은 고딕" pitchFamily="34" charset="0"/>
                <a:ea typeface="맑은 고딕" pitchFamily="34" charset="-122"/>
                <a:cs typeface="맑은 고딕" pitchFamily="34" charset="-120"/>
              </a:rPr>
              <a:t>점검</a:t>
            </a:r>
            <a:endParaRPr lang="en-US" sz="1000" dirty="0"/>
          </a:p>
        </p:txBody>
      </p:sp>
      <p:sp>
        <p:nvSpPr>
          <p:cNvPr id="36" name="Shape 34"/>
          <p:cNvSpPr/>
          <p:nvPr/>
        </p:nvSpPr>
        <p:spPr>
          <a:xfrm>
            <a:off x="5105781" y="6025896"/>
            <a:ext cx="201168" cy="201168"/>
          </a:xfrm>
          <a:prstGeom prst="ellipse">
            <a:avLst/>
          </a:prstGeom>
          <a:solidFill>
            <a:srgbClr val="C00000"/>
          </a:solidFill>
          <a:ln w="12700">
            <a:solidFill>
              <a:srgbClr val="C00000"/>
            </a:solidFill>
            <a:prstDash val="solid"/>
          </a:ln>
        </p:spPr>
        <p:txBody>
          <a:bodyPr/>
          <a:lstStyle/>
          <a:p>
            <a:endParaRPr lang="ko-KR" altLang="en-US"/>
          </a:p>
        </p:txBody>
      </p:sp>
      <p:sp>
        <p:nvSpPr>
          <p:cNvPr id="37" name="Text 35"/>
          <p:cNvSpPr txBox="1"/>
          <p:nvPr/>
        </p:nvSpPr>
        <p:spPr>
          <a:xfrm>
            <a:off x="5370957" y="6007608"/>
            <a:ext cx="914400" cy="237744"/>
          </a:xfrm>
          <a:prstGeom prst="rect">
            <a:avLst/>
          </a:prstGeom>
          <a:noFill/>
          <a:ln/>
        </p:spPr>
        <p:txBody>
          <a:bodyPr wrap="square" lIns="0" tIns="0" rIns="0" bIns="0" rtlCol="0" anchor="ctr"/>
          <a:lstStyle/>
          <a:p>
            <a:pPr marL="0" indent="0" algn="l">
              <a:buNone/>
            </a:pPr>
            <a:r>
              <a:rPr lang="en-US" sz="1100" b="1" dirty="0">
                <a:solidFill>
                  <a:srgbClr val="C00000"/>
                </a:solidFill>
                <a:latin typeface="맑은 고딕" pitchFamily="34" charset="0"/>
                <a:ea typeface="맑은 고딕" pitchFamily="34" charset="-122"/>
                <a:cs typeface="맑은 고딕" pitchFamily="34" charset="-120"/>
              </a:rPr>
              <a:t>조기 경보</a:t>
            </a:r>
            <a:endParaRPr lang="en-US" sz="1100" dirty="0"/>
          </a:p>
        </p:txBody>
      </p:sp>
      <p:sp>
        <p:nvSpPr>
          <p:cNvPr id="38" name="Shape 36"/>
          <p:cNvSpPr/>
          <p:nvPr/>
        </p:nvSpPr>
        <p:spPr>
          <a:xfrm>
            <a:off x="2749677" y="6062472"/>
            <a:ext cx="128016" cy="128016"/>
          </a:xfrm>
          <a:prstGeom prst="ellipse">
            <a:avLst/>
          </a:prstGeom>
          <a:solidFill>
            <a:srgbClr val="FFFFFF"/>
          </a:solidFill>
          <a:ln w="12700">
            <a:solidFill>
              <a:srgbClr val="1F4E79"/>
            </a:solidFill>
            <a:prstDash val="solid"/>
          </a:ln>
        </p:spPr>
        <p:txBody>
          <a:bodyPr/>
          <a:lstStyle/>
          <a:p>
            <a:endParaRPr lang="ko-KR" altLang="en-US"/>
          </a:p>
        </p:txBody>
      </p:sp>
      <p:sp>
        <p:nvSpPr>
          <p:cNvPr id="39" name="Shape 37"/>
          <p:cNvSpPr/>
          <p:nvPr/>
        </p:nvSpPr>
        <p:spPr>
          <a:xfrm>
            <a:off x="3347847" y="6062472"/>
            <a:ext cx="128016" cy="128016"/>
          </a:xfrm>
          <a:prstGeom prst="ellipse">
            <a:avLst/>
          </a:prstGeom>
          <a:solidFill>
            <a:srgbClr val="FFFFFF"/>
          </a:solidFill>
          <a:ln w="12700">
            <a:solidFill>
              <a:srgbClr val="1F4E79"/>
            </a:solidFill>
            <a:prstDash val="solid"/>
          </a:ln>
        </p:spPr>
        <p:txBody>
          <a:bodyPr/>
          <a:lstStyle/>
          <a:p>
            <a:endParaRPr lang="ko-KR" altLang="en-US"/>
          </a:p>
        </p:txBody>
      </p:sp>
      <p:sp>
        <p:nvSpPr>
          <p:cNvPr id="40" name="Shape 38"/>
          <p:cNvSpPr/>
          <p:nvPr/>
        </p:nvSpPr>
        <p:spPr>
          <a:xfrm>
            <a:off x="3946017" y="6062472"/>
            <a:ext cx="128016" cy="128016"/>
          </a:xfrm>
          <a:prstGeom prst="ellipse">
            <a:avLst/>
          </a:prstGeom>
          <a:solidFill>
            <a:srgbClr val="FFFFFF"/>
          </a:solidFill>
          <a:ln w="12700">
            <a:solidFill>
              <a:srgbClr val="1F4E79"/>
            </a:solidFill>
            <a:prstDash val="solid"/>
          </a:ln>
        </p:spPr>
        <p:txBody>
          <a:bodyPr/>
          <a:lstStyle/>
          <a:p>
            <a:endParaRPr lang="ko-KR" altLang="en-US"/>
          </a:p>
        </p:txBody>
      </p:sp>
      <p:sp>
        <p:nvSpPr>
          <p:cNvPr id="41" name="Shape 39"/>
          <p:cNvSpPr/>
          <p:nvPr/>
        </p:nvSpPr>
        <p:spPr>
          <a:xfrm>
            <a:off x="4544187" y="6062472"/>
            <a:ext cx="128016" cy="128016"/>
          </a:xfrm>
          <a:prstGeom prst="ellipse">
            <a:avLst/>
          </a:prstGeom>
          <a:solidFill>
            <a:srgbClr val="FFFFFF"/>
          </a:solidFill>
          <a:ln w="12700">
            <a:solidFill>
              <a:srgbClr val="1F4E79"/>
            </a:solidFill>
            <a:prstDash val="solid"/>
          </a:ln>
        </p:spPr>
        <p:txBody>
          <a:bodyPr/>
          <a:lstStyle/>
          <a:p>
            <a:endParaRPr lang="ko-KR" altLang="en-US"/>
          </a:p>
        </p:txBody>
      </p:sp>
      <p:sp>
        <p:nvSpPr>
          <p:cNvPr id="42" name="Text 40"/>
          <p:cNvSpPr txBox="1"/>
          <p:nvPr/>
        </p:nvSpPr>
        <p:spPr>
          <a:xfrm>
            <a:off x="3038793" y="6236208"/>
            <a:ext cx="2560320" cy="219456"/>
          </a:xfrm>
          <a:prstGeom prst="rect">
            <a:avLst/>
          </a:prstGeom>
          <a:noFill/>
          <a:ln/>
        </p:spPr>
        <p:txBody>
          <a:bodyPr wrap="square" lIns="0" tIns="0" rIns="0" bIns="0" rtlCol="0" anchor="ctr"/>
          <a:lstStyle/>
          <a:p>
            <a:pPr marL="0" indent="0" algn="l">
              <a:buNone/>
            </a:pPr>
            <a:r>
              <a:rPr lang="en-US" sz="1000" dirty="0">
                <a:solidFill>
                  <a:srgbClr val="1F4E79"/>
                </a:solidFill>
                <a:latin typeface="맑은 고딕" pitchFamily="34" charset="0"/>
                <a:ea typeface="맑은 고딕" pitchFamily="34" charset="-122"/>
                <a:cs typeface="맑은 고딕" pitchFamily="34" charset="-120"/>
              </a:rPr>
              <a:t>정상 구간 경보 </a:t>
            </a:r>
            <a:r>
              <a:rPr lang="en-US" sz="1000" dirty="0" err="1">
                <a:solidFill>
                  <a:srgbClr val="1F4E79"/>
                </a:solidFill>
                <a:latin typeface="맑은 고딕" pitchFamily="34" charset="0"/>
                <a:ea typeface="맑은 고딕" pitchFamily="34" charset="-122"/>
                <a:cs typeface="맑은 고딕" pitchFamily="34" charset="-120"/>
              </a:rPr>
              <a:t>없음</a:t>
            </a:r>
            <a:r>
              <a:rPr lang="en-US" sz="1000" dirty="0">
                <a:solidFill>
                  <a:srgbClr val="1F4E79"/>
                </a:solidFill>
                <a:latin typeface="맑은 고딕" pitchFamily="34" charset="0"/>
                <a:ea typeface="맑은 고딕" pitchFamily="34" charset="-122"/>
                <a:cs typeface="맑은 고딕" pitchFamily="34" charset="-120"/>
              </a:rPr>
              <a:t> </a:t>
            </a:r>
            <a:endParaRPr lang="en-US" sz="1000" dirty="0"/>
          </a:p>
        </p:txBody>
      </p:sp>
      <p:sp>
        <p:nvSpPr>
          <p:cNvPr id="44"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사전지식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Multivariate Time-series Anomaly Detection</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시계열 데이터 이상 탐지에는 어떤 방법이 있을까?</a:t>
            </a:r>
            <a:endParaRPr lang="en-US" sz="2100" dirty="0"/>
          </a:p>
        </p:txBody>
      </p:sp>
      <p:sp>
        <p:nvSpPr>
          <p:cNvPr id="5" name="bullets"/>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세 가지 접근: 예측(다음 값과의 오차) · 재구축(복원 오차) · 밀도(정상 분포에서의 희소도)</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우리의 선택: 현재까지의 관측만으로 바로 점수를 내는 밀도 기반 GMM → 짧은 clip·정상 위주 데이터에 적합</a:t>
            </a:r>
            <a:endParaRPr lang="en-US" sz="1600" dirty="0"/>
          </a:p>
        </p:txBody>
      </p:sp>
      <p:sp>
        <p:nvSpPr>
          <p:cNvPr id="6" name="Shape 4"/>
          <p:cNvSpPr/>
          <p:nvPr/>
        </p:nvSpPr>
        <p:spPr>
          <a:xfrm>
            <a:off x="4343400" y="2971800"/>
            <a:ext cx="91" cy="3337560"/>
          </a:xfrm>
          <a:prstGeom prst="line">
            <a:avLst/>
          </a:prstGeom>
          <a:noFill/>
          <a:ln w="9525">
            <a:solidFill>
              <a:srgbClr val="BFBFBF"/>
            </a:solidFill>
            <a:prstDash val="dash"/>
          </a:ln>
        </p:spPr>
        <p:txBody>
          <a:bodyPr/>
          <a:lstStyle/>
          <a:p>
            <a:endParaRPr lang="ko-KR" altLang="en-US"/>
          </a:p>
        </p:txBody>
      </p:sp>
      <p:sp>
        <p:nvSpPr>
          <p:cNvPr id="7" name="Shape 5"/>
          <p:cNvSpPr/>
          <p:nvPr/>
        </p:nvSpPr>
        <p:spPr>
          <a:xfrm>
            <a:off x="8092440" y="2971800"/>
            <a:ext cx="91" cy="3337560"/>
          </a:xfrm>
          <a:prstGeom prst="line">
            <a:avLst/>
          </a:prstGeom>
          <a:noFill/>
          <a:ln w="9525">
            <a:solidFill>
              <a:srgbClr val="BFBFBF"/>
            </a:solidFill>
            <a:prstDash val="dash"/>
          </a:ln>
        </p:spPr>
        <p:txBody>
          <a:bodyPr/>
          <a:lstStyle/>
          <a:p>
            <a:endParaRPr lang="ko-KR" altLang="en-US"/>
          </a:p>
        </p:txBody>
      </p:sp>
      <p:sp>
        <p:nvSpPr>
          <p:cNvPr id="8" name="Text 6"/>
          <p:cNvSpPr txBox="1"/>
          <p:nvPr/>
        </p:nvSpPr>
        <p:spPr>
          <a:xfrm>
            <a:off x="777240" y="2926080"/>
            <a:ext cx="3291840" cy="347472"/>
          </a:xfrm>
          <a:prstGeom prst="rect">
            <a:avLst/>
          </a:prstGeom>
          <a:noFill/>
          <a:ln/>
        </p:spPr>
        <p:txBody>
          <a:bodyPr wrap="square" lIns="0" tIns="0" rIns="0" bIns="0" rtlCol="0" anchor="ctr"/>
          <a:lstStyle/>
          <a:p>
            <a:pPr marL="0" indent="0" algn="l">
              <a:buNone/>
            </a:pPr>
            <a:r>
              <a:rPr lang="en-US" sz="1700" b="1" dirty="0">
                <a:solidFill>
                  <a:srgbClr val="1F4E79"/>
                </a:solidFill>
                <a:latin typeface="맑은 고딕" pitchFamily="34" charset="0"/>
                <a:ea typeface="맑은 고딕" pitchFamily="34" charset="-122"/>
                <a:cs typeface="맑은 고딕" pitchFamily="34" charset="-120"/>
              </a:rPr>
              <a:t>예측 (Forecasting)</a:t>
            </a:r>
            <a:endParaRPr lang="en-US" sz="1700" dirty="0"/>
          </a:p>
        </p:txBody>
      </p:sp>
      <p:sp>
        <p:nvSpPr>
          <p:cNvPr id="9" name="Shape 7"/>
          <p:cNvSpPr/>
          <p:nvPr/>
        </p:nvSpPr>
        <p:spPr>
          <a:xfrm>
            <a:off x="868680" y="5074920"/>
            <a:ext cx="3063240" cy="91"/>
          </a:xfrm>
          <a:prstGeom prst="line">
            <a:avLst/>
          </a:prstGeom>
          <a:noFill/>
          <a:ln w="12700">
            <a:solidFill>
              <a:srgbClr val="000000"/>
            </a:solidFill>
            <a:prstDash val="solid"/>
            <a:tailEnd type="triangle"/>
          </a:ln>
        </p:spPr>
        <p:txBody>
          <a:bodyPr/>
          <a:lstStyle/>
          <a:p>
            <a:endParaRPr lang="ko-KR" altLang="en-US"/>
          </a:p>
        </p:txBody>
      </p:sp>
      <p:sp>
        <p:nvSpPr>
          <p:cNvPr id="10" name="Text 8"/>
          <p:cNvSpPr txBox="1"/>
          <p:nvPr/>
        </p:nvSpPr>
        <p:spPr>
          <a:xfrm>
            <a:off x="3566160" y="5093208"/>
            <a:ext cx="457200" cy="201168"/>
          </a:xfrm>
          <a:prstGeom prst="rect">
            <a:avLst/>
          </a:prstGeom>
          <a:noFill/>
          <a:ln/>
        </p:spPr>
        <p:txBody>
          <a:bodyPr wrap="square" lIns="0" tIns="0" rIns="0" bIns="0" rtlCol="0" anchor="ctr"/>
          <a:lstStyle/>
          <a:p>
            <a:pPr marL="0" indent="0" algn="ctr">
              <a:buNone/>
            </a:pPr>
            <a:r>
              <a:rPr lang="en-US" sz="1000" i="1" dirty="0">
                <a:solidFill>
                  <a:srgbClr val="000000"/>
                </a:solidFill>
                <a:latin typeface="Times New Roman" pitchFamily="34" charset="0"/>
                <a:ea typeface="Times New Roman" pitchFamily="34" charset="-122"/>
                <a:cs typeface="Times New Roman" pitchFamily="34" charset="-120"/>
              </a:rPr>
              <a:t>time</a:t>
            </a:r>
            <a:endParaRPr lang="en-US" sz="1000" dirty="0"/>
          </a:p>
        </p:txBody>
      </p:sp>
      <p:sp>
        <p:nvSpPr>
          <p:cNvPr id="11" name="Shape 9"/>
          <p:cNvSpPr/>
          <p:nvPr/>
        </p:nvSpPr>
        <p:spPr>
          <a:xfrm>
            <a:off x="1097280" y="3566160"/>
            <a:ext cx="1975104" cy="1440180"/>
          </a:xfrm>
          <a:custGeom>
            <a:avLst/>
            <a:gdLst/>
            <a:ahLst/>
            <a:cxnLst/>
            <a:rect l="l" t="t" r="r" b="b"/>
            <a:pathLst>
              <a:path w="1975104" h="1440180">
                <a:moveTo>
                  <a:pt x="0" y="72009"/>
                </a:moveTo>
                <a:lnTo>
                  <a:pt x="329184" y="360045"/>
                </a:lnTo>
                <a:lnTo>
                  <a:pt x="658368" y="144018"/>
                </a:lnTo>
                <a:lnTo>
                  <a:pt x="987552" y="432054"/>
                </a:lnTo>
                <a:lnTo>
                  <a:pt x="1316736" y="259232"/>
                </a:lnTo>
                <a:lnTo>
                  <a:pt x="1645920" y="460858"/>
                </a:lnTo>
                <a:lnTo>
                  <a:pt x="1975104" y="316840"/>
                </a:lnTo>
              </a:path>
            </a:pathLst>
          </a:custGeom>
          <a:ln w="19050">
            <a:solidFill>
              <a:srgbClr val="000000"/>
            </a:solidFill>
            <a:prstDash val="solid"/>
          </a:ln>
        </p:spPr>
        <p:txBody>
          <a:bodyPr/>
          <a:lstStyle/>
          <a:p>
            <a:endParaRPr lang="ko-KR" altLang="en-US"/>
          </a:p>
        </p:txBody>
      </p:sp>
      <p:sp>
        <p:nvSpPr>
          <p:cNvPr id="12" name="Shape 10"/>
          <p:cNvSpPr/>
          <p:nvPr/>
        </p:nvSpPr>
        <p:spPr>
          <a:xfrm>
            <a:off x="1056132" y="3597021"/>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3" name="Shape 11"/>
          <p:cNvSpPr/>
          <p:nvPr/>
        </p:nvSpPr>
        <p:spPr>
          <a:xfrm>
            <a:off x="1385316" y="3885057"/>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4" name="Shape 12"/>
          <p:cNvSpPr/>
          <p:nvPr/>
        </p:nvSpPr>
        <p:spPr>
          <a:xfrm>
            <a:off x="1714500" y="3669030"/>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5" name="Shape 13"/>
          <p:cNvSpPr/>
          <p:nvPr/>
        </p:nvSpPr>
        <p:spPr>
          <a:xfrm>
            <a:off x="2043684" y="3957066"/>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6" name="Shape 14"/>
          <p:cNvSpPr/>
          <p:nvPr/>
        </p:nvSpPr>
        <p:spPr>
          <a:xfrm>
            <a:off x="2372868" y="3784244"/>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7" name="Shape 15"/>
          <p:cNvSpPr/>
          <p:nvPr/>
        </p:nvSpPr>
        <p:spPr>
          <a:xfrm>
            <a:off x="2702052" y="3985870"/>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8" name="Shape 16"/>
          <p:cNvSpPr/>
          <p:nvPr/>
        </p:nvSpPr>
        <p:spPr>
          <a:xfrm>
            <a:off x="3031236" y="3841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9" name="Shape 17"/>
          <p:cNvSpPr/>
          <p:nvPr/>
        </p:nvSpPr>
        <p:spPr>
          <a:xfrm>
            <a:off x="3072384" y="3883000"/>
            <a:ext cx="329184" cy="115214"/>
          </a:xfrm>
          <a:prstGeom prst="line">
            <a:avLst/>
          </a:prstGeom>
          <a:noFill/>
          <a:ln w="15875">
            <a:solidFill>
              <a:srgbClr val="595959"/>
            </a:solidFill>
            <a:prstDash val="dash"/>
          </a:ln>
        </p:spPr>
        <p:txBody>
          <a:bodyPr/>
          <a:lstStyle/>
          <a:p>
            <a:endParaRPr lang="ko-KR" altLang="en-US"/>
          </a:p>
        </p:txBody>
      </p:sp>
      <p:sp>
        <p:nvSpPr>
          <p:cNvPr id="20" name="Shape 18"/>
          <p:cNvSpPr/>
          <p:nvPr/>
        </p:nvSpPr>
        <p:spPr>
          <a:xfrm>
            <a:off x="3342132" y="3938778"/>
            <a:ext cx="118872" cy="118872"/>
          </a:xfrm>
          <a:prstGeom prst="ellipse">
            <a:avLst/>
          </a:prstGeom>
          <a:solidFill>
            <a:srgbClr val="FFFFFF"/>
          </a:solidFill>
          <a:ln w="22225">
            <a:solidFill>
              <a:srgbClr val="1F4E79"/>
            </a:solidFill>
            <a:prstDash val="solid"/>
          </a:ln>
        </p:spPr>
        <p:txBody>
          <a:bodyPr/>
          <a:lstStyle/>
          <a:p>
            <a:endParaRPr lang="ko-KR" altLang="en-US"/>
          </a:p>
        </p:txBody>
      </p:sp>
      <p:sp>
        <p:nvSpPr>
          <p:cNvPr id="21" name="Shape 19"/>
          <p:cNvSpPr/>
          <p:nvPr/>
        </p:nvSpPr>
        <p:spPr>
          <a:xfrm>
            <a:off x="3342132" y="4730877"/>
            <a:ext cx="118872" cy="118872"/>
          </a:xfrm>
          <a:prstGeom prst="ellipse">
            <a:avLst/>
          </a:prstGeom>
          <a:solidFill>
            <a:srgbClr val="C00000"/>
          </a:solidFill>
          <a:ln w="12700">
            <a:solidFill>
              <a:srgbClr val="C00000"/>
            </a:solidFill>
            <a:prstDash val="solid"/>
          </a:ln>
        </p:spPr>
        <p:txBody>
          <a:bodyPr/>
          <a:lstStyle/>
          <a:p>
            <a:endParaRPr lang="ko-KR" altLang="en-US"/>
          </a:p>
        </p:txBody>
      </p:sp>
      <p:sp>
        <p:nvSpPr>
          <p:cNvPr id="22" name="Shape 20"/>
          <p:cNvSpPr/>
          <p:nvPr/>
        </p:nvSpPr>
        <p:spPr>
          <a:xfrm>
            <a:off x="3566160" y="3952494"/>
            <a:ext cx="91" cy="883539"/>
          </a:xfrm>
          <a:prstGeom prst="line">
            <a:avLst/>
          </a:prstGeom>
          <a:noFill/>
          <a:ln w="19050">
            <a:solidFill>
              <a:srgbClr val="C00000"/>
            </a:solidFill>
            <a:prstDash val="solid"/>
            <a:tailEnd type="triangle"/>
          </a:ln>
        </p:spPr>
        <p:txBody>
          <a:bodyPr/>
          <a:lstStyle/>
          <a:p>
            <a:endParaRPr lang="ko-KR" altLang="en-US"/>
          </a:p>
        </p:txBody>
      </p:sp>
      <p:sp>
        <p:nvSpPr>
          <p:cNvPr id="23" name="Text 21"/>
          <p:cNvSpPr txBox="1"/>
          <p:nvPr/>
        </p:nvSpPr>
        <p:spPr>
          <a:xfrm>
            <a:off x="2715768" y="3979926"/>
            <a:ext cx="548640" cy="219456"/>
          </a:xfrm>
          <a:prstGeom prst="rect">
            <a:avLst/>
          </a:prstGeom>
          <a:noFill/>
          <a:ln/>
        </p:spPr>
        <p:txBody>
          <a:bodyPr wrap="square" lIns="0" tIns="0" rIns="0" bIns="0" rtlCol="0" anchor="ctr"/>
          <a:lstStyle/>
          <a:p>
            <a:pPr marL="0" indent="0" algn="r">
              <a:buNone/>
            </a:pPr>
            <a:r>
              <a:rPr lang="en-US" sz="1100" b="1" dirty="0">
                <a:solidFill>
                  <a:srgbClr val="1F4E79"/>
                </a:solidFill>
                <a:latin typeface="맑은 고딕" pitchFamily="34" charset="0"/>
                <a:ea typeface="맑은 고딕" pitchFamily="34" charset="-122"/>
                <a:cs typeface="맑은 고딕" pitchFamily="34" charset="-120"/>
              </a:rPr>
              <a:t>예측</a:t>
            </a:r>
            <a:endParaRPr lang="en-US" sz="1100" dirty="0"/>
          </a:p>
        </p:txBody>
      </p:sp>
      <p:sp>
        <p:nvSpPr>
          <p:cNvPr id="24" name="Text 22"/>
          <p:cNvSpPr txBox="1"/>
          <p:nvPr/>
        </p:nvSpPr>
        <p:spPr>
          <a:xfrm>
            <a:off x="2715768" y="4680585"/>
            <a:ext cx="548640" cy="219456"/>
          </a:xfrm>
          <a:prstGeom prst="rect">
            <a:avLst/>
          </a:prstGeom>
          <a:noFill/>
          <a:ln/>
        </p:spPr>
        <p:txBody>
          <a:bodyPr wrap="square" lIns="0" tIns="0" rIns="0" bIns="0" rtlCol="0" anchor="ctr"/>
          <a:lstStyle/>
          <a:p>
            <a:pPr marL="0" indent="0" algn="r">
              <a:buNone/>
            </a:pPr>
            <a:r>
              <a:rPr lang="en-US" sz="1100" b="1" dirty="0">
                <a:solidFill>
                  <a:srgbClr val="C00000"/>
                </a:solidFill>
                <a:latin typeface="맑은 고딕" pitchFamily="34" charset="0"/>
                <a:ea typeface="맑은 고딕" pitchFamily="34" charset="-122"/>
                <a:cs typeface="맑은 고딕" pitchFamily="34" charset="-120"/>
              </a:rPr>
              <a:t>실제</a:t>
            </a:r>
            <a:endParaRPr lang="en-US" sz="1100" dirty="0"/>
          </a:p>
        </p:txBody>
      </p:sp>
      <p:sp>
        <p:nvSpPr>
          <p:cNvPr id="25" name="Text 23"/>
          <p:cNvSpPr txBox="1"/>
          <p:nvPr/>
        </p:nvSpPr>
        <p:spPr>
          <a:xfrm>
            <a:off x="3621024" y="4284535"/>
            <a:ext cx="457200" cy="219456"/>
          </a:xfrm>
          <a:prstGeom prst="rect">
            <a:avLst/>
          </a:prstGeom>
          <a:noFill/>
          <a:ln/>
        </p:spPr>
        <p:txBody>
          <a:bodyPr wrap="square" lIns="0" tIns="0" rIns="0" bIns="0" rtlCol="0" anchor="ctr"/>
          <a:lstStyle/>
          <a:p>
            <a:pPr marL="0" indent="0" algn="l">
              <a:buNone/>
            </a:pPr>
            <a:r>
              <a:rPr lang="en-US" sz="1150" b="1" dirty="0">
                <a:solidFill>
                  <a:srgbClr val="C00000"/>
                </a:solidFill>
                <a:latin typeface="맑은 고딕" pitchFamily="34" charset="0"/>
                <a:ea typeface="맑은 고딕" pitchFamily="34" charset="-122"/>
                <a:cs typeface="맑은 고딕" pitchFamily="34" charset="-120"/>
              </a:rPr>
              <a:t>오차</a:t>
            </a:r>
            <a:endParaRPr lang="en-US" sz="1150" dirty="0"/>
          </a:p>
        </p:txBody>
      </p:sp>
      <p:sp>
        <p:nvSpPr>
          <p:cNvPr id="26" name="Text 24"/>
          <p:cNvSpPr txBox="1"/>
          <p:nvPr/>
        </p:nvSpPr>
        <p:spPr>
          <a:xfrm>
            <a:off x="777240" y="5349240"/>
            <a:ext cx="3291840" cy="320040"/>
          </a:xfrm>
          <a:prstGeom prst="rect">
            <a:avLst/>
          </a:prstGeom>
          <a:noFill/>
          <a:ln/>
        </p:spPr>
        <p:txBody>
          <a:bodyPr wrap="square" lIns="0" tIns="0" rIns="0" bIns="0" rtlCol="0" anchor="t"/>
          <a:lstStyle/>
          <a:p>
            <a:pPr marL="0" indent="0">
              <a:buNone/>
            </a:pPr>
            <a:r>
              <a:rPr lang="en-US" sz="1400" dirty="0">
                <a:solidFill>
                  <a:srgbClr val="262626"/>
                </a:solidFill>
                <a:latin typeface="맑은 고딕" pitchFamily="34" charset="0"/>
                <a:ea typeface="맑은 고딕" pitchFamily="34" charset="-122"/>
                <a:cs typeface="맑은 고딕" pitchFamily="34" charset="-120"/>
              </a:rPr>
              <a:t>다음 값을 예측 → </a:t>
            </a:r>
            <a:r>
              <a:rPr lang="en-US" sz="1400" b="1" dirty="0">
                <a:solidFill>
                  <a:srgbClr val="262626"/>
                </a:solidFill>
                <a:latin typeface="맑은 고딕" pitchFamily="34" charset="0"/>
                <a:ea typeface="맑은 고딕" pitchFamily="34" charset="-122"/>
                <a:cs typeface="맑은 고딕" pitchFamily="34" charset="-120"/>
              </a:rPr>
              <a:t>실제와 차이가 크면 이상</a:t>
            </a:r>
            <a:endParaRPr lang="en-US" sz="1400" dirty="0"/>
          </a:p>
        </p:txBody>
      </p:sp>
      <p:sp>
        <p:nvSpPr>
          <p:cNvPr id="27" name="Text 25"/>
          <p:cNvSpPr txBox="1"/>
          <p:nvPr/>
        </p:nvSpPr>
        <p:spPr>
          <a:xfrm>
            <a:off x="777240" y="5843270"/>
            <a:ext cx="3291840" cy="548640"/>
          </a:xfrm>
          <a:prstGeom prst="rect">
            <a:avLst/>
          </a:prstGeom>
          <a:noFill/>
          <a:ln/>
        </p:spPr>
        <p:txBody>
          <a:bodyPr wrap="square" lIns="0" tIns="0" rIns="0" bIns="0" rtlCol="0" anchor="t"/>
          <a:lstStyle/>
          <a:p>
            <a:pPr marL="0" indent="0">
              <a:buNone/>
            </a:pPr>
            <a:r>
              <a:rPr lang="en-US" sz="1050" dirty="0">
                <a:latin typeface="맑은 고딕" pitchFamily="34" charset="0"/>
                <a:ea typeface="맑은 고딕" pitchFamily="34" charset="-122"/>
                <a:cs typeface="맑은 고딕" pitchFamily="34" charset="-120"/>
              </a:rPr>
              <a:t>AR(AutoRegressive), VAR(Vector AutoRegression), LSTM(Long Short-Term Memory)</a:t>
            </a:r>
            <a:endParaRPr lang="en-US" sz="1050" dirty="0"/>
          </a:p>
        </p:txBody>
      </p:sp>
      <p:sp>
        <p:nvSpPr>
          <p:cNvPr id="28" name="Text 26"/>
          <p:cNvSpPr txBox="1"/>
          <p:nvPr/>
        </p:nvSpPr>
        <p:spPr>
          <a:xfrm>
            <a:off x="4526280" y="2926080"/>
            <a:ext cx="3291840" cy="347472"/>
          </a:xfrm>
          <a:prstGeom prst="rect">
            <a:avLst/>
          </a:prstGeom>
          <a:noFill/>
          <a:ln/>
        </p:spPr>
        <p:txBody>
          <a:bodyPr wrap="square" lIns="0" tIns="0" rIns="0" bIns="0" rtlCol="0" anchor="ctr"/>
          <a:lstStyle/>
          <a:p>
            <a:pPr marL="0" indent="0" algn="l">
              <a:buNone/>
            </a:pPr>
            <a:r>
              <a:rPr lang="en-US" sz="1700" b="1" dirty="0">
                <a:solidFill>
                  <a:srgbClr val="1F4E79"/>
                </a:solidFill>
                <a:latin typeface="맑은 고딕" pitchFamily="34" charset="0"/>
                <a:ea typeface="맑은 고딕" pitchFamily="34" charset="-122"/>
                <a:cs typeface="맑은 고딕" pitchFamily="34" charset="-120"/>
              </a:rPr>
              <a:t>재구축 (Reconstruction)</a:t>
            </a:r>
            <a:endParaRPr lang="en-US" sz="1700" dirty="0"/>
          </a:p>
        </p:txBody>
      </p:sp>
      <p:sp>
        <p:nvSpPr>
          <p:cNvPr id="29" name="Shape 27"/>
          <p:cNvSpPr/>
          <p:nvPr/>
        </p:nvSpPr>
        <p:spPr>
          <a:xfrm>
            <a:off x="4572000" y="3840480"/>
            <a:ext cx="914400" cy="777240"/>
          </a:xfrm>
          <a:prstGeom prst="rect">
            <a:avLst/>
          </a:prstGeom>
          <a:solidFill>
            <a:srgbClr val="FFFFFF"/>
          </a:solidFill>
          <a:ln w="9525">
            <a:solidFill>
              <a:srgbClr val="7F7F7F"/>
            </a:solidFill>
            <a:prstDash val="solid"/>
          </a:ln>
        </p:spPr>
        <p:txBody>
          <a:bodyPr/>
          <a:lstStyle/>
          <a:p>
            <a:endParaRPr lang="ko-KR" altLang="en-US"/>
          </a:p>
        </p:txBody>
      </p:sp>
      <p:sp>
        <p:nvSpPr>
          <p:cNvPr id="30" name="Shape 28"/>
          <p:cNvSpPr/>
          <p:nvPr/>
        </p:nvSpPr>
        <p:spPr>
          <a:xfrm>
            <a:off x="4626864" y="3895344"/>
            <a:ext cx="804672" cy="667512"/>
          </a:xfrm>
          <a:custGeom>
            <a:avLst/>
            <a:gdLst/>
            <a:ahLst/>
            <a:cxnLst/>
            <a:rect l="l" t="t" r="r" b="b"/>
            <a:pathLst>
              <a:path w="804672" h="667512">
                <a:moveTo>
                  <a:pt x="0" y="333756"/>
                </a:moveTo>
                <a:lnTo>
                  <a:pt x="27747" y="269815"/>
                </a:lnTo>
                <a:lnTo>
                  <a:pt x="55495" y="212568"/>
                </a:lnTo>
                <a:lnTo>
                  <a:pt x="83242" y="168008"/>
                </a:lnTo>
                <a:lnTo>
                  <a:pt x="110989" y="140802"/>
                </a:lnTo>
                <a:lnTo>
                  <a:pt x="138737" y="133796"/>
                </a:lnTo>
                <a:lnTo>
                  <a:pt x="166484" y="147725"/>
                </a:lnTo>
                <a:lnTo>
                  <a:pt x="194231" y="181130"/>
                </a:lnTo>
                <a:lnTo>
                  <a:pt x="221978" y="230514"/>
                </a:lnTo>
                <a:lnTo>
                  <a:pt x="249726" y="290707"/>
                </a:lnTo>
                <a:lnTo>
                  <a:pt x="277473" y="355407"/>
                </a:lnTo>
                <a:lnTo>
                  <a:pt x="305220" y="417840"/>
                </a:lnTo>
                <a:lnTo>
                  <a:pt x="332968" y="471470"/>
                </a:lnTo>
                <a:lnTo>
                  <a:pt x="360715" y="510682"/>
                </a:lnTo>
                <a:lnTo>
                  <a:pt x="388462" y="531372"/>
                </a:lnTo>
                <a:lnTo>
                  <a:pt x="416210" y="531372"/>
                </a:lnTo>
                <a:lnTo>
                  <a:pt x="443957" y="517913"/>
                </a:lnTo>
                <a:lnTo>
                  <a:pt x="471704" y="615271"/>
                </a:lnTo>
                <a:lnTo>
                  <a:pt x="499452" y="657042"/>
                </a:lnTo>
                <a:lnTo>
                  <a:pt x="527199" y="621531"/>
                </a:lnTo>
                <a:lnTo>
                  <a:pt x="554946" y="507566"/>
                </a:lnTo>
                <a:lnTo>
                  <a:pt x="582694" y="336024"/>
                </a:lnTo>
                <a:lnTo>
                  <a:pt x="610441" y="181130"/>
                </a:lnTo>
                <a:lnTo>
                  <a:pt x="638188" y="147725"/>
                </a:lnTo>
                <a:lnTo>
                  <a:pt x="665935" y="133796"/>
                </a:lnTo>
                <a:lnTo>
                  <a:pt x="693683" y="140802"/>
                </a:lnTo>
                <a:lnTo>
                  <a:pt x="721430" y="168008"/>
                </a:lnTo>
                <a:lnTo>
                  <a:pt x="749177" y="212568"/>
                </a:lnTo>
                <a:lnTo>
                  <a:pt x="776925" y="269815"/>
                </a:lnTo>
                <a:lnTo>
                  <a:pt x="804672" y="333756"/>
                </a:lnTo>
              </a:path>
            </a:pathLst>
          </a:custGeom>
          <a:ln w="19050">
            <a:solidFill>
              <a:srgbClr val="C00000"/>
            </a:solidFill>
            <a:prstDash val="solid"/>
          </a:ln>
        </p:spPr>
        <p:txBody>
          <a:bodyPr/>
          <a:lstStyle/>
          <a:p>
            <a:endParaRPr lang="ko-KR" altLang="en-US"/>
          </a:p>
        </p:txBody>
      </p:sp>
      <p:sp>
        <p:nvSpPr>
          <p:cNvPr id="31" name="Text 29"/>
          <p:cNvSpPr txBox="1"/>
          <p:nvPr/>
        </p:nvSpPr>
        <p:spPr>
          <a:xfrm>
            <a:off x="4572000" y="4663440"/>
            <a:ext cx="914400" cy="219456"/>
          </a:xfrm>
          <a:prstGeom prst="rect">
            <a:avLst/>
          </a:prstGeom>
          <a:noFill/>
          <a:ln/>
        </p:spPr>
        <p:txBody>
          <a:bodyPr wrap="square" lIns="0" tIns="0" rIns="0" bIns="0" rtlCol="0" anchor="ctr"/>
          <a:lstStyle/>
          <a:p>
            <a:pPr marL="0" indent="0" algn="ctr">
              <a:buNone/>
            </a:pPr>
            <a:r>
              <a:rPr lang="en-US" sz="1100" b="1" dirty="0">
                <a:solidFill>
                  <a:srgbClr val="000000"/>
                </a:solidFill>
                <a:latin typeface="맑은 고딕" pitchFamily="34" charset="0"/>
                <a:ea typeface="맑은 고딕" pitchFamily="34" charset="-122"/>
                <a:cs typeface="맑은 고딕" pitchFamily="34" charset="-120"/>
              </a:rPr>
              <a:t>입력</a:t>
            </a:r>
            <a:endParaRPr lang="en-US" sz="1100" dirty="0"/>
          </a:p>
        </p:txBody>
      </p:sp>
      <p:sp>
        <p:nvSpPr>
          <p:cNvPr id="32" name="Shape 30"/>
          <p:cNvSpPr/>
          <p:nvPr/>
        </p:nvSpPr>
        <p:spPr>
          <a:xfrm>
            <a:off x="5532120" y="4229100"/>
            <a:ext cx="228600" cy="91"/>
          </a:xfrm>
          <a:prstGeom prst="line">
            <a:avLst/>
          </a:prstGeom>
          <a:noFill/>
          <a:ln w="19050">
            <a:solidFill>
              <a:srgbClr val="000000"/>
            </a:solidFill>
            <a:prstDash val="solid"/>
            <a:tailEnd type="triangle"/>
          </a:ln>
        </p:spPr>
        <p:txBody>
          <a:bodyPr/>
          <a:lstStyle/>
          <a:p>
            <a:endParaRPr lang="ko-KR" altLang="en-US"/>
          </a:p>
        </p:txBody>
      </p:sp>
      <p:sp>
        <p:nvSpPr>
          <p:cNvPr id="33" name="Shape 31"/>
          <p:cNvSpPr/>
          <p:nvPr/>
        </p:nvSpPr>
        <p:spPr>
          <a:xfrm>
            <a:off x="5806440" y="3863340"/>
            <a:ext cx="365760" cy="731520"/>
          </a:xfrm>
          <a:custGeom>
            <a:avLst/>
            <a:gdLst/>
            <a:ahLst/>
            <a:cxnLst/>
            <a:rect l="l" t="t" r="r" b="b"/>
            <a:pathLst>
              <a:path w="365760" h="731520">
                <a:moveTo>
                  <a:pt x="0" y="0"/>
                </a:moveTo>
                <a:lnTo>
                  <a:pt x="365760" y="256032"/>
                </a:lnTo>
                <a:lnTo>
                  <a:pt x="365760" y="475488"/>
                </a:lnTo>
                <a:lnTo>
                  <a:pt x="0" y="731520"/>
                </a:lnTo>
                <a:close/>
              </a:path>
            </a:pathLst>
          </a:custGeom>
          <a:solidFill>
            <a:srgbClr val="F79646"/>
          </a:solidFill>
          <a:ln w="12700">
            <a:solidFill>
              <a:srgbClr val="984807"/>
            </a:solidFill>
            <a:prstDash val="solid"/>
          </a:ln>
        </p:spPr>
        <p:txBody>
          <a:bodyPr/>
          <a:lstStyle/>
          <a:p>
            <a:endParaRPr lang="ko-KR" altLang="en-US"/>
          </a:p>
        </p:txBody>
      </p:sp>
      <p:sp>
        <p:nvSpPr>
          <p:cNvPr id="34" name="Shape 32"/>
          <p:cNvSpPr/>
          <p:nvPr/>
        </p:nvSpPr>
        <p:spPr>
          <a:xfrm>
            <a:off x="6190488" y="3863340"/>
            <a:ext cx="365760" cy="731520"/>
          </a:xfrm>
          <a:custGeom>
            <a:avLst/>
            <a:gdLst/>
            <a:ahLst/>
            <a:cxnLst/>
            <a:rect l="l" t="t" r="r" b="b"/>
            <a:pathLst>
              <a:path w="365760" h="731520">
                <a:moveTo>
                  <a:pt x="0" y="256032"/>
                </a:moveTo>
                <a:lnTo>
                  <a:pt x="365760" y="0"/>
                </a:lnTo>
                <a:lnTo>
                  <a:pt x="365760" y="731520"/>
                </a:lnTo>
                <a:lnTo>
                  <a:pt x="0" y="475488"/>
                </a:lnTo>
                <a:close/>
              </a:path>
            </a:pathLst>
          </a:custGeom>
          <a:solidFill>
            <a:srgbClr val="F79646"/>
          </a:solidFill>
          <a:ln w="12700">
            <a:solidFill>
              <a:srgbClr val="984807"/>
            </a:solidFill>
            <a:prstDash val="solid"/>
          </a:ln>
        </p:spPr>
        <p:txBody>
          <a:bodyPr/>
          <a:lstStyle/>
          <a:p>
            <a:endParaRPr lang="ko-KR" altLang="en-US"/>
          </a:p>
        </p:txBody>
      </p:sp>
      <p:sp>
        <p:nvSpPr>
          <p:cNvPr id="35" name="Text 33"/>
          <p:cNvSpPr txBox="1"/>
          <p:nvPr/>
        </p:nvSpPr>
        <p:spPr>
          <a:xfrm>
            <a:off x="5577840" y="4663440"/>
            <a:ext cx="1188720" cy="219456"/>
          </a:xfrm>
          <a:prstGeom prst="rect">
            <a:avLst/>
          </a:prstGeom>
          <a:noFill/>
          <a:ln/>
        </p:spPr>
        <p:txBody>
          <a:bodyPr wrap="square" lIns="0" tIns="0" rIns="0" bIns="0" rtlCol="0" anchor="ctr"/>
          <a:lstStyle/>
          <a:p>
            <a:pPr marL="0" indent="0" algn="ctr">
              <a:buNone/>
            </a:pPr>
            <a:r>
              <a:rPr lang="en-US" sz="1000" dirty="0">
                <a:solidFill>
                  <a:srgbClr val="595959"/>
                </a:solidFill>
                <a:latin typeface="맑은 고딕" pitchFamily="34" charset="0"/>
                <a:ea typeface="맑은 고딕" pitchFamily="34" charset="-122"/>
                <a:cs typeface="맑은 고딕" pitchFamily="34" charset="-120"/>
              </a:rPr>
              <a:t>정상 패턴만 학습</a:t>
            </a:r>
            <a:endParaRPr lang="en-US" sz="1000" dirty="0"/>
          </a:p>
        </p:txBody>
      </p:sp>
      <p:sp>
        <p:nvSpPr>
          <p:cNvPr id="36" name="Shape 34"/>
          <p:cNvSpPr/>
          <p:nvPr/>
        </p:nvSpPr>
        <p:spPr>
          <a:xfrm>
            <a:off x="6601968" y="4229100"/>
            <a:ext cx="228600" cy="91"/>
          </a:xfrm>
          <a:prstGeom prst="line">
            <a:avLst/>
          </a:prstGeom>
          <a:noFill/>
          <a:ln w="19050">
            <a:solidFill>
              <a:srgbClr val="000000"/>
            </a:solidFill>
            <a:prstDash val="solid"/>
            <a:tailEnd type="triangle"/>
          </a:ln>
        </p:spPr>
        <p:txBody>
          <a:bodyPr/>
          <a:lstStyle/>
          <a:p>
            <a:endParaRPr lang="ko-KR" altLang="en-US"/>
          </a:p>
        </p:txBody>
      </p:sp>
      <p:sp>
        <p:nvSpPr>
          <p:cNvPr id="37" name="Shape 35"/>
          <p:cNvSpPr/>
          <p:nvPr/>
        </p:nvSpPr>
        <p:spPr>
          <a:xfrm>
            <a:off x="6876288" y="3840480"/>
            <a:ext cx="914400" cy="777240"/>
          </a:xfrm>
          <a:prstGeom prst="rect">
            <a:avLst/>
          </a:prstGeom>
          <a:solidFill>
            <a:srgbClr val="FFFFFF"/>
          </a:solidFill>
          <a:ln w="9525">
            <a:solidFill>
              <a:srgbClr val="7F7F7F"/>
            </a:solidFill>
            <a:prstDash val="solid"/>
          </a:ln>
        </p:spPr>
        <p:txBody>
          <a:bodyPr/>
          <a:lstStyle/>
          <a:p>
            <a:endParaRPr lang="ko-KR" altLang="en-US"/>
          </a:p>
        </p:txBody>
      </p:sp>
      <p:sp>
        <p:nvSpPr>
          <p:cNvPr id="38" name="Shape 36"/>
          <p:cNvSpPr/>
          <p:nvPr/>
        </p:nvSpPr>
        <p:spPr>
          <a:xfrm>
            <a:off x="6931152" y="3895344"/>
            <a:ext cx="804672" cy="667512"/>
          </a:xfrm>
          <a:custGeom>
            <a:avLst/>
            <a:gdLst/>
            <a:ahLst/>
            <a:cxnLst/>
            <a:rect l="l" t="t" r="r" b="b"/>
            <a:pathLst>
              <a:path w="804672" h="667512">
                <a:moveTo>
                  <a:pt x="0" y="333756"/>
                </a:moveTo>
                <a:lnTo>
                  <a:pt x="27747" y="269815"/>
                </a:lnTo>
                <a:lnTo>
                  <a:pt x="55495" y="212568"/>
                </a:lnTo>
                <a:lnTo>
                  <a:pt x="83242" y="168008"/>
                </a:lnTo>
                <a:lnTo>
                  <a:pt x="110989" y="140802"/>
                </a:lnTo>
                <a:lnTo>
                  <a:pt x="138737" y="133796"/>
                </a:lnTo>
                <a:lnTo>
                  <a:pt x="166484" y="147725"/>
                </a:lnTo>
                <a:lnTo>
                  <a:pt x="194231" y="181130"/>
                </a:lnTo>
                <a:lnTo>
                  <a:pt x="221978" y="230514"/>
                </a:lnTo>
                <a:lnTo>
                  <a:pt x="249726" y="290707"/>
                </a:lnTo>
                <a:lnTo>
                  <a:pt x="277473" y="355407"/>
                </a:lnTo>
                <a:lnTo>
                  <a:pt x="305220" y="417840"/>
                </a:lnTo>
                <a:lnTo>
                  <a:pt x="332968" y="471470"/>
                </a:lnTo>
                <a:lnTo>
                  <a:pt x="360715" y="510682"/>
                </a:lnTo>
                <a:lnTo>
                  <a:pt x="388462" y="531372"/>
                </a:lnTo>
                <a:lnTo>
                  <a:pt x="416210" y="531372"/>
                </a:lnTo>
                <a:lnTo>
                  <a:pt x="443957" y="510682"/>
                </a:lnTo>
                <a:lnTo>
                  <a:pt x="471704" y="471470"/>
                </a:lnTo>
                <a:lnTo>
                  <a:pt x="499452" y="417840"/>
                </a:lnTo>
                <a:lnTo>
                  <a:pt x="527199" y="355407"/>
                </a:lnTo>
                <a:lnTo>
                  <a:pt x="554946" y="290707"/>
                </a:lnTo>
                <a:lnTo>
                  <a:pt x="582694" y="230514"/>
                </a:lnTo>
                <a:lnTo>
                  <a:pt x="610441" y="181130"/>
                </a:lnTo>
                <a:lnTo>
                  <a:pt x="638188" y="147725"/>
                </a:lnTo>
                <a:lnTo>
                  <a:pt x="665935" y="133796"/>
                </a:lnTo>
                <a:lnTo>
                  <a:pt x="693683" y="140802"/>
                </a:lnTo>
                <a:lnTo>
                  <a:pt x="721430" y="168008"/>
                </a:lnTo>
                <a:lnTo>
                  <a:pt x="749177" y="212568"/>
                </a:lnTo>
                <a:lnTo>
                  <a:pt x="776925" y="269815"/>
                </a:lnTo>
                <a:lnTo>
                  <a:pt x="804672" y="333756"/>
                </a:lnTo>
              </a:path>
            </a:pathLst>
          </a:custGeom>
          <a:ln w="19050">
            <a:solidFill>
              <a:srgbClr val="1F4E79"/>
            </a:solidFill>
            <a:prstDash val="solid"/>
          </a:ln>
        </p:spPr>
        <p:txBody>
          <a:bodyPr/>
          <a:lstStyle/>
          <a:p>
            <a:endParaRPr lang="ko-KR" altLang="en-US"/>
          </a:p>
        </p:txBody>
      </p:sp>
      <p:sp>
        <p:nvSpPr>
          <p:cNvPr id="39" name="Shape 37"/>
          <p:cNvSpPr/>
          <p:nvPr/>
        </p:nvSpPr>
        <p:spPr>
          <a:xfrm>
            <a:off x="6931152" y="3895344"/>
            <a:ext cx="804672" cy="667512"/>
          </a:xfrm>
          <a:custGeom>
            <a:avLst/>
            <a:gdLst/>
            <a:ahLst/>
            <a:cxnLst/>
            <a:rect l="l" t="t" r="r" b="b"/>
            <a:pathLst>
              <a:path w="804672" h="667512">
                <a:moveTo>
                  <a:pt x="0" y="333756"/>
                </a:moveTo>
                <a:lnTo>
                  <a:pt x="27747" y="269815"/>
                </a:lnTo>
                <a:lnTo>
                  <a:pt x="55495" y="212568"/>
                </a:lnTo>
                <a:lnTo>
                  <a:pt x="83242" y="168008"/>
                </a:lnTo>
                <a:lnTo>
                  <a:pt x="110989" y="140802"/>
                </a:lnTo>
                <a:lnTo>
                  <a:pt x="138737" y="133796"/>
                </a:lnTo>
                <a:lnTo>
                  <a:pt x="166484" y="147725"/>
                </a:lnTo>
                <a:lnTo>
                  <a:pt x="194231" y="181130"/>
                </a:lnTo>
                <a:lnTo>
                  <a:pt x="221978" y="230514"/>
                </a:lnTo>
                <a:lnTo>
                  <a:pt x="249726" y="290707"/>
                </a:lnTo>
                <a:lnTo>
                  <a:pt x="277473" y="355407"/>
                </a:lnTo>
                <a:lnTo>
                  <a:pt x="305220" y="417840"/>
                </a:lnTo>
                <a:lnTo>
                  <a:pt x="332968" y="471470"/>
                </a:lnTo>
                <a:lnTo>
                  <a:pt x="360715" y="510682"/>
                </a:lnTo>
                <a:lnTo>
                  <a:pt x="388462" y="531372"/>
                </a:lnTo>
                <a:lnTo>
                  <a:pt x="416210" y="531372"/>
                </a:lnTo>
                <a:lnTo>
                  <a:pt x="443957" y="517913"/>
                </a:lnTo>
                <a:lnTo>
                  <a:pt x="471704" y="615271"/>
                </a:lnTo>
                <a:lnTo>
                  <a:pt x="499452" y="657042"/>
                </a:lnTo>
                <a:lnTo>
                  <a:pt x="527199" y="621531"/>
                </a:lnTo>
                <a:lnTo>
                  <a:pt x="554946" y="507566"/>
                </a:lnTo>
                <a:lnTo>
                  <a:pt x="582694" y="336024"/>
                </a:lnTo>
                <a:lnTo>
                  <a:pt x="610441" y="181130"/>
                </a:lnTo>
                <a:lnTo>
                  <a:pt x="638188" y="147725"/>
                </a:lnTo>
                <a:lnTo>
                  <a:pt x="665935" y="133796"/>
                </a:lnTo>
                <a:lnTo>
                  <a:pt x="693683" y="140802"/>
                </a:lnTo>
                <a:lnTo>
                  <a:pt x="721430" y="168008"/>
                </a:lnTo>
                <a:lnTo>
                  <a:pt x="749177" y="212568"/>
                </a:lnTo>
                <a:lnTo>
                  <a:pt x="776925" y="269815"/>
                </a:lnTo>
                <a:lnTo>
                  <a:pt x="804672" y="333756"/>
                </a:lnTo>
              </a:path>
            </a:pathLst>
          </a:custGeom>
          <a:ln w="19050">
            <a:solidFill>
              <a:srgbClr val="C00000"/>
            </a:solidFill>
            <a:prstDash val="dash"/>
          </a:ln>
        </p:spPr>
        <p:txBody>
          <a:bodyPr/>
          <a:lstStyle/>
          <a:p>
            <a:endParaRPr lang="ko-KR" altLang="en-US"/>
          </a:p>
        </p:txBody>
      </p:sp>
      <p:sp>
        <p:nvSpPr>
          <p:cNvPr id="40" name="Text 38"/>
          <p:cNvSpPr txBox="1"/>
          <p:nvPr/>
        </p:nvSpPr>
        <p:spPr>
          <a:xfrm>
            <a:off x="6876288" y="4663440"/>
            <a:ext cx="914400" cy="219456"/>
          </a:xfrm>
          <a:prstGeom prst="rect">
            <a:avLst/>
          </a:prstGeom>
          <a:noFill/>
          <a:ln/>
        </p:spPr>
        <p:txBody>
          <a:bodyPr wrap="square" lIns="0" tIns="0" rIns="0" bIns="0" rtlCol="0" anchor="ctr"/>
          <a:lstStyle/>
          <a:p>
            <a:pPr marL="0" indent="0" algn="ctr">
              <a:buNone/>
            </a:pPr>
            <a:r>
              <a:rPr lang="en-US" sz="1100" b="1" dirty="0">
                <a:solidFill>
                  <a:srgbClr val="000000"/>
                </a:solidFill>
                <a:latin typeface="맑은 고딕" pitchFamily="34" charset="0"/>
                <a:ea typeface="맑은 고딕" pitchFamily="34" charset="-122"/>
                <a:cs typeface="맑은 고딕" pitchFamily="34" charset="-120"/>
              </a:rPr>
              <a:t>복원</a:t>
            </a:r>
            <a:endParaRPr lang="en-US" sz="1100" dirty="0"/>
          </a:p>
        </p:txBody>
      </p:sp>
      <p:sp>
        <p:nvSpPr>
          <p:cNvPr id="41" name="Text 39"/>
          <p:cNvSpPr txBox="1"/>
          <p:nvPr/>
        </p:nvSpPr>
        <p:spPr>
          <a:xfrm>
            <a:off x="6693408" y="3547872"/>
            <a:ext cx="1280160" cy="219456"/>
          </a:xfrm>
          <a:prstGeom prst="rect">
            <a:avLst/>
          </a:prstGeom>
          <a:noFill/>
          <a:ln/>
        </p:spPr>
        <p:txBody>
          <a:bodyPr wrap="square" lIns="0" tIns="0" rIns="0" bIns="0" rtlCol="0" anchor="ctr"/>
          <a:lstStyle/>
          <a:p>
            <a:pPr marL="0" indent="0" algn="ctr">
              <a:buNone/>
            </a:pPr>
            <a:r>
              <a:rPr lang="en-US" sz="1100" b="1" dirty="0">
                <a:solidFill>
                  <a:srgbClr val="C00000"/>
                </a:solidFill>
                <a:latin typeface="맑은 고딕" pitchFamily="34" charset="0"/>
                <a:ea typeface="맑은 고딕" pitchFamily="34" charset="-122"/>
                <a:cs typeface="맑은 고딕" pitchFamily="34" charset="-120"/>
              </a:rPr>
              <a:t>차이 = 복원 오차</a:t>
            </a:r>
            <a:endParaRPr lang="en-US" sz="1100" dirty="0"/>
          </a:p>
        </p:txBody>
      </p:sp>
      <p:sp>
        <p:nvSpPr>
          <p:cNvPr id="42" name="Text 40"/>
          <p:cNvSpPr txBox="1"/>
          <p:nvPr/>
        </p:nvSpPr>
        <p:spPr>
          <a:xfrm>
            <a:off x="4526280" y="5349240"/>
            <a:ext cx="3291840" cy="320040"/>
          </a:xfrm>
          <a:prstGeom prst="rect">
            <a:avLst/>
          </a:prstGeom>
          <a:noFill/>
          <a:ln/>
        </p:spPr>
        <p:txBody>
          <a:bodyPr wrap="square" lIns="0" tIns="0" rIns="0" bIns="0" rtlCol="0" anchor="t"/>
          <a:lstStyle/>
          <a:p>
            <a:pPr marL="0" indent="0">
              <a:buNone/>
            </a:pPr>
            <a:r>
              <a:rPr lang="en-US" sz="1400" dirty="0">
                <a:solidFill>
                  <a:srgbClr val="262626"/>
                </a:solidFill>
                <a:latin typeface="맑은 고딕" pitchFamily="34" charset="0"/>
                <a:ea typeface="맑은 고딕" pitchFamily="34" charset="-122"/>
                <a:cs typeface="맑은 고딕" pitchFamily="34" charset="-120"/>
              </a:rPr>
              <a:t>정상 패턴으로 복원 → </a:t>
            </a:r>
            <a:r>
              <a:rPr lang="en-US" sz="1400" b="1" dirty="0" err="1">
                <a:solidFill>
                  <a:srgbClr val="262626"/>
                </a:solidFill>
                <a:latin typeface="맑은 고딕" pitchFamily="34" charset="0"/>
                <a:ea typeface="맑은 고딕" pitchFamily="34" charset="-122"/>
                <a:cs typeface="맑은 고딕" pitchFamily="34" charset="-120"/>
              </a:rPr>
              <a:t>복원이</a:t>
            </a:r>
            <a:r>
              <a:rPr lang="en-US" sz="1400" b="1" dirty="0">
                <a:solidFill>
                  <a:srgbClr val="262626"/>
                </a:solidFill>
                <a:latin typeface="맑은 고딕" pitchFamily="34" charset="0"/>
                <a:ea typeface="맑은 고딕" pitchFamily="34" charset="-122"/>
                <a:cs typeface="맑은 고딕" pitchFamily="34" charset="-120"/>
              </a:rPr>
              <a:t> </a:t>
            </a:r>
            <a:r>
              <a:rPr lang="ko-KR" altLang="en-US" sz="1400" b="1" dirty="0">
                <a:solidFill>
                  <a:srgbClr val="262626"/>
                </a:solidFill>
                <a:latin typeface="맑은 고딕" pitchFamily="34" charset="0"/>
                <a:ea typeface="맑은 고딕" pitchFamily="34" charset="-122"/>
                <a:cs typeface="맑은 고딕" pitchFamily="34" charset="-120"/>
              </a:rPr>
              <a:t>오차가 크다면</a:t>
            </a:r>
            <a:r>
              <a:rPr lang="en-US" sz="1400" b="1" dirty="0">
                <a:solidFill>
                  <a:srgbClr val="262626"/>
                </a:solidFill>
                <a:latin typeface="맑은 고딕" pitchFamily="34" charset="0"/>
                <a:ea typeface="맑은 고딕" pitchFamily="34" charset="-122"/>
                <a:cs typeface="맑은 고딕" pitchFamily="34" charset="-120"/>
              </a:rPr>
              <a:t> 이상</a:t>
            </a:r>
            <a:endParaRPr lang="en-US" sz="1400" dirty="0"/>
          </a:p>
        </p:txBody>
      </p:sp>
      <p:sp>
        <p:nvSpPr>
          <p:cNvPr id="43" name="Text 41"/>
          <p:cNvSpPr txBox="1"/>
          <p:nvPr/>
        </p:nvSpPr>
        <p:spPr>
          <a:xfrm>
            <a:off x="4526280" y="5843270"/>
            <a:ext cx="3291840" cy="548640"/>
          </a:xfrm>
          <a:prstGeom prst="rect">
            <a:avLst/>
          </a:prstGeom>
          <a:noFill/>
          <a:ln/>
        </p:spPr>
        <p:txBody>
          <a:bodyPr wrap="square" lIns="0" tIns="0" rIns="0" bIns="0" rtlCol="0" anchor="t"/>
          <a:lstStyle/>
          <a:p>
            <a:pPr marL="0" indent="0">
              <a:buNone/>
            </a:pPr>
            <a:r>
              <a:rPr lang="en-US" sz="1050" dirty="0">
                <a:solidFill>
                  <a:srgbClr val="595959"/>
                </a:solidFill>
                <a:latin typeface="맑은 고딕" pitchFamily="34" charset="0"/>
                <a:ea typeface="맑은 고딕" pitchFamily="34" charset="-122"/>
                <a:cs typeface="맑은 고딕" pitchFamily="34" charset="-120"/>
              </a:rPr>
              <a:t>PCA(Principal Component Analysis), AE(AutoEncoder)</a:t>
            </a:r>
            <a:endParaRPr lang="en-US" sz="1050" dirty="0"/>
          </a:p>
        </p:txBody>
      </p:sp>
      <p:sp>
        <p:nvSpPr>
          <p:cNvPr id="44" name="Text 42"/>
          <p:cNvSpPr txBox="1"/>
          <p:nvPr/>
        </p:nvSpPr>
        <p:spPr>
          <a:xfrm>
            <a:off x="8275320" y="2926080"/>
            <a:ext cx="3291840" cy="347472"/>
          </a:xfrm>
          <a:prstGeom prst="rect">
            <a:avLst/>
          </a:prstGeom>
          <a:noFill/>
          <a:ln/>
        </p:spPr>
        <p:txBody>
          <a:bodyPr wrap="square" lIns="0" tIns="0" rIns="0" bIns="0" rtlCol="0" anchor="ctr"/>
          <a:lstStyle/>
          <a:p>
            <a:pPr marL="0" indent="0" algn="l">
              <a:buNone/>
            </a:pPr>
            <a:r>
              <a:rPr lang="en-US" sz="1700" b="1" dirty="0">
                <a:solidFill>
                  <a:srgbClr val="C00000"/>
                </a:solidFill>
                <a:latin typeface="맑은 고딕" pitchFamily="34" charset="0"/>
                <a:ea typeface="맑은 고딕" pitchFamily="34" charset="-122"/>
                <a:cs typeface="맑은 고딕" pitchFamily="34" charset="-120"/>
              </a:rPr>
              <a:t>밀도 (Density)  </a:t>
            </a:r>
            <a:endParaRPr lang="en-US" sz="1700" dirty="0"/>
          </a:p>
        </p:txBody>
      </p:sp>
      <p:sp>
        <p:nvSpPr>
          <p:cNvPr id="45" name="Shape 43"/>
          <p:cNvSpPr/>
          <p:nvPr/>
        </p:nvSpPr>
        <p:spPr>
          <a:xfrm>
            <a:off x="8412480" y="5074920"/>
            <a:ext cx="3017520" cy="91"/>
          </a:xfrm>
          <a:prstGeom prst="line">
            <a:avLst/>
          </a:prstGeom>
          <a:noFill/>
          <a:ln w="12700">
            <a:solidFill>
              <a:srgbClr val="000000"/>
            </a:solidFill>
            <a:prstDash val="solid"/>
          </a:ln>
        </p:spPr>
        <p:txBody>
          <a:bodyPr/>
          <a:lstStyle/>
          <a:p>
            <a:endParaRPr lang="ko-KR" altLang="en-US"/>
          </a:p>
        </p:txBody>
      </p:sp>
      <p:sp>
        <p:nvSpPr>
          <p:cNvPr id="46" name="Shape 44"/>
          <p:cNvSpPr/>
          <p:nvPr/>
        </p:nvSpPr>
        <p:spPr>
          <a:xfrm flipV="1">
            <a:off x="8412480" y="3429000"/>
            <a:ext cx="91" cy="1645920"/>
          </a:xfrm>
          <a:prstGeom prst="line">
            <a:avLst/>
          </a:prstGeom>
          <a:noFill/>
          <a:ln w="12700">
            <a:solidFill>
              <a:srgbClr val="000000"/>
            </a:solidFill>
            <a:prstDash val="solid"/>
          </a:ln>
        </p:spPr>
        <p:txBody>
          <a:bodyPr/>
          <a:lstStyle/>
          <a:p>
            <a:endParaRPr lang="ko-KR" altLang="en-US"/>
          </a:p>
        </p:txBody>
      </p:sp>
      <p:sp>
        <p:nvSpPr>
          <p:cNvPr id="47" name="Shape 45"/>
          <p:cNvSpPr/>
          <p:nvPr/>
        </p:nvSpPr>
        <p:spPr>
          <a:xfrm>
            <a:off x="8778240" y="3977640"/>
            <a:ext cx="1371600" cy="822960"/>
          </a:xfrm>
          <a:prstGeom prst="ellipse">
            <a:avLst/>
          </a:prstGeom>
          <a:ln w="11430">
            <a:solidFill>
              <a:srgbClr val="1F4E79"/>
            </a:solidFill>
            <a:prstDash val="solid"/>
          </a:ln>
        </p:spPr>
        <p:txBody>
          <a:bodyPr/>
          <a:lstStyle/>
          <a:p>
            <a:endParaRPr lang="ko-KR" altLang="en-US"/>
          </a:p>
        </p:txBody>
      </p:sp>
      <p:sp>
        <p:nvSpPr>
          <p:cNvPr id="48" name="Shape 46"/>
          <p:cNvSpPr/>
          <p:nvPr/>
        </p:nvSpPr>
        <p:spPr>
          <a:xfrm>
            <a:off x="9006840" y="4114800"/>
            <a:ext cx="914400" cy="548640"/>
          </a:xfrm>
          <a:prstGeom prst="ellipse">
            <a:avLst/>
          </a:prstGeom>
          <a:ln w="11430">
            <a:solidFill>
              <a:srgbClr val="1F4E79"/>
            </a:solidFill>
            <a:prstDash val="solid"/>
          </a:ln>
        </p:spPr>
        <p:txBody>
          <a:bodyPr/>
          <a:lstStyle/>
          <a:p>
            <a:endParaRPr lang="ko-KR" altLang="en-US"/>
          </a:p>
        </p:txBody>
      </p:sp>
      <p:sp>
        <p:nvSpPr>
          <p:cNvPr id="49" name="Shape 47"/>
          <p:cNvSpPr/>
          <p:nvPr/>
        </p:nvSpPr>
        <p:spPr>
          <a:xfrm>
            <a:off x="9235440" y="4251960"/>
            <a:ext cx="457200" cy="274320"/>
          </a:xfrm>
          <a:prstGeom prst="ellipse">
            <a:avLst/>
          </a:prstGeom>
          <a:ln w="19050">
            <a:solidFill>
              <a:srgbClr val="1F4E79"/>
            </a:solidFill>
            <a:prstDash val="solid"/>
          </a:ln>
        </p:spPr>
        <p:txBody>
          <a:bodyPr/>
          <a:lstStyle/>
          <a:p>
            <a:endParaRPr lang="ko-KR" altLang="en-US"/>
          </a:p>
        </p:txBody>
      </p:sp>
      <p:sp>
        <p:nvSpPr>
          <p:cNvPr id="50" name="Shape 48"/>
          <p:cNvSpPr/>
          <p:nvPr/>
        </p:nvSpPr>
        <p:spPr>
          <a:xfrm>
            <a:off x="9966960" y="3749040"/>
            <a:ext cx="914400" cy="548640"/>
          </a:xfrm>
          <a:prstGeom prst="ellipse">
            <a:avLst/>
          </a:prstGeom>
          <a:ln w="11430">
            <a:solidFill>
              <a:srgbClr val="5B9BD5"/>
            </a:solidFill>
            <a:prstDash val="solid"/>
          </a:ln>
        </p:spPr>
        <p:txBody>
          <a:bodyPr/>
          <a:lstStyle/>
          <a:p>
            <a:endParaRPr lang="ko-KR" altLang="en-US"/>
          </a:p>
        </p:txBody>
      </p:sp>
      <p:sp>
        <p:nvSpPr>
          <p:cNvPr id="51" name="Shape 49"/>
          <p:cNvSpPr/>
          <p:nvPr/>
        </p:nvSpPr>
        <p:spPr>
          <a:xfrm>
            <a:off x="10119360" y="3840480"/>
            <a:ext cx="609600" cy="365760"/>
          </a:xfrm>
          <a:prstGeom prst="ellipse">
            <a:avLst/>
          </a:prstGeom>
          <a:ln w="11430">
            <a:solidFill>
              <a:srgbClr val="5B9BD5"/>
            </a:solidFill>
            <a:prstDash val="solid"/>
          </a:ln>
        </p:spPr>
        <p:txBody>
          <a:bodyPr/>
          <a:lstStyle/>
          <a:p>
            <a:endParaRPr lang="ko-KR" altLang="en-US"/>
          </a:p>
        </p:txBody>
      </p:sp>
      <p:sp>
        <p:nvSpPr>
          <p:cNvPr id="52" name="Shape 50"/>
          <p:cNvSpPr/>
          <p:nvPr/>
        </p:nvSpPr>
        <p:spPr>
          <a:xfrm>
            <a:off x="10271760" y="3931920"/>
            <a:ext cx="304800" cy="182880"/>
          </a:xfrm>
          <a:prstGeom prst="ellipse">
            <a:avLst/>
          </a:prstGeom>
          <a:ln w="19050">
            <a:solidFill>
              <a:srgbClr val="5B9BD5"/>
            </a:solidFill>
            <a:prstDash val="solid"/>
          </a:ln>
        </p:spPr>
        <p:txBody>
          <a:bodyPr/>
          <a:lstStyle/>
          <a:p>
            <a:endParaRPr lang="ko-KR" altLang="en-US"/>
          </a:p>
        </p:txBody>
      </p:sp>
      <p:sp>
        <p:nvSpPr>
          <p:cNvPr id="53" name="Shape 51"/>
          <p:cNvSpPr/>
          <p:nvPr/>
        </p:nvSpPr>
        <p:spPr>
          <a:xfrm>
            <a:off x="8997696" y="4332125"/>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4" name="Shape 52"/>
          <p:cNvSpPr/>
          <p:nvPr/>
        </p:nvSpPr>
        <p:spPr>
          <a:xfrm>
            <a:off x="9642169" y="4153411"/>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5" name="Shape 53"/>
          <p:cNvSpPr/>
          <p:nvPr/>
        </p:nvSpPr>
        <p:spPr>
          <a:xfrm>
            <a:off x="9264006" y="4308818"/>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6" name="Shape 54"/>
          <p:cNvSpPr/>
          <p:nvPr/>
        </p:nvSpPr>
        <p:spPr>
          <a:xfrm>
            <a:off x="9683486" y="4211348"/>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7" name="Shape 55"/>
          <p:cNvSpPr/>
          <p:nvPr/>
        </p:nvSpPr>
        <p:spPr>
          <a:xfrm>
            <a:off x="9819529" y="4329040"/>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8" name="Shape 56"/>
          <p:cNvSpPr/>
          <p:nvPr/>
        </p:nvSpPr>
        <p:spPr>
          <a:xfrm>
            <a:off x="8997696" y="4331504"/>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59" name="Shape 57"/>
          <p:cNvSpPr/>
          <p:nvPr/>
        </p:nvSpPr>
        <p:spPr>
          <a:xfrm>
            <a:off x="9125183" y="4337892"/>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0" name="Shape 58"/>
          <p:cNvSpPr/>
          <p:nvPr/>
        </p:nvSpPr>
        <p:spPr>
          <a:xfrm>
            <a:off x="8997696" y="4425088"/>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1" name="Shape 59"/>
          <p:cNvSpPr/>
          <p:nvPr/>
        </p:nvSpPr>
        <p:spPr>
          <a:xfrm>
            <a:off x="9469911" y="4275509"/>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2" name="Shape 60"/>
          <p:cNvSpPr/>
          <p:nvPr/>
        </p:nvSpPr>
        <p:spPr>
          <a:xfrm>
            <a:off x="9541092" y="4383503"/>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3" name="Shape 61"/>
          <p:cNvSpPr/>
          <p:nvPr/>
        </p:nvSpPr>
        <p:spPr>
          <a:xfrm>
            <a:off x="9834939" y="4377863"/>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4" name="Shape 62"/>
          <p:cNvSpPr/>
          <p:nvPr/>
        </p:nvSpPr>
        <p:spPr>
          <a:xfrm>
            <a:off x="9141175" y="4112971"/>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5" name="Shape 63"/>
          <p:cNvSpPr/>
          <p:nvPr/>
        </p:nvSpPr>
        <p:spPr>
          <a:xfrm>
            <a:off x="9598185" y="4289665"/>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6" name="Shape 64"/>
          <p:cNvSpPr/>
          <p:nvPr/>
        </p:nvSpPr>
        <p:spPr>
          <a:xfrm>
            <a:off x="9083498" y="4413688"/>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7" name="Shape 65"/>
          <p:cNvSpPr/>
          <p:nvPr/>
        </p:nvSpPr>
        <p:spPr>
          <a:xfrm>
            <a:off x="9082440" y="4305971"/>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8" name="Shape 66"/>
          <p:cNvSpPr/>
          <p:nvPr/>
        </p:nvSpPr>
        <p:spPr>
          <a:xfrm>
            <a:off x="9127543" y="4227897"/>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69" name="Shape 67"/>
          <p:cNvSpPr/>
          <p:nvPr/>
        </p:nvSpPr>
        <p:spPr>
          <a:xfrm>
            <a:off x="9336431" y="4140175"/>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0" name="Shape 68"/>
          <p:cNvSpPr/>
          <p:nvPr/>
        </p:nvSpPr>
        <p:spPr>
          <a:xfrm>
            <a:off x="9291729" y="4521648"/>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1" name="Shape 69"/>
          <p:cNvSpPr/>
          <p:nvPr/>
        </p:nvSpPr>
        <p:spPr>
          <a:xfrm>
            <a:off x="10167610" y="3954905"/>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2" name="Shape 70"/>
          <p:cNvSpPr/>
          <p:nvPr/>
        </p:nvSpPr>
        <p:spPr>
          <a:xfrm>
            <a:off x="10396324" y="4034923"/>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3" name="Shape 71"/>
          <p:cNvSpPr/>
          <p:nvPr/>
        </p:nvSpPr>
        <p:spPr>
          <a:xfrm>
            <a:off x="10142836" y="3834994"/>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4" name="Shape 72"/>
          <p:cNvSpPr/>
          <p:nvPr/>
        </p:nvSpPr>
        <p:spPr>
          <a:xfrm>
            <a:off x="10557454" y="3934409"/>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5" name="Shape 73"/>
          <p:cNvSpPr/>
          <p:nvPr/>
        </p:nvSpPr>
        <p:spPr>
          <a:xfrm>
            <a:off x="10384113" y="3834994"/>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6" name="Shape 74"/>
          <p:cNvSpPr/>
          <p:nvPr/>
        </p:nvSpPr>
        <p:spPr>
          <a:xfrm>
            <a:off x="10271392" y="3999746"/>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7" name="Shape 75"/>
          <p:cNvSpPr/>
          <p:nvPr/>
        </p:nvSpPr>
        <p:spPr>
          <a:xfrm>
            <a:off x="10510922" y="4125561"/>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8" name="Shape 76"/>
          <p:cNvSpPr/>
          <p:nvPr/>
        </p:nvSpPr>
        <p:spPr>
          <a:xfrm>
            <a:off x="10312086" y="4096625"/>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79" name="Shape 77"/>
          <p:cNvSpPr/>
          <p:nvPr/>
        </p:nvSpPr>
        <p:spPr>
          <a:xfrm>
            <a:off x="10480189" y="4147734"/>
            <a:ext cx="54864" cy="54864"/>
          </a:xfrm>
          <a:prstGeom prst="ellipse">
            <a:avLst/>
          </a:prstGeom>
          <a:solidFill>
            <a:srgbClr val="595959"/>
          </a:solidFill>
          <a:ln w="12700">
            <a:solidFill>
              <a:srgbClr val="595959"/>
            </a:solidFill>
            <a:prstDash val="solid"/>
          </a:ln>
        </p:spPr>
        <p:txBody>
          <a:bodyPr/>
          <a:lstStyle/>
          <a:p>
            <a:endParaRPr lang="ko-KR" altLang="en-US"/>
          </a:p>
        </p:txBody>
      </p:sp>
      <p:sp>
        <p:nvSpPr>
          <p:cNvPr id="80" name="Shape 78"/>
          <p:cNvSpPr/>
          <p:nvPr/>
        </p:nvSpPr>
        <p:spPr>
          <a:xfrm>
            <a:off x="9441180" y="4274820"/>
            <a:ext cx="137160" cy="137160"/>
          </a:xfrm>
          <a:prstGeom prst="ellipse">
            <a:avLst/>
          </a:prstGeom>
          <a:solidFill>
            <a:srgbClr val="1F4E79"/>
          </a:solidFill>
          <a:ln w="12700">
            <a:solidFill>
              <a:srgbClr val="FFFFFF"/>
            </a:solidFill>
            <a:prstDash val="solid"/>
          </a:ln>
        </p:spPr>
        <p:txBody>
          <a:bodyPr/>
          <a:lstStyle/>
          <a:p>
            <a:endParaRPr lang="ko-KR" altLang="en-US"/>
          </a:p>
        </p:txBody>
      </p:sp>
      <p:sp>
        <p:nvSpPr>
          <p:cNvPr id="81" name="Shape 79"/>
          <p:cNvSpPr/>
          <p:nvPr/>
        </p:nvSpPr>
        <p:spPr>
          <a:xfrm>
            <a:off x="10936224" y="4718304"/>
            <a:ext cx="164592" cy="164592"/>
          </a:xfrm>
          <a:prstGeom prst="line">
            <a:avLst/>
          </a:prstGeom>
          <a:noFill/>
          <a:ln w="28575">
            <a:solidFill>
              <a:srgbClr val="C00000"/>
            </a:solidFill>
            <a:prstDash val="solid"/>
          </a:ln>
        </p:spPr>
        <p:txBody>
          <a:bodyPr/>
          <a:lstStyle/>
          <a:p>
            <a:endParaRPr lang="ko-KR" altLang="en-US"/>
          </a:p>
        </p:txBody>
      </p:sp>
      <p:sp>
        <p:nvSpPr>
          <p:cNvPr id="82" name="Shape 80"/>
          <p:cNvSpPr/>
          <p:nvPr/>
        </p:nvSpPr>
        <p:spPr>
          <a:xfrm flipV="1">
            <a:off x="10936224" y="4718304"/>
            <a:ext cx="164592" cy="164592"/>
          </a:xfrm>
          <a:prstGeom prst="line">
            <a:avLst/>
          </a:prstGeom>
          <a:noFill/>
          <a:ln w="28575">
            <a:solidFill>
              <a:srgbClr val="C00000"/>
            </a:solidFill>
            <a:prstDash val="solid"/>
          </a:ln>
        </p:spPr>
        <p:txBody>
          <a:bodyPr/>
          <a:lstStyle/>
          <a:p>
            <a:endParaRPr lang="ko-KR" altLang="en-US"/>
          </a:p>
        </p:txBody>
      </p:sp>
      <p:sp>
        <p:nvSpPr>
          <p:cNvPr id="83" name="Text 81"/>
          <p:cNvSpPr txBox="1"/>
          <p:nvPr/>
        </p:nvSpPr>
        <p:spPr>
          <a:xfrm>
            <a:off x="8595360" y="4846320"/>
            <a:ext cx="914400" cy="219456"/>
          </a:xfrm>
          <a:prstGeom prst="rect">
            <a:avLst/>
          </a:prstGeom>
          <a:noFill/>
          <a:ln/>
        </p:spPr>
        <p:txBody>
          <a:bodyPr wrap="square" lIns="0" tIns="0" rIns="0" bIns="0" rtlCol="0" anchor="ctr"/>
          <a:lstStyle/>
          <a:p>
            <a:pPr marL="0" indent="0" algn="l">
              <a:buNone/>
            </a:pPr>
            <a:r>
              <a:rPr lang="en-US" sz="1100" b="1" dirty="0">
                <a:solidFill>
                  <a:srgbClr val="1F4E79"/>
                </a:solidFill>
                <a:latin typeface="맑은 고딕" pitchFamily="34" charset="0"/>
                <a:ea typeface="맑은 고딕" pitchFamily="34" charset="-122"/>
                <a:cs typeface="맑은 고딕" pitchFamily="34" charset="-120"/>
              </a:rPr>
              <a:t>흔한 조합</a:t>
            </a:r>
            <a:endParaRPr lang="en-US" sz="1100" dirty="0"/>
          </a:p>
        </p:txBody>
      </p:sp>
      <p:sp>
        <p:nvSpPr>
          <p:cNvPr id="84" name="Text 82"/>
          <p:cNvSpPr txBox="1"/>
          <p:nvPr/>
        </p:nvSpPr>
        <p:spPr>
          <a:xfrm>
            <a:off x="10561320" y="4480560"/>
            <a:ext cx="914400" cy="219456"/>
          </a:xfrm>
          <a:prstGeom prst="rect">
            <a:avLst/>
          </a:prstGeom>
          <a:noFill/>
          <a:ln/>
        </p:spPr>
        <p:txBody>
          <a:bodyPr wrap="square" lIns="0" tIns="0" rIns="0" bIns="0" rtlCol="0" anchor="ctr"/>
          <a:lstStyle/>
          <a:p>
            <a:pPr marL="0" indent="0" algn="l">
              <a:buNone/>
            </a:pPr>
            <a:r>
              <a:rPr lang="en-US" sz="1100" b="1" dirty="0">
                <a:solidFill>
                  <a:srgbClr val="C00000"/>
                </a:solidFill>
                <a:latin typeface="맑은 고딕" pitchFamily="34" charset="0"/>
                <a:ea typeface="맑은 고딕" pitchFamily="34" charset="-122"/>
                <a:cs typeface="맑은 고딕" pitchFamily="34" charset="-120"/>
              </a:rPr>
              <a:t>드문 조합</a:t>
            </a:r>
            <a:endParaRPr lang="en-US" sz="1100" dirty="0"/>
          </a:p>
        </p:txBody>
      </p:sp>
      <p:sp>
        <p:nvSpPr>
          <p:cNvPr id="85" name="Text 83"/>
          <p:cNvSpPr txBox="1"/>
          <p:nvPr/>
        </p:nvSpPr>
        <p:spPr>
          <a:xfrm>
            <a:off x="8275320" y="5349240"/>
            <a:ext cx="3291840" cy="320040"/>
          </a:xfrm>
          <a:prstGeom prst="rect">
            <a:avLst/>
          </a:prstGeom>
          <a:noFill/>
          <a:ln/>
        </p:spPr>
        <p:txBody>
          <a:bodyPr wrap="square" lIns="0" tIns="0" rIns="0" bIns="0" rtlCol="0" anchor="t"/>
          <a:lstStyle/>
          <a:p>
            <a:pPr marL="0" indent="0">
              <a:buNone/>
            </a:pPr>
            <a:r>
              <a:rPr lang="en-US" sz="1400" dirty="0">
                <a:solidFill>
                  <a:srgbClr val="262626"/>
                </a:solidFill>
                <a:latin typeface="맑은 고딕" pitchFamily="34" charset="0"/>
                <a:ea typeface="맑은 고딕" pitchFamily="34" charset="-122"/>
                <a:cs typeface="맑은 고딕" pitchFamily="34" charset="-120"/>
              </a:rPr>
              <a:t>정상 분포 위의 확률 → </a:t>
            </a:r>
            <a:r>
              <a:rPr lang="ko-KR" altLang="en-US" sz="1400" b="1" dirty="0">
                <a:solidFill>
                  <a:srgbClr val="262626"/>
                </a:solidFill>
                <a:latin typeface="맑은 고딕" pitchFamily="34" charset="0"/>
                <a:ea typeface="맑은 고딕" pitchFamily="34" charset="-122"/>
                <a:cs typeface="맑은 고딕" pitchFamily="34" charset="-120"/>
              </a:rPr>
              <a:t>정상 분포와 멀어질수록</a:t>
            </a:r>
            <a:r>
              <a:rPr lang="en-US" sz="1400" b="1" dirty="0">
                <a:solidFill>
                  <a:srgbClr val="262626"/>
                </a:solidFill>
                <a:latin typeface="맑은 고딕" pitchFamily="34" charset="0"/>
                <a:ea typeface="맑은 고딕" pitchFamily="34" charset="-122"/>
                <a:cs typeface="맑은 고딕" pitchFamily="34" charset="-120"/>
              </a:rPr>
              <a:t> 이상</a:t>
            </a:r>
            <a:endParaRPr lang="en-US" sz="1400" dirty="0"/>
          </a:p>
        </p:txBody>
      </p:sp>
      <p:sp>
        <p:nvSpPr>
          <p:cNvPr id="86" name="Text 84"/>
          <p:cNvSpPr txBox="1"/>
          <p:nvPr/>
        </p:nvSpPr>
        <p:spPr>
          <a:xfrm>
            <a:off x="8275320" y="5843270"/>
            <a:ext cx="3291840" cy="548640"/>
          </a:xfrm>
          <a:prstGeom prst="rect">
            <a:avLst/>
          </a:prstGeom>
          <a:noFill/>
          <a:ln/>
        </p:spPr>
        <p:txBody>
          <a:bodyPr wrap="square" lIns="0" tIns="0" rIns="0" bIns="0" rtlCol="0" anchor="t"/>
          <a:lstStyle/>
          <a:p>
            <a:pPr marL="0" indent="0">
              <a:buNone/>
            </a:pPr>
            <a:r>
              <a:rPr lang="en-US" sz="1050" dirty="0">
                <a:solidFill>
                  <a:srgbClr val="595959"/>
                </a:solidFill>
                <a:latin typeface="맑은 고딕" pitchFamily="34" charset="0"/>
                <a:ea typeface="맑은 고딕" pitchFamily="34" charset="-122"/>
                <a:cs typeface="맑은 고딕" pitchFamily="34" charset="-120"/>
              </a:rPr>
              <a:t>GMM, KDE(Kernel Density Estimation), LOF(Local Outlier Factor)</a:t>
            </a:r>
            <a:endParaRPr lang="en-US" sz="1050" dirty="0"/>
          </a:p>
        </p:txBody>
      </p:sp>
      <p:sp>
        <p:nvSpPr>
          <p:cNvPr id="88"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Hydraulic Pump Sensor Dataset</a:t>
            </a:r>
            <a:endParaRPr lang="en-US" sz="1800" dirty="0"/>
          </a:p>
        </p:txBody>
      </p:sp>
      <p:graphicFrame>
        <p:nvGraphicFramePr>
          <p:cNvPr id="6" name="Chart 0"/>
          <p:cNvGraphicFramePr/>
          <p:nvPr>
            <p:extLst>
              <p:ext uri="{D42A27DB-BD31-4B8C-83A1-F6EECF244321}">
                <p14:modId xmlns:p14="http://schemas.microsoft.com/office/powerpoint/2010/main" val="1857993210"/>
              </p:ext>
            </p:extLst>
          </p:nvPr>
        </p:nvGraphicFramePr>
        <p:xfrm>
          <a:off x="914400" y="3383280"/>
          <a:ext cx="342900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378468682"/>
              </p:ext>
            </p:extLst>
          </p:nvPr>
        </p:nvGraphicFramePr>
        <p:xfrm>
          <a:off x="4434840" y="3383280"/>
          <a:ext cx="3429000" cy="26974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extLst>
              <p:ext uri="{D42A27DB-BD31-4B8C-83A1-F6EECF244321}">
                <p14:modId xmlns:p14="http://schemas.microsoft.com/office/powerpoint/2010/main" val="2814750389"/>
              </p:ext>
            </p:extLst>
          </p:nvPr>
        </p:nvGraphicFramePr>
        <p:xfrm>
          <a:off x="7955280" y="3383280"/>
          <a:ext cx="3429000" cy="2697480"/>
        </p:xfrm>
        <a:graphic>
          <a:graphicData uri="http://schemas.openxmlformats.org/drawingml/2006/chart">
            <c:chart xmlns:c="http://schemas.openxmlformats.org/drawingml/2006/chart" xmlns:r="http://schemas.openxmlformats.org/officeDocument/2006/relationships" r:id="rId5"/>
          </a:graphicData>
        </a:graphic>
      </p:graphicFrame>
      <p:sp>
        <p:nvSpPr>
          <p:cNvPr id="9" name="caption"/>
          <p:cNvSpPr txBox="1"/>
          <p:nvPr/>
        </p:nvSpPr>
        <p:spPr>
          <a:xfrm>
            <a:off x="1005840" y="6172200"/>
            <a:ext cx="10515600" cy="274320"/>
          </a:xfrm>
          <a:prstGeom prst="rect">
            <a:avLst/>
          </a:prstGeom>
          <a:noFill/>
          <a:ln/>
        </p:spPr>
        <p:txBody>
          <a:bodyPr wrap="square" lIns="0" tIns="0" rIns="0" bIns="0" rtlCol="0" anchor="t"/>
          <a:lstStyle/>
          <a:p>
            <a:pPr marL="0" indent="0" algn="l">
              <a:buNone/>
            </a:pPr>
            <a:r>
              <a:rPr lang="en-US" sz="1050" dirty="0" err="1">
                <a:latin typeface="맑은 고딕" pitchFamily="34" charset="0"/>
                <a:ea typeface="맑은 고딕" pitchFamily="34" charset="-122"/>
                <a:cs typeface="맑은 고딕" pitchFamily="34" charset="-120"/>
              </a:rPr>
              <a:t>x축</a:t>
            </a:r>
            <a:r>
              <a:rPr lang="en-US" sz="1050" dirty="0">
                <a:latin typeface="맑은 고딕" pitchFamily="34" charset="0"/>
                <a:ea typeface="맑은 고딕" pitchFamily="34" charset="-122"/>
                <a:cs typeface="맑은 고딕" pitchFamily="34" charset="-120"/>
              </a:rPr>
              <a:t>: clip 시작 후 경과 시간(초) </a:t>
            </a:r>
          </a:p>
          <a:p>
            <a:pPr marL="0" indent="0" algn="l">
              <a:buNone/>
            </a:pPr>
            <a:r>
              <a:rPr lang="en-US" sz="1050" dirty="0">
                <a:latin typeface="맑은 고딕" pitchFamily="34" charset="0"/>
                <a:ea typeface="맑은 고딕" pitchFamily="34" charset="-122"/>
                <a:cs typeface="맑은 고딕" pitchFamily="34" charset="-120"/>
              </a:rPr>
              <a:t>y</a:t>
            </a:r>
            <a:r>
              <a:rPr lang="ko-KR" altLang="en-US" sz="1050" dirty="0">
                <a:latin typeface="맑은 고딕" pitchFamily="34" charset="0"/>
                <a:ea typeface="맑은 고딕" pitchFamily="34" charset="-122"/>
                <a:cs typeface="맑은 고딕" pitchFamily="34" charset="-120"/>
              </a:rPr>
              <a:t>축 </a:t>
            </a:r>
            <a:r>
              <a:rPr lang="en-US" altLang="ko-KR" sz="1050" dirty="0">
                <a:latin typeface="맑은 고딕" pitchFamily="34" charset="0"/>
                <a:ea typeface="맑은 고딕" pitchFamily="34" charset="-122"/>
                <a:cs typeface="맑은 고딕" pitchFamily="34" charset="-120"/>
              </a:rPr>
              <a:t>:</a:t>
            </a:r>
            <a:r>
              <a:rPr lang="en-US" sz="1050" dirty="0" err="1">
                <a:latin typeface="맑은 고딕" pitchFamily="34" charset="0"/>
                <a:ea typeface="맑은 고딕" pitchFamily="34" charset="-122"/>
                <a:cs typeface="맑은 고딕" pitchFamily="34" charset="-120"/>
              </a:rPr>
              <a:t>원시값</a:t>
            </a:r>
            <a:r>
              <a:rPr lang="en-US" sz="1050" dirty="0">
                <a:latin typeface="맑은 고딕" pitchFamily="34" charset="0"/>
                <a:ea typeface="맑은 고딕" pitchFamily="34" charset="-122"/>
                <a:cs typeface="맑은 고딕" pitchFamily="34" charset="-120"/>
              </a:rPr>
              <a:t> (상부/하부 매핑과 물리 단위는 미확인)</a:t>
            </a:r>
            <a:endParaRPr lang="en-US" sz="105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6</a:t>
            </a:fld>
            <a:endParaRPr lang="en-US"/>
          </a:p>
        </p:txBody>
      </p:sp>
      <p:pic>
        <p:nvPicPr>
          <p:cNvPr id="11" name="그림 10">
            <a:extLst>
              <a:ext uri="{FF2B5EF4-FFF2-40B4-BE49-F238E27FC236}">
                <a16:creationId xmlns:a16="http://schemas.microsoft.com/office/drawing/2014/main" id="{CBDCB6EE-4412-EEC3-FB8A-56FE3D967977}"/>
              </a:ext>
            </a:extLst>
          </p:cNvPr>
          <p:cNvPicPr>
            <a:picLocks noChangeAspect="1"/>
          </p:cNvPicPr>
          <p:nvPr/>
        </p:nvPicPr>
        <p:blipFill>
          <a:blip r:embed="rId6"/>
          <a:stretch>
            <a:fillRect/>
          </a:stretch>
        </p:blipFill>
        <p:spPr>
          <a:xfrm>
            <a:off x="6149340" y="659299"/>
            <a:ext cx="5564482" cy="921682"/>
          </a:xfrm>
          <a:prstGeom prst="rect">
            <a:avLst/>
          </a:prstGeom>
        </p:spPr>
      </p:pic>
      <p:sp>
        <p:nvSpPr>
          <p:cNvPr id="13" name="question">
            <a:extLst>
              <a:ext uri="{FF2B5EF4-FFF2-40B4-BE49-F238E27FC236}">
                <a16:creationId xmlns:a16="http://schemas.microsoft.com/office/drawing/2014/main" id="{0CCB8F0A-7D3B-EA49-A25C-F33978195897}"/>
              </a:ext>
            </a:extLst>
          </p:cNvPr>
          <p:cNvSpPr txBox="1"/>
          <p:nvPr/>
        </p:nvSpPr>
        <p:spPr>
          <a:xfrm>
            <a:off x="1005840" y="1444752"/>
            <a:ext cx="10607040" cy="475488"/>
          </a:xfrm>
          <a:prstGeom prst="rect">
            <a:avLst/>
          </a:prstGeom>
          <a:noFill/>
          <a:ln/>
        </p:spPr>
        <p:txBody>
          <a:bodyPr wrap="square" lIns="0" tIns="0" rIns="0" bIns="0" rtlCol="0" anchor="ctr"/>
          <a:lstStyle/>
          <a:p>
            <a:r>
              <a:rPr lang="en-US" sz="2100" dirty="0">
                <a:solidFill>
                  <a:srgbClr val="1F4E79"/>
                </a:solidFill>
                <a:latin typeface="맑은 고딕" pitchFamily="34" charset="0"/>
                <a:ea typeface="맑은 고딕" pitchFamily="34" charset="-122"/>
                <a:cs typeface="맑은 고딕" pitchFamily="34" charset="-120"/>
              </a:rPr>
              <a:t>❖  </a:t>
            </a:r>
            <a:r>
              <a:rPr lang="en-US" altLang="ko-KR" sz="2100" dirty="0" err="1">
                <a:solidFill>
                  <a:srgbClr val="262626"/>
                </a:solidFill>
                <a:latin typeface="맑은 고딕" pitchFamily="34" charset="0"/>
                <a:ea typeface="맑은 고딕" pitchFamily="34" charset="-122"/>
                <a:cs typeface="맑은 고딕" pitchFamily="34" charset="-120"/>
              </a:rPr>
              <a:t>우리의</a:t>
            </a:r>
            <a:r>
              <a:rPr lang="en-US" altLang="ko-KR" sz="2100" dirty="0">
                <a:solidFill>
                  <a:srgbClr val="262626"/>
                </a:solidFill>
                <a:latin typeface="맑은 고딕" pitchFamily="34" charset="0"/>
                <a:ea typeface="맑은 고딕" pitchFamily="34" charset="-122"/>
                <a:cs typeface="맑은 고딕" pitchFamily="34" charset="-120"/>
              </a:rPr>
              <a:t> </a:t>
            </a:r>
            <a:r>
              <a:rPr lang="en-US" altLang="ko-KR" sz="2100" dirty="0" err="1">
                <a:solidFill>
                  <a:srgbClr val="262626"/>
                </a:solidFill>
                <a:latin typeface="맑은 고딕" pitchFamily="34" charset="0"/>
                <a:ea typeface="맑은 고딕" pitchFamily="34" charset="-122"/>
                <a:cs typeface="맑은 고딕" pitchFamily="34" charset="-120"/>
              </a:rPr>
              <a:t>데이터는</a:t>
            </a:r>
            <a:r>
              <a:rPr lang="en-US" altLang="ko-KR" sz="2100" dirty="0">
                <a:solidFill>
                  <a:srgbClr val="262626"/>
                </a:solidFill>
                <a:latin typeface="맑은 고딕" pitchFamily="34" charset="0"/>
                <a:ea typeface="맑은 고딕" pitchFamily="34" charset="-122"/>
                <a:cs typeface="맑은 고딕" pitchFamily="34" charset="-120"/>
              </a:rPr>
              <a:t> </a:t>
            </a:r>
            <a:r>
              <a:rPr lang="en-US" altLang="ko-KR" sz="2100" dirty="0" err="1">
                <a:solidFill>
                  <a:srgbClr val="262626"/>
                </a:solidFill>
                <a:latin typeface="맑은 고딕" pitchFamily="34" charset="0"/>
                <a:ea typeface="맑은 고딕" pitchFamily="34" charset="-122"/>
                <a:cs typeface="맑은 고딕" pitchFamily="34" charset="-120"/>
              </a:rPr>
              <a:t>어떻게</a:t>
            </a:r>
            <a:r>
              <a:rPr lang="en-US" altLang="ko-KR" sz="2100" dirty="0">
                <a:solidFill>
                  <a:srgbClr val="262626"/>
                </a:solidFill>
                <a:latin typeface="맑은 고딕" pitchFamily="34" charset="0"/>
                <a:ea typeface="맑은 고딕" pitchFamily="34" charset="-122"/>
                <a:cs typeface="맑은 고딕" pitchFamily="34" charset="-120"/>
              </a:rPr>
              <a:t> </a:t>
            </a:r>
            <a:r>
              <a:rPr lang="en-US" altLang="ko-KR" sz="2100" dirty="0" err="1">
                <a:solidFill>
                  <a:srgbClr val="262626"/>
                </a:solidFill>
                <a:latin typeface="맑은 고딕" pitchFamily="34" charset="0"/>
                <a:ea typeface="맑은 고딕" pitchFamily="34" charset="-122"/>
                <a:cs typeface="맑은 고딕" pitchFamily="34" charset="-120"/>
              </a:rPr>
              <a:t>생겼을까</a:t>
            </a:r>
            <a:r>
              <a:rPr lang="en-US" altLang="ko-KR" sz="2100" dirty="0">
                <a:solidFill>
                  <a:srgbClr val="262626"/>
                </a:solidFill>
                <a:latin typeface="맑은 고딕" pitchFamily="34" charset="0"/>
                <a:ea typeface="맑은 고딕" pitchFamily="34" charset="-122"/>
                <a:cs typeface="맑은 고딕" pitchFamily="34" charset="-120"/>
              </a:rPr>
              <a:t>?</a:t>
            </a:r>
            <a:endParaRPr lang="en-US" sz="2100" dirty="0"/>
          </a:p>
        </p:txBody>
      </p:sp>
      <p:sp>
        <p:nvSpPr>
          <p:cNvPr id="15" name="bullets">
            <a:extLst>
              <a:ext uri="{FF2B5EF4-FFF2-40B4-BE49-F238E27FC236}">
                <a16:creationId xmlns:a16="http://schemas.microsoft.com/office/drawing/2014/main" id="{5C464718-DBC9-502B-6A01-A5C8515B9482}"/>
              </a:ext>
            </a:extLst>
          </p:cNvPr>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ko-KR" altLang="en-US" sz="1600" dirty="0">
                <a:solidFill>
                  <a:srgbClr val="262626"/>
                </a:solidFill>
                <a:latin typeface="맑은 고딕" pitchFamily="34" charset="0"/>
                <a:ea typeface="맑은 고딕" pitchFamily="34" charset="-122"/>
                <a:cs typeface="맑은 고딕" pitchFamily="34" charset="-120"/>
              </a:rPr>
              <a:t>구성</a:t>
            </a:r>
            <a:r>
              <a:rPr lang="en-US" sz="1600" dirty="0">
                <a:solidFill>
                  <a:srgbClr val="262626"/>
                </a:solidFill>
                <a:latin typeface="맑은 고딕" pitchFamily="34" charset="0"/>
                <a:ea typeface="맑은 고딕" pitchFamily="34" charset="-122"/>
                <a:cs typeface="맑은 고딕" pitchFamily="34" charset="-120"/>
              </a:rPr>
              <a:t>: </a:t>
            </a:r>
          </a:p>
          <a:p>
            <a:pPr marL="742950" lvl="1" indent="-285750">
              <a:spcAft>
                <a:spcPts val="600"/>
              </a:spcAft>
              <a:buSzPct val="100000"/>
              <a:buFont typeface="Wingdings" panose="05000000000000000000" pitchFamily="2" charset="2"/>
              <a:buChar char="ü"/>
            </a:pPr>
            <a:r>
              <a:rPr lang="en-US" altLang="ko-KR" sz="1600" dirty="0" err="1">
                <a:solidFill>
                  <a:srgbClr val="262626"/>
                </a:solidFill>
                <a:latin typeface="맑은 고딕" pitchFamily="34" charset="0"/>
                <a:ea typeface="맑은 고딕" pitchFamily="34" charset="-122"/>
                <a:cs typeface="맑은 고딕" pitchFamily="34" charset="-120"/>
              </a:rPr>
              <a:t>정상</a:t>
            </a:r>
            <a:r>
              <a:rPr lang="en-US" altLang="ko-KR" sz="1600" dirty="0">
                <a:solidFill>
                  <a:srgbClr val="262626"/>
                </a:solidFill>
                <a:latin typeface="맑은 고딕" pitchFamily="34" charset="0"/>
                <a:ea typeface="맑은 고딕" pitchFamily="34" charset="-122"/>
                <a:cs typeface="맑은 고딕" pitchFamily="34" charset="-120"/>
              </a:rPr>
              <a:t> </a:t>
            </a:r>
            <a:r>
              <a:rPr lang="ko-KR" altLang="en-US" sz="1600" dirty="0">
                <a:solidFill>
                  <a:srgbClr val="262626"/>
                </a:solidFill>
                <a:latin typeface="맑은 고딕" pitchFamily="34" charset="0"/>
                <a:ea typeface="맑은 고딕" pitchFamily="34" charset="-122"/>
                <a:cs typeface="맑은 고딕" pitchFamily="34" charset="-120"/>
              </a:rPr>
              <a:t>데이터셋</a:t>
            </a:r>
            <a:r>
              <a:rPr lang="en-US" altLang="ko-KR" sz="1600" dirty="0">
                <a:solidFill>
                  <a:srgbClr val="262626"/>
                </a:solidFill>
                <a:latin typeface="맑은 고딕" pitchFamily="34" charset="0"/>
                <a:ea typeface="맑은 고딕" pitchFamily="34" charset="-122"/>
                <a:cs typeface="맑은 고딕" pitchFamily="34" charset="-120"/>
              </a:rPr>
              <a:t> : 599 clip(19,999행)</a:t>
            </a:r>
          </a:p>
          <a:p>
            <a:pPr marL="742950" lvl="1" indent="-285750">
              <a:spcAft>
                <a:spcPts val="600"/>
              </a:spcAft>
              <a:buSzPct val="100000"/>
              <a:buFont typeface="Wingdings" panose="05000000000000000000" pitchFamily="2" charset="2"/>
              <a:buChar char="ü"/>
            </a:pPr>
            <a:r>
              <a:rPr lang="ko-KR" altLang="en-US" sz="1600" dirty="0"/>
              <a:t>이상 데이터셋 </a:t>
            </a:r>
            <a:r>
              <a:rPr lang="en-US" altLang="ko-KR" sz="1600" dirty="0"/>
              <a:t>: 21 clip(600</a:t>
            </a:r>
            <a:r>
              <a:rPr lang="ko-KR" altLang="en-US" sz="1600" dirty="0"/>
              <a:t>행</a:t>
            </a:r>
            <a:r>
              <a:rPr lang="en-US" altLang="ko-KR" sz="1600" dirty="0"/>
              <a:t>), </a:t>
            </a:r>
            <a:r>
              <a:rPr lang="ko-KR" altLang="en-US" sz="1600" dirty="0"/>
              <a:t>공백을 기준으로 </a:t>
            </a:r>
            <a:r>
              <a:rPr lang="en-US" altLang="ko-KR" sz="1600" dirty="0"/>
              <a:t>clip </a:t>
            </a:r>
            <a:r>
              <a:rPr lang="ko-KR" altLang="en-US" sz="1600" dirty="0"/>
              <a:t>분리</a:t>
            </a:r>
            <a:r>
              <a:rPr lang="en-US" altLang="ko-KR" sz="1600" dirty="0"/>
              <a:t>, clip </a:t>
            </a:r>
            <a:r>
              <a:rPr lang="ko-KR" altLang="en-US" sz="1600" dirty="0"/>
              <a:t>내부는 </a:t>
            </a:r>
            <a:r>
              <a:rPr lang="en-US" altLang="ko-KR" sz="1600" dirty="0"/>
              <a:t>0.1</a:t>
            </a:r>
            <a:r>
              <a:rPr lang="ko-KR" altLang="en-US" sz="1600" dirty="0"/>
              <a:t>초 간격</a:t>
            </a:r>
            <a:endParaRPr lang="en-US" sz="1600" dirty="0"/>
          </a:p>
          <a:p>
            <a:pPr marL="254000" indent="-254000">
              <a:spcAft>
                <a:spcPts val="600"/>
              </a:spcAft>
              <a:buSzPct val="100000"/>
              <a:buChar char="•"/>
            </a:pPr>
            <a:r>
              <a:rPr lang="en-US" altLang="ko-KR" sz="1600" dirty="0">
                <a:solidFill>
                  <a:srgbClr val="262626"/>
                </a:solidFill>
                <a:latin typeface="맑은 고딕" pitchFamily="34" charset="0"/>
                <a:ea typeface="맑은 고딕" pitchFamily="34" charset="-122"/>
              </a:rPr>
              <a:t>Clip : </a:t>
            </a:r>
            <a:r>
              <a:rPr lang="ko-KR" altLang="ko-KR" sz="1600" dirty="0"/>
              <a:t>약 8초마다 최대 5초 동안 0.1초 간격으로 연속 수집되는 짧은 측정 구간</a:t>
            </a:r>
            <a:endParaRPr lang="en-US" sz="1600" dirty="0"/>
          </a:p>
        </p:txBody>
      </p:sp>
      <p:sp>
        <p:nvSpPr>
          <p:cNvPr id="10" name="Text 1">
            <a:extLst>
              <a:ext uri="{FF2B5EF4-FFF2-40B4-BE49-F238E27FC236}">
                <a16:creationId xmlns:a16="http://schemas.microsoft.com/office/drawing/2014/main" id="{211CF099-5B25-E7F7-1B90-E2AB1E313344}"/>
              </a:ext>
            </a:extLst>
          </p:cNvPr>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사전지식</a:t>
            </a:r>
            <a:endParaRPr lang="en-US" dirty="0">
              <a:latin typeface="+mj-ea"/>
              <a:ea typeface="+mj-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Hydraulic Pump Sensor Dataset</a:t>
            </a:r>
            <a:endParaRPr lang="en-US" sz="1800" dirty="0"/>
          </a:p>
        </p:txBody>
      </p:sp>
      <p:sp>
        <p:nvSpPr>
          <p:cNvPr id="4" name="Text 2"/>
          <p:cNvSpPr txBox="1"/>
          <p:nvPr/>
        </p:nvSpPr>
        <p:spPr>
          <a:xfrm>
            <a:off x="1005840" y="1444752"/>
            <a:ext cx="566928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우리의 데이터는 어떻게 생겼을까?</a:t>
            </a:r>
            <a:endParaRPr lang="en-US" sz="2100" dirty="0"/>
          </a:p>
        </p:txBody>
      </p:sp>
      <p:sp>
        <p:nvSpPr>
          <p:cNvPr id="7" name="Shape 4"/>
          <p:cNvSpPr/>
          <p:nvPr/>
        </p:nvSpPr>
        <p:spPr>
          <a:xfrm>
            <a:off x="1508760" y="3337560"/>
            <a:ext cx="10058400" cy="658368"/>
          </a:xfrm>
          <a:prstGeom prst="rect">
            <a:avLst/>
          </a:prstGeom>
          <a:solidFill>
            <a:srgbClr val="F2F2F2"/>
          </a:solidFill>
          <a:ln w="12700">
            <a:solidFill>
              <a:srgbClr val="F2F2F2"/>
            </a:solidFill>
            <a:prstDash val="solid"/>
          </a:ln>
        </p:spPr>
        <p:txBody>
          <a:bodyPr/>
          <a:lstStyle/>
          <a:p>
            <a:endParaRPr lang="ko-KR" altLang="en-US"/>
          </a:p>
        </p:txBody>
      </p:sp>
      <p:sp>
        <p:nvSpPr>
          <p:cNvPr id="8" name="Shape 5"/>
          <p:cNvSpPr/>
          <p:nvPr/>
        </p:nvSpPr>
        <p:spPr>
          <a:xfrm>
            <a:off x="1490472" y="333756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9" name="Shape 6"/>
          <p:cNvSpPr/>
          <p:nvPr/>
        </p:nvSpPr>
        <p:spPr>
          <a:xfrm>
            <a:off x="2698318" y="3337560"/>
            <a:ext cx="640080" cy="658368"/>
          </a:xfrm>
          <a:prstGeom prst="rect">
            <a:avLst/>
          </a:prstGeom>
          <a:solidFill>
            <a:srgbClr val="E3ECF6"/>
          </a:solidFill>
          <a:ln w="12700">
            <a:solidFill>
              <a:srgbClr val="E3ECF6"/>
            </a:solidFill>
            <a:prstDash val="solid"/>
          </a:ln>
        </p:spPr>
        <p:txBody>
          <a:bodyPr/>
          <a:lstStyle/>
          <a:p>
            <a:endParaRPr lang="ko-KR" altLang="en-US"/>
          </a:p>
        </p:txBody>
      </p:sp>
      <p:sp>
        <p:nvSpPr>
          <p:cNvPr id="10" name="Shape 7"/>
          <p:cNvSpPr/>
          <p:nvPr/>
        </p:nvSpPr>
        <p:spPr>
          <a:xfrm>
            <a:off x="4046647" y="3337560"/>
            <a:ext cx="422148" cy="658368"/>
          </a:xfrm>
          <a:prstGeom prst="rect">
            <a:avLst/>
          </a:prstGeom>
          <a:solidFill>
            <a:srgbClr val="E3ECF6"/>
          </a:solidFill>
          <a:ln w="12700">
            <a:solidFill>
              <a:srgbClr val="E3ECF6"/>
            </a:solidFill>
            <a:prstDash val="solid"/>
          </a:ln>
        </p:spPr>
        <p:txBody>
          <a:bodyPr/>
          <a:lstStyle/>
          <a:p>
            <a:endParaRPr lang="ko-KR" altLang="en-US"/>
          </a:p>
        </p:txBody>
      </p:sp>
      <p:sp>
        <p:nvSpPr>
          <p:cNvPr id="11" name="Shape 8"/>
          <p:cNvSpPr/>
          <p:nvPr/>
        </p:nvSpPr>
        <p:spPr>
          <a:xfrm>
            <a:off x="5397322" y="3337560"/>
            <a:ext cx="187452" cy="658368"/>
          </a:xfrm>
          <a:prstGeom prst="rect">
            <a:avLst/>
          </a:prstGeom>
          <a:solidFill>
            <a:srgbClr val="E3ECF6"/>
          </a:solidFill>
          <a:ln w="12700">
            <a:solidFill>
              <a:srgbClr val="E3ECF6"/>
            </a:solidFill>
            <a:prstDash val="solid"/>
          </a:ln>
        </p:spPr>
        <p:txBody>
          <a:bodyPr/>
          <a:lstStyle/>
          <a:p>
            <a:endParaRPr lang="ko-KR" altLang="en-US"/>
          </a:p>
        </p:txBody>
      </p:sp>
      <p:sp>
        <p:nvSpPr>
          <p:cNvPr id="12" name="Shape 9"/>
          <p:cNvSpPr/>
          <p:nvPr/>
        </p:nvSpPr>
        <p:spPr>
          <a:xfrm>
            <a:off x="6977832" y="333756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13" name="Shape 10"/>
          <p:cNvSpPr/>
          <p:nvPr/>
        </p:nvSpPr>
        <p:spPr>
          <a:xfrm>
            <a:off x="8151983" y="333756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14" name="Shape 11"/>
          <p:cNvSpPr/>
          <p:nvPr/>
        </p:nvSpPr>
        <p:spPr>
          <a:xfrm>
            <a:off x="9479691" y="333756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15" name="Shape 12"/>
          <p:cNvSpPr/>
          <p:nvPr/>
        </p:nvSpPr>
        <p:spPr>
          <a:xfrm>
            <a:off x="10785942" y="333756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16" name="Shape 13"/>
          <p:cNvSpPr/>
          <p:nvPr/>
        </p:nvSpPr>
        <p:spPr>
          <a:xfrm>
            <a:off x="1508760" y="3337560"/>
            <a:ext cx="670560" cy="658368"/>
          </a:xfrm>
          <a:custGeom>
            <a:avLst/>
            <a:gdLst/>
            <a:ahLst/>
            <a:cxnLst/>
            <a:rect l="l" t="t" r="r" b="b"/>
            <a:pathLst>
              <a:path w="670560" h="658368">
                <a:moveTo>
                  <a:pt x="0" y="155032"/>
                </a:moveTo>
                <a:lnTo>
                  <a:pt x="16764" y="271715"/>
                </a:lnTo>
                <a:lnTo>
                  <a:pt x="33528" y="373628"/>
                </a:lnTo>
                <a:lnTo>
                  <a:pt x="50292" y="248352"/>
                </a:lnTo>
                <a:lnTo>
                  <a:pt x="67056" y="284740"/>
                </a:lnTo>
                <a:lnTo>
                  <a:pt x="83820" y="364632"/>
                </a:lnTo>
                <a:lnTo>
                  <a:pt x="100584" y="303135"/>
                </a:lnTo>
                <a:lnTo>
                  <a:pt x="117348" y="311997"/>
                </a:lnTo>
                <a:lnTo>
                  <a:pt x="134112" y="450433"/>
                </a:lnTo>
                <a:lnTo>
                  <a:pt x="150876" y="309849"/>
                </a:lnTo>
                <a:lnTo>
                  <a:pt x="167640" y="164162"/>
                </a:lnTo>
                <a:lnTo>
                  <a:pt x="184404" y="429217"/>
                </a:lnTo>
                <a:lnTo>
                  <a:pt x="201168" y="406794"/>
                </a:lnTo>
                <a:lnTo>
                  <a:pt x="217932" y="344625"/>
                </a:lnTo>
                <a:lnTo>
                  <a:pt x="234696" y="462114"/>
                </a:lnTo>
                <a:lnTo>
                  <a:pt x="251460" y="262047"/>
                </a:lnTo>
                <a:lnTo>
                  <a:pt x="268224" y="218543"/>
                </a:lnTo>
                <a:lnTo>
                  <a:pt x="284988" y="384907"/>
                </a:lnTo>
                <a:lnTo>
                  <a:pt x="301752" y="360872"/>
                </a:lnTo>
                <a:lnTo>
                  <a:pt x="318516" y="403303"/>
                </a:lnTo>
                <a:lnTo>
                  <a:pt x="335280" y="398469"/>
                </a:lnTo>
                <a:lnTo>
                  <a:pt x="352044" y="330661"/>
                </a:lnTo>
                <a:lnTo>
                  <a:pt x="368808" y="359798"/>
                </a:lnTo>
                <a:lnTo>
                  <a:pt x="385572" y="325693"/>
                </a:lnTo>
                <a:lnTo>
                  <a:pt x="402336" y="396186"/>
                </a:lnTo>
                <a:lnTo>
                  <a:pt x="419100" y="320725"/>
                </a:lnTo>
                <a:lnTo>
                  <a:pt x="435864" y="214918"/>
                </a:lnTo>
                <a:lnTo>
                  <a:pt x="452628" y="426263"/>
                </a:lnTo>
                <a:lnTo>
                  <a:pt x="469392" y="387593"/>
                </a:lnTo>
                <a:lnTo>
                  <a:pt x="486156" y="333078"/>
                </a:lnTo>
                <a:lnTo>
                  <a:pt x="502920" y="485209"/>
                </a:lnTo>
                <a:lnTo>
                  <a:pt x="519684" y="194105"/>
                </a:lnTo>
                <a:lnTo>
                  <a:pt x="536448" y="54864"/>
                </a:lnTo>
                <a:lnTo>
                  <a:pt x="553212" y="321799"/>
                </a:lnTo>
                <a:lnTo>
                  <a:pt x="569976" y="254260"/>
                </a:lnTo>
                <a:lnTo>
                  <a:pt x="586740" y="286888"/>
                </a:lnTo>
                <a:lnTo>
                  <a:pt x="603504" y="461980"/>
                </a:lnTo>
                <a:lnTo>
                  <a:pt x="620268" y="265807"/>
                </a:lnTo>
                <a:lnTo>
                  <a:pt x="637032" y="222168"/>
                </a:lnTo>
                <a:lnTo>
                  <a:pt x="653796" y="373628"/>
                </a:lnTo>
                <a:lnTo>
                  <a:pt x="670560" y="256139"/>
                </a:lnTo>
              </a:path>
            </a:pathLst>
          </a:custGeom>
          <a:ln w="11430">
            <a:solidFill>
              <a:srgbClr val="1F4E79"/>
            </a:solidFill>
            <a:prstDash val="solid"/>
          </a:ln>
        </p:spPr>
        <p:txBody>
          <a:bodyPr/>
          <a:lstStyle/>
          <a:p>
            <a:endParaRPr lang="ko-KR" altLang="en-US"/>
          </a:p>
        </p:txBody>
      </p:sp>
      <p:sp>
        <p:nvSpPr>
          <p:cNvPr id="17" name="Shape 14"/>
          <p:cNvSpPr/>
          <p:nvPr/>
        </p:nvSpPr>
        <p:spPr>
          <a:xfrm>
            <a:off x="2716606" y="3337560"/>
            <a:ext cx="603504" cy="658368"/>
          </a:xfrm>
          <a:custGeom>
            <a:avLst/>
            <a:gdLst/>
            <a:ahLst/>
            <a:cxnLst/>
            <a:rect l="l" t="t" r="r" b="b"/>
            <a:pathLst>
              <a:path w="603504" h="658368">
                <a:moveTo>
                  <a:pt x="0" y="240161"/>
                </a:moveTo>
                <a:lnTo>
                  <a:pt x="16764" y="180141"/>
                </a:lnTo>
                <a:lnTo>
                  <a:pt x="33528" y="327170"/>
                </a:lnTo>
                <a:lnTo>
                  <a:pt x="50292" y="201356"/>
                </a:lnTo>
                <a:lnTo>
                  <a:pt x="67056" y="380208"/>
                </a:lnTo>
                <a:lnTo>
                  <a:pt x="83820" y="468022"/>
                </a:lnTo>
                <a:lnTo>
                  <a:pt x="100584" y="249694"/>
                </a:lnTo>
                <a:lnTo>
                  <a:pt x="117348" y="292527"/>
                </a:lnTo>
                <a:lnTo>
                  <a:pt x="134112" y="292527"/>
                </a:lnTo>
                <a:lnTo>
                  <a:pt x="150876" y="279771"/>
                </a:lnTo>
                <a:lnTo>
                  <a:pt x="167640" y="372554"/>
                </a:lnTo>
                <a:lnTo>
                  <a:pt x="184404" y="287559"/>
                </a:lnTo>
                <a:lnTo>
                  <a:pt x="201168" y="309043"/>
                </a:lnTo>
                <a:lnTo>
                  <a:pt x="217932" y="240967"/>
                </a:lnTo>
                <a:lnTo>
                  <a:pt x="234696" y="166848"/>
                </a:lnTo>
                <a:lnTo>
                  <a:pt x="251460" y="451507"/>
                </a:lnTo>
                <a:lnTo>
                  <a:pt x="268224" y="384639"/>
                </a:lnTo>
                <a:lnTo>
                  <a:pt x="284988" y="256408"/>
                </a:lnTo>
                <a:lnTo>
                  <a:pt x="301752" y="401826"/>
                </a:lnTo>
                <a:lnTo>
                  <a:pt x="318516" y="181484"/>
                </a:lnTo>
                <a:lnTo>
                  <a:pt x="335280" y="203907"/>
                </a:lnTo>
                <a:lnTo>
                  <a:pt x="352044" y="459966"/>
                </a:lnTo>
                <a:lnTo>
                  <a:pt x="368808" y="241235"/>
                </a:lnTo>
                <a:lnTo>
                  <a:pt x="385572" y="240698"/>
                </a:lnTo>
                <a:lnTo>
                  <a:pt x="402336" y="427203"/>
                </a:lnTo>
                <a:lnTo>
                  <a:pt x="419100" y="241369"/>
                </a:lnTo>
                <a:lnTo>
                  <a:pt x="435864" y="342746"/>
                </a:lnTo>
                <a:lnTo>
                  <a:pt x="452628" y="495683"/>
                </a:lnTo>
                <a:lnTo>
                  <a:pt x="469392" y="187660"/>
                </a:lnTo>
                <a:lnTo>
                  <a:pt x="486156" y="188466"/>
                </a:lnTo>
                <a:lnTo>
                  <a:pt x="502920" y="284471"/>
                </a:lnTo>
                <a:lnTo>
                  <a:pt x="519684" y="191285"/>
                </a:lnTo>
                <a:lnTo>
                  <a:pt x="536448" y="433648"/>
                </a:lnTo>
                <a:lnTo>
                  <a:pt x="553212" y="493937"/>
                </a:lnTo>
                <a:lnTo>
                  <a:pt x="569976" y="308909"/>
                </a:lnTo>
                <a:lnTo>
                  <a:pt x="586740" y="305820"/>
                </a:lnTo>
                <a:lnTo>
                  <a:pt x="603504" y="186586"/>
                </a:lnTo>
              </a:path>
            </a:pathLst>
          </a:custGeom>
          <a:ln w="11430">
            <a:solidFill>
              <a:srgbClr val="1F4E79"/>
            </a:solidFill>
            <a:prstDash val="solid"/>
          </a:ln>
        </p:spPr>
        <p:txBody>
          <a:bodyPr/>
          <a:lstStyle/>
          <a:p>
            <a:endParaRPr lang="ko-KR" altLang="en-US"/>
          </a:p>
        </p:txBody>
      </p:sp>
      <p:sp>
        <p:nvSpPr>
          <p:cNvPr id="18" name="Shape 15"/>
          <p:cNvSpPr/>
          <p:nvPr/>
        </p:nvSpPr>
        <p:spPr>
          <a:xfrm>
            <a:off x="4064935" y="3337560"/>
            <a:ext cx="385572" cy="658368"/>
          </a:xfrm>
          <a:custGeom>
            <a:avLst/>
            <a:gdLst/>
            <a:ahLst/>
            <a:cxnLst/>
            <a:rect l="l" t="t" r="r" b="b"/>
            <a:pathLst>
              <a:path w="385572" h="658368">
                <a:moveTo>
                  <a:pt x="0" y="241235"/>
                </a:moveTo>
                <a:lnTo>
                  <a:pt x="16764" y="329587"/>
                </a:lnTo>
                <a:lnTo>
                  <a:pt x="33528" y="387996"/>
                </a:lnTo>
                <a:lnTo>
                  <a:pt x="50292" y="348922"/>
                </a:lnTo>
                <a:lnTo>
                  <a:pt x="67056" y="335361"/>
                </a:lnTo>
                <a:lnTo>
                  <a:pt x="83820" y="293870"/>
                </a:lnTo>
                <a:lnTo>
                  <a:pt x="100584" y="244458"/>
                </a:lnTo>
                <a:lnTo>
                  <a:pt x="117348" y="323007"/>
                </a:lnTo>
                <a:lnTo>
                  <a:pt x="134112" y="371346"/>
                </a:lnTo>
                <a:lnTo>
                  <a:pt x="150876" y="341134"/>
                </a:lnTo>
                <a:lnTo>
                  <a:pt x="167640" y="428143"/>
                </a:lnTo>
                <a:lnTo>
                  <a:pt x="184404" y="295750"/>
                </a:lnTo>
                <a:lnTo>
                  <a:pt x="201168" y="265136"/>
                </a:lnTo>
                <a:lnTo>
                  <a:pt x="217932" y="423981"/>
                </a:lnTo>
                <a:lnTo>
                  <a:pt x="234696" y="272789"/>
                </a:lnTo>
                <a:lnTo>
                  <a:pt x="251460" y="302598"/>
                </a:lnTo>
                <a:lnTo>
                  <a:pt x="268224" y="355367"/>
                </a:lnTo>
                <a:lnTo>
                  <a:pt x="284988" y="274803"/>
                </a:lnTo>
                <a:lnTo>
                  <a:pt x="301752" y="408942"/>
                </a:lnTo>
                <a:lnTo>
                  <a:pt x="318516" y="347311"/>
                </a:lnTo>
                <a:lnTo>
                  <a:pt x="335280" y="255737"/>
                </a:lnTo>
                <a:lnTo>
                  <a:pt x="352044" y="349728"/>
                </a:lnTo>
                <a:lnTo>
                  <a:pt x="368808" y="294944"/>
                </a:lnTo>
                <a:lnTo>
                  <a:pt x="385572" y="348788"/>
                </a:lnTo>
              </a:path>
            </a:pathLst>
          </a:custGeom>
          <a:ln w="11430">
            <a:solidFill>
              <a:srgbClr val="1F4E79"/>
            </a:solidFill>
            <a:prstDash val="solid"/>
          </a:ln>
        </p:spPr>
        <p:txBody>
          <a:bodyPr/>
          <a:lstStyle/>
          <a:p>
            <a:endParaRPr lang="ko-KR" altLang="en-US"/>
          </a:p>
        </p:txBody>
      </p:sp>
      <p:sp>
        <p:nvSpPr>
          <p:cNvPr id="19" name="Shape 16"/>
          <p:cNvSpPr/>
          <p:nvPr/>
        </p:nvSpPr>
        <p:spPr>
          <a:xfrm>
            <a:off x="5415610" y="3337560"/>
            <a:ext cx="150876" cy="658368"/>
          </a:xfrm>
          <a:custGeom>
            <a:avLst/>
            <a:gdLst/>
            <a:ahLst/>
            <a:cxnLst/>
            <a:rect l="l" t="t" r="r" b="b"/>
            <a:pathLst>
              <a:path w="150876" h="658368">
                <a:moveTo>
                  <a:pt x="0" y="362887"/>
                </a:moveTo>
                <a:lnTo>
                  <a:pt x="16764" y="266881"/>
                </a:lnTo>
                <a:lnTo>
                  <a:pt x="33528" y="283934"/>
                </a:lnTo>
                <a:lnTo>
                  <a:pt x="50292" y="291588"/>
                </a:lnTo>
                <a:lnTo>
                  <a:pt x="67056" y="263793"/>
                </a:lnTo>
                <a:lnTo>
                  <a:pt x="83820" y="381148"/>
                </a:lnTo>
                <a:lnTo>
                  <a:pt x="100584" y="249291"/>
                </a:lnTo>
                <a:lnTo>
                  <a:pt x="117348" y="166579"/>
                </a:lnTo>
                <a:lnTo>
                  <a:pt x="134112" y="300718"/>
                </a:lnTo>
                <a:lnTo>
                  <a:pt x="150876" y="180544"/>
                </a:lnTo>
              </a:path>
            </a:pathLst>
          </a:custGeom>
          <a:ln w="11430">
            <a:solidFill>
              <a:srgbClr val="1F4E79"/>
            </a:solidFill>
            <a:prstDash val="solid"/>
          </a:ln>
        </p:spPr>
        <p:txBody>
          <a:bodyPr/>
          <a:lstStyle/>
          <a:p>
            <a:endParaRPr lang="ko-KR" altLang="en-US"/>
          </a:p>
        </p:txBody>
      </p:sp>
      <p:sp>
        <p:nvSpPr>
          <p:cNvPr id="20" name="Shape 17"/>
          <p:cNvSpPr/>
          <p:nvPr/>
        </p:nvSpPr>
        <p:spPr>
          <a:xfrm>
            <a:off x="6996120" y="3337560"/>
            <a:ext cx="821436" cy="658368"/>
          </a:xfrm>
          <a:custGeom>
            <a:avLst/>
            <a:gdLst/>
            <a:ahLst/>
            <a:cxnLst/>
            <a:rect l="l" t="t" r="r" b="b"/>
            <a:pathLst>
              <a:path w="821436" h="658368">
                <a:moveTo>
                  <a:pt x="0" y="370674"/>
                </a:moveTo>
                <a:lnTo>
                  <a:pt x="16764" y="329855"/>
                </a:lnTo>
                <a:lnTo>
                  <a:pt x="33528" y="324619"/>
                </a:lnTo>
                <a:lnTo>
                  <a:pt x="50292" y="263659"/>
                </a:lnTo>
                <a:lnTo>
                  <a:pt x="67056" y="222437"/>
                </a:lnTo>
                <a:lnTo>
                  <a:pt x="83820" y="340194"/>
                </a:lnTo>
                <a:lnTo>
                  <a:pt x="100584" y="395649"/>
                </a:lnTo>
                <a:lnTo>
                  <a:pt x="117348" y="361141"/>
                </a:lnTo>
                <a:lnTo>
                  <a:pt x="134112" y="356576"/>
                </a:lnTo>
                <a:lnTo>
                  <a:pt x="150876" y="248083"/>
                </a:lnTo>
                <a:lnTo>
                  <a:pt x="167640" y="223645"/>
                </a:lnTo>
                <a:lnTo>
                  <a:pt x="184404" y="358724"/>
                </a:lnTo>
                <a:lnTo>
                  <a:pt x="201168" y="333346"/>
                </a:lnTo>
                <a:lnTo>
                  <a:pt x="217932" y="352279"/>
                </a:lnTo>
                <a:lnTo>
                  <a:pt x="234696" y="423981"/>
                </a:lnTo>
                <a:lnTo>
                  <a:pt x="251460" y="281651"/>
                </a:lnTo>
                <a:lnTo>
                  <a:pt x="268224" y="296556"/>
                </a:lnTo>
                <a:lnTo>
                  <a:pt x="284988" y="349862"/>
                </a:lnTo>
                <a:lnTo>
                  <a:pt x="301752" y="301389"/>
                </a:lnTo>
                <a:lnTo>
                  <a:pt x="318516" y="353487"/>
                </a:lnTo>
                <a:lnTo>
                  <a:pt x="335280" y="294542"/>
                </a:lnTo>
                <a:lnTo>
                  <a:pt x="352044" y="310654"/>
                </a:lnTo>
                <a:lnTo>
                  <a:pt x="368808" y="378059"/>
                </a:lnTo>
                <a:lnTo>
                  <a:pt x="385572" y="316025"/>
                </a:lnTo>
                <a:lnTo>
                  <a:pt x="402336" y="324216"/>
                </a:lnTo>
                <a:lnTo>
                  <a:pt x="419100" y="312400"/>
                </a:lnTo>
                <a:lnTo>
                  <a:pt x="435864" y="290379"/>
                </a:lnTo>
                <a:lnTo>
                  <a:pt x="452628" y="374165"/>
                </a:lnTo>
                <a:lnTo>
                  <a:pt x="469392" y="401557"/>
                </a:lnTo>
                <a:lnTo>
                  <a:pt x="486156" y="353353"/>
                </a:lnTo>
                <a:lnTo>
                  <a:pt x="502920" y="298973"/>
                </a:lnTo>
                <a:lnTo>
                  <a:pt x="519684" y="243383"/>
                </a:lnTo>
                <a:lnTo>
                  <a:pt x="536448" y="266613"/>
                </a:lnTo>
                <a:lnTo>
                  <a:pt x="553212" y="328647"/>
                </a:lnTo>
                <a:lnTo>
                  <a:pt x="569976" y="368929"/>
                </a:lnTo>
                <a:lnTo>
                  <a:pt x="586740" y="372957"/>
                </a:lnTo>
                <a:lnTo>
                  <a:pt x="603504" y="329587"/>
                </a:lnTo>
                <a:lnTo>
                  <a:pt x="620268" y="221900"/>
                </a:lnTo>
                <a:lnTo>
                  <a:pt x="637032" y="224451"/>
                </a:lnTo>
                <a:lnTo>
                  <a:pt x="653796" y="325693"/>
                </a:lnTo>
                <a:lnTo>
                  <a:pt x="670560" y="276817"/>
                </a:lnTo>
                <a:lnTo>
                  <a:pt x="687324" y="334555"/>
                </a:lnTo>
                <a:lnTo>
                  <a:pt x="704088" y="370540"/>
                </a:lnTo>
                <a:lnTo>
                  <a:pt x="720852" y="255334"/>
                </a:lnTo>
                <a:lnTo>
                  <a:pt x="737616" y="295481"/>
                </a:lnTo>
                <a:lnTo>
                  <a:pt x="754380" y="272789"/>
                </a:lnTo>
                <a:lnTo>
                  <a:pt x="771144" y="206324"/>
                </a:lnTo>
                <a:lnTo>
                  <a:pt x="787908" y="254125"/>
                </a:lnTo>
                <a:lnTo>
                  <a:pt x="804672" y="257751"/>
                </a:lnTo>
                <a:lnTo>
                  <a:pt x="821436" y="258691"/>
                </a:lnTo>
              </a:path>
            </a:pathLst>
          </a:custGeom>
          <a:ln w="11430">
            <a:solidFill>
              <a:srgbClr val="1F4E79"/>
            </a:solidFill>
            <a:prstDash val="solid"/>
          </a:ln>
        </p:spPr>
        <p:txBody>
          <a:bodyPr/>
          <a:lstStyle/>
          <a:p>
            <a:endParaRPr lang="ko-KR" altLang="en-US"/>
          </a:p>
        </p:txBody>
      </p:sp>
      <p:sp>
        <p:nvSpPr>
          <p:cNvPr id="21" name="Shape 18"/>
          <p:cNvSpPr/>
          <p:nvPr/>
        </p:nvSpPr>
        <p:spPr>
          <a:xfrm>
            <a:off x="8170271" y="3337560"/>
            <a:ext cx="821436" cy="658368"/>
          </a:xfrm>
          <a:custGeom>
            <a:avLst/>
            <a:gdLst/>
            <a:ahLst/>
            <a:cxnLst/>
            <a:rect l="l" t="t" r="r" b="b"/>
            <a:pathLst>
              <a:path w="821436" h="658368">
                <a:moveTo>
                  <a:pt x="0" y="415253"/>
                </a:moveTo>
                <a:lnTo>
                  <a:pt x="16764" y="501994"/>
                </a:lnTo>
                <a:lnTo>
                  <a:pt x="33528" y="202296"/>
                </a:lnTo>
                <a:lnTo>
                  <a:pt x="50292" y="244458"/>
                </a:lnTo>
                <a:lnTo>
                  <a:pt x="67056" y="372957"/>
                </a:lnTo>
                <a:lnTo>
                  <a:pt x="83820" y="304612"/>
                </a:lnTo>
                <a:lnTo>
                  <a:pt x="100584" y="420490"/>
                </a:lnTo>
                <a:lnTo>
                  <a:pt x="117348" y="403974"/>
                </a:lnTo>
                <a:lnTo>
                  <a:pt x="134112" y="298704"/>
                </a:lnTo>
                <a:lnTo>
                  <a:pt x="150876" y="309446"/>
                </a:lnTo>
                <a:lnTo>
                  <a:pt x="167640" y="318174"/>
                </a:lnTo>
                <a:lnTo>
                  <a:pt x="184404" y="338986"/>
                </a:lnTo>
                <a:lnTo>
                  <a:pt x="201168" y="307700"/>
                </a:lnTo>
                <a:lnTo>
                  <a:pt x="217932" y="390278"/>
                </a:lnTo>
                <a:lnTo>
                  <a:pt x="234696" y="473259"/>
                </a:lnTo>
                <a:lnTo>
                  <a:pt x="251460" y="392427"/>
                </a:lnTo>
                <a:lnTo>
                  <a:pt x="268224" y="435663"/>
                </a:lnTo>
                <a:lnTo>
                  <a:pt x="284988" y="338180"/>
                </a:lnTo>
                <a:lnTo>
                  <a:pt x="301752" y="204176"/>
                </a:lnTo>
                <a:lnTo>
                  <a:pt x="318516" y="257482"/>
                </a:lnTo>
                <a:lnTo>
                  <a:pt x="335280" y="274132"/>
                </a:lnTo>
                <a:lnTo>
                  <a:pt x="352044" y="350399"/>
                </a:lnTo>
                <a:lnTo>
                  <a:pt x="368808" y="427472"/>
                </a:lnTo>
                <a:lnTo>
                  <a:pt x="385572" y="446404"/>
                </a:lnTo>
                <a:lnTo>
                  <a:pt x="402336" y="266478"/>
                </a:lnTo>
                <a:lnTo>
                  <a:pt x="419100" y="95817"/>
                </a:lnTo>
                <a:lnTo>
                  <a:pt x="435864" y="222840"/>
                </a:lnTo>
                <a:lnTo>
                  <a:pt x="452628" y="252514"/>
                </a:lnTo>
                <a:lnTo>
                  <a:pt x="469392" y="326096"/>
                </a:lnTo>
                <a:lnTo>
                  <a:pt x="486156" y="463457"/>
                </a:lnTo>
                <a:lnTo>
                  <a:pt x="502920" y="286485"/>
                </a:lnTo>
                <a:lnTo>
                  <a:pt x="519684" y="180946"/>
                </a:lnTo>
                <a:lnTo>
                  <a:pt x="536448" y="229016"/>
                </a:lnTo>
                <a:lnTo>
                  <a:pt x="553212" y="202967"/>
                </a:lnTo>
                <a:lnTo>
                  <a:pt x="569976" y="274266"/>
                </a:lnTo>
                <a:lnTo>
                  <a:pt x="586740" y="298435"/>
                </a:lnTo>
                <a:lnTo>
                  <a:pt x="603504" y="212903"/>
                </a:lnTo>
                <a:lnTo>
                  <a:pt x="620268" y="245129"/>
                </a:lnTo>
                <a:lnTo>
                  <a:pt x="637032" y="357918"/>
                </a:lnTo>
                <a:lnTo>
                  <a:pt x="653796" y="438348"/>
                </a:lnTo>
                <a:lnTo>
                  <a:pt x="670560" y="373763"/>
                </a:lnTo>
                <a:lnTo>
                  <a:pt x="687324" y="183095"/>
                </a:lnTo>
                <a:lnTo>
                  <a:pt x="704088" y="170876"/>
                </a:lnTo>
                <a:lnTo>
                  <a:pt x="720852" y="277489"/>
                </a:lnTo>
                <a:lnTo>
                  <a:pt x="737616" y="301927"/>
                </a:lnTo>
                <a:lnTo>
                  <a:pt x="754380" y="453521"/>
                </a:lnTo>
                <a:lnTo>
                  <a:pt x="771144" y="400886"/>
                </a:lnTo>
                <a:lnTo>
                  <a:pt x="787908" y="153823"/>
                </a:lnTo>
                <a:lnTo>
                  <a:pt x="804672" y="252111"/>
                </a:lnTo>
                <a:lnTo>
                  <a:pt x="821436" y="256139"/>
                </a:lnTo>
              </a:path>
            </a:pathLst>
          </a:custGeom>
          <a:ln w="11430">
            <a:solidFill>
              <a:srgbClr val="1F4E79"/>
            </a:solidFill>
            <a:prstDash val="solid"/>
          </a:ln>
        </p:spPr>
        <p:txBody>
          <a:bodyPr/>
          <a:lstStyle/>
          <a:p>
            <a:endParaRPr lang="ko-KR" altLang="en-US"/>
          </a:p>
        </p:txBody>
      </p:sp>
      <p:sp>
        <p:nvSpPr>
          <p:cNvPr id="22" name="Shape 19"/>
          <p:cNvSpPr/>
          <p:nvPr/>
        </p:nvSpPr>
        <p:spPr>
          <a:xfrm>
            <a:off x="9497979" y="3337560"/>
            <a:ext cx="821436" cy="658368"/>
          </a:xfrm>
          <a:custGeom>
            <a:avLst/>
            <a:gdLst/>
            <a:ahLst/>
            <a:cxnLst/>
            <a:rect l="l" t="t" r="r" b="b"/>
            <a:pathLst>
              <a:path w="821436" h="658368">
                <a:moveTo>
                  <a:pt x="0" y="249963"/>
                </a:moveTo>
                <a:lnTo>
                  <a:pt x="16764" y="272252"/>
                </a:lnTo>
                <a:lnTo>
                  <a:pt x="33528" y="215186"/>
                </a:lnTo>
                <a:lnTo>
                  <a:pt x="50292" y="270775"/>
                </a:lnTo>
                <a:lnTo>
                  <a:pt x="67056" y="222571"/>
                </a:lnTo>
                <a:lnTo>
                  <a:pt x="83820" y="262182"/>
                </a:lnTo>
                <a:lnTo>
                  <a:pt x="100584" y="338449"/>
                </a:lnTo>
                <a:lnTo>
                  <a:pt x="117348" y="282860"/>
                </a:lnTo>
                <a:lnTo>
                  <a:pt x="134112" y="283531"/>
                </a:lnTo>
                <a:lnTo>
                  <a:pt x="150876" y="189003"/>
                </a:lnTo>
                <a:lnTo>
                  <a:pt x="167640" y="187794"/>
                </a:lnTo>
                <a:lnTo>
                  <a:pt x="184404" y="201625"/>
                </a:lnTo>
                <a:lnTo>
                  <a:pt x="201168" y="225659"/>
                </a:lnTo>
                <a:lnTo>
                  <a:pt x="217932" y="281517"/>
                </a:lnTo>
                <a:lnTo>
                  <a:pt x="234696" y="192897"/>
                </a:lnTo>
                <a:lnTo>
                  <a:pt x="251460" y="296958"/>
                </a:lnTo>
                <a:lnTo>
                  <a:pt x="268224" y="244860"/>
                </a:lnTo>
                <a:lnTo>
                  <a:pt x="284988" y="201893"/>
                </a:lnTo>
                <a:lnTo>
                  <a:pt x="301752" y="344760"/>
                </a:lnTo>
                <a:lnTo>
                  <a:pt x="318516" y="153555"/>
                </a:lnTo>
                <a:lnTo>
                  <a:pt x="335280" y="271447"/>
                </a:lnTo>
                <a:lnTo>
                  <a:pt x="352044" y="313340"/>
                </a:lnTo>
                <a:lnTo>
                  <a:pt x="368808" y="94609"/>
                </a:lnTo>
                <a:lnTo>
                  <a:pt x="385572" y="361812"/>
                </a:lnTo>
                <a:lnTo>
                  <a:pt x="402336" y="259093"/>
                </a:lnTo>
                <a:lnTo>
                  <a:pt x="419100" y="213709"/>
                </a:lnTo>
                <a:lnTo>
                  <a:pt x="435864" y="491654"/>
                </a:lnTo>
                <a:lnTo>
                  <a:pt x="452628" y="199879"/>
                </a:lnTo>
                <a:lnTo>
                  <a:pt x="469392" y="283934"/>
                </a:lnTo>
                <a:lnTo>
                  <a:pt x="486156" y="416059"/>
                </a:lnTo>
                <a:lnTo>
                  <a:pt x="502920" y="177053"/>
                </a:lnTo>
                <a:lnTo>
                  <a:pt x="519684" y="401826"/>
                </a:lnTo>
                <a:lnTo>
                  <a:pt x="536448" y="329050"/>
                </a:lnTo>
                <a:lnTo>
                  <a:pt x="553212" y="204981"/>
                </a:lnTo>
                <a:lnTo>
                  <a:pt x="569976" y="459026"/>
                </a:lnTo>
                <a:lnTo>
                  <a:pt x="586740" y="370137"/>
                </a:lnTo>
                <a:lnTo>
                  <a:pt x="603504" y="357918"/>
                </a:lnTo>
                <a:lnTo>
                  <a:pt x="620268" y="448821"/>
                </a:lnTo>
                <a:lnTo>
                  <a:pt x="637032" y="300315"/>
                </a:lnTo>
                <a:lnTo>
                  <a:pt x="653796" y="354830"/>
                </a:lnTo>
                <a:lnTo>
                  <a:pt x="670560" y="517838"/>
                </a:lnTo>
                <a:lnTo>
                  <a:pt x="687324" y="430560"/>
                </a:lnTo>
                <a:lnTo>
                  <a:pt x="704088" y="401691"/>
                </a:lnTo>
                <a:lnTo>
                  <a:pt x="720852" y="450164"/>
                </a:lnTo>
                <a:lnTo>
                  <a:pt x="737616" y="338583"/>
                </a:lnTo>
                <a:lnTo>
                  <a:pt x="754380" y="402497"/>
                </a:lnTo>
                <a:lnTo>
                  <a:pt x="771144" y="472588"/>
                </a:lnTo>
                <a:lnTo>
                  <a:pt x="787908" y="366243"/>
                </a:lnTo>
                <a:lnTo>
                  <a:pt x="804672" y="526968"/>
                </a:lnTo>
                <a:lnTo>
                  <a:pt x="821436" y="471514"/>
                </a:lnTo>
              </a:path>
            </a:pathLst>
          </a:custGeom>
          <a:ln w="11430">
            <a:solidFill>
              <a:srgbClr val="1F4E79"/>
            </a:solidFill>
            <a:prstDash val="solid"/>
          </a:ln>
        </p:spPr>
        <p:txBody>
          <a:bodyPr/>
          <a:lstStyle/>
          <a:p>
            <a:endParaRPr lang="ko-KR" altLang="en-US"/>
          </a:p>
        </p:txBody>
      </p:sp>
      <p:sp>
        <p:nvSpPr>
          <p:cNvPr id="23" name="Shape 20"/>
          <p:cNvSpPr/>
          <p:nvPr/>
        </p:nvSpPr>
        <p:spPr>
          <a:xfrm>
            <a:off x="10804230" y="3337560"/>
            <a:ext cx="670560" cy="658368"/>
          </a:xfrm>
          <a:custGeom>
            <a:avLst/>
            <a:gdLst/>
            <a:ahLst/>
            <a:cxnLst/>
            <a:rect l="l" t="t" r="r" b="b"/>
            <a:pathLst>
              <a:path w="670560" h="658368">
                <a:moveTo>
                  <a:pt x="0" y="188600"/>
                </a:moveTo>
                <a:lnTo>
                  <a:pt x="16764" y="263390"/>
                </a:lnTo>
                <a:lnTo>
                  <a:pt x="33528" y="359127"/>
                </a:lnTo>
                <a:lnTo>
                  <a:pt x="50292" y="352950"/>
                </a:lnTo>
                <a:lnTo>
                  <a:pt x="67056" y="247680"/>
                </a:lnTo>
                <a:lnTo>
                  <a:pt x="83820" y="229553"/>
                </a:lnTo>
                <a:lnTo>
                  <a:pt x="100584" y="246472"/>
                </a:lnTo>
                <a:lnTo>
                  <a:pt x="117348" y="276683"/>
                </a:lnTo>
                <a:lnTo>
                  <a:pt x="134112" y="458489"/>
                </a:lnTo>
                <a:lnTo>
                  <a:pt x="150876" y="405317"/>
                </a:lnTo>
                <a:lnTo>
                  <a:pt x="167640" y="200550"/>
                </a:lnTo>
                <a:lnTo>
                  <a:pt x="184404" y="297361"/>
                </a:lnTo>
                <a:lnTo>
                  <a:pt x="201168" y="327976"/>
                </a:lnTo>
                <a:lnTo>
                  <a:pt x="217932" y="310386"/>
                </a:lnTo>
                <a:lnTo>
                  <a:pt x="234696" y="530459"/>
                </a:lnTo>
                <a:lnTo>
                  <a:pt x="251460" y="325156"/>
                </a:lnTo>
                <a:lnTo>
                  <a:pt x="268224" y="67351"/>
                </a:lnTo>
                <a:lnTo>
                  <a:pt x="284988" y="279637"/>
                </a:lnTo>
                <a:lnTo>
                  <a:pt x="301752" y="314548"/>
                </a:lnTo>
                <a:lnTo>
                  <a:pt x="318516" y="451910"/>
                </a:lnTo>
                <a:lnTo>
                  <a:pt x="335280" y="603504"/>
                </a:lnTo>
                <a:lnTo>
                  <a:pt x="352044" y="346505"/>
                </a:lnTo>
                <a:lnTo>
                  <a:pt x="368808" y="142276"/>
                </a:lnTo>
                <a:lnTo>
                  <a:pt x="385572" y="138113"/>
                </a:lnTo>
                <a:lnTo>
                  <a:pt x="402336" y="282860"/>
                </a:lnTo>
                <a:lnTo>
                  <a:pt x="419100" y="407062"/>
                </a:lnTo>
                <a:lnTo>
                  <a:pt x="435864" y="443719"/>
                </a:lnTo>
                <a:lnTo>
                  <a:pt x="452628" y="432037"/>
                </a:lnTo>
                <a:lnTo>
                  <a:pt x="469392" y="319516"/>
                </a:lnTo>
                <a:lnTo>
                  <a:pt x="486156" y="277355"/>
                </a:lnTo>
                <a:lnTo>
                  <a:pt x="502920" y="352682"/>
                </a:lnTo>
                <a:lnTo>
                  <a:pt x="519684" y="329855"/>
                </a:lnTo>
                <a:lnTo>
                  <a:pt x="536448" y="235864"/>
                </a:lnTo>
                <a:lnTo>
                  <a:pt x="553212" y="284874"/>
                </a:lnTo>
                <a:lnTo>
                  <a:pt x="569976" y="304612"/>
                </a:lnTo>
                <a:lnTo>
                  <a:pt x="586740" y="390681"/>
                </a:lnTo>
                <a:lnTo>
                  <a:pt x="603504" y="570741"/>
                </a:lnTo>
                <a:lnTo>
                  <a:pt x="620268" y="393769"/>
                </a:lnTo>
                <a:lnTo>
                  <a:pt x="637032" y="130325"/>
                </a:lnTo>
                <a:lnTo>
                  <a:pt x="653796" y="186720"/>
                </a:lnTo>
                <a:lnTo>
                  <a:pt x="670560" y="278294"/>
                </a:lnTo>
              </a:path>
            </a:pathLst>
          </a:custGeom>
          <a:ln w="11430">
            <a:solidFill>
              <a:srgbClr val="1F4E79"/>
            </a:solidFill>
            <a:prstDash val="solid"/>
          </a:ln>
        </p:spPr>
        <p:txBody>
          <a:bodyPr/>
          <a:lstStyle/>
          <a:p>
            <a:endParaRPr lang="ko-KR" altLang="en-US"/>
          </a:p>
        </p:txBody>
      </p:sp>
      <p:sp>
        <p:nvSpPr>
          <p:cNvPr id="24" name="Shape 21"/>
          <p:cNvSpPr/>
          <p:nvPr/>
        </p:nvSpPr>
        <p:spPr>
          <a:xfrm>
            <a:off x="1508760" y="3995928"/>
            <a:ext cx="10058400" cy="91"/>
          </a:xfrm>
          <a:prstGeom prst="line">
            <a:avLst/>
          </a:prstGeom>
          <a:noFill/>
          <a:ln w="9525">
            <a:solidFill>
              <a:srgbClr val="7F7F7F"/>
            </a:solidFill>
            <a:prstDash val="solid"/>
          </a:ln>
        </p:spPr>
        <p:txBody>
          <a:bodyPr/>
          <a:lstStyle/>
          <a:p>
            <a:endParaRPr lang="ko-KR" altLang="en-US"/>
          </a:p>
        </p:txBody>
      </p:sp>
      <p:sp>
        <p:nvSpPr>
          <p:cNvPr id="25" name="Text 22"/>
          <p:cNvSpPr txBox="1"/>
          <p:nvPr/>
        </p:nvSpPr>
        <p:spPr>
          <a:xfrm>
            <a:off x="320040" y="3502152"/>
            <a:ext cx="1143000" cy="384048"/>
          </a:xfrm>
          <a:prstGeom prst="rect">
            <a:avLst/>
          </a:prstGeom>
          <a:noFill/>
          <a:ln/>
        </p:spPr>
        <p:txBody>
          <a:bodyPr wrap="square" lIns="0" tIns="0" rIns="0" bIns="0" rtlCol="0" anchor="ctr"/>
          <a:lstStyle/>
          <a:p>
            <a:pPr marL="0" indent="0" algn="r">
              <a:buNone/>
            </a:pPr>
            <a:r>
              <a:rPr lang="en-US" sz="1050" b="1" dirty="0">
                <a:solidFill>
                  <a:srgbClr val="262626"/>
                </a:solidFill>
                <a:latin typeface="맑은 고딕" pitchFamily="34" charset="0"/>
                <a:ea typeface="맑은 고딕" pitchFamily="34" charset="-122"/>
                <a:cs typeface="맑은 고딕" pitchFamily="34" charset="-120"/>
              </a:rPr>
              <a:t>진동 채널 0 : v0</a:t>
            </a:r>
            <a:endParaRPr lang="en-US" sz="1050" dirty="0"/>
          </a:p>
        </p:txBody>
      </p:sp>
      <p:sp>
        <p:nvSpPr>
          <p:cNvPr id="26" name="Shape 23"/>
          <p:cNvSpPr/>
          <p:nvPr/>
        </p:nvSpPr>
        <p:spPr>
          <a:xfrm>
            <a:off x="1508760" y="4206240"/>
            <a:ext cx="10058400" cy="658368"/>
          </a:xfrm>
          <a:prstGeom prst="rect">
            <a:avLst/>
          </a:prstGeom>
          <a:solidFill>
            <a:srgbClr val="F2F2F2"/>
          </a:solidFill>
          <a:ln w="12700">
            <a:solidFill>
              <a:srgbClr val="F2F2F2"/>
            </a:solidFill>
            <a:prstDash val="solid"/>
          </a:ln>
        </p:spPr>
        <p:txBody>
          <a:bodyPr/>
          <a:lstStyle/>
          <a:p>
            <a:endParaRPr lang="ko-KR" altLang="en-US"/>
          </a:p>
        </p:txBody>
      </p:sp>
      <p:sp>
        <p:nvSpPr>
          <p:cNvPr id="27" name="Shape 24"/>
          <p:cNvSpPr/>
          <p:nvPr/>
        </p:nvSpPr>
        <p:spPr>
          <a:xfrm>
            <a:off x="1490472" y="420624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28" name="Shape 25"/>
          <p:cNvSpPr/>
          <p:nvPr/>
        </p:nvSpPr>
        <p:spPr>
          <a:xfrm>
            <a:off x="2698318" y="4206240"/>
            <a:ext cx="640080" cy="658368"/>
          </a:xfrm>
          <a:prstGeom prst="rect">
            <a:avLst/>
          </a:prstGeom>
          <a:solidFill>
            <a:srgbClr val="E3ECF6"/>
          </a:solidFill>
          <a:ln w="12700">
            <a:solidFill>
              <a:srgbClr val="E3ECF6"/>
            </a:solidFill>
            <a:prstDash val="solid"/>
          </a:ln>
        </p:spPr>
        <p:txBody>
          <a:bodyPr/>
          <a:lstStyle/>
          <a:p>
            <a:endParaRPr lang="ko-KR" altLang="en-US"/>
          </a:p>
        </p:txBody>
      </p:sp>
      <p:sp>
        <p:nvSpPr>
          <p:cNvPr id="29" name="Shape 26"/>
          <p:cNvSpPr/>
          <p:nvPr/>
        </p:nvSpPr>
        <p:spPr>
          <a:xfrm>
            <a:off x="4046647" y="4206240"/>
            <a:ext cx="422148" cy="658368"/>
          </a:xfrm>
          <a:prstGeom prst="rect">
            <a:avLst/>
          </a:prstGeom>
          <a:solidFill>
            <a:srgbClr val="E3ECF6"/>
          </a:solidFill>
          <a:ln w="12700">
            <a:solidFill>
              <a:srgbClr val="E3ECF6"/>
            </a:solidFill>
            <a:prstDash val="solid"/>
          </a:ln>
        </p:spPr>
        <p:txBody>
          <a:bodyPr/>
          <a:lstStyle/>
          <a:p>
            <a:endParaRPr lang="ko-KR" altLang="en-US"/>
          </a:p>
        </p:txBody>
      </p:sp>
      <p:sp>
        <p:nvSpPr>
          <p:cNvPr id="30" name="Shape 27"/>
          <p:cNvSpPr/>
          <p:nvPr/>
        </p:nvSpPr>
        <p:spPr>
          <a:xfrm>
            <a:off x="5397322" y="4206240"/>
            <a:ext cx="187452" cy="658368"/>
          </a:xfrm>
          <a:prstGeom prst="rect">
            <a:avLst/>
          </a:prstGeom>
          <a:solidFill>
            <a:srgbClr val="E3ECF6"/>
          </a:solidFill>
          <a:ln w="12700">
            <a:solidFill>
              <a:srgbClr val="E3ECF6"/>
            </a:solidFill>
            <a:prstDash val="solid"/>
          </a:ln>
        </p:spPr>
        <p:txBody>
          <a:bodyPr/>
          <a:lstStyle/>
          <a:p>
            <a:endParaRPr lang="ko-KR" altLang="en-US"/>
          </a:p>
        </p:txBody>
      </p:sp>
      <p:sp>
        <p:nvSpPr>
          <p:cNvPr id="31" name="Shape 28"/>
          <p:cNvSpPr/>
          <p:nvPr/>
        </p:nvSpPr>
        <p:spPr>
          <a:xfrm>
            <a:off x="6977832" y="420624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32" name="Shape 29"/>
          <p:cNvSpPr/>
          <p:nvPr/>
        </p:nvSpPr>
        <p:spPr>
          <a:xfrm>
            <a:off x="8151983" y="420624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33" name="Shape 30"/>
          <p:cNvSpPr/>
          <p:nvPr/>
        </p:nvSpPr>
        <p:spPr>
          <a:xfrm>
            <a:off x="9479691" y="420624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34" name="Shape 31"/>
          <p:cNvSpPr/>
          <p:nvPr/>
        </p:nvSpPr>
        <p:spPr>
          <a:xfrm>
            <a:off x="10785942" y="420624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35" name="Shape 32"/>
          <p:cNvSpPr/>
          <p:nvPr/>
        </p:nvSpPr>
        <p:spPr>
          <a:xfrm>
            <a:off x="1508760" y="4206240"/>
            <a:ext cx="670560" cy="658368"/>
          </a:xfrm>
          <a:custGeom>
            <a:avLst/>
            <a:gdLst/>
            <a:ahLst/>
            <a:cxnLst/>
            <a:rect l="l" t="t" r="r" b="b"/>
            <a:pathLst>
              <a:path w="670560" h="658368">
                <a:moveTo>
                  <a:pt x="0" y="513326"/>
                </a:moveTo>
                <a:lnTo>
                  <a:pt x="16764" y="547703"/>
                </a:lnTo>
                <a:lnTo>
                  <a:pt x="33528" y="366849"/>
                </a:lnTo>
                <a:lnTo>
                  <a:pt x="50292" y="79875"/>
                </a:lnTo>
                <a:lnTo>
                  <a:pt x="67056" y="164373"/>
                </a:lnTo>
                <a:lnTo>
                  <a:pt x="83820" y="461711"/>
                </a:lnTo>
                <a:lnTo>
                  <a:pt x="100584" y="477056"/>
                </a:lnTo>
                <a:lnTo>
                  <a:pt x="117348" y="420657"/>
                </a:lnTo>
                <a:lnTo>
                  <a:pt x="134112" y="321113"/>
                </a:lnTo>
                <a:lnTo>
                  <a:pt x="150876" y="122522"/>
                </a:lnTo>
                <a:lnTo>
                  <a:pt x="167640" y="239106"/>
                </a:lnTo>
                <a:lnTo>
                  <a:pt x="184404" y="559860"/>
                </a:lnTo>
                <a:lnTo>
                  <a:pt x="201168" y="548202"/>
                </a:lnTo>
                <a:lnTo>
                  <a:pt x="217932" y="319718"/>
                </a:lnTo>
                <a:lnTo>
                  <a:pt x="234696" y="198052"/>
                </a:lnTo>
                <a:lnTo>
                  <a:pt x="251460" y="140359"/>
                </a:lnTo>
                <a:lnTo>
                  <a:pt x="268224" y="319220"/>
                </a:lnTo>
                <a:lnTo>
                  <a:pt x="284988" y="563248"/>
                </a:lnTo>
                <a:lnTo>
                  <a:pt x="301752" y="487817"/>
                </a:lnTo>
                <a:lnTo>
                  <a:pt x="318516" y="276971"/>
                </a:lnTo>
                <a:lnTo>
                  <a:pt x="335280" y="171846"/>
                </a:lnTo>
                <a:lnTo>
                  <a:pt x="352044" y="178622"/>
                </a:lnTo>
                <a:lnTo>
                  <a:pt x="368808" y="387675"/>
                </a:lnTo>
                <a:lnTo>
                  <a:pt x="385572" y="603504"/>
                </a:lnTo>
                <a:lnTo>
                  <a:pt x="402336" y="466892"/>
                </a:lnTo>
                <a:lnTo>
                  <a:pt x="419100" y="161483"/>
                </a:lnTo>
                <a:lnTo>
                  <a:pt x="435864" y="71604"/>
                </a:lnTo>
                <a:lnTo>
                  <a:pt x="452628" y="322109"/>
                </a:lnTo>
                <a:lnTo>
                  <a:pt x="469392" y="505355"/>
                </a:lnTo>
                <a:lnTo>
                  <a:pt x="486156" y="484230"/>
                </a:lnTo>
                <a:lnTo>
                  <a:pt x="502920" y="373227"/>
                </a:lnTo>
                <a:lnTo>
                  <a:pt x="519684" y="147134"/>
                </a:lnTo>
                <a:lnTo>
                  <a:pt x="536448" y="188088"/>
                </a:lnTo>
                <a:lnTo>
                  <a:pt x="553212" y="472771"/>
                </a:lnTo>
                <a:lnTo>
                  <a:pt x="569976" y="532557"/>
                </a:lnTo>
                <a:lnTo>
                  <a:pt x="586740" y="424145"/>
                </a:lnTo>
                <a:lnTo>
                  <a:pt x="603504" y="246579"/>
                </a:lnTo>
                <a:lnTo>
                  <a:pt x="620268" y="62935"/>
                </a:lnTo>
                <a:lnTo>
                  <a:pt x="637032" y="240999"/>
                </a:lnTo>
                <a:lnTo>
                  <a:pt x="653796" y="540330"/>
                </a:lnTo>
                <a:lnTo>
                  <a:pt x="670560" y="515419"/>
                </a:lnTo>
              </a:path>
            </a:pathLst>
          </a:custGeom>
          <a:ln w="11430">
            <a:solidFill>
              <a:srgbClr val="1F4E79"/>
            </a:solidFill>
            <a:prstDash val="solid"/>
          </a:ln>
        </p:spPr>
        <p:txBody>
          <a:bodyPr/>
          <a:lstStyle/>
          <a:p>
            <a:endParaRPr lang="ko-KR" altLang="en-US"/>
          </a:p>
        </p:txBody>
      </p:sp>
      <p:sp>
        <p:nvSpPr>
          <p:cNvPr id="36" name="Shape 33"/>
          <p:cNvSpPr/>
          <p:nvPr/>
        </p:nvSpPr>
        <p:spPr>
          <a:xfrm>
            <a:off x="2716606" y="4206240"/>
            <a:ext cx="603504" cy="658368"/>
          </a:xfrm>
          <a:custGeom>
            <a:avLst/>
            <a:gdLst/>
            <a:ahLst/>
            <a:cxnLst/>
            <a:rect l="l" t="t" r="r" b="b"/>
            <a:pathLst>
              <a:path w="603504" h="658368">
                <a:moveTo>
                  <a:pt x="0" y="178423"/>
                </a:moveTo>
                <a:lnTo>
                  <a:pt x="16764" y="140259"/>
                </a:lnTo>
                <a:lnTo>
                  <a:pt x="33528" y="394152"/>
                </a:lnTo>
                <a:lnTo>
                  <a:pt x="50292" y="453440"/>
                </a:lnTo>
                <a:lnTo>
                  <a:pt x="67056" y="478949"/>
                </a:lnTo>
                <a:lnTo>
                  <a:pt x="83820" y="356387"/>
                </a:lnTo>
                <a:lnTo>
                  <a:pt x="100584" y="93526"/>
                </a:lnTo>
                <a:lnTo>
                  <a:pt x="117348" y="230237"/>
                </a:lnTo>
                <a:lnTo>
                  <a:pt x="134112" y="451049"/>
                </a:lnTo>
                <a:lnTo>
                  <a:pt x="150876" y="471077"/>
                </a:lnTo>
                <a:lnTo>
                  <a:pt x="167640" y="454536"/>
                </a:lnTo>
                <a:lnTo>
                  <a:pt x="184404" y="237711"/>
                </a:lnTo>
                <a:lnTo>
                  <a:pt x="201168" y="152914"/>
                </a:lnTo>
                <a:lnTo>
                  <a:pt x="217932" y="339647"/>
                </a:lnTo>
                <a:lnTo>
                  <a:pt x="234696" y="416970"/>
                </a:lnTo>
                <a:lnTo>
                  <a:pt x="251460" y="485824"/>
                </a:lnTo>
                <a:lnTo>
                  <a:pt x="268224" y="362963"/>
                </a:lnTo>
                <a:lnTo>
                  <a:pt x="284988" y="118437"/>
                </a:lnTo>
                <a:lnTo>
                  <a:pt x="301752" y="239106"/>
                </a:lnTo>
                <a:lnTo>
                  <a:pt x="318516" y="401426"/>
                </a:lnTo>
                <a:lnTo>
                  <a:pt x="335280" y="486422"/>
                </a:lnTo>
                <a:lnTo>
                  <a:pt x="352044" y="517412"/>
                </a:lnTo>
                <a:lnTo>
                  <a:pt x="368808" y="229939"/>
                </a:lnTo>
                <a:lnTo>
                  <a:pt x="385572" y="107675"/>
                </a:lnTo>
                <a:lnTo>
                  <a:pt x="402336" y="316430"/>
                </a:lnTo>
                <a:lnTo>
                  <a:pt x="419100" y="408899"/>
                </a:lnTo>
                <a:lnTo>
                  <a:pt x="435864" y="479049"/>
                </a:lnTo>
                <a:lnTo>
                  <a:pt x="452628" y="438792"/>
                </a:lnTo>
                <a:lnTo>
                  <a:pt x="469392" y="162778"/>
                </a:lnTo>
                <a:lnTo>
                  <a:pt x="486156" y="196757"/>
                </a:lnTo>
                <a:lnTo>
                  <a:pt x="502920" y="433711"/>
                </a:lnTo>
                <a:lnTo>
                  <a:pt x="519684" y="430422"/>
                </a:lnTo>
                <a:lnTo>
                  <a:pt x="536448" y="426835"/>
                </a:lnTo>
                <a:lnTo>
                  <a:pt x="553212" y="314835"/>
                </a:lnTo>
                <a:lnTo>
                  <a:pt x="569976" y="128302"/>
                </a:lnTo>
                <a:lnTo>
                  <a:pt x="586740" y="259334"/>
                </a:lnTo>
                <a:lnTo>
                  <a:pt x="603504" y="443575"/>
                </a:lnTo>
              </a:path>
            </a:pathLst>
          </a:custGeom>
          <a:ln w="11430">
            <a:solidFill>
              <a:srgbClr val="1F4E79"/>
            </a:solidFill>
            <a:prstDash val="solid"/>
          </a:ln>
        </p:spPr>
        <p:txBody>
          <a:bodyPr/>
          <a:lstStyle/>
          <a:p>
            <a:endParaRPr lang="ko-KR" altLang="en-US"/>
          </a:p>
        </p:txBody>
      </p:sp>
      <p:sp>
        <p:nvSpPr>
          <p:cNvPr id="37" name="Shape 34"/>
          <p:cNvSpPr/>
          <p:nvPr/>
        </p:nvSpPr>
        <p:spPr>
          <a:xfrm>
            <a:off x="4064935" y="4206240"/>
            <a:ext cx="385572" cy="658368"/>
          </a:xfrm>
          <a:custGeom>
            <a:avLst/>
            <a:gdLst/>
            <a:ahLst/>
            <a:cxnLst/>
            <a:rect l="l" t="t" r="r" b="b"/>
            <a:pathLst>
              <a:path w="385572" h="658368">
                <a:moveTo>
                  <a:pt x="0" y="308956"/>
                </a:moveTo>
                <a:lnTo>
                  <a:pt x="16764" y="328387"/>
                </a:lnTo>
                <a:lnTo>
                  <a:pt x="33528" y="399732"/>
                </a:lnTo>
                <a:lnTo>
                  <a:pt x="50292" y="291220"/>
                </a:lnTo>
                <a:lnTo>
                  <a:pt x="67056" y="254551"/>
                </a:lnTo>
                <a:lnTo>
                  <a:pt x="83820" y="407405"/>
                </a:lnTo>
                <a:lnTo>
                  <a:pt x="100584" y="372928"/>
                </a:lnTo>
                <a:lnTo>
                  <a:pt x="117348" y="309255"/>
                </a:lnTo>
                <a:lnTo>
                  <a:pt x="134112" y="404913"/>
                </a:lnTo>
                <a:lnTo>
                  <a:pt x="150876" y="391860"/>
                </a:lnTo>
                <a:lnTo>
                  <a:pt x="167640" y="284643"/>
                </a:lnTo>
                <a:lnTo>
                  <a:pt x="184404" y="284245"/>
                </a:lnTo>
                <a:lnTo>
                  <a:pt x="201168" y="375120"/>
                </a:lnTo>
                <a:lnTo>
                  <a:pt x="217932" y="430323"/>
                </a:lnTo>
                <a:lnTo>
                  <a:pt x="234696" y="317426"/>
                </a:lnTo>
                <a:lnTo>
                  <a:pt x="251460" y="252060"/>
                </a:lnTo>
                <a:lnTo>
                  <a:pt x="268224" y="371234"/>
                </a:lnTo>
                <a:lnTo>
                  <a:pt x="284988" y="369739"/>
                </a:lnTo>
                <a:lnTo>
                  <a:pt x="301752" y="340942"/>
                </a:lnTo>
                <a:lnTo>
                  <a:pt x="318516" y="403220"/>
                </a:lnTo>
                <a:lnTo>
                  <a:pt x="335280" y="353796"/>
                </a:lnTo>
                <a:lnTo>
                  <a:pt x="352044" y="315134"/>
                </a:lnTo>
                <a:lnTo>
                  <a:pt x="368808" y="346123"/>
                </a:lnTo>
                <a:lnTo>
                  <a:pt x="385572" y="337753"/>
                </a:lnTo>
              </a:path>
            </a:pathLst>
          </a:custGeom>
          <a:ln w="11430">
            <a:solidFill>
              <a:srgbClr val="1F4E79"/>
            </a:solidFill>
            <a:prstDash val="solid"/>
          </a:ln>
        </p:spPr>
        <p:txBody>
          <a:bodyPr/>
          <a:lstStyle/>
          <a:p>
            <a:endParaRPr lang="ko-KR" altLang="en-US"/>
          </a:p>
        </p:txBody>
      </p:sp>
      <p:sp>
        <p:nvSpPr>
          <p:cNvPr id="38" name="Shape 35"/>
          <p:cNvSpPr/>
          <p:nvPr/>
        </p:nvSpPr>
        <p:spPr>
          <a:xfrm>
            <a:off x="5415610" y="4206240"/>
            <a:ext cx="150876" cy="658368"/>
          </a:xfrm>
          <a:custGeom>
            <a:avLst/>
            <a:gdLst/>
            <a:ahLst/>
            <a:cxnLst/>
            <a:rect l="l" t="t" r="r" b="b"/>
            <a:pathLst>
              <a:path w="150876" h="658368">
                <a:moveTo>
                  <a:pt x="0" y="342237"/>
                </a:moveTo>
                <a:lnTo>
                  <a:pt x="16764" y="161682"/>
                </a:lnTo>
                <a:lnTo>
                  <a:pt x="33528" y="210508"/>
                </a:lnTo>
                <a:lnTo>
                  <a:pt x="50292" y="423846"/>
                </a:lnTo>
                <a:lnTo>
                  <a:pt x="67056" y="477355"/>
                </a:lnTo>
                <a:lnTo>
                  <a:pt x="83820" y="403120"/>
                </a:lnTo>
                <a:lnTo>
                  <a:pt x="100584" y="226052"/>
                </a:lnTo>
                <a:lnTo>
                  <a:pt x="117348" y="124814"/>
                </a:lnTo>
                <a:lnTo>
                  <a:pt x="134112" y="308558"/>
                </a:lnTo>
                <a:lnTo>
                  <a:pt x="150876" y="485426"/>
                </a:lnTo>
              </a:path>
            </a:pathLst>
          </a:custGeom>
          <a:ln w="11430">
            <a:solidFill>
              <a:srgbClr val="1F4E79"/>
            </a:solidFill>
            <a:prstDash val="solid"/>
          </a:ln>
        </p:spPr>
        <p:txBody>
          <a:bodyPr/>
          <a:lstStyle/>
          <a:p>
            <a:endParaRPr lang="ko-KR" altLang="en-US"/>
          </a:p>
        </p:txBody>
      </p:sp>
      <p:sp>
        <p:nvSpPr>
          <p:cNvPr id="39" name="Shape 36"/>
          <p:cNvSpPr/>
          <p:nvPr/>
        </p:nvSpPr>
        <p:spPr>
          <a:xfrm>
            <a:off x="6996120" y="4206240"/>
            <a:ext cx="821436" cy="658368"/>
          </a:xfrm>
          <a:custGeom>
            <a:avLst/>
            <a:gdLst/>
            <a:ahLst/>
            <a:cxnLst/>
            <a:rect l="l" t="t" r="r" b="b"/>
            <a:pathLst>
              <a:path w="821436" h="658368">
                <a:moveTo>
                  <a:pt x="0" y="365355"/>
                </a:moveTo>
                <a:lnTo>
                  <a:pt x="16764" y="404116"/>
                </a:lnTo>
                <a:lnTo>
                  <a:pt x="33528" y="301981"/>
                </a:lnTo>
                <a:lnTo>
                  <a:pt x="50292" y="370138"/>
                </a:lnTo>
                <a:lnTo>
                  <a:pt x="67056" y="351803"/>
                </a:lnTo>
                <a:lnTo>
                  <a:pt x="83820" y="311348"/>
                </a:lnTo>
                <a:lnTo>
                  <a:pt x="100584" y="423647"/>
                </a:lnTo>
                <a:lnTo>
                  <a:pt x="117348" y="317825"/>
                </a:lnTo>
                <a:lnTo>
                  <a:pt x="134112" y="265013"/>
                </a:lnTo>
                <a:lnTo>
                  <a:pt x="150876" y="381597"/>
                </a:lnTo>
                <a:lnTo>
                  <a:pt x="167640" y="368045"/>
                </a:lnTo>
                <a:lnTo>
                  <a:pt x="184404" y="378707"/>
                </a:lnTo>
                <a:lnTo>
                  <a:pt x="201168" y="342237"/>
                </a:lnTo>
                <a:lnTo>
                  <a:pt x="217932" y="330878"/>
                </a:lnTo>
                <a:lnTo>
                  <a:pt x="234696" y="356785"/>
                </a:lnTo>
                <a:lnTo>
                  <a:pt x="251460" y="233825"/>
                </a:lnTo>
                <a:lnTo>
                  <a:pt x="268224" y="304971"/>
                </a:lnTo>
                <a:lnTo>
                  <a:pt x="284988" y="431219"/>
                </a:lnTo>
                <a:lnTo>
                  <a:pt x="301752" y="287832"/>
                </a:lnTo>
                <a:lnTo>
                  <a:pt x="318516" y="277668"/>
                </a:lnTo>
                <a:lnTo>
                  <a:pt x="335280" y="410494"/>
                </a:lnTo>
                <a:lnTo>
                  <a:pt x="352044" y="359476"/>
                </a:lnTo>
                <a:lnTo>
                  <a:pt x="368808" y="338949"/>
                </a:lnTo>
                <a:lnTo>
                  <a:pt x="385572" y="358081"/>
                </a:lnTo>
                <a:lnTo>
                  <a:pt x="402336" y="292415"/>
                </a:lnTo>
                <a:lnTo>
                  <a:pt x="419100" y="331974"/>
                </a:lnTo>
                <a:lnTo>
                  <a:pt x="435864" y="375917"/>
                </a:lnTo>
                <a:lnTo>
                  <a:pt x="452628" y="360572"/>
                </a:lnTo>
                <a:lnTo>
                  <a:pt x="469392" y="401027"/>
                </a:lnTo>
                <a:lnTo>
                  <a:pt x="486156" y="350408"/>
                </a:lnTo>
                <a:lnTo>
                  <a:pt x="502920" y="290024"/>
                </a:lnTo>
                <a:lnTo>
                  <a:pt x="519684" y="346223"/>
                </a:lnTo>
                <a:lnTo>
                  <a:pt x="536448" y="319718"/>
                </a:lnTo>
                <a:lnTo>
                  <a:pt x="553212" y="344728"/>
                </a:lnTo>
                <a:lnTo>
                  <a:pt x="569976" y="404615"/>
                </a:lnTo>
                <a:lnTo>
                  <a:pt x="586740" y="295106"/>
                </a:lnTo>
                <a:lnTo>
                  <a:pt x="603504" y="339148"/>
                </a:lnTo>
                <a:lnTo>
                  <a:pt x="620268" y="432913"/>
                </a:lnTo>
                <a:lnTo>
                  <a:pt x="637032" y="306864"/>
                </a:lnTo>
                <a:lnTo>
                  <a:pt x="653796" y="296600"/>
                </a:lnTo>
                <a:lnTo>
                  <a:pt x="670560" y="334465"/>
                </a:lnTo>
                <a:lnTo>
                  <a:pt x="687324" y="258437"/>
                </a:lnTo>
                <a:lnTo>
                  <a:pt x="704088" y="304373"/>
                </a:lnTo>
                <a:lnTo>
                  <a:pt x="720852" y="329782"/>
                </a:lnTo>
                <a:lnTo>
                  <a:pt x="737616" y="330280"/>
                </a:lnTo>
                <a:lnTo>
                  <a:pt x="754380" y="388572"/>
                </a:lnTo>
                <a:lnTo>
                  <a:pt x="771144" y="260928"/>
                </a:lnTo>
                <a:lnTo>
                  <a:pt x="787908" y="237213"/>
                </a:lnTo>
                <a:lnTo>
                  <a:pt x="804672" y="362465"/>
                </a:lnTo>
                <a:lnTo>
                  <a:pt x="821436" y="311049"/>
                </a:lnTo>
              </a:path>
            </a:pathLst>
          </a:custGeom>
          <a:ln w="11430">
            <a:solidFill>
              <a:srgbClr val="1F4E79"/>
            </a:solidFill>
            <a:prstDash val="solid"/>
          </a:ln>
        </p:spPr>
        <p:txBody>
          <a:bodyPr/>
          <a:lstStyle/>
          <a:p>
            <a:endParaRPr lang="ko-KR" altLang="en-US"/>
          </a:p>
        </p:txBody>
      </p:sp>
      <p:sp>
        <p:nvSpPr>
          <p:cNvPr id="40" name="Shape 37"/>
          <p:cNvSpPr/>
          <p:nvPr/>
        </p:nvSpPr>
        <p:spPr>
          <a:xfrm>
            <a:off x="8170271" y="4206240"/>
            <a:ext cx="821436" cy="658368"/>
          </a:xfrm>
          <a:custGeom>
            <a:avLst/>
            <a:gdLst/>
            <a:ahLst/>
            <a:cxnLst/>
            <a:rect l="l" t="t" r="r" b="b"/>
            <a:pathLst>
              <a:path w="821436" h="658368">
                <a:moveTo>
                  <a:pt x="0" y="531760"/>
                </a:moveTo>
                <a:lnTo>
                  <a:pt x="16764" y="345027"/>
                </a:lnTo>
                <a:lnTo>
                  <a:pt x="33528" y="90038"/>
                </a:lnTo>
                <a:lnTo>
                  <a:pt x="50292" y="289426"/>
                </a:lnTo>
                <a:lnTo>
                  <a:pt x="67056" y="485924"/>
                </a:lnTo>
                <a:lnTo>
                  <a:pt x="83820" y="482835"/>
                </a:lnTo>
                <a:lnTo>
                  <a:pt x="100584" y="425639"/>
                </a:lnTo>
                <a:lnTo>
                  <a:pt x="117348" y="215689"/>
                </a:lnTo>
                <a:lnTo>
                  <a:pt x="134112" y="215092"/>
                </a:lnTo>
                <a:lnTo>
                  <a:pt x="150876" y="433412"/>
                </a:lnTo>
                <a:lnTo>
                  <a:pt x="167640" y="498479"/>
                </a:lnTo>
                <a:lnTo>
                  <a:pt x="184404" y="456429"/>
                </a:lnTo>
                <a:lnTo>
                  <a:pt x="201168" y="252956"/>
                </a:lnTo>
                <a:lnTo>
                  <a:pt x="217932" y="81967"/>
                </a:lnTo>
                <a:lnTo>
                  <a:pt x="234696" y="224956"/>
                </a:lnTo>
                <a:lnTo>
                  <a:pt x="251460" y="438195"/>
                </a:lnTo>
                <a:lnTo>
                  <a:pt x="268224" y="537340"/>
                </a:lnTo>
                <a:lnTo>
                  <a:pt x="284988" y="425042"/>
                </a:lnTo>
                <a:lnTo>
                  <a:pt x="301752" y="163476"/>
                </a:lnTo>
                <a:lnTo>
                  <a:pt x="318516" y="130892"/>
                </a:lnTo>
                <a:lnTo>
                  <a:pt x="335280" y="353298"/>
                </a:lnTo>
                <a:lnTo>
                  <a:pt x="352044" y="495689"/>
                </a:lnTo>
                <a:lnTo>
                  <a:pt x="368808" y="485625"/>
                </a:lnTo>
                <a:lnTo>
                  <a:pt x="385572" y="371931"/>
                </a:lnTo>
                <a:lnTo>
                  <a:pt x="402336" y="154309"/>
                </a:lnTo>
                <a:lnTo>
                  <a:pt x="419100" y="175433"/>
                </a:lnTo>
                <a:lnTo>
                  <a:pt x="435864" y="445768"/>
                </a:lnTo>
                <a:lnTo>
                  <a:pt x="452628" y="494493"/>
                </a:lnTo>
                <a:lnTo>
                  <a:pt x="469392" y="412486"/>
                </a:lnTo>
                <a:lnTo>
                  <a:pt x="486156" y="273383"/>
                </a:lnTo>
                <a:lnTo>
                  <a:pt x="502920" y="106280"/>
                </a:lnTo>
                <a:lnTo>
                  <a:pt x="519684" y="244088"/>
                </a:lnTo>
                <a:lnTo>
                  <a:pt x="536448" y="502465"/>
                </a:lnTo>
                <a:lnTo>
                  <a:pt x="553212" y="520401"/>
                </a:lnTo>
                <a:lnTo>
                  <a:pt x="569976" y="343832"/>
                </a:lnTo>
                <a:lnTo>
                  <a:pt x="586740" y="187490"/>
                </a:lnTo>
                <a:lnTo>
                  <a:pt x="603504" y="159490"/>
                </a:lnTo>
                <a:lnTo>
                  <a:pt x="620268" y="295305"/>
                </a:lnTo>
                <a:lnTo>
                  <a:pt x="637032" y="517312"/>
                </a:lnTo>
                <a:lnTo>
                  <a:pt x="653796" y="493198"/>
                </a:lnTo>
                <a:lnTo>
                  <a:pt x="670560" y="234024"/>
                </a:lnTo>
                <a:lnTo>
                  <a:pt x="687324" y="108472"/>
                </a:lnTo>
                <a:lnTo>
                  <a:pt x="704088" y="197056"/>
                </a:lnTo>
                <a:lnTo>
                  <a:pt x="720852" y="435305"/>
                </a:lnTo>
                <a:lnTo>
                  <a:pt x="737616" y="563248"/>
                </a:lnTo>
                <a:lnTo>
                  <a:pt x="754380" y="409995"/>
                </a:lnTo>
                <a:lnTo>
                  <a:pt x="771144" y="204529"/>
                </a:lnTo>
                <a:lnTo>
                  <a:pt x="787908" y="154907"/>
                </a:lnTo>
                <a:lnTo>
                  <a:pt x="804672" y="322807"/>
                </a:lnTo>
                <a:lnTo>
                  <a:pt x="821436" y="490707"/>
                </a:lnTo>
              </a:path>
            </a:pathLst>
          </a:custGeom>
          <a:ln w="11430">
            <a:solidFill>
              <a:srgbClr val="1F4E79"/>
            </a:solidFill>
            <a:prstDash val="solid"/>
          </a:ln>
        </p:spPr>
        <p:txBody>
          <a:bodyPr/>
          <a:lstStyle/>
          <a:p>
            <a:endParaRPr lang="ko-KR" altLang="en-US"/>
          </a:p>
        </p:txBody>
      </p:sp>
      <p:sp>
        <p:nvSpPr>
          <p:cNvPr id="41" name="Shape 38"/>
          <p:cNvSpPr/>
          <p:nvPr/>
        </p:nvSpPr>
        <p:spPr>
          <a:xfrm>
            <a:off x="9497979" y="4206240"/>
            <a:ext cx="821436" cy="658368"/>
          </a:xfrm>
          <a:custGeom>
            <a:avLst/>
            <a:gdLst/>
            <a:ahLst/>
            <a:cxnLst/>
            <a:rect l="l" t="t" r="r" b="b"/>
            <a:pathLst>
              <a:path w="821436" h="658368">
                <a:moveTo>
                  <a:pt x="0" y="305967"/>
                </a:moveTo>
                <a:lnTo>
                  <a:pt x="16764" y="401027"/>
                </a:lnTo>
                <a:lnTo>
                  <a:pt x="33528" y="374821"/>
                </a:lnTo>
                <a:lnTo>
                  <a:pt x="50292" y="308059"/>
                </a:lnTo>
                <a:lnTo>
                  <a:pt x="67056" y="299390"/>
                </a:lnTo>
                <a:lnTo>
                  <a:pt x="83820" y="364358"/>
                </a:lnTo>
                <a:lnTo>
                  <a:pt x="100584" y="340145"/>
                </a:lnTo>
                <a:lnTo>
                  <a:pt x="117348" y="320714"/>
                </a:lnTo>
                <a:lnTo>
                  <a:pt x="134112" y="371333"/>
                </a:lnTo>
                <a:lnTo>
                  <a:pt x="150876" y="306864"/>
                </a:lnTo>
                <a:lnTo>
                  <a:pt x="167640" y="284045"/>
                </a:lnTo>
                <a:lnTo>
                  <a:pt x="184404" y="341540"/>
                </a:lnTo>
                <a:lnTo>
                  <a:pt x="201168" y="356287"/>
                </a:lnTo>
                <a:lnTo>
                  <a:pt x="217932" y="329483"/>
                </a:lnTo>
                <a:lnTo>
                  <a:pt x="234696" y="204131"/>
                </a:lnTo>
                <a:lnTo>
                  <a:pt x="251460" y="223163"/>
                </a:lnTo>
                <a:lnTo>
                  <a:pt x="268224" y="324700"/>
                </a:lnTo>
                <a:lnTo>
                  <a:pt x="284988" y="303775"/>
                </a:lnTo>
                <a:lnTo>
                  <a:pt x="301752" y="318422"/>
                </a:lnTo>
                <a:lnTo>
                  <a:pt x="318516" y="275974"/>
                </a:lnTo>
                <a:lnTo>
                  <a:pt x="335280" y="294906"/>
                </a:lnTo>
                <a:lnTo>
                  <a:pt x="352044" y="386081"/>
                </a:lnTo>
                <a:lnTo>
                  <a:pt x="368808" y="338551"/>
                </a:lnTo>
                <a:lnTo>
                  <a:pt x="385572" y="335362"/>
                </a:lnTo>
                <a:lnTo>
                  <a:pt x="402336" y="313839"/>
                </a:lnTo>
                <a:lnTo>
                  <a:pt x="419100" y="281056"/>
                </a:lnTo>
                <a:lnTo>
                  <a:pt x="435864" y="338949"/>
                </a:lnTo>
                <a:lnTo>
                  <a:pt x="452628" y="297696"/>
                </a:lnTo>
                <a:lnTo>
                  <a:pt x="469392" y="311746"/>
                </a:lnTo>
                <a:lnTo>
                  <a:pt x="486156" y="377212"/>
                </a:lnTo>
                <a:lnTo>
                  <a:pt x="502920" y="311547"/>
                </a:lnTo>
                <a:lnTo>
                  <a:pt x="519684" y="316131"/>
                </a:lnTo>
                <a:lnTo>
                  <a:pt x="536448" y="370835"/>
                </a:lnTo>
                <a:lnTo>
                  <a:pt x="553212" y="346721"/>
                </a:lnTo>
                <a:lnTo>
                  <a:pt x="569976" y="315931"/>
                </a:lnTo>
                <a:lnTo>
                  <a:pt x="586740" y="308956"/>
                </a:lnTo>
                <a:lnTo>
                  <a:pt x="603504" y="351106"/>
                </a:lnTo>
                <a:lnTo>
                  <a:pt x="620268" y="359276"/>
                </a:lnTo>
                <a:lnTo>
                  <a:pt x="637032" y="292017"/>
                </a:lnTo>
                <a:lnTo>
                  <a:pt x="653796" y="329383"/>
                </a:lnTo>
                <a:lnTo>
                  <a:pt x="670560" y="427533"/>
                </a:lnTo>
                <a:lnTo>
                  <a:pt x="687324" y="390066"/>
                </a:lnTo>
                <a:lnTo>
                  <a:pt x="704088" y="313540"/>
                </a:lnTo>
                <a:lnTo>
                  <a:pt x="720852" y="378607"/>
                </a:lnTo>
                <a:lnTo>
                  <a:pt x="737616" y="438693"/>
                </a:lnTo>
                <a:lnTo>
                  <a:pt x="754380" y="380899"/>
                </a:lnTo>
                <a:lnTo>
                  <a:pt x="771144" y="360672"/>
                </a:lnTo>
                <a:lnTo>
                  <a:pt x="787908" y="423148"/>
                </a:lnTo>
                <a:lnTo>
                  <a:pt x="804672" y="468985"/>
                </a:lnTo>
                <a:lnTo>
                  <a:pt x="821436" y="363960"/>
                </a:lnTo>
              </a:path>
            </a:pathLst>
          </a:custGeom>
          <a:ln w="11430">
            <a:solidFill>
              <a:srgbClr val="1F4E79"/>
            </a:solidFill>
            <a:prstDash val="solid"/>
          </a:ln>
        </p:spPr>
        <p:txBody>
          <a:bodyPr/>
          <a:lstStyle/>
          <a:p>
            <a:endParaRPr lang="ko-KR" altLang="en-US"/>
          </a:p>
        </p:txBody>
      </p:sp>
      <p:sp>
        <p:nvSpPr>
          <p:cNvPr id="42" name="Shape 39"/>
          <p:cNvSpPr/>
          <p:nvPr/>
        </p:nvSpPr>
        <p:spPr>
          <a:xfrm>
            <a:off x="10804230" y="4206240"/>
            <a:ext cx="670560" cy="658368"/>
          </a:xfrm>
          <a:custGeom>
            <a:avLst/>
            <a:gdLst/>
            <a:ahLst/>
            <a:cxnLst/>
            <a:rect l="l" t="t" r="r" b="b"/>
            <a:pathLst>
              <a:path w="670560" h="658368">
                <a:moveTo>
                  <a:pt x="0" y="125412"/>
                </a:moveTo>
                <a:lnTo>
                  <a:pt x="16764" y="462209"/>
                </a:lnTo>
                <a:lnTo>
                  <a:pt x="33528" y="599120"/>
                </a:lnTo>
                <a:lnTo>
                  <a:pt x="50292" y="362365"/>
                </a:lnTo>
                <a:lnTo>
                  <a:pt x="67056" y="156102"/>
                </a:lnTo>
                <a:lnTo>
                  <a:pt x="83820" y="134978"/>
                </a:lnTo>
                <a:lnTo>
                  <a:pt x="100584" y="308159"/>
                </a:lnTo>
                <a:lnTo>
                  <a:pt x="117348" y="545611"/>
                </a:lnTo>
                <a:lnTo>
                  <a:pt x="134112" y="536344"/>
                </a:lnTo>
                <a:lnTo>
                  <a:pt x="150876" y="282052"/>
                </a:lnTo>
                <a:lnTo>
                  <a:pt x="167640" y="60942"/>
                </a:lnTo>
                <a:lnTo>
                  <a:pt x="184404" y="155903"/>
                </a:lnTo>
                <a:lnTo>
                  <a:pt x="201168" y="446066"/>
                </a:lnTo>
                <a:lnTo>
                  <a:pt x="217932" y="572614"/>
                </a:lnTo>
                <a:lnTo>
                  <a:pt x="234696" y="501269"/>
                </a:lnTo>
                <a:lnTo>
                  <a:pt x="251460" y="245383"/>
                </a:lnTo>
                <a:lnTo>
                  <a:pt x="268224" y="54864"/>
                </a:lnTo>
                <a:lnTo>
                  <a:pt x="284988" y="291817"/>
                </a:lnTo>
                <a:lnTo>
                  <a:pt x="301752" y="522693"/>
                </a:lnTo>
                <a:lnTo>
                  <a:pt x="318516" y="489212"/>
                </a:lnTo>
                <a:lnTo>
                  <a:pt x="335280" y="406408"/>
                </a:lnTo>
                <a:lnTo>
                  <a:pt x="352044" y="160287"/>
                </a:lnTo>
                <a:lnTo>
                  <a:pt x="368808" y="108672"/>
                </a:lnTo>
                <a:lnTo>
                  <a:pt x="385572" y="454437"/>
                </a:lnTo>
                <a:lnTo>
                  <a:pt x="402336" y="584472"/>
                </a:lnTo>
                <a:lnTo>
                  <a:pt x="419100" y="448657"/>
                </a:lnTo>
                <a:lnTo>
                  <a:pt x="435864" y="285640"/>
                </a:lnTo>
                <a:lnTo>
                  <a:pt x="452628" y="96117"/>
                </a:lnTo>
                <a:lnTo>
                  <a:pt x="469392" y="202835"/>
                </a:lnTo>
                <a:lnTo>
                  <a:pt x="486156" y="531661"/>
                </a:lnTo>
                <a:lnTo>
                  <a:pt x="502920" y="577895"/>
                </a:lnTo>
                <a:lnTo>
                  <a:pt x="519684" y="403618"/>
                </a:lnTo>
                <a:lnTo>
                  <a:pt x="536448" y="210508"/>
                </a:lnTo>
                <a:lnTo>
                  <a:pt x="553212" y="105682"/>
                </a:lnTo>
                <a:lnTo>
                  <a:pt x="569976" y="311348"/>
                </a:lnTo>
                <a:lnTo>
                  <a:pt x="586740" y="594835"/>
                </a:lnTo>
                <a:lnTo>
                  <a:pt x="603504" y="578892"/>
                </a:lnTo>
                <a:lnTo>
                  <a:pt x="620268" y="295604"/>
                </a:lnTo>
                <a:lnTo>
                  <a:pt x="637032" y="77981"/>
                </a:lnTo>
                <a:lnTo>
                  <a:pt x="653796" y="213896"/>
                </a:lnTo>
                <a:lnTo>
                  <a:pt x="670560" y="463703"/>
                </a:lnTo>
              </a:path>
            </a:pathLst>
          </a:custGeom>
          <a:ln w="11430">
            <a:solidFill>
              <a:srgbClr val="1F4E79"/>
            </a:solidFill>
            <a:prstDash val="solid"/>
          </a:ln>
        </p:spPr>
        <p:txBody>
          <a:bodyPr/>
          <a:lstStyle/>
          <a:p>
            <a:endParaRPr lang="ko-KR" altLang="en-US"/>
          </a:p>
        </p:txBody>
      </p:sp>
      <p:sp>
        <p:nvSpPr>
          <p:cNvPr id="43" name="Shape 40"/>
          <p:cNvSpPr/>
          <p:nvPr/>
        </p:nvSpPr>
        <p:spPr>
          <a:xfrm>
            <a:off x="1508760" y="4864608"/>
            <a:ext cx="10058400" cy="91"/>
          </a:xfrm>
          <a:prstGeom prst="line">
            <a:avLst/>
          </a:prstGeom>
          <a:noFill/>
          <a:ln w="9525">
            <a:solidFill>
              <a:srgbClr val="7F7F7F"/>
            </a:solidFill>
            <a:prstDash val="solid"/>
          </a:ln>
        </p:spPr>
        <p:txBody>
          <a:bodyPr/>
          <a:lstStyle/>
          <a:p>
            <a:endParaRPr lang="ko-KR" altLang="en-US"/>
          </a:p>
        </p:txBody>
      </p:sp>
      <p:sp>
        <p:nvSpPr>
          <p:cNvPr id="44" name="Text 41"/>
          <p:cNvSpPr txBox="1"/>
          <p:nvPr/>
        </p:nvSpPr>
        <p:spPr>
          <a:xfrm>
            <a:off x="320040" y="4370832"/>
            <a:ext cx="1143000" cy="384048"/>
          </a:xfrm>
          <a:prstGeom prst="rect">
            <a:avLst/>
          </a:prstGeom>
          <a:noFill/>
          <a:ln/>
        </p:spPr>
        <p:txBody>
          <a:bodyPr wrap="square" lIns="0" tIns="0" rIns="0" bIns="0" rtlCol="0" anchor="ctr"/>
          <a:lstStyle/>
          <a:p>
            <a:pPr marL="0" indent="0" algn="r">
              <a:buNone/>
            </a:pPr>
            <a:r>
              <a:rPr lang="en-US" sz="1050" b="1" dirty="0">
                <a:solidFill>
                  <a:srgbClr val="262626"/>
                </a:solidFill>
                <a:latin typeface="맑은 고딕" pitchFamily="34" charset="0"/>
                <a:ea typeface="맑은 고딕" pitchFamily="34" charset="-122"/>
                <a:cs typeface="맑은 고딕" pitchFamily="34" charset="-120"/>
              </a:rPr>
              <a:t>진동 채널 1 : v1</a:t>
            </a:r>
            <a:endParaRPr lang="en-US" sz="1050" dirty="0"/>
          </a:p>
        </p:txBody>
      </p:sp>
      <p:sp>
        <p:nvSpPr>
          <p:cNvPr id="45" name="Shape 42"/>
          <p:cNvSpPr/>
          <p:nvPr/>
        </p:nvSpPr>
        <p:spPr>
          <a:xfrm>
            <a:off x="1508760" y="5074920"/>
            <a:ext cx="10058400" cy="658368"/>
          </a:xfrm>
          <a:prstGeom prst="rect">
            <a:avLst/>
          </a:prstGeom>
          <a:solidFill>
            <a:srgbClr val="F2F2F2"/>
          </a:solidFill>
          <a:ln w="12700">
            <a:solidFill>
              <a:srgbClr val="F2F2F2"/>
            </a:solidFill>
            <a:prstDash val="solid"/>
          </a:ln>
        </p:spPr>
        <p:txBody>
          <a:bodyPr/>
          <a:lstStyle/>
          <a:p>
            <a:endParaRPr lang="ko-KR" altLang="en-US"/>
          </a:p>
        </p:txBody>
      </p:sp>
      <p:sp>
        <p:nvSpPr>
          <p:cNvPr id="46" name="Shape 43"/>
          <p:cNvSpPr/>
          <p:nvPr/>
        </p:nvSpPr>
        <p:spPr>
          <a:xfrm>
            <a:off x="1490472" y="507492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47" name="Shape 44"/>
          <p:cNvSpPr/>
          <p:nvPr/>
        </p:nvSpPr>
        <p:spPr>
          <a:xfrm>
            <a:off x="2698318" y="5074920"/>
            <a:ext cx="640080" cy="658368"/>
          </a:xfrm>
          <a:prstGeom prst="rect">
            <a:avLst/>
          </a:prstGeom>
          <a:solidFill>
            <a:srgbClr val="E3ECF6"/>
          </a:solidFill>
          <a:ln w="12700">
            <a:solidFill>
              <a:srgbClr val="E3ECF6"/>
            </a:solidFill>
            <a:prstDash val="solid"/>
          </a:ln>
        </p:spPr>
        <p:txBody>
          <a:bodyPr/>
          <a:lstStyle/>
          <a:p>
            <a:endParaRPr lang="ko-KR" altLang="en-US"/>
          </a:p>
        </p:txBody>
      </p:sp>
      <p:sp>
        <p:nvSpPr>
          <p:cNvPr id="48" name="Shape 45"/>
          <p:cNvSpPr/>
          <p:nvPr/>
        </p:nvSpPr>
        <p:spPr>
          <a:xfrm>
            <a:off x="4046647" y="5074920"/>
            <a:ext cx="422148" cy="658368"/>
          </a:xfrm>
          <a:prstGeom prst="rect">
            <a:avLst/>
          </a:prstGeom>
          <a:solidFill>
            <a:srgbClr val="E3ECF6"/>
          </a:solidFill>
          <a:ln w="12700">
            <a:solidFill>
              <a:srgbClr val="E3ECF6"/>
            </a:solidFill>
            <a:prstDash val="solid"/>
          </a:ln>
        </p:spPr>
        <p:txBody>
          <a:bodyPr/>
          <a:lstStyle/>
          <a:p>
            <a:endParaRPr lang="ko-KR" altLang="en-US"/>
          </a:p>
        </p:txBody>
      </p:sp>
      <p:sp>
        <p:nvSpPr>
          <p:cNvPr id="49" name="Shape 46"/>
          <p:cNvSpPr/>
          <p:nvPr/>
        </p:nvSpPr>
        <p:spPr>
          <a:xfrm>
            <a:off x="5397322" y="5074920"/>
            <a:ext cx="187452" cy="658368"/>
          </a:xfrm>
          <a:prstGeom prst="rect">
            <a:avLst/>
          </a:prstGeom>
          <a:solidFill>
            <a:srgbClr val="E3ECF6"/>
          </a:solidFill>
          <a:ln w="12700">
            <a:solidFill>
              <a:srgbClr val="E3ECF6"/>
            </a:solidFill>
            <a:prstDash val="solid"/>
          </a:ln>
        </p:spPr>
        <p:txBody>
          <a:bodyPr/>
          <a:lstStyle/>
          <a:p>
            <a:endParaRPr lang="ko-KR" altLang="en-US"/>
          </a:p>
        </p:txBody>
      </p:sp>
      <p:sp>
        <p:nvSpPr>
          <p:cNvPr id="50" name="Shape 47"/>
          <p:cNvSpPr/>
          <p:nvPr/>
        </p:nvSpPr>
        <p:spPr>
          <a:xfrm>
            <a:off x="6977832" y="507492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51" name="Shape 48"/>
          <p:cNvSpPr/>
          <p:nvPr/>
        </p:nvSpPr>
        <p:spPr>
          <a:xfrm>
            <a:off x="8151983" y="507492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52" name="Shape 49"/>
          <p:cNvSpPr/>
          <p:nvPr/>
        </p:nvSpPr>
        <p:spPr>
          <a:xfrm>
            <a:off x="9479691" y="5074920"/>
            <a:ext cx="858012" cy="658368"/>
          </a:xfrm>
          <a:prstGeom prst="rect">
            <a:avLst/>
          </a:prstGeom>
          <a:solidFill>
            <a:srgbClr val="E3ECF6"/>
          </a:solidFill>
          <a:ln w="12700">
            <a:solidFill>
              <a:srgbClr val="E3ECF6"/>
            </a:solidFill>
            <a:prstDash val="solid"/>
          </a:ln>
        </p:spPr>
        <p:txBody>
          <a:bodyPr/>
          <a:lstStyle/>
          <a:p>
            <a:endParaRPr lang="ko-KR" altLang="en-US"/>
          </a:p>
        </p:txBody>
      </p:sp>
      <p:sp>
        <p:nvSpPr>
          <p:cNvPr id="53" name="Shape 50"/>
          <p:cNvSpPr/>
          <p:nvPr/>
        </p:nvSpPr>
        <p:spPr>
          <a:xfrm>
            <a:off x="10785942" y="5074920"/>
            <a:ext cx="707136" cy="658368"/>
          </a:xfrm>
          <a:prstGeom prst="rect">
            <a:avLst/>
          </a:prstGeom>
          <a:solidFill>
            <a:srgbClr val="E3ECF6"/>
          </a:solidFill>
          <a:ln w="12700">
            <a:solidFill>
              <a:srgbClr val="E3ECF6"/>
            </a:solidFill>
            <a:prstDash val="solid"/>
          </a:ln>
        </p:spPr>
        <p:txBody>
          <a:bodyPr/>
          <a:lstStyle/>
          <a:p>
            <a:endParaRPr lang="ko-KR" altLang="en-US"/>
          </a:p>
        </p:txBody>
      </p:sp>
      <p:sp>
        <p:nvSpPr>
          <p:cNvPr id="54" name="Shape 51"/>
          <p:cNvSpPr/>
          <p:nvPr/>
        </p:nvSpPr>
        <p:spPr>
          <a:xfrm>
            <a:off x="1508760" y="5074920"/>
            <a:ext cx="670560" cy="658368"/>
          </a:xfrm>
          <a:custGeom>
            <a:avLst/>
            <a:gdLst/>
            <a:ahLst/>
            <a:cxnLst/>
            <a:rect l="l" t="t" r="r" b="b"/>
            <a:pathLst>
              <a:path w="670560" h="658368">
                <a:moveTo>
                  <a:pt x="0" y="123857"/>
                </a:moveTo>
                <a:lnTo>
                  <a:pt x="16764" y="97255"/>
                </a:lnTo>
                <a:lnTo>
                  <a:pt x="33528" y="118279"/>
                </a:lnTo>
                <a:lnTo>
                  <a:pt x="50292" y="162393"/>
                </a:lnTo>
                <a:lnTo>
                  <a:pt x="67056" y="230738"/>
                </a:lnTo>
                <a:lnTo>
                  <a:pt x="83820" y="305773"/>
                </a:lnTo>
                <a:lnTo>
                  <a:pt x="100584" y="384470"/>
                </a:lnTo>
                <a:lnTo>
                  <a:pt x="117348" y="459252"/>
                </a:lnTo>
                <a:lnTo>
                  <a:pt x="134112" y="520797"/>
                </a:lnTo>
                <a:lnTo>
                  <a:pt x="150876" y="561873"/>
                </a:lnTo>
                <a:lnTo>
                  <a:pt x="167640" y="553561"/>
                </a:lnTo>
                <a:lnTo>
                  <a:pt x="184404" y="516395"/>
                </a:lnTo>
                <a:lnTo>
                  <a:pt x="201168" y="456049"/>
                </a:lnTo>
                <a:lnTo>
                  <a:pt x="217932" y="381179"/>
                </a:lnTo>
                <a:lnTo>
                  <a:pt x="234696" y="304089"/>
                </a:lnTo>
                <a:lnTo>
                  <a:pt x="251460" y="224518"/>
                </a:lnTo>
                <a:lnTo>
                  <a:pt x="268224" y="158811"/>
                </a:lnTo>
                <a:lnTo>
                  <a:pt x="284988" y="106143"/>
                </a:lnTo>
                <a:lnTo>
                  <a:pt x="301752" y="96908"/>
                </a:lnTo>
                <a:lnTo>
                  <a:pt x="318516" y="128244"/>
                </a:lnTo>
                <a:lnTo>
                  <a:pt x="335280" y="181512"/>
                </a:lnTo>
                <a:lnTo>
                  <a:pt x="352044" y="255920"/>
                </a:lnTo>
                <a:lnTo>
                  <a:pt x="368808" y="332541"/>
                </a:lnTo>
                <a:lnTo>
                  <a:pt x="385572" y="413349"/>
                </a:lnTo>
                <a:lnTo>
                  <a:pt x="402336" y="483648"/>
                </a:lnTo>
                <a:lnTo>
                  <a:pt x="419100" y="541740"/>
                </a:lnTo>
                <a:lnTo>
                  <a:pt x="435864" y="567828"/>
                </a:lnTo>
                <a:lnTo>
                  <a:pt x="452628" y="546509"/>
                </a:lnTo>
                <a:lnTo>
                  <a:pt x="469392" y="501376"/>
                </a:lnTo>
                <a:lnTo>
                  <a:pt x="486156" y="431625"/>
                </a:lnTo>
                <a:lnTo>
                  <a:pt x="502920" y="355340"/>
                </a:lnTo>
                <a:lnTo>
                  <a:pt x="519684" y="275027"/>
                </a:lnTo>
                <a:lnTo>
                  <a:pt x="536448" y="198677"/>
                </a:lnTo>
                <a:lnTo>
                  <a:pt x="553212" y="135950"/>
                </a:lnTo>
                <a:lnTo>
                  <a:pt x="569976" y="94098"/>
                </a:lnTo>
                <a:lnTo>
                  <a:pt x="586740" y="102267"/>
                </a:lnTo>
                <a:lnTo>
                  <a:pt x="603504" y="140934"/>
                </a:lnTo>
                <a:lnTo>
                  <a:pt x="620268" y="204007"/>
                </a:lnTo>
                <a:lnTo>
                  <a:pt x="637032" y="282013"/>
                </a:lnTo>
                <a:lnTo>
                  <a:pt x="653796" y="361709"/>
                </a:lnTo>
                <a:lnTo>
                  <a:pt x="670560" y="442460"/>
                </a:lnTo>
              </a:path>
            </a:pathLst>
          </a:custGeom>
          <a:ln w="11430">
            <a:solidFill>
              <a:srgbClr val="1F4E79"/>
            </a:solidFill>
            <a:prstDash val="solid"/>
          </a:ln>
        </p:spPr>
        <p:txBody>
          <a:bodyPr/>
          <a:lstStyle/>
          <a:p>
            <a:endParaRPr lang="ko-KR" altLang="en-US"/>
          </a:p>
        </p:txBody>
      </p:sp>
      <p:sp>
        <p:nvSpPr>
          <p:cNvPr id="55" name="Shape 52"/>
          <p:cNvSpPr/>
          <p:nvPr/>
        </p:nvSpPr>
        <p:spPr>
          <a:xfrm>
            <a:off x="2716606" y="5074920"/>
            <a:ext cx="603504" cy="658368"/>
          </a:xfrm>
          <a:custGeom>
            <a:avLst/>
            <a:gdLst/>
            <a:ahLst/>
            <a:cxnLst/>
            <a:rect l="l" t="t" r="r" b="b"/>
            <a:pathLst>
              <a:path w="603504" h="658368">
                <a:moveTo>
                  <a:pt x="0" y="300047"/>
                </a:moveTo>
                <a:lnTo>
                  <a:pt x="16764" y="381791"/>
                </a:lnTo>
                <a:lnTo>
                  <a:pt x="33528" y="461013"/>
                </a:lnTo>
                <a:lnTo>
                  <a:pt x="50292" y="510368"/>
                </a:lnTo>
                <a:lnTo>
                  <a:pt x="67056" y="561171"/>
                </a:lnTo>
                <a:lnTo>
                  <a:pt x="83820" y="554997"/>
                </a:lnTo>
                <a:lnTo>
                  <a:pt x="100584" y="512580"/>
                </a:lnTo>
                <a:lnTo>
                  <a:pt x="117348" y="459451"/>
                </a:lnTo>
                <a:lnTo>
                  <a:pt x="134112" y="386297"/>
                </a:lnTo>
                <a:lnTo>
                  <a:pt x="150876" y="310244"/>
                </a:lnTo>
                <a:lnTo>
                  <a:pt x="167640" y="223217"/>
                </a:lnTo>
                <a:lnTo>
                  <a:pt x="184404" y="168913"/>
                </a:lnTo>
                <a:lnTo>
                  <a:pt x="201168" y="115602"/>
                </a:lnTo>
                <a:lnTo>
                  <a:pt x="217932" y="96679"/>
                </a:lnTo>
                <a:lnTo>
                  <a:pt x="234696" y="135657"/>
                </a:lnTo>
                <a:lnTo>
                  <a:pt x="251460" y="181283"/>
                </a:lnTo>
                <a:lnTo>
                  <a:pt x="268224" y="250247"/>
                </a:lnTo>
                <a:lnTo>
                  <a:pt x="284988" y="321583"/>
                </a:lnTo>
                <a:lnTo>
                  <a:pt x="301752" y="408085"/>
                </a:lnTo>
                <a:lnTo>
                  <a:pt x="318516" y="472943"/>
                </a:lnTo>
                <a:lnTo>
                  <a:pt x="335280" y="522267"/>
                </a:lnTo>
                <a:lnTo>
                  <a:pt x="352044" y="564270"/>
                </a:lnTo>
                <a:lnTo>
                  <a:pt x="368808" y="537805"/>
                </a:lnTo>
                <a:lnTo>
                  <a:pt x="385572" y="496368"/>
                </a:lnTo>
                <a:lnTo>
                  <a:pt x="402336" y="437177"/>
                </a:lnTo>
                <a:lnTo>
                  <a:pt x="419100" y="367173"/>
                </a:lnTo>
                <a:lnTo>
                  <a:pt x="435864" y="287118"/>
                </a:lnTo>
                <a:lnTo>
                  <a:pt x="452628" y="209147"/>
                </a:lnTo>
                <a:lnTo>
                  <a:pt x="469392" y="162619"/>
                </a:lnTo>
                <a:lnTo>
                  <a:pt x="486156" y="108118"/>
                </a:lnTo>
                <a:lnTo>
                  <a:pt x="502920" y="111420"/>
                </a:lnTo>
                <a:lnTo>
                  <a:pt x="519684" y="152727"/>
                </a:lnTo>
                <a:lnTo>
                  <a:pt x="536448" y="201461"/>
                </a:lnTo>
                <a:lnTo>
                  <a:pt x="553212" y="270078"/>
                </a:lnTo>
                <a:lnTo>
                  <a:pt x="569976" y="341614"/>
                </a:lnTo>
                <a:lnTo>
                  <a:pt x="586740" y="426025"/>
                </a:lnTo>
                <a:lnTo>
                  <a:pt x="603504" y="476855"/>
                </a:lnTo>
              </a:path>
            </a:pathLst>
          </a:custGeom>
          <a:ln w="11430">
            <a:solidFill>
              <a:srgbClr val="1F4E79"/>
            </a:solidFill>
            <a:prstDash val="solid"/>
          </a:ln>
        </p:spPr>
        <p:txBody>
          <a:bodyPr/>
          <a:lstStyle/>
          <a:p>
            <a:endParaRPr lang="ko-KR" altLang="en-US"/>
          </a:p>
        </p:txBody>
      </p:sp>
      <p:sp>
        <p:nvSpPr>
          <p:cNvPr id="56" name="Shape 53"/>
          <p:cNvSpPr/>
          <p:nvPr/>
        </p:nvSpPr>
        <p:spPr>
          <a:xfrm>
            <a:off x="4064935" y="5074920"/>
            <a:ext cx="385572" cy="658368"/>
          </a:xfrm>
          <a:custGeom>
            <a:avLst/>
            <a:gdLst/>
            <a:ahLst/>
            <a:cxnLst/>
            <a:rect l="l" t="t" r="r" b="b"/>
            <a:pathLst>
              <a:path w="385572" h="658368">
                <a:moveTo>
                  <a:pt x="0" y="449799"/>
                </a:moveTo>
                <a:lnTo>
                  <a:pt x="16764" y="435917"/>
                </a:lnTo>
                <a:lnTo>
                  <a:pt x="33528" y="414593"/>
                </a:lnTo>
                <a:lnTo>
                  <a:pt x="50292" y="376989"/>
                </a:lnTo>
                <a:lnTo>
                  <a:pt x="67056" y="333965"/>
                </a:lnTo>
                <a:lnTo>
                  <a:pt x="83820" y="284638"/>
                </a:lnTo>
                <a:lnTo>
                  <a:pt x="100584" y="230761"/>
                </a:lnTo>
                <a:lnTo>
                  <a:pt x="117348" y="217287"/>
                </a:lnTo>
                <a:lnTo>
                  <a:pt x="134112" y="211825"/>
                </a:lnTo>
                <a:lnTo>
                  <a:pt x="150876" y="218600"/>
                </a:lnTo>
                <a:lnTo>
                  <a:pt x="167640" y="239260"/>
                </a:lnTo>
                <a:lnTo>
                  <a:pt x="184404" y="270618"/>
                </a:lnTo>
                <a:lnTo>
                  <a:pt x="201168" y="315902"/>
                </a:lnTo>
                <a:lnTo>
                  <a:pt x="217932" y="359831"/>
                </a:lnTo>
                <a:lnTo>
                  <a:pt x="234696" y="417546"/>
                </a:lnTo>
                <a:lnTo>
                  <a:pt x="251460" y="443298"/>
                </a:lnTo>
                <a:lnTo>
                  <a:pt x="268224" y="447365"/>
                </a:lnTo>
                <a:lnTo>
                  <a:pt x="284988" y="447390"/>
                </a:lnTo>
                <a:lnTo>
                  <a:pt x="301752" y="428439"/>
                </a:lnTo>
                <a:lnTo>
                  <a:pt x="318516" y="403569"/>
                </a:lnTo>
                <a:lnTo>
                  <a:pt x="335280" y="360132"/>
                </a:lnTo>
                <a:lnTo>
                  <a:pt x="352044" y="318049"/>
                </a:lnTo>
                <a:lnTo>
                  <a:pt x="368808" y="262469"/>
                </a:lnTo>
                <a:lnTo>
                  <a:pt x="385572" y="220784"/>
                </a:lnTo>
              </a:path>
            </a:pathLst>
          </a:custGeom>
          <a:ln w="11430">
            <a:solidFill>
              <a:srgbClr val="1F4E79"/>
            </a:solidFill>
            <a:prstDash val="solid"/>
          </a:ln>
        </p:spPr>
        <p:txBody>
          <a:bodyPr/>
          <a:lstStyle/>
          <a:p>
            <a:endParaRPr lang="ko-KR" altLang="en-US"/>
          </a:p>
        </p:txBody>
      </p:sp>
      <p:sp>
        <p:nvSpPr>
          <p:cNvPr id="57" name="Shape 54"/>
          <p:cNvSpPr/>
          <p:nvPr/>
        </p:nvSpPr>
        <p:spPr>
          <a:xfrm>
            <a:off x="5415610" y="5074920"/>
            <a:ext cx="150876" cy="658368"/>
          </a:xfrm>
          <a:custGeom>
            <a:avLst/>
            <a:gdLst/>
            <a:ahLst/>
            <a:cxnLst/>
            <a:rect l="l" t="t" r="r" b="b"/>
            <a:pathLst>
              <a:path w="150876" h="658368">
                <a:moveTo>
                  <a:pt x="0" y="115065"/>
                </a:moveTo>
                <a:lnTo>
                  <a:pt x="16764" y="110508"/>
                </a:lnTo>
                <a:lnTo>
                  <a:pt x="33528" y="141939"/>
                </a:lnTo>
                <a:lnTo>
                  <a:pt x="50292" y="192725"/>
                </a:lnTo>
                <a:lnTo>
                  <a:pt x="67056" y="262923"/>
                </a:lnTo>
                <a:lnTo>
                  <a:pt x="83820" y="335532"/>
                </a:lnTo>
                <a:lnTo>
                  <a:pt x="100584" y="414946"/>
                </a:lnTo>
                <a:lnTo>
                  <a:pt x="117348" y="480781"/>
                </a:lnTo>
                <a:lnTo>
                  <a:pt x="134112" y="536984"/>
                </a:lnTo>
                <a:lnTo>
                  <a:pt x="150876" y="559098"/>
                </a:lnTo>
              </a:path>
            </a:pathLst>
          </a:custGeom>
          <a:ln w="11430">
            <a:solidFill>
              <a:srgbClr val="1F4E79"/>
            </a:solidFill>
            <a:prstDash val="solid"/>
          </a:ln>
        </p:spPr>
        <p:txBody>
          <a:bodyPr/>
          <a:lstStyle/>
          <a:p>
            <a:endParaRPr lang="ko-KR" altLang="en-US"/>
          </a:p>
        </p:txBody>
      </p:sp>
      <p:sp>
        <p:nvSpPr>
          <p:cNvPr id="58" name="Shape 55"/>
          <p:cNvSpPr/>
          <p:nvPr/>
        </p:nvSpPr>
        <p:spPr>
          <a:xfrm>
            <a:off x="6996120" y="5074920"/>
            <a:ext cx="821436" cy="658368"/>
          </a:xfrm>
          <a:custGeom>
            <a:avLst/>
            <a:gdLst/>
            <a:ahLst/>
            <a:cxnLst/>
            <a:rect l="l" t="t" r="r" b="b"/>
            <a:pathLst>
              <a:path w="821436" h="658368">
                <a:moveTo>
                  <a:pt x="0" y="268079"/>
                </a:moveTo>
                <a:lnTo>
                  <a:pt x="16764" y="312324"/>
                </a:lnTo>
                <a:lnTo>
                  <a:pt x="33528" y="355171"/>
                </a:lnTo>
                <a:lnTo>
                  <a:pt x="50292" y="413814"/>
                </a:lnTo>
                <a:lnTo>
                  <a:pt x="67056" y="443630"/>
                </a:lnTo>
                <a:lnTo>
                  <a:pt x="83820" y="447920"/>
                </a:lnTo>
                <a:lnTo>
                  <a:pt x="100584" y="448104"/>
                </a:lnTo>
                <a:lnTo>
                  <a:pt x="117348" y="430042"/>
                </a:lnTo>
                <a:lnTo>
                  <a:pt x="134112" y="406084"/>
                </a:lnTo>
                <a:lnTo>
                  <a:pt x="150876" y="364306"/>
                </a:lnTo>
                <a:lnTo>
                  <a:pt x="167640" y="323060"/>
                </a:lnTo>
                <a:lnTo>
                  <a:pt x="184404" y="267868"/>
                </a:lnTo>
                <a:lnTo>
                  <a:pt x="201168" y="222265"/>
                </a:lnTo>
                <a:lnTo>
                  <a:pt x="217932" y="215025"/>
                </a:lnTo>
                <a:lnTo>
                  <a:pt x="234696" y="211262"/>
                </a:lnTo>
                <a:lnTo>
                  <a:pt x="251460" y="224391"/>
                </a:lnTo>
                <a:lnTo>
                  <a:pt x="268224" y="245516"/>
                </a:lnTo>
                <a:lnTo>
                  <a:pt x="284988" y="282088"/>
                </a:lnTo>
                <a:lnTo>
                  <a:pt x="301752" y="324886"/>
                </a:lnTo>
                <a:lnTo>
                  <a:pt x="318516" y="372809"/>
                </a:lnTo>
                <a:lnTo>
                  <a:pt x="335280" y="429116"/>
                </a:lnTo>
                <a:lnTo>
                  <a:pt x="352044" y="445581"/>
                </a:lnTo>
                <a:lnTo>
                  <a:pt x="368808" y="449935"/>
                </a:lnTo>
                <a:lnTo>
                  <a:pt x="385572" y="443869"/>
                </a:lnTo>
                <a:lnTo>
                  <a:pt x="402336" y="423903"/>
                </a:lnTo>
                <a:lnTo>
                  <a:pt x="419100" y="394316"/>
                </a:lnTo>
                <a:lnTo>
                  <a:pt x="435864" y="350418"/>
                </a:lnTo>
                <a:lnTo>
                  <a:pt x="452628" y="308192"/>
                </a:lnTo>
                <a:lnTo>
                  <a:pt x="469392" y="249039"/>
                </a:lnTo>
                <a:lnTo>
                  <a:pt x="486156" y="217953"/>
                </a:lnTo>
                <a:lnTo>
                  <a:pt x="502920" y="213837"/>
                </a:lnTo>
                <a:lnTo>
                  <a:pt x="519684" y="213123"/>
                </a:lnTo>
                <a:lnTo>
                  <a:pt x="536448" y="230344"/>
                </a:lnTo>
                <a:lnTo>
                  <a:pt x="553212" y="254121"/>
                </a:lnTo>
                <a:lnTo>
                  <a:pt x="569976" y="296413"/>
                </a:lnTo>
                <a:lnTo>
                  <a:pt x="586740" y="337589"/>
                </a:lnTo>
                <a:lnTo>
                  <a:pt x="603504" y="392701"/>
                </a:lnTo>
                <a:lnTo>
                  <a:pt x="620268" y="438771"/>
                </a:lnTo>
                <a:lnTo>
                  <a:pt x="637032" y="445755"/>
                </a:lnTo>
                <a:lnTo>
                  <a:pt x="653796" y="450268"/>
                </a:lnTo>
                <a:lnTo>
                  <a:pt x="670560" y="437757"/>
                </a:lnTo>
                <a:lnTo>
                  <a:pt x="687324" y="416755"/>
                </a:lnTo>
                <a:lnTo>
                  <a:pt x="704088" y="379914"/>
                </a:lnTo>
                <a:lnTo>
                  <a:pt x="720852" y="336958"/>
                </a:lnTo>
                <a:lnTo>
                  <a:pt x="737616" y="289249"/>
                </a:lnTo>
                <a:lnTo>
                  <a:pt x="754380" y="232271"/>
                </a:lnTo>
                <a:lnTo>
                  <a:pt x="771144" y="216161"/>
                </a:lnTo>
                <a:lnTo>
                  <a:pt x="787908" y="212135"/>
                </a:lnTo>
                <a:lnTo>
                  <a:pt x="804672" y="218059"/>
                </a:lnTo>
                <a:lnTo>
                  <a:pt x="821436" y="237718"/>
                </a:lnTo>
              </a:path>
            </a:pathLst>
          </a:custGeom>
          <a:ln w="11430">
            <a:solidFill>
              <a:srgbClr val="1F4E79"/>
            </a:solidFill>
            <a:prstDash val="solid"/>
          </a:ln>
        </p:spPr>
        <p:txBody>
          <a:bodyPr/>
          <a:lstStyle/>
          <a:p>
            <a:endParaRPr lang="ko-KR" altLang="en-US"/>
          </a:p>
        </p:txBody>
      </p:sp>
      <p:sp>
        <p:nvSpPr>
          <p:cNvPr id="59" name="Shape 56"/>
          <p:cNvSpPr/>
          <p:nvPr/>
        </p:nvSpPr>
        <p:spPr>
          <a:xfrm>
            <a:off x="8170271" y="5074920"/>
            <a:ext cx="821436" cy="658368"/>
          </a:xfrm>
          <a:custGeom>
            <a:avLst/>
            <a:gdLst/>
            <a:ahLst/>
            <a:cxnLst/>
            <a:rect l="l" t="t" r="r" b="b"/>
            <a:pathLst>
              <a:path w="821436" h="658368">
                <a:moveTo>
                  <a:pt x="0" y="216915"/>
                </a:moveTo>
                <a:lnTo>
                  <a:pt x="16764" y="152003"/>
                </a:lnTo>
                <a:lnTo>
                  <a:pt x="33528" y="101803"/>
                </a:lnTo>
                <a:lnTo>
                  <a:pt x="50292" y="98874"/>
                </a:lnTo>
                <a:lnTo>
                  <a:pt x="67056" y="133247"/>
                </a:lnTo>
                <a:lnTo>
                  <a:pt x="83820" y="187114"/>
                </a:lnTo>
                <a:lnTo>
                  <a:pt x="100584" y="260855"/>
                </a:lnTo>
                <a:lnTo>
                  <a:pt x="117348" y="337120"/>
                </a:lnTo>
                <a:lnTo>
                  <a:pt x="134112" y="418817"/>
                </a:lnTo>
                <a:lnTo>
                  <a:pt x="150876" y="488831"/>
                </a:lnTo>
                <a:lnTo>
                  <a:pt x="167640" y="546771"/>
                </a:lnTo>
                <a:lnTo>
                  <a:pt x="184404" y="568537"/>
                </a:lnTo>
                <a:lnTo>
                  <a:pt x="201168" y="542776"/>
                </a:lnTo>
                <a:lnTo>
                  <a:pt x="217932" y="497051"/>
                </a:lnTo>
                <a:lnTo>
                  <a:pt x="234696" y="426733"/>
                </a:lnTo>
                <a:lnTo>
                  <a:pt x="251460" y="349453"/>
                </a:lnTo>
                <a:lnTo>
                  <a:pt x="268224" y="267735"/>
                </a:lnTo>
                <a:lnTo>
                  <a:pt x="284988" y="192194"/>
                </a:lnTo>
                <a:lnTo>
                  <a:pt x="301752" y="130475"/>
                </a:lnTo>
                <a:lnTo>
                  <a:pt x="318516" y="92156"/>
                </a:lnTo>
                <a:lnTo>
                  <a:pt x="335280" y="105713"/>
                </a:lnTo>
                <a:lnTo>
                  <a:pt x="352044" y="145888"/>
                </a:lnTo>
                <a:lnTo>
                  <a:pt x="368808" y="209551"/>
                </a:lnTo>
                <a:lnTo>
                  <a:pt x="385572" y="286986"/>
                </a:lnTo>
                <a:lnTo>
                  <a:pt x="402336" y="366810"/>
                </a:lnTo>
                <a:lnTo>
                  <a:pt x="419100" y="447632"/>
                </a:lnTo>
                <a:lnTo>
                  <a:pt x="435864" y="513209"/>
                </a:lnTo>
                <a:lnTo>
                  <a:pt x="452628" y="563376"/>
                </a:lnTo>
                <a:lnTo>
                  <a:pt x="469392" y="565582"/>
                </a:lnTo>
                <a:lnTo>
                  <a:pt x="486156" y="530991"/>
                </a:lnTo>
                <a:lnTo>
                  <a:pt x="502920" y="476994"/>
                </a:lnTo>
                <a:lnTo>
                  <a:pt x="519684" y="401020"/>
                </a:lnTo>
                <a:lnTo>
                  <a:pt x="536448" y="322166"/>
                </a:lnTo>
                <a:lnTo>
                  <a:pt x="553212" y="238110"/>
                </a:lnTo>
                <a:lnTo>
                  <a:pt x="569976" y="167094"/>
                </a:lnTo>
                <a:lnTo>
                  <a:pt x="586740" y="109538"/>
                </a:lnTo>
                <a:lnTo>
                  <a:pt x="603504" y="87936"/>
                </a:lnTo>
                <a:lnTo>
                  <a:pt x="620268" y="115604"/>
                </a:lnTo>
                <a:lnTo>
                  <a:pt x="637032" y="163153"/>
                </a:lnTo>
                <a:lnTo>
                  <a:pt x="653796" y="235464"/>
                </a:lnTo>
                <a:lnTo>
                  <a:pt x="670560" y="312852"/>
                </a:lnTo>
                <a:lnTo>
                  <a:pt x="687324" y="396470"/>
                </a:lnTo>
                <a:lnTo>
                  <a:pt x="704088" y="473146"/>
                </a:lnTo>
                <a:lnTo>
                  <a:pt x="720852" y="531719"/>
                </a:lnTo>
                <a:lnTo>
                  <a:pt x="737616" y="573242"/>
                </a:lnTo>
                <a:lnTo>
                  <a:pt x="754380" y="557076"/>
                </a:lnTo>
                <a:lnTo>
                  <a:pt x="771144" y="513897"/>
                </a:lnTo>
                <a:lnTo>
                  <a:pt x="787908" y="452556"/>
                </a:lnTo>
                <a:lnTo>
                  <a:pt x="804672" y="375860"/>
                </a:lnTo>
                <a:lnTo>
                  <a:pt x="821436" y="294377"/>
                </a:lnTo>
              </a:path>
            </a:pathLst>
          </a:custGeom>
          <a:ln w="11430">
            <a:solidFill>
              <a:srgbClr val="1F4E79"/>
            </a:solidFill>
            <a:prstDash val="solid"/>
          </a:ln>
        </p:spPr>
        <p:txBody>
          <a:bodyPr/>
          <a:lstStyle/>
          <a:p>
            <a:endParaRPr lang="ko-KR" altLang="en-US"/>
          </a:p>
        </p:txBody>
      </p:sp>
      <p:sp>
        <p:nvSpPr>
          <p:cNvPr id="60" name="Shape 57"/>
          <p:cNvSpPr/>
          <p:nvPr/>
        </p:nvSpPr>
        <p:spPr>
          <a:xfrm>
            <a:off x="9497979" y="5074920"/>
            <a:ext cx="821436" cy="658368"/>
          </a:xfrm>
          <a:custGeom>
            <a:avLst/>
            <a:gdLst/>
            <a:ahLst/>
            <a:cxnLst/>
            <a:rect l="l" t="t" r="r" b="b"/>
            <a:pathLst>
              <a:path w="821436" h="658368">
                <a:moveTo>
                  <a:pt x="0" y="219782"/>
                </a:moveTo>
                <a:lnTo>
                  <a:pt x="16764" y="214854"/>
                </a:lnTo>
                <a:lnTo>
                  <a:pt x="33528" y="213685"/>
                </a:lnTo>
                <a:lnTo>
                  <a:pt x="50292" y="231440"/>
                </a:lnTo>
                <a:lnTo>
                  <a:pt x="67056" y="255396"/>
                </a:lnTo>
                <a:lnTo>
                  <a:pt x="83820" y="297618"/>
                </a:lnTo>
                <a:lnTo>
                  <a:pt x="100584" y="340169"/>
                </a:lnTo>
                <a:lnTo>
                  <a:pt x="117348" y="395703"/>
                </a:lnTo>
                <a:lnTo>
                  <a:pt x="134112" y="437980"/>
                </a:lnTo>
                <a:lnTo>
                  <a:pt x="150876" y="444511"/>
                </a:lnTo>
                <a:lnTo>
                  <a:pt x="167640" y="449748"/>
                </a:lnTo>
                <a:lnTo>
                  <a:pt x="184404" y="436828"/>
                </a:lnTo>
                <a:lnTo>
                  <a:pt x="201168" y="415690"/>
                </a:lnTo>
                <a:lnTo>
                  <a:pt x="217932" y="378611"/>
                </a:lnTo>
                <a:lnTo>
                  <a:pt x="234696" y="334914"/>
                </a:lnTo>
                <a:lnTo>
                  <a:pt x="251460" y="285480"/>
                </a:lnTo>
                <a:lnTo>
                  <a:pt x="268224" y="231245"/>
                </a:lnTo>
                <a:lnTo>
                  <a:pt x="284988" y="217127"/>
                </a:lnTo>
                <a:lnTo>
                  <a:pt x="301752" y="212205"/>
                </a:lnTo>
                <a:lnTo>
                  <a:pt x="318516" y="218544"/>
                </a:lnTo>
                <a:lnTo>
                  <a:pt x="335280" y="238598"/>
                </a:lnTo>
                <a:lnTo>
                  <a:pt x="352044" y="268757"/>
                </a:lnTo>
                <a:lnTo>
                  <a:pt x="368808" y="313233"/>
                </a:lnTo>
                <a:lnTo>
                  <a:pt x="385572" y="356963"/>
                </a:lnTo>
                <a:lnTo>
                  <a:pt x="402336" y="415122"/>
                </a:lnTo>
                <a:lnTo>
                  <a:pt x="419100" y="442545"/>
                </a:lnTo>
                <a:lnTo>
                  <a:pt x="435864" y="446873"/>
                </a:lnTo>
                <a:lnTo>
                  <a:pt x="452628" y="447617"/>
                </a:lnTo>
                <a:lnTo>
                  <a:pt x="469392" y="429892"/>
                </a:lnTo>
                <a:lnTo>
                  <a:pt x="486156" y="405690"/>
                </a:lnTo>
                <a:lnTo>
                  <a:pt x="502920" y="362769"/>
                </a:lnTo>
                <a:lnTo>
                  <a:pt x="519684" y="320698"/>
                </a:lnTo>
                <a:lnTo>
                  <a:pt x="536448" y="265466"/>
                </a:lnTo>
                <a:lnTo>
                  <a:pt x="553212" y="222591"/>
                </a:lnTo>
                <a:lnTo>
                  <a:pt x="569976" y="216326"/>
                </a:lnTo>
                <a:lnTo>
                  <a:pt x="586740" y="211602"/>
                </a:lnTo>
                <a:lnTo>
                  <a:pt x="603504" y="224664"/>
                </a:lnTo>
                <a:lnTo>
                  <a:pt x="620268" y="245920"/>
                </a:lnTo>
                <a:lnTo>
                  <a:pt x="637032" y="282891"/>
                </a:lnTo>
                <a:lnTo>
                  <a:pt x="653796" y="326357"/>
                </a:lnTo>
                <a:lnTo>
                  <a:pt x="670560" y="375482"/>
                </a:lnTo>
                <a:lnTo>
                  <a:pt x="687324" y="429227"/>
                </a:lnTo>
                <a:lnTo>
                  <a:pt x="704088" y="443485"/>
                </a:lnTo>
                <a:lnTo>
                  <a:pt x="720852" y="448945"/>
                </a:lnTo>
                <a:lnTo>
                  <a:pt x="737616" y="443149"/>
                </a:lnTo>
                <a:lnTo>
                  <a:pt x="754380" y="423562"/>
                </a:lnTo>
                <a:lnTo>
                  <a:pt x="771144" y="393556"/>
                </a:lnTo>
                <a:lnTo>
                  <a:pt x="787908" y="348866"/>
                </a:lnTo>
                <a:lnTo>
                  <a:pt x="804672" y="304386"/>
                </a:lnTo>
                <a:lnTo>
                  <a:pt x="821436" y="245966"/>
                </a:lnTo>
              </a:path>
            </a:pathLst>
          </a:custGeom>
          <a:ln w="11430">
            <a:solidFill>
              <a:srgbClr val="1F4E79"/>
            </a:solidFill>
            <a:prstDash val="solid"/>
          </a:ln>
        </p:spPr>
        <p:txBody>
          <a:bodyPr/>
          <a:lstStyle/>
          <a:p>
            <a:endParaRPr lang="ko-KR" altLang="en-US"/>
          </a:p>
        </p:txBody>
      </p:sp>
      <p:sp>
        <p:nvSpPr>
          <p:cNvPr id="61" name="Shape 58"/>
          <p:cNvSpPr/>
          <p:nvPr/>
        </p:nvSpPr>
        <p:spPr>
          <a:xfrm>
            <a:off x="10804230" y="5074920"/>
            <a:ext cx="670560" cy="658368"/>
          </a:xfrm>
          <a:custGeom>
            <a:avLst/>
            <a:gdLst/>
            <a:ahLst/>
            <a:cxnLst/>
            <a:rect l="l" t="t" r="r" b="b"/>
            <a:pathLst>
              <a:path w="670560" h="658368">
                <a:moveTo>
                  <a:pt x="0" y="539046"/>
                </a:moveTo>
                <a:lnTo>
                  <a:pt x="16764" y="463850"/>
                </a:lnTo>
                <a:lnTo>
                  <a:pt x="33528" y="374667"/>
                </a:lnTo>
                <a:lnTo>
                  <a:pt x="50292" y="279602"/>
                </a:lnTo>
                <a:lnTo>
                  <a:pt x="67056" y="187003"/>
                </a:lnTo>
                <a:lnTo>
                  <a:pt x="83820" y="112351"/>
                </a:lnTo>
                <a:lnTo>
                  <a:pt x="100584" y="62228"/>
                </a:lnTo>
                <a:lnTo>
                  <a:pt x="117348" y="63802"/>
                </a:lnTo>
                <a:lnTo>
                  <a:pt x="134112" y="102317"/>
                </a:lnTo>
                <a:lnTo>
                  <a:pt x="150876" y="168570"/>
                </a:lnTo>
                <a:lnTo>
                  <a:pt x="167640" y="256979"/>
                </a:lnTo>
                <a:lnTo>
                  <a:pt x="184404" y="350402"/>
                </a:lnTo>
                <a:lnTo>
                  <a:pt x="201168" y="446572"/>
                </a:lnTo>
                <a:lnTo>
                  <a:pt x="217932" y="527479"/>
                </a:lnTo>
                <a:lnTo>
                  <a:pt x="234696" y="587967"/>
                </a:lnTo>
                <a:lnTo>
                  <a:pt x="251460" y="603504"/>
                </a:lnTo>
                <a:lnTo>
                  <a:pt x="268224" y="574292"/>
                </a:lnTo>
                <a:lnTo>
                  <a:pt x="284988" y="518364"/>
                </a:lnTo>
                <a:lnTo>
                  <a:pt x="301752" y="434987"/>
                </a:lnTo>
                <a:lnTo>
                  <a:pt x="318516" y="343795"/>
                </a:lnTo>
                <a:lnTo>
                  <a:pt x="335280" y="246980"/>
                </a:lnTo>
                <a:lnTo>
                  <a:pt x="352044" y="159593"/>
                </a:lnTo>
                <a:lnTo>
                  <a:pt x="368808" y="90002"/>
                </a:lnTo>
                <a:lnTo>
                  <a:pt x="385572" y="54864"/>
                </a:lnTo>
                <a:lnTo>
                  <a:pt x="402336" y="72306"/>
                </a:lnTo>
                <a:lnTo>
                  <a:pt x="419100" y="119863"/>
                </a:lnTo>
                <a:lnTo>
                  <a:pt x="435864" y="196691"/>
                </a:lnTo>
                <a:lnTo>
                  <a:pt x="452628" y="287540"/>
                </a:lnTo>
                <a:lnTo>
                  <a:pt x="469392" y="383358"/>
                </a:lnTo>
                <a:lnTo>
                  <a:pt x="486156" y="476829"/>
                </a:lnTo>
                <a:lnTo>
                  <a:pt x="502920" y="552582"/>
                </a:lnTo>
                <a:lnTo>
                  <a:pt x="519684" y="601741"/>
                </a:lnTo>
                <a:lnTo>
                  <a:pt x="536448" y="598939"/>
                </a:lnTo>
                <a:lnTo>
                  <a:pt x="553212" y="560429"/>
                </a:lnTo>
                <a:lnTo>
                  <a:pt x="569976" y="493138"/>
                </a:lnTo>
                <a:lnTo>
                  <a:pt x="586740" y="404120"/>
                </a:lnTo>
                <a:lnTo>
                  <a:pt x="603504" y="310770"/>
                </a:lnTo>
                <a:lnTo>
                  <a:pt x="620268" y="214467"/>
                </a:lnTo>
                <a:lnTo>
                  <a:pt x="637032" y="132596"/>
                </a:lnTo>
                <a:lnTo>
                  <a:pt x="653796" y="70529"/>
                </a:lnTo>
                <a:lnTo>
                  <a:pt x="670560" y="54977"/>
                </a:lnTo>
              </a:path>
            </a:pathLst>
          </a:custGeom>
          <a:ln w="11430">
            <a:solidFill>
              <a:srgbClr val="1F4E79"/>
            </a:solidFill>
            <a:prstDash val="solid"/>
          </a:ln>
        </p:spPr>
        <p:txBody>
          <a:bodyPr/>
          <a:lstStyle/>
          <a:p>
            <a:endParaRPr lang="ko-KR" altLang="en-US"/>
          </a:p>
        </p:txBody>
      </p:sp>
      <p:sp>
        <p:nvSpPr>
          <p:cNvPr id="62" name="Shape 59"/>
          <p:cNvSpPr/>
          <p:nvPr/>
        </p:nvSpPr>
        <p:spPr>
          <a:xfrm>
            <a:off x="1508760" y="5733288"/>
            <a:ext cx="10058400" cy="91"/>
          </a:xfrm>
          <a:prstGeom prst="line">
            <a:avLst/>
          </a:prstGeom>
          <a:noFill/>
          <a:ln w="9525">
            <a:solidFill>
              <a:srgbClr val="7F7F7F"/>
            </a:solidFill>
            <a:prstDash val="solid"/>
          </a:ln>
        </p:spPr>
        <p:txBody>
          <a:bodyPr/>
          <a:lstStyle/>
          <a:p>
            <a:endParaRPr lang="ko-KR" altLang="en-US"/>
          </a:p>
        </p:txBody>
      </p:sp>
      <p:sp>
        <p:nvSpPr>
          <p:cNvPr id="63" name="Text 60"/>
          <p:cNvSpPr txBox="1"/>
          <p:nvPr/>
        </p:nvSpPr>
        <p:spPr>
          <a:xfrm>
            <a:off x="320040" y="5239512"/>
            <a:ext cx="1143000" cy="384048"/>
          </a:xfrm>
          <a:prstGeom prst="rect">
            <a:avLst/>
          </a:prstGeom>
          <a:noFill/>
          <a:ln/>
        </p:spPr>
        <p:txBody>
          <a:bodyPr wrap="square" lIns="0" tIns="0" rIns="0" bIns="0" rtlCol="0" anchor="ctr"/>
          <a:lstStyle/>
          <a:p>
            <a:pPr marL="0" indent="0" algn="r">
              <a:buNone/>
            </a:pPr>
            <a:r>
              <a:rPr lang="en-US" sz="1050" b="1" dirty="0">
                <a:solidFill>
                  <a:srgbClr val="262626"/>
                </a:solidFill>
                <a:latin typeface="맑은 고딕" pitchFamily="34" charset="0"/>
                <a:ea typeface="맑은 고딕" pitchFamily="34" charset="-122"/>
                <a:cs typeface="맑은 고딕" pitchFamily="34" charset="-120"/>
              </a:rPr>
              <a:t>전류 : c</a:t>
            </a:r>
            <a:endParaRPr lang="en-US" sz="1050" dirty="0"/>
          </a:p>
        </p:txBody>
      </p:sp>
      <p:sp>
        <p:nvSpPr>
          <p:cNvPr id="64" name="Shape 61"/>
          <p:cNvSpPr/>
          <p:nvPr/>
        </p:nvSpPr>
        <p:spPr>
          <a:xfrm>
            <a:off x="1508760" y="5733288"/>
            <a:ext cx="91" cy="54864"/>
          </a:xfrm>
          <a:prstGeom prst="line">
            <a:avLst/>
          </a:prstGeom>
          <a:noFill/>
          <a:ln w="9525">
            <a:solidFill>
              <a:srgbClr val="000000"/>
            </a:solidFill>
            <a:prstDash val="solid"/>
          </a:ln>
        </p:spPr>
        <p:txBody>
          <a:bodyPr/>
          <a:lstStyle/>
          <a:p>
            <a:endParaRPr lang="ko-KR" altLang="en-US"/>
          </a:p>
        </p:txBody>
      </p:sp>
      <p:sp>
        <p:nvSpPr>
          <p:cNvPr id="65" name="Text 62"/>
          <p:cNvSpPr txBox="1"/>
          <p:nvPr/>
        </p:nvSpPr>
        <p:spPr>
          <a:xfrm>
            <a:off x="12801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0</a:t>
            </a:r>
            <a:endParaRPr lang="en-US" sz="950" dirty="0"/>
          </a:p>
        </p:txBody>
      </p:sp>
      <p:sp>
        <p:nvSpPr>
          <p:cNvPr id="66" name="Shape 63"/>
          <p:cNvSpPr/>
          <p:nvPr/>
        </p:nvSpPr>
        <p:spPr>
          <a:xfrm>
            <a:off x="3185160" y="5733288"/>
            <a:ext cx="91" cy="54864"/>
          </a:xfrm>
          <a:prstGeom prst="line">
            <a:avLst/>
          </a:prstGeom>
          <a:noFill/>
          <a:ln w="9525">
            <a:solidFill>
              <a:srgbClr val="000000"/>
            </a:solidFill>
            <a:prstDash val="solid"/>
          </a:ln>
        </p:spPr>
        <p:txBody>
          <a:bodyPr/>
          <a:lstStyle/>
          <a:p>
            <a:endParaRPr lang="ko-KR" altLang="en-US"/>
          </a:p>
        </p:txBody>
      </p:sp>
      <p:sp>
        <p:nvSpPr>
          <p:cNvPr id="67" name="Text 64"/>
          <p:cNvSpPr txBox="1"/>
          <p:nvPr/>
        </p:nvSpPr>
        <p:spPr>
          <a:xfrm>
            <a:off x="29565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10</a:t>
            </a:r>
            <a:endParaRPr lang="en-US" sz="950" dirty="0"/>
          </a:p>
        </p:txBody>
      </p:sp>
      <p:sp>
        <p:nvSpPr>
          <p:cNvPr id="68" name="Shape 65"/>
          <p:cNvSpPr/>
          <p:nvPr/>
        </p:nvSpPr>
        <p:spPr>
          <a:xfrm>
            <a:off x="4861560" y="5733288"/>
            <a:ext cx="91" cy="54864"/>
          </a:xfrm>
          <a:prstGeom prst="line">
            <a:avLst/>
          </a:prstGeom>
          <a:noFill/>
          <a:ln w="9525">
            <a:solidFill>
              <a:srgbClr val="000000"/>
            </a:solidFill>
            <a:prstDash val="solid"/>
          </a:ln>
        </p:spPr>
        <p:txBody>
          <a:bodyPr/>
          <a:lstStyle/>
          <a:p>
            <a:endParaRPr lang="ko-KR" altLang="en-US"/>
          </a:p>
        </p:txBody>
      </p:sp>
      <p:sp>
        <p:nvSpPr>
          <p:cNvPr id="69" name="Text 66"/>
          <p:cNvSpPr txBox="1"/>
          <p:nvPr/>
        </p:nvSpPr>
        <p:spPr>
          <a:xfrm>
            <a:off x="46329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20</a:t>
            </a:r>
            <a:endParaRPr lang="en-US" sz="950" dirty="0"/>
          </a:p>
        </p:txBody>
      </p:sp>
      <p:sp>
        <p:nvSpPr>
          <p:cNvPr id="70" name="Shape 67"/>
          <p:cNvSpPr/>
          <p:nvPr/>
        </p:nvSpPr>
        <p:spPr>
          <a:xfrm>
            <a:off x="6537960" y="5733288"/>
            <a:ext cx="91" cy="54864"/>
          </a:xfrm>
          <a:prstGeom prst="line">
            <a:avLst/>
          </a:prstGeom>
          <a:noFill/>
          <a:ln w="9525">
            <a:solidFill>
              <a:srgbClr val="000000"/>
            </a:solidFill>
            <a:prstDash val="solid"/>
          </a:ln>
        </p:spPr>
        <p:txBody>
          <a:bodyPr/>
          <a:lstStyle/>
          <a:p>
            <a:endParaRPr lang="ko-KR" altLang="en-US"/>
          </a:p>
        </p:txBody>
      </p:sp>
      <p:sp>
        <p:nvSpPr>
          <p:cNvPr id="71" name="Text 68"/>
          <p:cNvSpPr txBox="1"/>
          <p:nvPr/>
        </p:nvSpPr>
        <p:spPr>
          <a:xfrm>
            <a:off x="63093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30</a:t>
            </a:r>
            <a:endParaRPr lang="en-US" sz="950" dirty="0"/>
          </a:p>
        </p:txBody>
      </p:sp>
      <p:sp>
        <p:nvSpPr>
          <p:cNvPr id="72" name="Shape 69"/>
          <p:cNvSpPr/>
          <p:nvPr/>
        </p:nvSpPr>
        <p:spPr>
          <a:xfrm>
            <a:off x="8214360" y="5733288"/>
            <a:ext cx="91" cy="54864"/>
          </a:xfrm>
          <a:prstGeom prst="line">
            <a:avLst/>
          </a:prstGeom>
          <a:noFill/>
          <a:ln w="9525">
            <a:solidFill>
              <a:srgbClr val="000000"/>
            </a:solidFill>
            <a:prstDash val="solid"/>
          </a:ln>
        </p:spPr>
        <p:txBody>
          <a:bodyPr/>
          <a:lstStyle/>
          <a:p>
            <a:endParaRPr lang="ko-KR" altLang="en-US"/>
          </a:p>
        </p:txBody>
      </p:sp>
      <p:sp>
        <p:nvSpPr>
          <p:cNvPr id="73" name="Text 70"/>
          <p:cNvSpPr txBox="1"/>
          <p:nvPr/>
        </p:nvSpPr>
        <p:spPr>
          <a:xfrm>
            <a:off x="79857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40</a:t>
            </a:r>
            <a:endParaRPr lang="en-US" sz="950" dirty="0"/>
          </a:p>
        </p:txBody>
      </p:sp>
      <p:sp>
        <p:nvSpPr>
          <p:cNvPr id="74" name="Shape 71"/>
          <p:cNvSpPr/>
          <p:nvPr/>
        </p:nvSpPr>
        <p:spPr>
          <a:xfrm>
            <a:off x="9890760" y="5733288"/>
            <a:ext cx="91" cy="54864"/>
          </a:xfrm>
          <a:prstGeom prst="line">
            <a:avLst/>
          </a:prstGeom>
          <a:noFill/>
          <a:ln w="9525">
            <a:solidFill>
              <a:srgbClr val="000000"/>
            </a:solidFill>
            <a:prstDash val="solid"/>
          </a:ln>
        </p:spPr>
        <p:txBody>
          <a:bodyPr/>
          <a:lstStyle/>
          <a:p>
            <a:endParaRPr lang="ko-KR" altLang="en-US"/>
          </a:p>
        </p:txBody>
      </p:sp>
      <p:sp>
        <p:nvSpPr>
          <p:cNvPr id="75" name="Text 72"/>
          <p:cNvSpPr txBox="1"/>
          <p:nvPr/>
        </p:nvSpPr>
        <p:spPr>
          <a:xfrm>
            <a:off x="96621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50</a:t>
            </a:r>
            <a:endParaRPr lang="en-US" sz="950" dirty="0"/>
          </a:p>
        </p:txBody>
      </p:sp>
      <p:sp>
        <p:nvSpPr>
          <p:cNvPr id="76" name="Shape 73"/>
          <p:cNvSpPr/>
          <p:nvPr/>
        </p:nvSpPr>
        <p:spPr>
          <a:xfrm>
            <a:off x="11567160" y="5733288"/>
            <a:ext cx="91" cy="54864"/>
          </a:xfrm>
          <a:prstGeom prst="line">
            <a:avLst/>
          </a:prstGeom>
          <a:noFill/>
          <a:ln w="9525">
            <a:solidFill>
              <a:srgbClr val="000000"/>
            </a:solidFill>
            <a:prstDash val="solid"/>
          </a:ln>
        </p:spPr>
        <p:txBody>
          <a:bodyPr/>
          <a:lstStyle/>
          <a:p>
            <a:endParaRPr lang="ko-KR" altLang="en-US"/>
          </a:p>
        </p:txBody>
      </p:sp>
      <p:sp>
        <p:nvSpPr>
          <p:cNvPr id="77" name="Text 74"/>
          <p:cNvSpPr txBox="1"/>
          <p:nvPr/>
        </p:nvSpPr>
        <p:spPr>
          <a:xfrm>
            <a:off x="11338560" y="5797296"/>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60</a:t>
            </a:r>
            <a:endParaRPr lang="en-US" sz="950" dirty="0"/>
          </a:p>
        </p:txBody>
      </p:sp>
      <p:sp>
        <p:nvSpPr>
          <p:cNvPr id="78" name="Text 75"/>
          <p:cNvSpPr txBox="1"/>
          <p:nvPr/>
        </p:nvSpPr>
        <p:spPr>
          <a:xfrm>
            <a:off x="11750040" y="5797296"/>
            <a:ext cx="457200" cy="182880"/>
          </a:xfrm>
          <a:prstGeom prst="rect">
            <a:avLst/>
          </a:prstGeom>
          <a:noFill/>
          <a:ln/>
        </p:spPr>
        <p:txBody>
          <a:bodyPr wrap="square" lIns="0" tIns="0" rIns="0" bIns="0" rtlCol="0" anchor="ctr"/>
          <a:lstStyle/>
          <a:p>
            <a:pPr marL="0" indent="0" algn="l">
              <a:buNone/>
            </a:pPr>
            <a:r>
              <a:rPr lang="en-US" sz="950" dirty="0">
                <a:solidFill>
                  <a:srgbClr val="595959"/>
                </a:solidFill>
                <a:latin typeface="맑은 고딕" pitchFamily="34" charset="0"/>
                <a:ea typeface="맑은 고딕" pitchFamily="34" charset="-122"/>
                <a:cs typeface="맑은 고딕" pitchFamily="34" charset="-120"/>
              </a:rPr>
              <a:t>(초)</a:t>
            </a:r>
            <a:endParaRPr lang="en-US" sz="950" dirty="0"/>
          </a:p>
        </p:txBody>
      </p:sp>
      <p:sp>
        <p:nvSpPr>
          <p:cNvPr id="79" name="Text 76"/>
          <p:cNvSpPr txBox="1"/>
          <p:nvPr/>
        </p:nvSpPr>
        <p:spPr>
          <a:xfrm>
            <a:off x="5599176" y="3566160"/>
            <a:ext cx="1357884" cy="237744"/>
          </a:xfrm>
          <a:prstGeom prst="rect">
            <a:avLst/>
          </a:prstGeom>
          <a:noFill/>
          <a:ln/>
        </p:spPr>
        <p:txBody>
          <a:bodyPr wrap="square" lIns="0" tIns="0" rIns="0" bIns="0" rtlCol="0" anchor="ctr"/>
          <a:lstStyle/>
          <a:p>
            <a:pPr marL="0" indent="0" algn="ctr">
              <a:buNone/>
            </a:pPr>
            <a:r>
              <a:rPr lang="en-US" sz="1050" b="1" dirty="0">
                <a:solidFill>
                  <a:srgbClr val="595959"/>
                </a:solidFill>
                <a:latin typeface="맑은 고딕" pitchFamily="34" charset="0"/>
                <a:ea typeface="맑은 고딕" pitchFamily="34" charset="-122"/>
                <a:cs typeface="맑은 고딕" pitchFamily="34" charset="-120"/>
              </a:rPr>
              <a:t>수집 공백</a:t>
            </a:r>
            <a:endParaRPr lang="en-US" sz="1050" dirty="0"/>
          </a:p>
        </p:txBody>
      </p:sp>
      <p:sp>
        <p:nvSpPr>
          <p:cNvPr id="80" name="Shape 77"/>
          <p:cNvSpPr/>
          <p:nvPr/>
        </p:nvSpPr>
        <p:spPr>
          <a:xfrm>
            <a:off x="5582412" y="3840480"/>
            <a:ext cx="1391412" cy="91"/>
          </a:xfrm>
          <a:prstGeom prst="line">
            <a:avLst/>
          </a:prstGeom>
          <a:noFill/>
          <a:ln w="12700">
            <a:solidFill>
              <a:srgbClr val="7F7F7F"/>
            </a:solidFill>
            <a:prstDash val="solid"/>
            <a:tailEnd type="triangle"/>
          </a:ln>
        </p:spPr>
        <p:txBody>
          <a:bodyPr/>
          <a:lstStyle/>
          <a:p>
            <a:endParaRPr lang="ko-KR" altLang="en-US"/>
          </a:p>
        </p:txBody>
      </p:sp>
      <p:sp>
        <p:nvSpPr>
          <p:cNvPr id="81" name="Shape 78"/>
          <p:cNvSpPr/>
          <p:nvPr/>
        </p:nvSpPr>
        <p:spPr>
          <a:xfrm flipH="1">
            <a:off x="5582412" y="3840480"/>
            <a:ext cx="1391412" cy="91"/>
          </a:xfrm>
          <a:prstGeom prst="line">
            <a:avLst/>
          </a:prstGeom>
          <a:noFill/>
          <a:ln w="12700">
            <a:solidFill>
              <a:srgbClr val="7F7F7F"/>
            </a:solidFill>
            <a:prstDash val="solid"/>
            <a:tailEnd type="triangle"/>
          </a:ln>
        </p:spPr>
        <p:txBody>
          <a:bodyPr/>
          <a:lstStyle/>
          <a:p>
            <a:endParaRPr lang="ko-KR" altLang="en-US"/>
          </a:p>
        </p:txBody>
      </p:sp>
      <p:sp>
        <p:nvSpPr>
          <p:cNvPr id="82" name="Shape 79"/>
          <p:cNvSpPr/>
          <p:nvPr/>
        </p:nvSpPr>
        <p:spPr>
          <a:xfrm>
            <a:off x="8170774" y="6099048"/>
            <a:ext cx="1327709" cy="91"/>
          </a:xfrm>
          <a:prstGeom prst="line">
            <a:avLst/>
          </a:prstGeom>
          <a:noFill/>
          <a:ln w="15875">
            <a:solidFill>
              <a:srgbClr val="C00000"/>
            </a:solidFill>
            <a:prstDash val="solid"/>
            <a:tailEnd type="triangle"/>
          </a:ln>
        </p:spPr>
        <p:txBody>
          <a:bodyPr/>
          <a:lstStyle/>
          <a:p>
            <a:endParaRPr lang="ko-KR" altLang="en-US"/>
          </a:p>
        </p:txBody>
      </p:sp>
      <p:sp>
        <p:nvSpPr>
          <p:cNvPr id="83" name="Shape 80"/>
          <p:cNvSpPr/>
          <p:nvPr/>
        </p:nvSpPr>
        <p:spPr>
          <a:xfrm flipH="1">
            <a:off x="8170774" y="6099048"/>
            <a:ext cx="1327709" cy="91"/>
          </a:xfrm>
          <a:prstGeom prst="line">
            <a:avLst/>
          </a:prstGeom>
          <a:noFill/>
          <a:ln w="15875">
            <a:solidFill>
              <a:srgbClr val="C00000"/>
            </a:solidFill>
            <a:prstDash val="solid"/>
            <a:tailEnd type="triangle"/>
          </a:ln>
        </p:spPr>
        <p:txBody>
          <a:bodyPr/>
          <a:lstStyle/>
          <a:p>
            <a:endParaRPr lang="ko-KR" altLang="en-US"/>
          </a:p>
        </p:txBody>
      </p:sp>
      <p:sp>
        <p:nvSpPr>
          <p:cNvPr id="84" name="Shape 81"/>
          <p:cNvSpPr/>
          <p:nvPr/>
        </p:nvSpPr>
        <p:spPr>
          <a:xfrm>
            <a:off x="8170774" y="5733288"/>
            <a:ext cx="91" cy="411480"/>
          </a:xfrm>
          <a:prstGeom prst="line">
            <a:avLst/>
          </a:prstGeom>
          <a:noFill/>
          <a:ln w="9525">
            <a:solidFill>
              <a:srgbClr val="C00000"/>
            </a:solidFill>
            <a:prstDash val="dash"/>
          </a:ln>
        </p:spPr>
        <p:txBody>
          <a:bodyPr/>
          <a:lstStyle/>
          <a:p>
            <a:endParaRPr lang="ko-KR" altLang="en-US"/>
          </a:p>
        </p:txBody>
      </p:sp>
      <p:sp>
        <p:nvSpPr>
          <p:cNvPr id="85" name="Shape 82"/>
          <p:cNvSpPr/>
          <p:nvPr/>
        </p:nvSpPr>
        <p:spPr>
          <a:xfrm>
            <a:off x="9498482" y="5733288"/>
            <a:ext cx="91" cy="411480"/>
          </a:xfrm>
          <a:prstGeom prst="line">
            <a:avLst/>
          </a:prstGeom>
          <a:noFill/>
          <a:ln w="9525">
            <a:solidFill>
              <a:srgbClr val="C00000"/>
            </a:solidFill>
            <a:prstDash val="dash"/>
          </a:ln>
        </p:spPr>
        <p:txBody>
          <a:bodyPr/>
          <a:lstStyle/>
          <a:p>
            <a:endParaRPr lang="ko-KR" altLang="en-US"/>
          </a:p>
        </p:txBody>
      </p:sp>
      <p:sp>
        <p:nvSpPr>
          <p:cNvPr id="86" name="Shape 83"/>
          <p:cNvSpPr/>
          <p:nvPr/>
        </p:nvSpPr>
        <p:spPr>
          <a:xfrm>
            <a:off x="6995617" y="6099048"/>
            <a:ext cx="821436" cy="91"/>
          </a:xfrm>
          <a:prstGeom prst="line">
            <a:avLst/>
          </a:prstGeom>
          <a:noFill/>
          <a:ln w="15875">
            <a:solidFill>
              <a:srgbClr val="1F4E79"/>
            </a:solidFill>
            <a:prstDash val="solid"/>
            <a:tailEnd type="triangle"/>
          </a:ln>
        </p:spPr>
        <p:txBody>
          <a:bodyPr/>
          <a:lstStyle/>
          <a:p>
            <a:endParaRPr lang="ko-KR" altLang="en-US"/>
          </a:p>
        </p:txBody>
      </p:sp>
      <p:sp>
        <p:nvSpPr>
          <p:cNvPr id="87" name="Shape 84"/>
          <p:cNvSpPr/>
          <p:nvPr/>
        </p:nvSpPr>
        <p:spPr>
          <a:xfrm flipH="1">
            <a:off x="6995617" y="6099048"/>
            <a:ext cx="821436" cy="91"/>
          </a:xfrm>
          <a:prstGeom prst="line">
            <a:avLst/>
          </a:prstGeom>
          <a:noFill/>
          <a:ln w="15875">
            <a:solidFill>
              <a:srgbClr val="1F4E79"/>
            </a:solidFill>
            <a:prstDash val="solid"/>
            <a:tailEnd type="triangle"/>
          </a:ln>
        </p:spPr>
        <p:txBody>
          <a:bodyPr/>
          <a:lstStyle/>
          <a:p>
            <a:endParaRPr lang="ko-KR" altLang="en-US"/>
          </a:p>
        </p:txBody>
      </p:sp>
      <p:sp>
        <p:nvSpPr>
          <p:cNvPr id="88" name="Shape 85"/>
          <p:cNvSpPr/>
          <p:nvPr/>
        </p:nvSpPr>
        <p:spPr>
          <a:xfrm>
            <a:off x="6995617" y="5733288"/>
            <a:ext cx="91" cy="411480"/>
          </a:xfrm>
          <a:prstGeom prst="line">
            <a:avLst/>
          </a:prstGeom>
          <a:noFill/>
          <a:ln w="9525">
            <a:solidFill>
              <a:srgbClr val="1F4E79"/>
            </a:solidFill>
            <a:prstDash val="dash"/>
          </a:ln>
        </p:spPr>
        <p:txBody>
          <a:bodyPr/>
          <a:lstStyle/>
          <a:p>
            <a:endParaRPr lang="ko-KR" altLang="en-US"/>
          </a:p>
        </p:txBody>
      </p:sp>
      <p:sp>
        <p:nvSpPr>
          <p:cNvPr id="89" name="Shape 86"/>
          <p:cNvSpPr/>
          <p:nvPr/>
        </p:nvSpPr>
        <p:spPr>
          <a:xfrm>
            <a:off x="7817053" y="5733288"/>
            <a:ext cx="91" cy="411480"/>
          </a:xfrm>
          <a:prstGeom prst="line">
            <a:avLst/>
          </a:prstGeom>
          <a:noFill/>
          <a:ln w="9525">
            <a:solidFill>
              <a:srgbClr val="1F4E79"/>
            </a:solidFill>
            <a:prstDash val="dash"/>
          </a:ln>
        </p:spPr>
        <p:txBody>
          <a:bodyPr/>
          <a:lstStyle/>
          <a:p>
            <a:endParaRPr lang="ko-KR" altLang="en-US"/>
          </a:p>
        </p:txBody>
      </p:sp>
      <p:sp>
        <p:nvSpPr>
          <p:cNvPr id="90" name="Text 87"/>
          <p:cNvSpPr txBox="1"/>
          <p:nvPr/>
        </p:nvSpPr>
        <p:spPr>
          <a:xfrm>
            <a:off x="5669737" y="5989320"/>
            <a:ext cx="1280160" cy="219456"/>
          </a:xfrm>
          <a:prstGeom prst="rect">
            <a:avLst/>
          </a:prstGeom>
          <a:noFill/>
          <a:ln/>
        </p:spPr>
        <p:txBody>
          <a:bodyPr wrap="square" lIns="0" tIns="0" rIns="0" bIns="0" rtlCol="0" anchor="ctr"/>
          <a:lstStyle/>
          <a:p>
            <a:pPr marL="0" indent="0" algn="r">
              <a:buNone/>
            </a:pPr>
            <a:r>
              <a:rPr lang="en-US" sz="1050" b="1" dirty="0">
                <a:solidFill>
                  <a:srgbClr val="1F4E79"/>
                </a:solidFill>
                <a:latin typeface="맑은 고딕" pitchFamily="34" charset="0"/>
                <a:ea typeface="맑은 고딕" pitchFamily="34" charset="-122"/>
                <a:cs typeface="맑은 고딕" pitchFamily="34" charset="-120"/>
              </a:rPr>
              <a:t>clip 최대 5초</a:t>
            </a:r>
            <a:endParaRPr lang="en-US" sz="1050" dirty="0"/>
          </a:p>
        </p:txBody>
      </p:sp>
      <p:sp>
        <p:nvSpPr>
          <p:cNvPr id="91" name="Text 88"/>
          <p:cNvSpPr txBox="1"/>
          <p:nvPr/>
        </p:nvSpPr>
        <p:spPr>
          <a:xfrm>
            <a:off x="9538716" y="5989320"/>
            <a:ext cx="1371600" cy="219456"/>
          </a:xfrm>
          <a:prstGeom prst="rect">
            <a:avLst/>
          </a:prstGeom>
          <a:noFill/>
          <a:ln/>
        </p:spPr>
        <p:txBody>
          <a:bodyPr wrap="square" lIns="0" tIns="0" rIns="0" bIns="0" rtlCol="0" anchor="ctr"/>
          <a:lstStyle/>
          <a:p>
            <a:pPr marL="0" indent="0" algn="l">
              <a:buNone/>
            </a:pPr>
            <a:r>
              <a:rPr lang="en-US" sz="1050" b="1" dirty="0">
                <a:solidFill>
                  <a:srgbClr val="C00000"/>
                </a:solidFill>
                <a:latin typeface="맑은 고딕" pitchFamily="34" charset="0"/>
                <a:ea typeface="맑은 고딕" pitchFamily="34" charset="-122"/>
                <a:cs typeface="맑은 고딕" pitchFamily="34" charset="-120"/>
              </a:rPr>
              <a:t>시작 간격 약 8초</a:t>
            </a:r>
            <a:endParaRPr lang="en-US" sz="1050" dirty="0"/>
          </a:p>
        </p:txBody>
      </p:sp>
      <p:sp>
        <p:nvSpPr>
          <p:cNvPr id="93"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7</a:t>
            </a:fld>
            <a:endParaRPr lang="en-US"/>
          </a:p>
        </p:txBody>
      </p:sp>
      <p:sp>
        <p:nvSpPr>
          <p:cNvPr id="95" name="bullets">
            <a:extLst>
              <a:ext uri="{FF2B5EF4-FFF2-40B4-BE49-F238E27FC236}">
                <a16:creationId xmlns:a16="http://schemas.microsoft.com/office/drawing/2014/main" id="{A6B68018-C957-C199-3385-EFE2B2FBAE17}"/>
              </a:ext>
            </a:extLst>
          </p:cNvPr>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ko-KR" altLang="en-US" sz="1600" dirty="0">
                <a:solidFill>
                  <a:srgbClr val="262626"/>
                </a:solidFill>
                <a:latin typeface="맑은 고딕" pitchFamily="34" charset="0"/>
                <a:ea typeface="맑은 고딕" pitchFamily="34" charset="-122"/>
                <a:cs typeface="맑은 고딕" pitchFamily="34" charset="-120"/>
              </a:rPr>
              <a:t>구성</a:t>
            </a:r>
            <a:r>
              <a:rPr lang="en-US" sz="1600" dirty="0">
                <a:solidFill>
                  <a:srgbClr val="262626"/>
                </a:solidFill>
                <a:latin typeface="맑은 고딕" pitchFamily="34" charset="0"/>
                <a:ea typeface="맑은 고딕" pitchFamily="34" charset="-122"/>
                <a:cs typeface="맑은 고딕" pitchFamily="34" charset="-120"/>
              </a:rPr>
              <a:t>: </a:t>
            </a:r>
          </a:p>
          <a:p>
            <a:pPr marL="742950" lvl="1" indent="-285750">
              <a:spcAft>
                <a:spcPts val="600"/>
              </a:spcAft>
              <a:buSzPct val="100000"/>
              <a:buFont typeface="Wingdings" panose="05000000000000000000" pitchFamily="2" charset="2"/>
              <a:buChar char="ü"/>
            </a:pPr>
            <a:r>
              <a:rPr lang="en-US" altLang="ko-KR" sz="1600" dirty="0" err="1">
                <a:solidFill>
                  <a:srgbClr val="262626"/>
                </a:solidFill>
                <a:latin typeface="맑은 고딕" pitchFamily="34" charset="0"/>
                <a:ea typeface="맑은 고딕" pitchFamily="34" charset="-122"/>
                <a:cs typeface="맑은 고딕" pitchFamily="34" charset="-120"/>
              </a:rPr>
              <a:t>정상</a:t>
            </a:r>
            <a:r>
              <a:rPr lang="en-US" altLang="ko-KR" sz="1600" dirty="0">
                <a:solidFill>
                  <a:srgbClr val="262626"/>
                </a:solidFill>
                <a:latin typeface="맑은 고딕" pitchFamily="34" charset="0"/>
                <a:ea typeface="맑은 고딕" pitchFamily="34" charset="-122"/>
                <a:cs typeface="맑은 고딕" pitchFamily="34" charset="-120"/>
              </a:rPr>
              <a:t> </a:t>
            </a:r>
            <a:r>
              <a:rPr lang="ko-KR" altLang="en-US" sz="1600" dirty="0">
                <a:solidFill>
                  <a:srgbClr val="262626"/>
                </a:solidFill>
                <a:latin typeface="맑은 고딕" pitchFamily="34" charset="0"/>
                <a:ea typeface="맑은 고딕" pitchFamily="34" charset="-122"/>
                <a:cs typeface="맑은 고딕" pitchFamily="34" charset="-120"/>
              </a:rPr>
              <a:t>데이터셋</a:t>
            </a:r>
            <a:r>
              <a:rPr lang="en-US" altLang="ko-KR" sz="1600" dirty="0">
                <a:solidFill>
                  <a:srgbClr val="262626"/>
                </a:solidFill>
                <a:latin typeface="맑은 고딕" pitchFamily="34" charset="0"/>
                <a:ea typeface="맑은 고딕" pitchFamily="34" charset="-122"/>
                <a:cs typeface="맑은 고딕" pitchFamily="34" charset="-120"/>
              </a:rPr>
              <a:t> : 599 clip(19,999행)</a:t>
            </a:r>
          </a:p>
          <a:p>
            <a:pPr marL="742950" lvl="1" indent="-285750">
              <a:spcAft>
                <a:spcPts val="600"/>
              </a:spcAft>
              <a:buSzPct val="100000"/>
              <a:buFont typeface="Wingdings" panose="05000000000000000000" pitchFamily="2" charset="2"/>
              <a:buChar char="ü"/>
            </a:pPr>
            <a:r>
              <a:rPr lang="ko-KR" altLang="en-US" sz="1600" dirty="0"/>
              <a:t>이상 데이터셋 </a:t>
            </a:r>
            <a:r>
              <a:rPr lang="en-US" altLang="ko-KR" sz="1600" dirty="0"/>
              <a:t>: 21 clip(600</a:t>
            </a:r>
            <a:r>
              <a:rPr lang="ko-KR" altLang="en-US" sz="1600" dirty="0"/>
              <a:t>행</a:t>
            </a:r>
            <a:r>
              <a:rPr lang="en-US" altLang="ko-KR" sz="1600" dirty="0"/>
              <a:t>), </a:t>
            </a:r>
            <a:r>
              <a:rPr lang="ko-KR" altLang="en-US" sz="1600" dirty="0"/>
              <a:t>공백을 기준으로 </a:t>
            </a:r>
            <a:r>
              <a:rPr lang="en-US" altLang="ko-KR" sz="1600" dirty="0"/>
              <a:t>clip </a:t>
            </a:r>
            <a:r>
              <a:rPr lang="ko-KR" altLang="en-US" sz="1600" dirty="0"/>
              <a:t>분리</a:t>
            </a:r>
            <a:r>
              <a:rPr lang="en-US" altLang="ko-KR" sz="1600" dirty="0"/>
              <a:t>, clip </a:t>
            </a:r>
            <a:r>
              <a:rPr lang="ko-KR" altLang="en-US" sz="1600" dirty="0"/>
              <a:t>내부는 </a:t>
            </a:r>
            <a:r>
              <a:rPr lang="en-US" altLang="ko-KR" sz="1600" dirty="0"/>
              <a:t>0.1</a:t>
            </a:r>
            <a:r>
              <a:rPr lang="ko-KR" altLang="en-US" sz="1600" dirty="0"/>
              <a:t>초 간격</a:t>
            </a:r>
            <a:endParaRPr lang="en-US" sz="1600" dirty="0"/>
          </a:p>
          <a:p>
            <a:pPr marL="254000" indent="-254000">
              <a:spcAft>
                <a:spcPts val="600"/>
              </a:spcAft>
              <a:buSzPct val="100000"/>
              <a:buChar char="•"/>
            </a:pPr>
            <a:r>
              <a:rPr lang="en-US" altLang="ko-KR" sz="1600" dirty="0">
                <a:solidFill>
                  <a:srgbClr val="262626"/>
                </a:solidFill>
                <a:latin typeface="맑은 고딕" pitchFamily="34" charset="0"/>
                <a:ea typeface="맑은 고딕" pitchFamily="34" charset="-122"/>
              </a:rPr>
              <a:t>Clip : </a:t>
            </a:r>
            <a:r>
              <a:rPr lang="ko-KR" altLang="ko-KR" sz="1600" dirty="0"/>
              <a:t>약 8초마다 최대 5초 동안 0.1초 간격으로 연속 수집되는 짧은 측정 구간</a:t>
            </a:r>
            <a:endParaRPr lang="en-US" sz="1600" dirty="0"/>
          </a:p>
        </p:txBody>
      </p:sp>
      <p:pic>
        <p:nvPicPr>
          <p:cNvPr id="97" name="그림 96">
            <a:extLst>
              <a:ext uri="{FF2B5EF4-FFF2-40B4-BE49-F238E27FC236}">
                <a16:creationId xmlns:a16="http://schemas.microsoft.com/office/drawing/2014/main" id="{65DEC39D-BF03-E1A3-83CB-27606805AE92}"/>
              </a:ext>
            </a:extLst>
          </p:cNvPr>
          <p:cNvPicPr>
            <a:picLocks noChangeAspect="1"/>
          </p:cNvPicPr>
          <p:nvPr/>
        </p:nvPicPr>
        <p:blipFill>
          <a:blip r:embed="rId3"/>
          <a:stretch>
            <a:fillRect/>
          </a:stretch>
        </p:blipFill>
        <p:spPr>
          <a:xfrm>
            <a:off x="6149340" y="659299"/>
            <a:ext cx="5564482" cy="921682"/>
          </a:xfrm>
          <a:prstGeom prst="rect">
            <a:avLst/>
          </a:prstGeom>
        </p:spPr>
      </p:pic>
      <p:sp>
        <p:nvSpPr>
          <p:cNvPr id="94" name="Text 1">
            <a:extLst>
              <a:ext uri="{FF2B5EF4-FFF2-40B4-BE49-F238E27FC236}">
                <a16:creationId xmlns:a16="http://schemas.microsoft.com/office/drawing/2014/main" id="{05A1C72D-4B38-4CF0-3E11-031560847205}"/>
              </a:ext>
            </a:extLst>
          </p:cNvPr>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사전지식</a:t>
            </a:r>
            <a:endParaRPr lang="en-US" dirty="0">
              <a:latin typeface="+mj-ea"/>
              <a:ea typeface="+mj-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ABE1-8594-8CED-B09F-C10B130CABC4}"/>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91CDE300-2A3E-3331-B2B9-D8B4E084B2A0}"/>
              </a:ext>
            </a:extLst>
          </p:cNvPr>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사전지식</a:t>
            </a:r>
            <a:endParaRPr lang="en-US" dirty="0">
              <a:latin typeface="+mj-ea"/>
              <a:ea typeface="+mj-ea"/>
            </a:endParaRPr>
          </a:p>
        </p:txBody>
      </p:sp>
      <p:sp>
        <p:nvSpPr>
          <p:cNvPr id="3" name="Text 1">
            <a:extLst>
              <a:ext uri="{FF2B5EF4-FFF2-40B4-BE49-F238E27FC236}">
                <a16:creationId xmlns:a16="http://schemas.microsoft.com/office/drawing/2014/main" id="{C0A24281-A8B3-4FE5-44E8-73B6C2864196}"/>
              </a:ext>
            </a:extLst>
          </p:cNvPr>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r>
              <a:rPr lang="ko-KR" altLang="ko-KR" dirty="0" err="1"/>
              <a:t>Semi-Supervised</a:t>
            </a:r>
            <a:r>
              <a:rPr lang="ko-KR" altLang="ko-KR" dirty="0"/>
              <a:t> </a:t>
            </a:r>
            <a:r>
              <a:rPr lang="ko-KR" altLang="ko-KR" dirty="0" err="1"/>
              <a:t>Deep</a:t>
            </a:r>
            <a:r>
              <a:rPr lang="ko-KR" altLang="ko-KR" dirty="0"/>
              <a:t> </a:t>
            </a:r>
            <a:r>
              <a:rPr lang="ko-KR" altLang="ko-KR" dirty="0" err="1"/>
              <a:t>Learning</a:t>
            </a:r>
            <a:r>
              <a:rPr lang="ko-KR" altLang="ko-KR" dirty="0"/>
              <a:t> </a:t>
            </a:r>
            <a:r>
              <a:rPr lang="ko-KR" altLang="ko-KR" dirty="0" err="1"/>
              <a:t>for</a:t>
            </a:r>
            <a:r>
              <a:rPr lang="ko-KR" altLang="ko-KR" dirty="0"/>
              <a:t> </a:t>
            </a:r>
            <a:r>
              <a:rPr lang="ko-KR" altLang="ko-KR" dirty="0" err="1"/>
              <a:t>Press</a:t>
            </a:r>
            <a:r>
              <a:rPr lang="ko-KR" altLang="ko-KR" dirty="0"/>
              <a:t> </a:t>
            </a:r>
            <a:r>
              <a:rPr lang="ko-KR" altLang="ko-KR" dirty="0" err="1"/>
              <a:t>Machine</a:t>
            </a:r>
            <a:r>
              <a:rPr lang="ko-KR" altLang="ko-KR" dirty="0"/>
              <a:t> </a:t>
            </a:r>
            <a:r>
              <a:rPr lang="ko-KR" altLang="ko-KR" dirty="0" err="1"/>
              <a:t>Anomaly</a:t>
            </a:r>
            <a:r>
              <a:rPr lang="ko-KR" altLang="ko-KR" dirty="0"/>
              <a:t> </a:t>
            </a:r>
            <a:r>
              <a:rPr lang="ko-KR" altLang="ko-KR" dirty="0" err="1"/>
              <a:t>Detection</a:t>
            </a:r>
            <a:r>
              <a:rPr lang="ko-KR" altLang="ko-KR" dirty="0"/>
              <a:t> | </a:t>
            </a:r>
            <a:r>
              <a:rPr lang="ko-KR" altLang="ko-KR" dirty="0" err="1"/>
              <a:t>Serradilla</a:t>
            </a:r>
            <a:r>
              <a:rPr lang="ko-KR" altLang="ko-KR" dirty="0"/>
              <a:t> </a:t>
            </a:r>
            <a:r>
              <a:rPr lang="ko-KR" altLang="ko-KR" dirty="0" err="1"/>
              <a:t>et</a:t>
            </a:r>
            <a:r>
              <a:rPr lang="ko-KR" altLang="ko-KR" dirty="0"/>
              <a:t> </a:t>
            </a:r>
            <a:r>
              <a:rPr lang="ko-KR" altLang="ko-KR" dirty="0" err="1"/>
              <a:t>al</a:t>
            </a:r>
            <a:r>
              <a:rPr lang="ko-KR" altLang="ko-KR" dirty="0"/>
              <a:t>.,</a:t>
            </a:r>
            <a:r>
              <a:rPr lang="en-US" altLang="ko-KR" dirty="0"/>
              <a:t> </a:t>
            </a:r>
            <a:r>
              <a:rPr lang="ko-KR" altLang="ko-KR" dirty="0"/>
              <a:t>2021</a:t>
            </a:r>
            <a:endParaRPr lang="en-US" sz="1800" dirty="0"/>
          </a:p>
        </p:txBody>
      </p:sp>
      <p:sp>
        <p:nvSpPr>
          <p:cNvPr id="4" name="question">
            <a:extLst>
              <a:ext uri="{FF2B5EF4-FFF2-40B4-BE49-F238E27FC236}">
                <a16:creationId xmlns:a16="http://schemas.microsoft.com/office/drawing/2014/main" id="{71675478-247A-3FBB-25DD-0863986BB093}"/>
              </a:ext>
            </a:extLst>
          </p:cNvPr>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ko-KR" altLang="en-US" sz="2100" dirty="0">
                <a:latin typeface="맑은 고딕" pitchFamily="34" charset="0"/>
                <a:ea typeface="맑은 고딕" pitchFamily="34" charset="-122"/>
                <a:cs typeface="맑은 고딕" pitchFamily="34" charset="-120"/>
              </a:rPr>
              <a:t>기존의</a:t>
            </a:r>
            <a:r>
              <a:rPr lang="ko-KR" alt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프레스</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공정에서는</a:t>
            </a:r>
            <a:r>
              <a:rPr lang="en-US" sz="2100" dirty="0">
                <a:solidFill>
                  <a:srgbClr val="262626"/>
                </a:solidFill>
                <a:latin typeface="맑은 고딕" pitchFamily="34" charset="0"/>
                <a:ea typeface="맑은 고딕" pitchFamily="34" charset="-122"/>
                <a:cs typeface="맑은 고딕" pitchFamily="34" charset="-120"/>
              </a:rPr>
              <a:t> </a:t>
            </a:r>
            <a:r>
              <a:rPr lang="ko-KR" altLang="en-US" sz="2100" dirty="0">
                <a:solidFill>
                  <a:srgbClr val="262626"/>
                </a:solidFill>
                <a:latin typeface="맑은 고딕" pitchFamily="34" charset="0"/>
                <a:ea typeface="맑은 고딕" pitchFamily="34" charset="-122"/>
                <a:cs typeface="맑은 고딕" pitchFamily="34" charset="-120"/>
              </a:rPr>
              <a:t>어떻게 </a:t>
            </a:r>
            <a:r>
              <a:rPr lang="en-US" sz="2100" dirty="0" err="1">
                <a:solidFill>
                  <a:srgbClr val="262626"/>
                </a:solidFill>
                <a:latin typeface="맑은 고딕" pitchFamily="34" charset="0"/>
                <a:ea typeface="맑은 고딕" pitchFamily="34" charset="-122"/>
                <a:cs typeface="맑은 고딕" pitchFamily="34" charset="-120"/>
              </a:rPr>
              <a:t>이상탐지를</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하고</a:t>
            </a:r>
            <a:r>
              <a:rPr lang="en-US" sz="2100" dirty="0">
                <a:solidFill>
                  <a:srgbClr val="262626"/>
                </a:solidFill>
                <a:latin typeface="맑은 고딕" pitchFamily="34" charset="0"/>
                <a:ea typeface="맑은 고딕" pitchFamily="34" charset="-122"/>
                <a:cs typeface="맑은 고딕" pitchFamily="34" charset="-120"/>
              </a:rPr>
              <a:t> 있을까?</a:t>
            </a:r>
            <a:endParaRPr lang="en-US" sz="2100" dirty="0"/>
          </a:p>
        </p:txBody>
      </p:sp>
      <p:sp>
        <p:nvSpPr>
          <p:cNvPr id="5" name="bullets">
            <a:extLst>
              <a:ext uri="{FF2B5EF4-FFF2-40B4-BE49-F238E27FC236}">
                <a16:creationId xmlns:a16="http://schemas.microsoft.com/office/drawing/2014/main" id="{C2DE227C-D30A-A51F-F38B-122EFD5A23AA}"/>
              </a:ext>
            </a:extLst>
          </p:cNvPr>
          <p:cNvSpPr txBox="1"/>
          <p:nvPr/>
        </p:nvSpPr>
        <p:spPr>
          <a:xfrm>
            <a:off x="1280160" y="2011680"/>
            <a:ext cx="10332720" cy="13258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Semi-supervised: 고장 라벨이 드문 현장 → 정상만으로 정상성을 학습하고, 벗어난 정도(damage index)가 임계값을 넘으면 이상</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프레스 </a:t>
            </a:r>
            <a:r>
              <a:rPr lang="en-US" sz="1600" dirty="0" err="1">
                <a:solidFill>
                  <a:srgbClr val="262626"/>
                </a:solidFill>
                <a:latin typeface="맑은 고딕" pitchFamily="34" charset="0"/>
                <a:ea typeface="맑은 고딕" pitchFamily="34" charset="-122"/>
                <a:cs typeface="맑은 고딕" pitchFamily="34" charset="-120"/>
              </a:rPr>
              <a:t>사례</a:t>
            </a:r>
            <a:r>
              <a:rPr lang="en-US" sz="1600" dirty="0">
                <a:solidFill>
                  <a:srgbClr val="262626"/>
                </a:solidFill>
                <a:latin typeface="맑은 고딕" pitchFamily="34" charset="0"/>
                <a:ea typeface="맑은 고딕" pitchFamily="34" charset="-122"/>
                <a:cs typeface="맑은 고딕" pitchFamily="34" charset="-120"/>
              </a:rPr>
              <a:t> : stroke별 12개 센서를 2D-CNN-AE(2D Convolutional Neural Network AutoEncoder)로 복원 → 오차가 정상 검증 95 백분위를 </a:t>
            </a:r>
            <a:r>
              <a:rPr lang="en-US" sz="1600" dirty="0" err="1">
                <a:solidFill>
                  <a:srgbClr val="262626"/>
                </a:solidFill>
                <a:latin typeface="맑은 고딕" pitchFamily="34" charset="0"/>
                <a:ea typeface="맑은 고딕" pitchFamily="34" charset="-122"/>
                <a:cs typeface="맑은 고딕" pitchFamily="34" charset="-120"/>
              </a:rPr>
              <a:t>넘으면</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이상</a:t>
            </a:r>
            <a:endParaRPr lang="en-US" sz="1600" dirty="0"/>
          </a:p>
        </p:txBody>
      </p:sp>
      <p:sp>
        <p:nvSpPr>
          <p:cNvPr id="6" name="Text 4">
            <a:extLst>
              <a:ext uri="{FF2B5EF4-FFF2-40B4-BE49-F238E27FC236}">
                <a16:creationId xmlns:a16="http://schemas.microsoft.com/office/drawing/2014/main" id="{5E118C74-EF8B-8093-9A28-ED1C09DFC966}"/>
              </a:ext>
            </a:extLst>
          </p:cNvPr>
          <p:cNvSpPr txBox="1"/>
          <p:nvPr/>
        </p:nvSpPr>
        <p:spPr>
          <a:xfrm>
            <a:off x="731520" y="3520440"/>
            <a:ext cx="3429000" cy="274320"/>
          </a:xfrm>
          <a:prstGeom prst="rect">
            <a:avLst/>
          </a:prstGeom>
          <a:noFill/>
          <a:ln/>
        </p:spPr>
        <p:txBody>
          <a:bodyPr wrap="square" lIns="0" tIns="0" rIns="0" bIns="0" rtlCol="0" anchor="ctr"/>
          <a:lstStyle/>
          <a:p>
            <a:pPr marL="0" indent="0" algn="l">
              <a:buNone/>
            </a:pPr>
            <a:r>
              <a:rPr lang="en-US" sz="1400" b="1" dirty="0">
                <a:solidFill>
                  <a:srgbClr val="000000"/>
                </a:solidFill>
                <a:latin typeface="Times New Roman" pitchFamily="34" charset="0"/>
                <a:ea typeface="Times New Roman" pitchFamily="34" charset="-122"/>
                <a:cs typeface="Times New Roman" pitchFamily="34" charset="-120"/>
              </a:rPr>
              <a:t>Supervised  vs.  Semi-supervised</a:t>
            </a:r>
            <a:endParaRPr lang="en-US" sz="1400" dirty="0"/>
          </a:p>
        </p:txBody>
      </p:sp>
      <p:sp>
        <p:nvSpPr>
          <p:cNvPr id="7" name="Shape 5">
            <a:extLst>
              <a:ext uri="{FF2B5EF4-FFF2-40B4-BE49-F238E27FC236}">
                <a16:creationId xmlns:a16="http://schemas.microsoft.com/office/drawing/2014/main" id="{82A40ECB-79D7-08AD-B1B0-CDE356EA10FC}"/>
              </a:ext>
            </a:extLst>
          </p:cNvPr>
          <p:cNvSpPr/>
          <p:nvPr/>
        </p:nvSpPr>
        <p:spPr>
          <a:xfrm>
            <a:off x="777240" y="5532120"/>
            <a:ext cx="1554480" cy="91"/>
          </a:xfrm>
          <a:prstGeom prst="line">
            <a:avLst/>
          </a:prstGeom>
          <a:noFill/>
          <a:ln w="12700">
            <a:solidFill>
              <a:srgbClr val="000000"/>
            </a:solidFill>
            <a:prstDash val="solid"/>
          </a:ln>
        </p:spPr>
        <p:txBody>
          <a:bodyPr/>
          <a:lstStyle/>
          <a:p>
            <a:endParaRPr lang="ko-KR" altLang="en-US"/>
          </a:p>
        </p:txBody>
      </p:sp>
      <p:sp>
        <p:nvSpPr>
          <p:cNvPr id="8" name="Shape 6">
            <a:extLst>
              <a:ext uri="{FF2B5EF4-FFF2-40B4-BE49-F238E27FC236}">
                <a16:creationId xmlns:a16="http://schemas.microsoft.com/office/drawing/2014/main" id="{09F544AC-0C56-FB6C-0114-A458989C0ACC}"/>
              </a:ext>
            </a:extLst>
          </p:cNvPr>
          <p:cNvSpPr/>
          <p:nvPr/>
        </p:nvSpPr>
        <p:spPr>
          <a:xfrm flipV="1">
            <a:off x="777240" y="3931920"/>
            <a:ext cx="91" cy="1600200"/>
          </a:xfrm>
          <a:prstGeom prst="line">
            <a:avLst/>
          </a:prstGeom>
          <a:noFill/>
          <a:ln w="12700">
            <a:solidFill>
              <a:srgbClr val="000000"/>
            </a:solidFill>
            <a:prstDash val="solid"/>
          </a:ln>
        </p:spPr>
        <p:txBody>
          <a:bodyPr/>
          <a:lstStyle/>
          <a:p>
            <a:endParaRPr lang="ko-KR" altLang="en-US"/>
          </a:p>
        </p:txBody>
      </p:sp>
      <p:sp>
        <p:nvSpPr>
          <p:cNvPr id="9" name="Shape 7">
            <a:extLst>
              <a:ext uri="{FF2B5EF4-FFF2-40B4-BE49-F238E27FC236}">
                <a16:creationId xmlns:a16="http://schemas.microsoft.com/office/drawing/2014/main" id="{47C7D437-4B67-858F-15C4-BFCB8F9886CC}"/>
              </a:ext>
            </a:extLst>
          </p:cNvPr>
          <p:cNvSpPr/>
          <p:nvPr/>
        </p:nvSpPr>
        <p:spPr>
          <a:xfrm>
            <a:off x="953719" y="513914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0" name="Shape 8">
            <a:extLst>
              <a:ext uri="{FF2B5EF4-FFF2-40B4-BE49-F238E27FC236}">
                <a16:creationId xmlns:a16="http://schemas.microsoft.com/office/drawing/2014/main" id="{DE4D7CF8-6F47-CD59-1694-945CEA29125B}"/>
              </a:ext>
            </a:extLst>
          </p:cNvPr>
          <p:cNvSpPr/>
          <p:nvPr/>
        </p:nvSpPr>
        <p:spPr>
          <a:xfrm>
            <a:off x="1130892" y="480758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1" name="Shape 9">
            <a:extLst>
              <a:ext uri="{FF2B5EF4-FFF2-40B4-BE49-F238E27FC236}">
                <a16:creationId xmlns:a16="http://schemas.microsoft.com/office/drawing/2014/main" id="{30C00896-3FE0-E8F7-2F50-835B7A684A4F}"/>
              </a:ext>
            </a:extLst>
          </p:cNvPr>
          <p:cNvSpPr/>
          <p:nvPr/>
        </p:nvSpPr>
        <p:spPr>
          <a:xfrm>
            <a:off x="1164852" y="490083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2" name="Shape 10">
            <a:extLst>
              <a:ext uri="{FF2B5EF4-FFF2-40B4-BE49-F238E27FC236}">
                <a16:creationId xmlns:a16="http://schemas.microsoft.com/office/drawing/2014/main" id="{605ACFD1-40D5-A7E7-E280-70F76414E3AF}"/>
              </a:ext>
            </a:extLst>
          </p:cNvPr>
          <p:cNvSpPr/>
          <p:nvPr/>
        </p:nvSpPr>
        <p:spPr>
          <a:xfrm>
            <a:off x="977595" y="501261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3" name="Shape 11">
            <a:extLst>
              <a:ext uri="{FF2B5EF4-FFF2-40B4-BE49-F238E27FC236}">
                <a16:creationId xmlns:a16="http://schemas.microsoft.com/office/drawing/2014/main" id="{D6567EEB-1A9C-D419-24A8-5BB8E0987508}"/>
              </a:ext>
            </a:extLst>
          </p:cNvPr>
          <p:cNvSpPr/>
          <p:nvPr/>
        </p:nvSpPr>
        <p:spPr>
          <a:xfrm>
            <a:off x="1388119" y="493080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4" name="Shape 12">
            <a:extLst>
              <a:ext uri="{FF2B5EF4-FFF2-40B4-BE49-F238E27FC236}">
                <a16:creationId xmlns:a16="http://schemas.microsoft.com/office/drawing/2014/main" id="{79C3C352-D356-7D2B-09E8-1EB531837CEF}"/>
              </a:ext>
            </a:extLst>
          </p:cNvPr>
          <p:cNvSpPr/>
          <p:nvPr/>
        </p:nvSpPr>
        <p:spPr>
          <a:xfrm>
            <a:off x="1052588" y="496629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5" name="Shape 13">
            <a:extLst>
              <a:ext uri="{FF2B5EF4-FFF2-40B4-BE49-F238E27FC236}">
                <a16:creationId xmlns:a16="http://schemas.microsoft.com/office/drawing/2014/main" id="{74FF669B-8834-E447-29B1-E0571A09F5B5}"/>
              </a:ext>
            </a:extLst>
          </p:cNvPr>
          <p:cNvSpPr/>
          <p:nvPr/>
        </p:nvSpPr>
        <p:spPr>
          <a:xfrm>
            <a:off x="1270759" y="5085187"/>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6" name="Shape 14">
            <a:extLst>
              <a:ext uri="{FF2B5EF4-FFF2-40B4-BE49-F238E27FC236}">
                <a16:creationId xmlns:a16="http://schemas.microsoft.com/office/drawing/2014/main" id="{8FF6AC01-F7FF-2A70-A00A-DE5DB1840A9D}"/>
              </a:ext>
            </a:extLst>
          </p:cNvPr>
          <p:cNvSpPr/>
          <p:nvPr/>
        </p:nvSpPr>
        <p:spPr>
          <a:xfrm>
            <a:off x="1164914" y="474665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7" name="Shape 15">
            <a:extLst>
              <a:ext uri="{FF2B5EF4-FFF2-40B4-BE49-F238E27FC236}">
                <a16:creationId xmlns:a16="http://schemas.microsoft.com/office/drawing/2014/main" id="{BAD066E4-700D-BC49-7805-D623A54D8E23}"/>
              </a:ext>
            </a:extLst>
          </p:cNvPr>
          <p:cNvSpPr/>
          <p:nvPr/>
        </p:nvSpPr>
        <p:spPr>
          <a:xfrm>
            <a:off x="1127038" y="474665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8" name="Shape 16">
            <a:extLst>
              <a:ext uri="{FF2B5EF4-FFF2-40B4-BE49-F238E27FC236}">
                <a16:creationId xmlns:a16="http://schemas.microsoft.com/office/drawing/2014/main" id="{860C65B0-9C48-04D8-1C5C-E62674B33CB5}"/>
              </a:ext>
            </a:extLst>
          </p:cNvPr>
          <p:cNvSpPr/>
          <p:nvPr/>
        </p:nvSpPr>
        <p:spPr>
          <a:xfrm>
            <a:off x="1183158" y="500939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9" name="Shape 17">
            <a:extLst>
              <a:ext uri="{FF2B5EF4-FFF2-40B4-BE49-F238E27FC236}">
                <a16:creationId xmlns:a16="http://schemas.microsoft.com/office/drawing/2014/main" id="{872A7C4B-F088-5933-2D94-4C35CEFA6943}"/>
              </a:ext>
            </a:extLst>
          </p:cNvPr>
          <p:cNvSpPr/>
          <p:nvPr/>
        </p:nvSpPr>
        <p:spPr>
          <a:xfrm>
            <a:off x="1247627" y="494198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0" name="Shape 18">
            <a:extLst>
              <a:ext uri="{FF2B5EF4-FFF2-40B4-BE49-F238E27FC236}">
                <a16:creationId xmlns:a16="http://schemas.microsoft.com/office/drawing/2014/main" id="{478F76AC-1208-47BB-8592-AB8A86B7A9B5}"/>
              </a:ext>
            </a:extLst>
          </p:cNvPr>
          <p:cNvSpPr/>
          <p:nvPr/>
        </p:nvSpPr>
        <p:spPr>
          <a:xfrm>
            <a:off x="1292563" y="494669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1" name="Shape 19">
            <a:extLst>
              <a:ext uri="{FF2B5EF4-FFF2-40B4-BE49-F238E27FC236}">
                <a16:creationId xmlns:a16="http://schemas.microsoft.com/office/drawing/2014/main" id="{848625B0-6548-A3E9-A8C3-3145F4FDE32C}"/>
              </a:ext>
            </a:extLst>
          </p:cNvPr>
          <p:cNvSpPr/>
          <p:nvPr/>
        </p:nvSpPr>
        <p:spPr>
          <a:xfrm>
            <a:off x="1203383" y="494621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2" name="Shape 20">
            <a:extLst>
              <a:ext uri="{FF2B5EF4-FFF2-40B4-BE49-F238E27FC236}">
                <a16:creationId xmlns:a16="http://schemas.microsoft.com/office/drawing/2014/main" id="{7E812A94-7541-CB37-D525-44BD1042CFC5}"/>
              </a:ext>
            </a:extLst>
          </p:cNvPr>
          <p:cNvSpPr/>
          <p:nvPr/>
        </p:nvSpPr>
        <p:spPr>
          <a:xfrm>
            <a:off x="1353846" y="497118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3" name="Shape 21">
            <a:extLst>
              <a:ext uri="{FF2B5EF4-FFF2-40B4-BE49-F238E27FC236}">
                <a16:creationId xmlns:a16="http://schemas.microsoft.com/office/drawing/2014/main" id="{FC4C81F4-11FB-0AA4-81C6-A2BBFB9C8336}"/>
              </a:ext>
            </a:extLst>
          </p:cNvPr>
          <p:cNvSpPr/>
          <p:nvPr/>
        </p:nvSpPr>
        <p:spPr>
          <a:xfrm>
            <a:off x="1360562" y="474665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4" name="Shape 22">
            <a:extLst>
              <a:ext uri="{FF2B5EF4-FFF2-40B4-BE49-F238E27FC236}">
                <a16:creationId xmlns:a16="http://schemas.microsoft.com/office/drawing/2014/main" id="{0C3DB0AD-BCA3-0A9F-28FB-BEA291802CA3}"/>
              </a:ext>
            </a:extLst>
          </p:cNvPr>
          <p:cNvSpPr/>
          <p:nvPr/>
        </p:nvSpPr>
        <p:spPr>
          <a:xfrm>
            <a:off x="1155639" y="483907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25" name="Shape 23">
            <a:extLst>
              <a:ext uri="{FF2B5EF4-FFF2-40B4-BE49-F238E27FC236}">
                <a16:creationId xmlns:a16="http://schemas.microsoft.com/office/drawing/2014/main" id="{8E51B458-64DE-B2FB-5858-23C7022A24BF}"/>
              </a:ext>
            </a:extLst>
          </p:cNvPr>
          <p:cNvSpPr/>
          <p:nvPr/>
        </p:nvSpPr>
        <p:spPr>
          <a:xfrm>
            <a:off x="1781223" y="435039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26" name="Shape 24">
            <a:extLst>
              <a:ext uri="{FF2B5EF4-FFF2-40B4-BE49-F238E27FC236}">
                <a16:creationId xmlns:a16="http://schemas.microsoft.com/office/drawing/2014/main" id="{27E56A80-E7BE-D492-64DF-D317DD6E5418}"/>
              </a:ext>
            </a:extLst>
          </p:cNvPr>
          <p:cNvSpPr/>
          <p:nvPr/>
        </p:nvSpPr>
        <p:spPr>
          <a:xfrm>
            <a:off x="1900853" y="4329305"/>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27" name="Shape 25">
            <a:extLst>
              <a:ext uri="{FF2B5EF4-FFF2-40B4-BE49-F238E27FC236}">
                <a16:creationId xmlns:a16="http://schemas.microsoft.com/office/drawing/2014/main" id="{F35CEC76-5F6E-2E5C-BBCF-2B3709883D27}"/>
              </a:ext>
            </a:extLst>
          </p:cNvPr>
          <p:cNvSpPr/>
          <p:nvPr/>
        </p:nvSpPr>
        <p:spPr>
          <a:xfrm>
            <a:off x="2032711" y="435940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28" name="Shape 26">
            <a:extLst>
              <a:ext uri="{FF2B5EF4-FFF2-40B4-BE49-F238E27FC236}">
                <a16:creationId xmlns:a16="http://schemas.microsoft.com/office/drawing/2014/main" id="{B04CC1E1-C534-9F2D-4A8F-DD85AA2525FD}"/>
              </a:ext>
            </a:extLst>
          </p:cNvPr>
          <p:cNvSpPr/>
          <p:nvPr/>
        </p:nvSpPr>
        <p:spPr>
          <a:xfrm>
            <a:off x="1679184" y="4172967"/>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29" name="Shape 27">
            <a:extLst>
              <a:ext uri="{FF2B5EF4-FFF2-40B4-BE49-F238E27FC236}">
                <a16:creationId xmlns:a16="http://schemas.microsoft.com/office/drawing/2014/main" id="{B5460A9E-A3A5-CC45-24A1-53E78CC96927}"/>
              </a:ext>
            </a:extLst>
          </p:cNvPr>
          <p:cNvSpPr/>
          <p:nvPr/>
        </p:nvSpPr>
        <p:spPr>
          <a:xfrm>
            <a:off x="1659990" y="415046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30" name="Shape 28">
            <a:extLst>
              <a:ext uri="{FF2B5EF4-FFF2-40B4-BE49-F238E27FC236}">
                <a16:creationId xmlns:a16="http://schemas.microsoft.com/office/drawing/2014/main" id="{0D2B6AE2-156C-665A-13F0-3DA0914780D7}"/>
              </a:ext>
            </a:extLst>
          </p:cNvPr>
          <p:cNvSpPr/>
          <p:nvPr/>
        </p:nvSpPr>
        <p:spPr>
          <a:xfrm>
            <a:off x="1958197" y="4472330"/>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31" name="Shape 29">
            <a:extLst>
              <a:ext uri="{FF2B5EF4-FFF2-40B4-BE49-F238E27FC236}">
                <a16:creationId xmlns:a16="http://schemas.microsoft.com/office/drawing/2014/main" id="{CE0C9FBA-C50F-0881-7196-4A7F17FE820A}"/>
              </a:ext>
            </a:extLst>
          </p:cNvPr>
          <p:cNvSpPr/>
          <p:nvPr/>
        </p:nvSpPr>
        <p:spPr>
          <a:xfrm>
            <a:off x="1844493" y="4238063"/>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32" name="Shape 30">
            <a:extLst>
              <a:ext uri="{FF2B5EF4-FFF2-40B4-BE49-F238E27FC236}">
                <a16:creationId xmlns:a16="http://schemas.microsoft.com/office/drawing/2014/main" id="{C7130A83-A136-B34C-85B6-0D5827FF8339}"/>
              </a:ext>
            </a:extLst>
          </p:cNvPr>
          <p:cNvSpPr/>
          <p:nvPr/>
        </p:nvSpPr>
        <p:spPr>
          <a:xfrm>
            <a:off x="1803008" y="427085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33" name="Shape 31">
            <a:extLst>
              <a:ext uri="{FF2B5EF4-FFF2-40B4-BE49-F238E27FC236}">
                <a16:creationId xmlns:a16="http://schemas.microsoft.com/office/drawing/2014/main" id="{50F9DBA7-DD54-4A26-9DCF-EA2EFFBDEB25}"/>
              </a:ext>
            </a:extLst>
          </p:cNvPr>
          <p:cNvSpPr/>
          <p:nvPr/>
        </p:nvSpPr>
        <p:spPr>
          <a:xfrm>
            <a:off x="1836972" y="4286181"/>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34" name="Shape 32">
            <a:extLst>
              <a:ext uri="{FF2B5EF4-FFF2-40B4-BE49-F238E27FC236}">
                <a16:creationId xmlns:a16="http://schemas.microsoft.com/office/drawing/2014/main" id="{4AD37E4C-3DF6-04F8-50BA-A2997BCD98E1}"/>
              </a:ext>
            </a:extLst>
          </p:cNvPr>
          <p:cNvSpPr/>
          <p:nvPr/>
        </p:nvSpPr>
        <p:spPr>
          <a:xfrm>
            <a:off x="1051560" y="4114800"/>
            <a:ext cx="1143000" cy="1280160"/>
          </a:xfrm>
          <a:prstGeom prst="line">
            <a:avLst/>
          </a:prstGeom>
          <a:noFill/>
          <a:ln w="15875">
            <a:solidFill>
              <a:srgbClr val="595959"/>
            </a:solidFill>
            <a:prstDash val="dash"/>
          </a:ln>
        </p:spPr>
        <p:txBody>
          <a:bodyPr/>
          <a:lstStyle/>
          <a:p>
            <a:endParaRPr lang="ko-KR" altLang="en-US"/>
          </a:p>
        </p:txBody>
      </p:sp>
      <p:sp>
        <p:nvSpPr>
          <p:cNvPr id="35" name="Text 33">
            <a:extLst>
              <a:ext uri="{FF2B5EF4-FFF2-40B4-BE49-F238E27FC236}">
                <a16:creationId xmlns:a16="http://schemas.microsoft.com/office/drawing/2014/main" id="{EBCA18D5-CD55-1BA3-7DCA-9ABB80FA4F7D}"/>
              </a:ext>
            </a:extLst>
          </p:cNvPr>
          <p:cNvSpPr txBox="1"/>
          <p:nvPr/>
        </p:nvSpPr>
        <p:spPr>
          <a:xfrm>
            <a:off x="640080" y="5623560"/>
            <a:ext cx="1828800" cy="256032"/>
          </a:xfrm>
          <a:prstGeom prst="rect">
            <a:avLst/>
          </a:prstGeom>
          <a:noFill/>
          <a:ln/>
        </p:spPr>
        <p:txBody>
          <a:bodyPr wrap="square" lIns="0" tIns="0" rIns="0" bIns="0" rtlCol="0" anchor="ctr"/>
          <a:lstStyle/>
          <a:p>
            <a:pPr marL="0" indent="0" algn="ctr">
              <a:buNone/>
            </a:pPr>
            <a:r>
              <a:rPr lang="en-US" sz="1150" b="1" dirty="0">
                <a:solidFill>
                  <a:srgbClr val="000000"/>
                </a:solidFill>
                <a:latin typeface="맑은 고딕" pitchFamily="34" charset="0"/>
                <a:ea typeface="맑은 고딕" pitchFamily="34" charset="-122"/>
                <a:cs typeface="맑은 고딕" pitchFamily="34" charset="-120"/>
              </a:rPr>
              <a:t>(a) 정상 + 고장 라벨</a:t>
            </a:r>
            <a:endParaRPr lang="en-US" sz="1150" dirty="0"/>
          </a:p>
        </p:txBody>
      </p:sp>
      <p:sp>
        <p:nvSpPr>
          <p:cNvPr id="36" name="Text 34">
            <a:extLst>
              <a:ext uri="{FF2B5EF4-FFF2-40B4-BE49-F238E27FC236}">
                <a16:creationId xmlns:a16="http://schemas.microsoft.com/office/drawing/2014/main" id="{98740A51-16B8-0FB6-4B1D-31D3DAABB4E1}"/>
              </a:ext>
            </a:extLst>
          </p:cNvPr>
          <p:cNvSpPr txBox="1"/>
          <p:nvPr/>
        </p:nvSpPr>
        <p:spPr>
          <a:xfrm>
            <a:off x="640080" y="5852160"/>
            <a:ext cx="1828800" cy="219456"/>
          </a:xfrm>
          <a:prstGeom prst="rect">
            <a:avLst/>
          </a:prstGeom>
          <a:noFill/>
          <a:ln/>
        </p:spPr>
        <p:txBody>
          <a:bodyPr wrap="square" lIns="0" tIns="0" rIns="0" bIns="0" rtlCol="0" anchor="ctr"/>
          <a:lstStyle/>
          <a:p>
            <a:pPr marL="0" indent="0" algn="ctr">
              <a:buNone/>
            </a:pPr>
            <a:r>
              <a:rPr lang="en-US" sz="1000" dirty="0">
                <a:solidFill>
                  <a:srgbClr val="595959"/>
                </a:solidFill>
                <a:latin typeface="맑은 고딕" pitchFamily="34" charset="0"/>
                <a:ea typeface="맑은 고딕" pitchFamily="34" charset="-122"/>
                <a:cs typeface="맑은 고딕" pitchFamily="34" charset="-120"/>
              </a:rPr>
              <a:t>분류 경계 학습</a:t>
            </a:r>
            <a:endParaRPr lang="en-US" sz="1000" dirty="0"/>
          </a:p>
        </p:txBody>
      </p:sp>
      <p:sp>
        <p:nvSpPr>
          <p:cNvPr id="37" name="Shape 35">
            <a:extLst>
              <a:ext uri="{FF2B5EF4-FFF2-40B4-BE49-F238E27FC236}">
                <a16:creationId xmlns:a16="http://schemas.microsoft.com/office/drawing/2014/main" id="{880AB2FF-2DF2-A328-A2E6-D5A2FB526B0F}"/>
              </a:ext>
            </a:extLst>
          </p:cNvPr>
          <p:cNvSpPr/>
          <p:nvPr/>
        </p:nvSpPr>
        <p:spPr>
          <a:xfrm>
            <a:off x="2560320" y="5532120"/>
            <a:ext cx="1554480" cy="91"/>
          </a:xfrm>
          <a:prstGeom prst="line">
            <a:avLst/>
          </a:prstGeom>
          <a:noFill/>
          <a:ln w="12700">
            <a:solidFill>
              <a:srgbClr val="000000"/>
            </a:solidFill>
            <a:prstDash val="solid"/>
          </a:ln>
        </p:spPr>
        <p:txBody>
          <a:bodyPr/>
          <a:lstStyle/>
          <a:p>
            <a:endParaRPr lang="ko-KR" altLang="en-US"/>
          </a:p>
        </p:txBody>
      </p:sp>
      <p:sp>
        <p:nvSpPr>
          <p:cNvPr id="38" name="Shape 36">
            <a:extLst>
              <a:ext uri="{FF2B5EF4-FFF2-40B4-BE49-F238E27FC236}">
                <a16:creationId xmlns:a16="http://schemas.microsoft.com/office/drawing/2014/main" id="{998F7684-2628-FC5D-834D-126BA4A6DB79}"/>
              </a:ext>
            </a:extLst>
          </p:cNvPr>
          <p:cNvSpPr/>
          <p:nvPr/>
        </p:nvSpPr>
        <p:spPr>
          <a:xfrm flipV="1">
            <a:off x="2560320" y="3931920"/>
            <a:ext cx="91" cy="1600200"/>
          </a:xfrm>
          <a:prstGeom prst="line">
            <a:avLst/>
          </a:prstGeom>
          <a:noFill/>
          <a:ln w="12700">
            <a:solidFill>
              <a:srgbClr val="000000"/>
            </a:solidFill>
            <a:prstDash val="solid"/>
          </a:ln>
        </p:spPr>
        <p:txBody>
          <a:bodyPr/>
          <a:lstStyle/>
          <a:p>
            <a:endParaRPr lang="ko-KR" altLang="en-US"/>
          </a:p>
        </p:txBody>
      </p:sp>
      <p:sp>
        <p:nvSpPr>
          <p:cNvPr id="39" name="Shape 37">
            <a:extLst>
              <a:ext uri="{FF2B5EF4-FFF2-40B4-BE49-F238E27FC236}">
                <a16:creationId xmlns:a16="http://schemas.microsoft.com/office/drawing/2014/main" id="{E30EF29F-80A4-92D8-D2D1-477370BA826D}"/>
              </a:ext>
            </a:extLst>
          </p:cNvPr>
          <p:cNvSpPr/>
          <p:nvPr/>
        </p:nvSpPr>
        <p:spPr>
          <a:xfrm>
            <a:off x="3249933" y="492953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0" name="Shape 38">
            <a:extLst>
              <a:ext uri="{FF2B5EF4-FFF2-40B4-BE49-F238E27FC236}">
                <a16:creationId xmlns:a16="http://schemas.microsoft.com/office/drawing/2014/main" id="{38AF6FAB-4401-039D-7F4D-3BE7E8C6537C}"/>
              </a:ext>
            </a:extLst>
          </p:cNvPr>
          <p:cNvSpPr/>
          <p:nvPr/>
        </p:nvSpPr>
        <p:spPr>
          <a:xfrm>
            <a:off x="3186076" y="472794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1" name="Shape 39">
            <a:extLst>
              <a:ext uri="{FF2B5EF4-FFF2-40B4-BE49-F238E27FC236}">
                <a16:creationId xmlns:a16="http://schemas.microsoft.com/office/drawing/2014/main" id="{0ABC9F6D-AB7B-89D9-8EE3-0454AE158C18}"/>
              </a:ext>
            </a:extLst>
          </p:cNvPr>
          <p:cNvSpPr/>
          <p:nvPr/>
        </p:nvSpPr>
        <p:spPr>
          <a:xfrm>
            <a:off x="3144824" y="478235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2" name="Shape 40">
            <a:extLst>
              <a:ext uri="{FF2B5EF4-FFF2-40B4-BE49-F238E27FC236}">
                <a16:creationId xmlns:a16="http://schemas.microsoft.com/office/drawing/2014/main" id="{3F3E6B9A-4991-94DD-3D98-42E60714527F}"/>
              </a:ext>
            </a:extLst>
          </p:cNvPr>
          <p:cNvSpPr/>
          <p:nvPr/>
        </p:nvSpPr>
        <p:spPr>
          <a:xfrm>
            <a:off x="3301665" y="476451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3" name="Shape 41">
            <a:extLst>
              <a:ext uri="{FF2B5EF4-FFF2-40B4-BE49-F238E27FC236}">
                <a16:creationId xmlns:a16="http://schemas.microsoft.com/office/drawing/2014/main" id="{691E4932-C461-F57F-C5DA-4537A2E11F3F}"/>
              </a:ext>
            </a:extLst>
          </p:cNvPr>
          <p:cNvSpPr/>
          <p:nvPr/>
        </p:nvSpPr>
        <p:spPr>
          <a:xfrm>
            <a:off x="3159189" y="471829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4" name="Shape 42">
            <a:extLst>
              <a:ext uri="{FF2B5EF4-FFF2-40B4-BE49-F238E27FC236}">
                <a16:creationId xmlns:a16="http://schemas.microsoft.com/office/drawing/2014/main" id="{7207650A-41E5-1A6B-96E1-F37C1C4DB614}"/>
              </a:ext>
            </a:extLst>
          </p:cNvPr>
          <p:cNvSpPr/>
          <p:nvPr/>
        </p:nvSpPr>
        <p:spPr>
          <a:xfrm>
            <a:off x="3433572" y="460766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5" name="Shape 43">
            <a:extLst>
              <a:ext uri="{FF2B5EF4-FFF2-40B4-BE49-F238E27FC236}">
                <a16:creationId xmlns:a16="http://schemas.microsoft.com/office/drawing/2014/main" id="{911DD920-D275-AD41-0004-8EE95F220712}"/>
              </a:ext>
            </a:extLst>
          </p:cNvPr>
          <p:cNvSpPr/>
          <p:nvPr/>
        </p:nvSpPr>
        <p:spPr>
          <a:xfrm>
            <a:off x="3290454" y="467067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6" name="Shape 44">
            <a:extLst>
              <a:ext uri="{FF2B5EF4-FFF2-40B4-BE49-F238E27FC236}">
                <a16:creationId xmlns:a16="http://schemas.microsoft.com/office/drawing/2014/main" id="{922CBC40-000F-0BF6-87CB-A8A3D7083317}"/>
              </a:ext>
            </a:extLst>
          </p:cNvPr>
          <p:cNvSpPr/>
          <p:nvPr/>
        </p:nvSpPr>
        <p:spPr>
          <a:xfrm>
            <a:off x="3194548" y="4803664"/>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7" name="Shape 45">
            <a:extLst>
              <a:ext uri="{FF2B5EF4-FFF2-40B4-BE49-F238E27FC236}">
                <a16:creationId xmlns:a16="http://schemas.microsoft.com/office/drawing/2014/main" id="{3A4F1F60-FAEF-3E13-F9DB-C6AD35140B8F}"/>
              </a:ext>
            </a:extLst>
          </p:cNvPr>
          <p:cNvSpPr/>
          <p:nvPr/>
        </p:nvSpPr>
        <p:spPr>
          <a:xfrm>
            <a:off x="3087709" y="475271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8" name="Shape 46">
            <a:extLst>
              <a:ext uri="{FF2B5EF4-FFF2-40B4-BE49-F238E27FC236}">
                <a16:creationId xmlns:a16="http://schemas.microsoft.com/office/drawing/2014/main" id="{4ECFE78A-1143-3B4B-67A6-CCB6ACD98948}"/>
              </a:ext>
            </a:extLst>
          </p:cNvPr>
          <p:cNvSpPr/>
          <p:nvPr/>
        </p:nvSpPr>
        <p:spPr>
          <a:xfrm>
            <a:off x="3097924" y="472881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9" name="Shape 47">
            <a:extLst>
              <a:ext uri="{FF2B5EF4-FFF2-40B4-BE49-F238E27FC236}">
                <a16:creationId xmlns:a16="http://schemas.microsoft.com/office/drawing/2014/main" id="{B0237B0E-6CBE-74B5-E528-B71EAFBD208F}"/>
              </a:ext>
            </a:extLst>
          </p:cNvPr>
          <p:cNvSpPr/>
          <p:nvPr/>
        </p:nvSpPr>
        <p:spPr>
          <a:xfrm>
            <a:off x="3050857" y="4625818"/>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0" name="Shape 48">
            <a:extLst>
              <a:ext uri="{FF2B5EF4-FFF2-40B4-BE49-F238E27FC236}">
                <a16:creationId xmlns:a16="http://schemas.microsoft.com/office/drawing/2014/main" id="{CCB99219-BD41-6403-BD91-7AC2EF0F8D6A}"/>
              </a:ext>
            </a:extLst>
          </p:cNvPr>
          <p:cNvSpPr/>
          <p:nvPr/>
        </p:nvSpPr>
        <p:spPr>
          <a:xfrm>
            <a:off x="3126763" y="4792963"/>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1" name="Shape 49">
            <a:extLst>
              <a:ext uri="{FF2B5EF4-FFF2-40B4-BE49-F238E27FC236}">
                <a16:creationId xmlns:a16="http://schemas.microsoft.com/office/drawing/2014/main" id="{01831042-FC00-9611-2EE9-0E825CDDD5CE}"/>
              </a:ext>
            </a:extLst>
          </p:cNvPr>
          <p:cNvSpPr/>
          <p:nvPr/>
        </p:nvSpPr>
        <p:spPr>
          <a:xfrm>
            <a:off x="3145174" y="460766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2" name="Shape 50">
            <a:extLst>
              <a:ext uri="{FF2B5EF4-FFF2-40B4-BE49-F238E27FC236}">
                <a16:creationId xmlns:a16="http://schemas.microsoft.com/office/drawing/2014/main" id="{6FFF990C-E889-3EF2-8F79-8CD2E264F912}"/>
              </a:ext>
            </a:extLst>
          </p:cNvPr>
          <p:cNvSpPr/>
          <p:nvPr/>
        </p:nvSpPr>
        <p:spPr>
          <a:xfrm>
            <a:off x="3275582" y="487130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3" name="Shape 51">
            <a:extLst>
              <a:ext uri="{FF2B5EF4-FFF2-40B4-BE49-F238E27FC236}">
                <a16:creationId xmlns:a16="http://schemas.microsoft.com/office/drawing/2014/main" id="{07D0406B-5056-EB76-2D35-E751A77AEF5C}"/>
              </a:ext>
            </a:extLst>
          </p:cNvPr>
          <p:cNvSpPr/>
          <p:nvPr/>
        </p:nvSpPr>
        <p:spPr>
          <a:xfrm>
            <a:off x="3310653" y="479865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4" name="Shape 52">
            <a:extLst>
              <a:ext uri="{FF2B5EF4-FFF2-40B4-BE49-F238E27FC236}">
                <a16:creationId xmlns:a16="http://schemas.microsoft.com/office/drawing/2014/main" id="{1F07703C-5111-68E6-F5B8-8DD771AF84D1}"/>
              </a:ext>
            </a:extLst>
          </p:cNvPr>
          <p:cNvSpPr/>
          <p:nvPr/>
        </p:nvSpPr>
        <p:spPr>
          <a:xfrm>
            <a:off x="3220488" y="4782893"/>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5" name="Shape 53">
            <a:extLst>
              <a:ext uri="{FF2B5EF4-FFF2-40B4-BE49-F238E27FC236}">
                <a16:creationId xmlns:a16="http://schemas.microsoft.com/office/drawing/2014/main" id="{C587FAE4-BB40-058E-FAFD-DBFA2E5005EC}"/>
              </a:ext>
            </a:extLst>
          </p:cNvPr>
          <p:cNvSpPr/>
          <p:nvPr/>
        </p:nvSpPr>
        <p:spPr>
          <a:xfrm>
            <a:off x="3396515" y="468871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6" name="Shape 54">
            <a:extLst>
              <a:ext uri="{FF2B5EF4-FFF2-40B4-BE49-F238E27FC236}">
                <a16:creationId xmlns:a16="http://schemas.microsoft.com/office/drawing/2014/main" id="{F716BB8F-CCC8-9F40-56AE-A9D569679C9A}"/>
              </a:ext>
            </a:extLst>
          </p:cNvPr>
          <p:cNvSpPr/>
          <p:nvPr/>
        </p:nvSpPr>
        <p:spPr>
          <a:xfrm>
            <a:off x="3034675" y="4762254"/>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7" name="Shape 55">
            <a:extLst>
              <a:ext uri="{FF2B5EF4-FFF2-40B4-BE49-F238E27FC236}">
                <a16:creationId xmlns:a16="http://schemas.microsoft.com/office/drawing/2014/main" id="{87676AAA-C7D8-C0EA-5363-F47F60B5BB62}"/>
              </a:ext>
            </a:extLst>
          </p:cNvPr>
          <p:cNvSpPr/>
          <p:nvPr/>
        </p:nvSpPr>
        <p:spPr>
          <a:xfrm>
            <a:off x="3299599" y="483870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8" name="Shape 56">
            <a:extLst>
              <a:ext uri="{FF2B5EF4-FFF2-40B4-BE49-F238E27FC236}">
                <a16:creationId xmlns:a16="http://schemas.microsoft.com/office/drawing/2014/main" id="{1D2CA851-61D4-67D9-1F0E-5B695E1CD128}"/>
              </a:ext>
            </a:extLst>
          </p:cNvPr>
          <p:cNvSpPr/>
          <p:nvPr/>
        </p:nvSpPr>
        <p:spPr>
          <a:xfrm>
            <a:off x="3118696" y="486769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9" name="Shape 57">
            <a:extLst>
              <a:ext uri="{FF2B5EF4-FFF2-40B4-BE49-F238E27FC236}">
                <a16:creationId xmlns:a16="http://schemas.microsoft.com/office/drawing/2014/main" id="{9611C3CD-3BA0-E0F9-7916-98BE79F54F19}"/>
              </a:ext>
            </a:extLst>
          </p:cNvPr>
          <p:cNvSpPr/>
          <p:nvPr/>
        </p:nvSpPr>
        <p:spPr>
          <a:xfrm>
            <a:off x="3292829" y="476905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0" name="Shape 58">
            <a:extLst>
              <a:ext uri="{FF2B5EF4-FFF2-40B4-BE49-F238E27FC236}">
                <a16:creationId xmlns:a16="http://schemas.microsoft.com/office/drawing/2014/main" id="{A678223E-1C74-0CF4-7A99-A3871CE771F3}"/>
              </a:ext>
            </a:extLst>
          </p:cNvPr>
          <p:cNvSpPr/>
          <p:nvPr/>
        </p:nvSpPr>
        <p:spPr>
          <a:xfrm>
            <a:off x="3039511" y="489123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1" name="Shape 59">
            <a:extLst>
              <a:ext uri="{FF2B5EF4-FFF2-40B4-BE49-F238E27FC236}">
                <a16:creationId xmlns:a16="http://schemas.microsoft.com/office/drawing/2014/main" id="{64159ED2-EACD-57DB-079B-B64AAB724C2B}"/>
              </a:ext>
            </a:extLst>
          </p:cNvPr>
          <p:cNvSpPr/>
          <p:nvPr/>
        </p:nvSpPr>
        <p:spPr>
          <a:xfrm>
            <a:off x="2743200" y="4416552"/>
            <a:ext cx="1005840" cy="768096"/>
          </a:xfrm>
          <a:prstGeom prst="ellipse">
            <a:avLst/>
          </a:prstGeom>
          <a:ln w="19050">
            <a:solidFill>
              <a:srgbClr val="1F4E79"/>
            </a:solidFill>
            <a:prstDash val="solid"/>
          </a:ln>
        </p:spPr>
        <p:txBody>
          <a:bodyPr/>
          <a:lstStyle/>
          <a:p>
            <a:endParaRPr lang="ko-KR" altLang="en-US"/>
          </a:p>
        </p:txBody>
      </p:sp>
      <p:sp>
        <p:nvSpPr>
          <p:cNvPr id="62" name="Shape 60">
            <a:extLst>
              <a:ext uri="{FF2B5EF4-FFF2-40B4-BE49-F238E27FC236}">
                <a16:creationId xmlns:a16="http://schemas.microsoft.com/office/drawing/2014/main" id="{9428EB05-3DF4-A39F-3AE2-F01BFF400BCE}"/>
              </a:ext>
            </a:extLst>
          </p:cNvPr>
          <p:cNvSpPr/>
          <p:nvPr/>
        </p:nvSpPr>
        <p:spPr>
          <a:xfrm>
            <a:off x="3877056" y="4151376"/>
            <a:ext cx="109728" cy="109728"/>
          </a:xfrm>
          <a:prstGeom prst="line">
            <a:avLst/>
          </a:prstGeom>
          <a:noFill/>
          <a:ln w="28575">
            <a:solidFill>
              <a:srgbClr val="C00000"/>
            </a:solidFill>
            <a:prstDash val="solid"/>
          </a:ln>
        </p:spPr>
        <p:txBody>
          <a:bodyPr/>
          <a:lstStyle/>
          <a:p>
            <a:endParaRPr lang="ko-KR" altLang="en-US"/>
          </a:p>
        </p:txBody>
      </p:sp>
      <p:sp>
        <p:nvSpPr>
          <p:cNvPr id="63" name="Shape 61">
            <a:extLst>
              <a:ext uri="{FF2B5EF4-FFF2-40B4-BE49-F238E27FC236}">
                <a16:creationId xmlns:a16="http://schemas.microsoft.com/office/drawing/2014/main" id="{B401F869-B027-D30A-E160-0EB3911B23F3}"/>
              </a:ext>
            </a:extLst>
          </p:cNvPr>
          <p:cNvSpPr/>
          <p:nvPr/>
        </p:nvSpPr>
        <p:spPr>
          <a:xfrm flipV="1">
            <a:off x="3877056" y="4151376"/>
            <a:ext cx="109728" cy="109728"/>
          </a:xfrm>
          <a:prstGeom prst="line">
            <a:avLst/>
          </a:prstGeom>
          <a:noFill/>
          <a:ln w="28575">
            <a:solidFill>
              <a:srgbClr val="C00000"/>
            </a:solidFill>
            <a:prstDash val="solid"/>
          </a:ln>
        </p:spPr>
        <p:txBody>
          <a:bodyPr/>
          <a:lstStyle/>
          <a:p>
            <a:endParaRPr lang="ko-KR" altLang="en-US"/>
          </a:p>
        </p:txBody>
      </p:sp>
      <p:sp>
        <p:nvSpPr>
          <p:cNvPr id="64" name="Shape 62">
            <a:extLst>
              <a:ext uri="{FF2B5EF4-FFF2-40B4-BE49-F238E27FC236}">
                <a16:creationId xmlns:a16="http://schemas.microsoft.com/office/drawing/2014/main" id="{77D5C489-D036-7906-2264-F14DEF2C3F35}"/>
              </a:ext>
            </a:extLst>
          </p:cNvPr>
          <p:cNvSpPr/>
          <p:nvPr/>
        </p:nvSpPr>
        <p:spPr>
          <a:xfrm>
            <a:off x="2670048" y="4197096"/>
            <a:ext cx="109728" cy="109728"/>
          </a:xfrm>
          <a:prstGeom prst="line">
            <a:avLst/>
          </a:prstGeom>
          <a:noFill/>
          <a:ln w="28575">
            <a:solidFill>
              <a:srgbClr val="C00000"/>
            </a:solidFill>
            <a:prstDash val="solid"/>
          </a:ln>
        </p:spPr>
        <p:txBody>
          <a:bodyPr/>
          <a:lstStyle/>
          <a:p>
            <a:endParaRPr lang="ko-KR" altLang="en-US"/>
          </a:p>
        </p:txBody>
      </p:sp>
      <p:sp>
        <p:nvSpPr>
          <p:cNvPr id="65" name="Shape 63">
            <a:extLst>
              <a:ext uri="{FF2B5EF4-FFF2-40B4-BE49-F238E27FC236}">
                <a16:creationId xmlns:a16="http://schemas.microsoft.com/office/drawing/2014/main" id="{D94D6500-B5D4-054A-EA74-A88B46EC5BBA}"/>
              </a:ext>
            </a:extLst>
          </p:cNvPr>
          <p:cNvSpPr/>
          <p:nvPr/>
        </p:nvSpPr>
        <p:spPr>
          <a:xfrm flipV="1">
            <a:off x="2670048" y="4197096"/>
            <a:ext cx="109728" cy="109728"/>
          </a:xfrm>
          <a:prstGeom prst="line">
            <a:avLst/>
          </a:prstGeom>
          <a:noFill/>
          <a:ln w="28575">
            <a:solidFill>
              <a:srgbClr val="C00000"/>
            </a:solidFill>
            <a:prstDash val="solid"/>
          </a:ln>
        </p:spPr>
        <p:txBody>
          <a:bodyPr/>
          <a:lstStyle/>
          <a:p>
            <a:endParaRPr lang="ko-KR" altLang="en-US"/>
          </a:p>
        </p:txBody>
      </p:sp>
      <p:sp>
        <p:nvSpPr>
          <p:cNvPr id="66" name="Shape 64">
            <a:extLst>
              <a:ext uri="{FF2B5EF4-FFF2-40B4-BE49-F238E27FC236}">
                <a16:creationId xmlns:a16="http://schemas.microsoft.com/office/drawing/2014/main" id="{4AFB6776-3993-751A-1984-42B6814C0D6A}"/>
              </a:ext>
            </a:extLst>
          </p:cNvPr>
          <p:cNvSpPr/>
          <p:nvPr/>
        </p:nvSpPr>
        <p:spPr>
          <a:xfrm>
            <a:off x="3831336" y="5248656"/>
            <a:ext cx="109728" cy="109728"/>
          </a:xfrm>
          <a:prstGeom prst="line">
            <a:avLst/>
          </a:prstGeom>
          <a:noFill/>
          <a:ln w="28575">
            <a:solidFill>
              <a:srgbClr val="C00000"/>
            </a:solidFill>
            <a:prstDash val="solid"/>
          </a:ln>
        </p:spPr>
        <p:txBody>
          <a:bodyPr/>
          <a:lstStyle/>
          <a:p>
            <a:endParaRPr lang="ko-KR" altLang="en-US"/>
          </a:p>
        </p:txBody>
      </p:sp>
      <p:sp>
        <p:nvSpPr>
          <p:cNvPr id="67" name="Shape 65">
            <a:extLst>
              <a:ext uri="{FF2B5EF4-FFF2-40B4-BE49-F238E27FC236}">
                <a16:creationId xmlns:a16="http://schemas.microsoft.com/office/drawing/2014/main" id="{B1AAF597-16B5-2C78-BE25-8E3D93F3AD77}"/>
              </a:ext>
            </a:extLst>
          </p:cNvPr>
          <p:cNvSpPr/>
          <p:nvPr/>
        </p:nvSpPr>
        <p:spPr>
          <a:xfrm flipV="1">
            <a:off x="3831336" y="5248656"/>
            <a:ext cx="109728" cy="109728"/>
          </a:xfrm>
          <a:prstGeom prst="line">
            <a:avLst/>
          </a:prstGeom>
          <a:noFill/>
          <a:ln w="28575">
            <a:solidFill>
              <a:srgbClr val="C00000"/>
            </a:solidFill>
            <a:prstDash val="solid"/>
          </a:ln>
        </p:spPr>
        <p:txBody>
          <a:bodyPr/>
          <a:lstStyle/>
          <a:p>
            <a:endParaRPr lang="ko-KR" altLang="en-US"/>
          </a:p>
        </p:txBody>
      </p:sp>
      <p:sp>
        <p:nvSpPr>
          <p:cNvPr id="68" name="Text 66">
            <a:extLst>
              <a:ext uri="{FF2B5EF4-FFF2-40B4-BE49-F238E27FC236}">
                <a16:creationId xmlns:a16="http://schemas.microsoft.com/office/drawing/2014/main" id="{6FFC8BFC-018B-C6EE-ED58-0CC68E90909E}"/>
              </a:ext>
            </a:extLst>
          </p:cNvPr>
          <p:cNvSpPr txBox="1"/>
          <p:nvPr/>
        </p:nvSpPr>
        <p:spPr>
          <a:xfrm>
            <a:off x="2880360" y="5212080"/>
            <a:ext cx="731520" cy="201168"/>
          </a:xfrm>
          <a:prstGeom prst="rect">
            <a:avLst/>
          </a:prstGeom>
          <a:noFill/>
          <a:ln/>
        </p:spPr>
        <p:txBody>
          <a:bodyPr wrap="square" lIns="0" tIns="0" rIns="0" bIns="0" rtlCol="0" anchor="ctr"/>
          <a:lstStyle/>
          <a:p>
            <a:pPr marL="0" indent="0" algn="ctr">
              <a:buNone/>
            </a:pPr>
            <a:r>
              <a:rPr lang="en-US" sz="950" dirty="0">
                <a:solidFill>
                  <a:srgbClr val="1F4E79"/>
                </a:solidFill>
                <a:latin typeface="맑은 고딕" pitchFamily="34" charset="0"/>
                <a:ea typeface="맑은 고딕" pitchFamily="34" charset="-122"/>
                <a:cs typeface="맑은 고딕" pitchFamily="34" charset="-120"/>
              </a:rPr>
              <a:t>정상 영역</a:t>
            </a:r>
            <a:endParaRPr lang="en-US" sz="950" dirty="0"/>
          </a:p>
        </p:txBody>
      </p:sp>
      <p:sp>
        <p:nvSpPr>
          <p:cNvPr id="69" name="Text 67">
            <a:extLst>
              <a:ext uri="{FF2B5EF4-FFF2-40B4-BE49-F238E27FC236}">
                <a16:creationId xmlns:a16="http://schemas.microsoft.com/office/drawing/2014/main" id="{48846966-239F-39FE-BFCE-429BBAECCDC4}"/>
              </a:ext>
            </a:extLst>
          </p:cNvPr>
          <p:cNvSpPr txBox="1"/>
          <p:nvPr/>
        </p:nvSpPr>
        <p:spPr>
          <a:xfrm>
            <a:off x="2423160" y="5623560"/>
            <a:ext cx="1828800" cy="256032"/>
          </a:xfrm>
          <a:prstGeom prst="rect">
            <a:avLst/>
          </a:prstGeom>
          <a:noFill/>
          <a:ln/>
        </p:spPr>
        <p:txBody>
          <a:bodyPr wrap="square" lIns="0" tIns="0" rIns="0" bIns="0" rtlCol="0" anchor="ctr"/>
          <a:lstStyle/>
          <a:p>
            <a:pPr marL="0" indent="0" algn="ctr">
              <a:buNone/>
            </a:pPr>
            <a:r>
              <a:rPr lang="en-US" sz="1150" b="1" dirty="0">
                <a:solidFill>
                  <a:srgbClr val="000000"/>
                </a:solidFill>
                <a:latin typeface="맑은 고딕" pitchFamily="34" charset="0"/>
                <a:ea typeface="맑은 고딕" pitchFamily="34" charset="-122"/>
                <a:cs typeface="맑은 고딕" pitchFamily="34" charset="-120"/>
              </a:rPr>
              <a:t>(b) 정상만 학습</a:t>
            </a:r>
            <a:endParaRPr lang="en-US" sz="1150" dirty="0"/>
          </a:p>
        </p:txBody>
      </p:sp>
      <p:sp>
        <p:nvSpPr>
          <p:cNvPr id="70" name="Text 68">
            <a:extLst>
              <a:ext uri="{FF2B5EF4-FFF2-40B4-BE49-F238E27FC236}">
                <a16:creationId xmlns:a16="http://schemas.microsoft.com/office/drawing/2014/main" id="{6D2F4D08-4995-4821-4B30-F6836E8D4E69}"/>
              </a:ext>
            </a:extLst>
          </p:cNvPr>
          <p:cNvSpPr txBox="1"/>
          <p:nvPr/>
        </p:nvSpPr>
        <p:spPr>
          <a:xfrm>
            <a:off x="2423160" y="5852160"/>
            <a:ext cx="1828800" cy="219456"/>
          </a:xfrm>
          <a:prstGeom prst="rect">
            <a:avLst/>
          </a:prstGeom>
          <a:noFill/>
          <a:ln/>
        </p:spPr>
        <p:txBody>
          <a:bodyPr wrap="square" lIns="0" tIns="0" rIns="0" bIns="0" rtlCol="0" anchor="ctr"/>
          <a:lstStyle/>
          <a:p>
            <a:pPr marL="0" indent="0" algn="ctr">
              <a:buNone/>
            </a:pPr>
            <a:r>
              <a:rPr lang="en-US" sz="1000" dirty="0">
                <a:solidFill>
                  <a:srgbClr val="C00000"/>
                </a:solidFill>
                <a:latin typeface="맑은 고딕" pitchFamily="34" charset="0"/>
                <a:ea typeface="맑은 고딕" pitchFamily="34" charset="-122"/>
                <a:cs typeface="맑은 고딕" pitchFamily="34" charset="-120"/>
              </a:rPr>
              <a:t>정상 영역 밖 = 이상</a:t>
            </a:r>
            <a:endParaRPr lang="en-US" sz="1000" dirty="0"/>
          </a:p>
        </p:txBody>
      </p:sp>
      <p:sp>
        <p:nvSpPr>
          <p:cNvPr id="71" name="Shape 69">
            <a:extLst>
              <a:ext uri="{FF2B5EF4-FFF2-40B4-BE49-F238E27FC236}">
                <a16:creationId xmlns:a16="http://schemas.microsoft.com/office/drawing/2014/main" id="{A60F91AB-BE49-9C64-A6B7-77E23069CFF1}"/>
              </a:ext>
            </a:extLst>
          </p:cNvPr>
          <p:cNvSpPr/>
          <p:nvPr/>
        </p:nvSpPr>
        <p:spPr>
          <a:xfrm>
            <a:off x="4407408" y="3566160"/>
            <a:ext cx="91" cy="2743200"/>
          </a:xfrm>
          <a:prstGeom prst="line">
            <a:avLst/>
          </a:prstGeom>
          <a:noFill/>
          <a:ln w="9525">
            <a:solidFill>
              <a:srgbClr val="BFBFBF"/>
            </a:solidFill>
            <a:prstDash val="dash"/>
          </a:ln>
        </p:spPr>
        <p:txBody>
          <a:bodyPr/>
          <a:lstStyle/>
          <a:p>
            <a:endParaRPr lang="ko-KR" altLang="en-US"/>
          </a:p>
        </p:txBody>
      </p:sp>
      <p:sp>
        <p:nvSpPr>
          <p:cNvPr id="73" name="Shape 71">
            <a:extLst>
              <a:ext uri="{FF2B5EF4-FFF2-40B4-BE49-F238E27FC236}">
                <a16:creationId xmlns:a16="http://schemas.microsoft.com/office/drawing/2014/main" id="{7FF41BA2-8269-AE1A-3301-937E4F683435}"/>
              </a:ext>
            </a:extLst>
          </p:cNvPr>
          <p:cNvSpPr/>
          <p:nvPr/>
        </p:nvSpPr>
        <p:spPr>
          <a:xfrm>
            <a:off x="4663440" y="3720902"/>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74" name="Shape 72">
            <a:extLst>
              <a:ext uri="{FF2B5EF4-FFF2-40B4-BE49-F238E27FC236}">
                <a16:creationId xmlns:a16="http://schemas.microsoft.com/office/drawing/2014/main" id="{232F453B-5779-C31E-A48D-BCB208546123}"/>
              </a:ext>
            </a:extLst>
          </p:cNvPr>
          <p:cNvSpPr/>
          <p:nvPr/>
        </p:nvSpPr>
        <p:spPr>
          <a:xfrm>
            <a:off x="4690872" y="3748334"/>
            <a:ext cx="274320" cy="192024"/>
          </a:xfrm>
          <a:custGeom>
            <a:avLst/>
            <a:gdLst/>
            <a:ahLst/>
            <a:cxnLst/>
            <a:rect l="l" t="t" r="r" b="b"/>
            <a:pathLst>
              <a:path w="274320" h="192024">
                <a:moveTo>
                  <a:pt x="0" y="134417"/>
                </a:moveTo>
                <a:lnTo>
                  <a:pt x="274320" y="134417"/>
                </a:lnTo>
              </a:path>
            </a:pathLst>
          </a:custGeom>
          <a:ln w="12700">
            <a:solidFill>
              <a:srgbClr val="3E8E5E"/>
            </a:solidFill>
            <a:prstDash val="solid"/>
          </a:ln>
        </p:spPr>
        <p:txBody>
          <a:bodyPr/>
          <a:lstStyle/>
          <a:p>
            <a:endParaRPr lang="ko-KR" altLang="en-US"/>
          </a:p>
        </p:txBody>
      </p:sp>
      <p:sp>
        <p:nvSpPr>
          <p:cNvPr id="75" name="Shape 73">
            <a:extLst>
              <a:ext uri="{FF2B5EF4-FFF2-40B4-BE49-F238E27FC236}">
                <a16:creationId xmlns:a16="http://schemas.microsoft.com/office/drawing/2014/main" id="{7ADC994D-FD5F-59AC-4219-C135CCDBEC61}"/>
              </a:ext>
            </a:extLst>
          </p:cNvPr>
          <p:cNvSpPr/>
          <p:nvPr/>
        </p:nvSpPr>
        <p:spPr>
          <a:xfrm>
            <a:off x="5029200" y="3720902"/>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76" name="Shape 74">
            <a:extLst>
              <a:ext uri="{FF2B5EF4-FFF2-40B4-BE49-F238E27FC236}">
                <a16:creationId xmlns:a16="http://schemas.microsoft.com/office/drawing/2014/main" id="{E55F4AFF-0583-9E73-0620-F1FFC38E3E90}"/>
              </a:ext>
            </a:extLst>
          </p:cNvPr>
          <p:cNvSpPr/>
          <p:nvPr/>
        </p:nvSpPr>
        <p:spPr>
          <a:xfrm>
            <a:off x="5056632" y="3748334"/>
            <a:ext cx="274320" cy="192024"/>
          </a:xfrm>
          <a:custGeom>
            <a:avLst/>
            <a:gdLst/>
            <a:ahLst/>
            <a:cxnLst/>
            <a:rect l="l" t="t" r="r" b="b"/>
            <a:pathLst>
              <a:path w="274320" h="192024">
                <a:moveTo>
                  <a:pt x="0" y="96012"/>
                </a:moveTo>
                <a:lnTo>
                  <a:pt x="41148" y="48006"/>
                </a:lnTo>
                <a:lnTo>
                  <a:pt x="96012" y="115214"/>
                </a:lnTo>
                <a:lnTo>
                  <a:pt x="137160" y="144018"/>
                </a:lnTo>
                <a:lnTo>
                  <a:pt x="178308" y="28804"/>
                </a:lnTo>
                <a:lnTo>
                  <a:pt x="219456" y="115214"/>
                </a:lnTo>
                <a:lnTo>
                  <a:pt x="274320" y="86411"/>
                </a:lnTo>
              </a:path>
            </a:pathLst>
          </a:custGeom>
          <a:ln w="12700">
            <a:solidFill>
              <a:srgbClr val="3E8E5E"/>
            </a:solidFill>
            <a:prstDash val="solid"/>
          </a:ln>
        </p:spPr>
        <p:txBody>
          <a:bodyPr/>
          <a:lstStyle/>
          <a:p>
            <a:endParaRPr lang="ko-KR" altLang="en-US"/>
          </a:p>
        </p:txBody>
      </p:sp>
      <p:sp>
        <p:nvSpPr>
          <p:cNvPr id="77" name="Shape 75">
            <a:extLst>
              <a:ext uri="{FF2B5EF4-FFF2-40B4-BE49-F238E27FC236}">
                <a16:creationId xmlns:a16="http://schemas.microsoft.com/office/drawing/2014/main" id="{7E718490-5073-03F5-92AA-23F1B725E0C6}"/>
              </a:ext>
            </a:extLst>
          </p:cNvPr>
          <p:cNvSpPr/>
          <p:nvPr/>
        </p:nvSpPr>
        <p:spPr>
          <a:xfrm>
            <a:off x="5394960" y="3720902"/>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78" name="Shape 76">
            <a:extLst>
              <a:ext uri="{FF2B5EF4-FFF2-40B4-BE49-F238E27FC236}">
                <a16:creationId xmlns:a16="http://schemas.microsoft.com/office/drawing/2014/main" id="{14445310-EAF5-3556-6AF2-A5F8B128A64F}"/>
              </a:ext>
            </a:extLst>
          </p:cNvPr>
          <p:cNvSpPr/>
          <p:nvPr/>
        </p:nvSpPr>
        <p:spPr>
          <a:xfrm>
            <a:off x="5422392" y="3748334"/>
            <a:ext cx="274320" cy="192024"/>
          </a:xfrm>
          <a:custGeom>
            <a:avLst/>
            <a:gdLst/>
            <a:ahLst/>
            <a:cxnLst/>
            <a:rect l="l" t="t" r="r" b="b"/>
            <a:pathLst>
              <a:path w="274320" h="192024">
                <a:moveTo>
                  <a:pt x="0" y="96012"/>
                </a:moveTo>
                <a:lnTo>
                  <a:pt x="41148" y="48006"/>
                </a:lnTo>
                <a:lnTo>
                  <a:pt x="96012" y="115214"/>
                </a:lnTo>
                <a:lnTo>
                  <a:pt x="137160" y="144018"/>
                </a:lnTo>
                <a:lnTo>
                  <a:pt x="178308" y="28804"/>
                </a:lnTo>
                <a:lnTo>
                  <a:pt x="219456" y="115214"/>
                </a:lnTo>
                <a:lnTo>
                  <a:pt x="274320" y="86411"/>
                </a:lnTo>
              </a:path>
            </a:pathLst>
          </a:custGeom>
          <a:ln w="12700">
            <a:solidFill>
              <a:srgbClr val="3E8E5E"/>
            </a:solidFill>
            <a:prstDash val="solid"/>
          </a:ln>
        </p:spPr>
        <p:txBody>
          <a:bodyPr/>
          <a:lstStyle/>
          <a:p>
            <a:endParaRPr lang="ko-KR" altLang="en-US"/>
          </a:p>
        </p:txBody>
      </p:sp>
      <p:sp>
        <p:nvSpPr>
          <p:cNvPr id="79" name="Shape 77">
            <a:extLst>
              <a:ext uri="{FF2B5EF4-FFF2-40B4-BE49-F238E27FC236}">
                <a16:creationId xmlns:a16="http://schemas.microsoft.com/office/drawing/2014/main" id="{792B6A1D-6423-0265-8249-D8753991A82C}"/>
              </a:ext>
            </a:extLst>
          </p:cNvPr>
          <p:cNvSpPr/>
          <p:nvPr/>
        </p:nvSpPr>
        <p:spPr>
          <a:xfrm>
            <a:off x="5760720" y="3720902"/>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80" name="Shape 78">
            <a:extLst>
              <a:ext uri="{FF2B5EF4-FFF2-40B4-BE49-F238E27FC236}">
                <a16:creationId xmlns:a16="http://schemas.microsoft.com/office/drawing/2014/main" id="{70F07B96-A971-3660-37D3-EC3FB08BEF5D}"/>
              </a:ext>
            </a:extLst>
          </p:cNvPr>
          <p:cNvSpPr/>
          <p:nvPr/>
        </p:nvSpPr>
        <p:spPr>
          <a:xfrm>
            <a:off x="5788152" y="3748334"/>
            <a:ext cx="274320" cy="192024"/>
          </a:xfrm>
          <a:custGeom>
            <a:avLst/>
            <a:gdLst/>
            <a:ahLst/>
            <a:cxnLst/>
            <a:rect l="l" t="t" r="r" b="b"/>
            <a:pathLst>
              <a:path w="274320" h="192024">
                <a:moveTo>
                  <a:pt x="0" y="134417"/>
                </a:moveTo>
                <a:lnTo>
                  <a:pt x="274320" y="134417"/>
                </a:lnTo>
              </a:path>
            </a:pathLst>
          </a:custGeom>
          <a:ln w="12700">
            <a:solidFill>
              <a:srgbClr val="3E8E5E"/>
            </a:solidFill>
            <a:prstDash val="solid"/>
          </a:ln>
        </p:spPr>
        <p:txBody>
          <a:bodyPr/>
          <a:lstStyle/>
          <a:p>
            <a:endParaRPr lang="ko-KR" altLang="en-US"/>
          </a:p>
        </p:txBody>
      </p:sp>
      <p:sp>
        <p:nvSpPr>
          <p:cNvPr id="81" name="Shape 79">
            <a:extLst>
              <a:ext uri="{FF2B5EF4-FFF2-40B4-BE49-F238E27FC236}">
                <a16:creationId xmlns:a16="http://schemas.microsoft.com/office/drawing/2014/main" id="{6C232EA0-48EA-20D3-19B4-54616BA30B63}"/>
              </a:ext>
            </a:extLst>
          </p:cNvPr>
          <p:cNvSpPr/>
          <p:nvPr/>
        </p:nvSpPr>
        <p:spPr>
          <a:xfrm>
            <a:off x="4663440" y="4004366"/>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82" name="Shape 80">
            <a:extLst>
              <a:ext uri="{FF2B5EF4-FFF2-40B4-BE49-F238E27FC236}">
                <a16:creationId xmlns:a16="http://schemas.microsoft.com/office/drawing/2014/main" id="{C87ED503-4998-4930-176A-FEB6EA9B6A71}"/>
              </a:ext>
            </a:extLst>
          </p:cNvPr>
          <p:cNvSpPr/>
          <p:nvPr/>
        </p:nvSpPr>
        <p:spPr>
          <a:xfrm>
            <a:off x="4690872" y="4031798"/>
            <a:ext cx="274320" cy="192024"/>
          </a:xfrm>
          <a:custGeom>
            <a:avLst/>
            <a:gdLst/>
            <a:ahLst/>
            <a:cxnLst/>
            <a:rect l="l" t="t" r="r" b="b"/>
            <a:pathLst>
              <a:path w="274320" h="192024">
                <a:moveTo>
                  <a:pt x="0" y="163220"/>
                </a:moveTo>
                <a:lnTo>
                  <a:pt x="150876" y="163220"/>
                </a:lnTo>
                <a:lnTo>
                  <a:pt x="164592" y="115214"/>
                </a:lnTo>
                <a:lnTo>
                  <a:pt x="172822" y="163220"/>
                </a:lnTo>
                <a:lnTo>
                  <a:pt x="181051" y="9601"/>
                </a:lnTo>
                <a:lnTo>
                  <a:pt x="192024" y="163220"/>
                </a:lnTo>
                <a:lnTo>
                  <a:pt x="274320" y="163220"/>
                </a:lnTo>
              </a:path>
            </a:pathLst>
          </a:custGeom>
          <a:ln w="12700">
            <a:solidFill>
              <a:srgbClr val="3E8E5E"/>
            </a:solidFill>
            <a:prstDash val="solid"/>
          </a:ln>
        </p:spPr>
        <p:txBody>
          <a:bodyPr/>
          <a:lstStyle/>
          <a:p>
            <a:endParaRPr lang="ko-KR" altLang="en-US"/>
          </a:p>
        </p:txBody>
      </p:sp>
      <p:sp>
        <p:nvSpPr>
          <p:cNvPr id="83" name="Shape 81">
            <a:extLst>
              <a:ext uri="{FF2B5EF4-FFF2-40B4-BE49-F238E27FC236}">
                <a16:creationId xmlns:a16="http://schemas.microsoft.com/office/drawing/2014/main" id="{3FD6776C-CA31-BE57-685E-5C010A251773}"/>
              </a:ext>
            </a:extLst>
          </p:cNvPr>
          <p:cNvSpPr/>
          <p:nvPr/>
        </p:nvSpPr>
        <p:spPr>
          <a:xfrm>
            <a:off x="5029200" y="4004366"/>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84" name="Shape 82">
            <a:extLst>
              <a:ext uri="{FF2B5EF4-FFF2-40B4-BE49-F238E27FC236}">
                <a16:creationId xmlns:a16="http://schemas.microsoft.com/office/drawing/2014/main" id="{DBB20DEF-6D3D-2B9A-94BC-03AB44CADE59}"/>
              </a:ext>
            </a:extLst>
          </p:cNvPr>
          <p:cNvSpPr/>
          <p:nvPr/>
        </p:nvSpPr>
        <p:spPr>
          <a:xfrm>
            <a:off x="5056632" y="4031798"/>
            <a:ext cx="274320" cy="192024"/>
          </a:xfrm>
          <a:custGeom>
            <a:avLst/>
            <a:gdLst/>
            <a:ahLst/>
            <a:cxnLst/>
            <a:rect l="l" t="t" r="r" b="b"/>
            <a:pathLst>
              <a:path w="274320" h="192024">
                <a:moveTo>
                  <a:pt x="0" y="163220"/>
                </a:moveTo>
                <a:lnTo>
                  <a:pt x="150876" y="163220"/>
                </a:lnTo>
                <a:lnTo>
                  <a:pt x="164592" y="115214"/>
                </a:lnTo>
                <a:lnTo>
                  <a:pt x="172822" y="163220"/>
                </a:lnTo>
                <a:lnTo>
                  <a:pt x="181051" y="9601"/>
                </a:lnTo>
                <a:lnTo>
                  <a:pt x="192024" y="163220"/>
                </a:lnTo>
                <a:lnTo>
                  <a:pt x="274320" y="163220"/>
                </a:lnTo>
              </a:path>
            </a:pathLst>
          </a:custGeom>
          <a:ln w="12700">
            <a:solidFill>
              <a:srgbClr val="3E8E5E"/>
            </a:solidFill>
            <a:prstDash val="solid"/>
          </a:ln>
        </p:spPr>
        <p:txBody>
          <a:bodyPr/>
          <a:lstStyle/>
          <a:p>
            <a:endParaRPr lang="ko-KR" altLang="en-US"/>
          </a:p>
        </p:txBody>
      </p:sp>
      <p:sp>
        <p:nvSpPr>
          <p:cNvPr id="85" name="Shape 83">
            <a:extLst>
              <a:ext uri="{FF2B5EF4-FFF2-40B4-BE49-F238E27FC236}">
                <a16:creationId xmlns:a16="http://schemas.microsoft.com/office/drawing/2014/main" id="{5E4F7275-E836-1B0E-FD82-718C8703A09F}"/>
              </a:ext>
            </a:extLst>
          </p:cNvPr>
          <p:cNvSpPr/>
          <p:nvPr/>
        </p:nvSpPr>
        <p:spPr>
          <a:xfrm>
            <a:off x="5394960" y="4004366"/>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86" name="Shape 84">
            <a:extLst>
              <a:ext uri="{FF2B5EF4-FFF2-40B4-BE49-F238E27FC236}">
                <a16:creationId xmlns:a16="http://schemas.microsoft.com/office/drawing/2014/main" id="{7DD0BECC-2A43-A2D2-4554-DBAA52439C26}"/>
              </a:ext>
            </a:extLst>
          </p:cNvPr>
          <p:cNvSpPr/>
          <p:nvPr/>
        </p:nvSpPr>
        <p:spPr>
          <a:xfrm>
            <a:off x="5422392" y="4031798"/>
            <a:ext cx="274320" cy="192024"/>
          </a:xfrm>
          <a:custGeom>
            <a:avLst/>
            <a:gdLst/>
            <a:ahLst/>
            <a:cxnLst/>
            <a:rect l="l" t="t" r="r" b="b"/>
            <a:pathLst>
              <a:path w="274320" h="192024">
                <a:moveTo>
                  <a:pt x="0" y="163220"/>
                </a:moveTo>
                <a:lnTo>
                  <a:pt x="123444" y="163220"/>
                </a:lnTo>
                <a:lnTo>
                  <a:pt x="164592" y="38405"/>
                </a:lnTo>
                <a:lnTo>
                  <a:pt x="205740" y="163220"/>
                </a:lnTo>
                <a:lnTo>
                  <a:pt x="274320" y="163220"/>
                </a:lnTo>
              </a:path>
            </a:pathLst>
          </a:custGeom>
          <a:ln w="12700">
            <a:solidFill>
              <a:srgbClr val="3E8E5E"/>
            </a:solidFill>
            <a:prstDash val="solid"/>
          </a:ln>
        </p:spPr>
        <p:txBody>
          <a:bodyPr/>
          <a:lstStyle/>
          <a:p>
            <a:endParaRPr lang="ko-KR" altLang="en-US"/>
          </a:p>
        </p:txBody>
      </p:sp>
      <p:sp>
        <p:nvSpPr>
          <p:cNvPr id="87" name="Shape 85">
            <a:extLst>
              <a:ext uri="{FF2B5EF4-FFF2-40B4-BE49-F238E27FC236}">
                <a16:creationId xmlns:a16="http://schemas.microsoft.com/office/drawing/2014/main" id="{92EABFB6-E58E-F239-D290-370489903A28}"/>
              </a:ext>
            </a:extLst>
          </p:cNvPr>
          <p:cNvSpPr/>
          <p:nvPr/>
        </p:nvSpPr>
        <p:spPr>
          <a:xfrm>
            <a:off x="5760720" y="4004366"/>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88" name="Shape 86">
            <a:extLst>
              <a:ext uri="{FF2B5EF4-FFF2-40B4-BE49-F238E27FC236}">
                <a16:creationId xmlns:a16="http://schemas.microsoft.com/office/drawing/2014/main" id="{8379EB8E-53BA-85C3-C693-22CAA852521E}"/>
              </a:ext>
            </a:extLst>
          </p:cNvPr>
          <p:cNvSpPr/>
          <p:nvPr/>
        </p:nvSpPr>
        <p:spPr>
          <a:xfrm>
            <a:off x="5788152" y="4031798"/>
            <a:ext cx="274320" cy="192024"/>
          </a:xfrm>
          <a:custGeom>
            <a:avLst/>
            <a:gdLst/>
            <a:ahLst/>
            <a:cxnLst/>
            <a:rect l="l" t="t" r="r" b="b"/>
            <a:pathLst>
              <a:path w="274320" h="192024">
                <a:moveTo>
                  <a:pt x="0" y="163220"/>
                </a:moveTo>
                <a:lnTo>
                  <a:pt x="123444" y="163220"/>
                </a:lnTo>
                <a:lnTo>
                  <a:pt x="164592" y="38405"/>
                </a:lnTo>
                <a:lnTo>
                  <a:pt x="205740" y="163220"/>
                </a:lnTo>
                <a:lnTo>
                  <a:pt x="274320" y="163220"/>
                </a:lnTo>
              </a:path>
            </a:pathLst>
          </a:custGeom>
          <a:ln w="12700">
            <a:solidFill>
              <a:srgbClr val="3E8E5E"/>
            </a:solidFill>
            <a:prstDash val="solid"/>
          </a:ln>
        </p:spPr>
        <p:txBody>
          <a:bodyPr/>
          <a:lstStyle/>
          <a:p>
            <a:endParaRPr lang="ko-KR" altLang="en-US"/>
          </a:p>
        </p:txBody>
      </p:sp>
      <p:sp>
        <p:nvSpPr>
          <p:cNvPr id="89" name="Shape 87">
            <a:extLst>
              <a:ext uri="{FF2B5EF4-FFF2-40B4-BE49-F238E27FC236}">
                <a16:creationId xmlns:a16="http://schemas.microsoft.com/office/drawing/2014/main" id="{BA7EEC69-7416-4EE5-7DAB-C6C7FCF8A24B}"/>
              </a:ext>
            </a:extLst>
          </p:cNvPr>
          <p:cNvSpPr/>
          <p:nvPr/>
        </p:nvSpPr>
        <p:spPr>
          <a:xfrm>
            <a:off x="4663440" y="4287830"/>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90" name="Shape 88">
            <a:extLst>
              <a:ext uri="{FF2B5EF4-FFF2-40B4-BE49-F238E27FC236}">
                <a16:creationId xmlns:a16="http://schemas.microsoft.com/office/drawing/2014/main" id="{B44675AA-542A-328B-EBDF-9594AD2F8482}"/>
              </a:ext>
            </a:extLst>
          </p:cNvPr>
          <p:cNvSpPr/>
          <p:nvPr/>
        </p:nvSpPr>
        <p:spPr>
          <a:xfrm>
            <a:off x="4690872" y="4315262"/>
            <a:ext cx="274320" cy="192024"/>
          </a:xfrm>
          <a:custGeom>
            <a:avLst/>
            <a:gdLst/>
            <a:ahLst/>
            <a:cxnLst/>
            <a:rect l="l" t="t" r="r" b="b"/>
            <a:pathLst>
              <a:path w="274320" h="192024">
                <a:moveTo>
                  <a:pt x="0" y="96012"/>
                </a:moveTo>
                <a:lnTo>
                  <a:pt x="82296" y="96012"/>
                </a:lnTo>
                <a:lnTo>
                  <a:pt x="82296" y="28804"/>
                </a:lnTo>
                <a:lnTo>
                  <a:pt x="123444" y="28804"/>
                </a:lnTo>
                <a:lnTo>
                  <a:pt x="123444" y="134417"/>
                </a:lnTo>
                <a:lnTo>
                  <a:pt x="150876" y="134417"/>
                </a:lnTo>
                <a:lnTo>
                  <a:pt x="150876" y="28804"/>
                </a:lnTo>
                <a:lnTo>
                  <a:pt x="192024" y="28804"/>
                </a:lnTo>
                <a:lnTo>
                  <a:pt x="192024" y="96012"/>
                </a:lnTo>
                <a:lnTo>
                  <a:pt x="274320" y="96012"/>
                </a:lnTo>
              </a:path>
            </a:pathLst>
          </a:custGeom>
          <a:ln w="12700">
            <a:solidFill>
              <a:srgbClr val="3E8E5E"/>
            </a:solidFill>
            <a:prstDash val="solid"/>
          </a:ln>
        </p:spPr>
        <p:txBody>
          <a:bodyPr/>
          <a:lstStyle/>
          <a:p>
            <a:endParaRPr lang="ko-KR" altLang="en-US"/>
          </a:p>
        </p:txBody>
      </p:sp>
      <p:sp>
        <p:nvSpPr>
          <p:cNvPr id="91" name="Shape 89">
            <a:extLst>
              <a:ext uri="{FF2B5EF4-FFF2-40B4-BE49-F238E27FC236}">
                <a16:creationId xmlns:a16="http://schemas.microsoft.com/office/drawing/2014/main" id="{D784BE82-9835-7471-E04B-0A7D9F1B67F2}"/>
              </a:ext>
            </a:extLst>
          </p:cNvPr>
          <p:cNvSpPr/>
          <p:nvPr/>
        </p:nvSpPr>
        <p:spPr>
          <a:xfrm>
            <a:off x="5029200" y="4287830"/>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92" name="Shape 90">
            <a:extLst>
              <a:ext uri="{FF2B5EF4-FFF2-40B4-BE49-F238E27FC236}">
                <a16:creationId xmlns:a16="http://schemas.microsoft.com/office/drawing/2014/main" id="{7C8343A6-BFB5-4F8B-C0F6-C16FE65AD837}"/>
              </a:ext>
            </a:extLst>
          </p:cNvPr>
          <p:cNvSpPr/>
          <p:nvPr/>
        </p:nvSpPr>
        <p:spPr>
          <a:xfrm>
            <a:off x="5056632" y="4315262"/>
            <a:ext cx="274320" cy="192024"/>
          </a:xfrm>
          <a:custGeom>
            <a:avLst/>
            <a:gdLst/>
            <a:ahLst/>
            <a:cxnLst/>
            <a:rect l="l" t="t" r="r" b="b"/>
            <a:pathLst>
              <a:path w="274320" h="192024">
                <a:moveTo>
                  <a:pt x="0" y="163220"/>
                </a:moveTo>
                <a:lnTo>
                  <a:pt x="123444" y="163220"/>
                </a:lnTo>
                <a:lnTo>
                  <a:pt x="164592" y="38405"/>
                </a:lnTo>
                <a:lnTo>
                  <a:pt x="205740" y="163220"/>
                </a:lnTo>
                <a:lnTo>
                  <a:pt x="274320" y="163220"/>
                </a:lnTo>
              </a:path>
            </a:pathLst>
          </a:custGeom>
          <a:ln w="12700">
            <a:solidFill>
              <a:srgbClr val="3E8E5E"/>
            </a:solidFill>
            <a:prstDash val="solid"/>
          </a:ln>
        </p:spPr>
        <p:txBody>
          <a:bodyPr/>
          <a:lstStyle/>
          <a:p>
            <a:endParaRPr lang="ko-KR" altLang="en-US"/>
          </a:p>
        </p:txBody>
      </p:sp>
      <p:sp>
        <p:nvSpPr>
          <p:cNvPr id="93" name="Shape 91">
            <a:extLst>
              <a:ext uri="{FF2B5EF4-FFF2-40B4-BE49-F238E27FC236}">
                <a16:creationId xmlns:a16="http://schemas.microsoft.com/office/drawing/2014/main" id="{DFAE25BB-2DFE-9123-FD6D-62F5AA6F03B6}"/>
              </a:ext>
            </a:extLst>
          </p:cNvPr>
          <p:cNvSpPr/>
          <p:nvPr/>
        </p:nvSpPr>
        <p:spPr>
          <a:xfrm>
            <a:off x="5394960" y="4287830"/>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94" name="Shape 92">
            <a:extLst>
              <a:ext uri="{FF2B5EF4-FFF2-40B4-BE49-F238E27FC236}">
                <a16:creationId xmlns:a16="http://schemas.microsoft.com/office/drawing/2014/main" id="{9EE01BCC-D2C8-E8F5-5A3D-901FE5363E70}"/>
              </a:ext>
            </a:extLst>
          </p:cNvPr>
          <p:cNvSpPr/>
          <p:nvPr/>
        </p:nvSpPr>
        <p:spPr>
          <a:xfrm>
            <a:off x="5422392" y="4315262"/>
            <a:ext cx="274320" cy="192024"/>
          </a:xfrm>
          <a:custGeom>
            <a:avLst/>
            <a:gdLst/>
            <a:ahLst/>
            <a:cxnLst/>
            <a:rect l="l" t="t" r="r" b="b"/>
            <a:pathLst>
              <a:path w="274320" h="192024">
                <a:moveTo>
                  <a:pt x="0" y="96012"/>
                </a:moveTo>
                <a:lnTo>
                  <a:pt x="82296" y="96012"/>
                </a:lnTo>
                <a:lnTo>
                  <a:pt x="82296" y="28804"/>
                </a:lnTo>
                <a:lnTo>
                  <a:pt x="123444" y="28804"/>
                </a:lnTo>
                <a:lnTo>
                  <a:pt x="123444" y="134417"/>
                </a:lnTo>
                <a:lnTo>
                  <a:pt x="150876" y="134417"/>
                </a:lnTo>
                <a:lnTo>
                  <a:pt x="150876" y="28804"/>
                </a:lnTo>
                <a:lnTo>
                  <a:pt x="192024" y="28804"/>
                </a:lnTo>
                <a:lnTo>
                  <a:pt x="192024" y="96012"/>
                </a:lnTo>
                <a:lnTo>
                  <a:pt x="274320" y="96012"/>
                </a:lnTo>
              </a:path>
            </a:pathLst>
          </a:custGeom>
          <a:ln w="12700">
            <a:solidFill>
              <a:srgbClr val="3E8E5E"/>
            </a:solidFill>
            <a:prstDash val="solid"/>
          </a:ln>
        </p:spPr>
        <p:txBody>
          <a:bodyPr/>
          <a:lstStyle/>
          <a:p>
            <a:endParaRPr lang="ko-KR" altLang="en-US"/>
          </a:p>
        </p:txBody>
      </p:sp>
      <p:sp>
        <p:nvSpPr>
          <p:cNvPr id="95" name="Shape 93">
            <a:extLst>
              <a:ext uri="{FF2B5EF4-FFF2-40B4-BE49-F238E27FC236}">
                <a16:creationId xmlns:a16="http://schemas.microsoft.com/office/drawing/2014/main" id="{7C238C8B-8E87-9507-DB5F-039F1A69C225}"/>
              </a:ext>
            </a:extLst>
          </p:cNvPr>
          <p:cNvSpPr/>
          <p:nvPr/>
        </p:nvSpPr>
        <p:spPr>
          <a:xfrm>
            <a:off x="5760720" y="4287830"/>
            <a:ext cx="329184" cy="246888"/>
          </a:xfrm>
          <a:prstGeom prst="rect">
            <a:avLst/>
          </a:prstGeom>
          <a:solidFill>
            <a:srgbClr val="FFFFFF"/>
          </a:solidFill>
          <a:ln w="6350">
            <a:solidFill>
              <a:srgbClr val="7F7F7F"/>
            </a:solidFill>
            <a:prstDash val="solid"/>
          </a:ln>
        </p:spPr>
        <p:txBody>
          <a:bodyPr/>
          <a:lstStyle/>
          <a:p>
            <a:endParaRPr lang="ko-KR" altLang="en-US"/>
          </a:p>
        </p:txBody>
      </p:sp>
      <p:sp>
        <p:nvSpPr>
          <p:cNvPr id="96" name="Shape 94">
            <a:extLst>
              <a:ext uri="{FF2B5EF4-FFF2-40B4-BE49-F238E27FC236}">
                <a16:creationId xmlns:a16="http://schemas.microsoft.com/office/drawing/2014/main" id="{0550079C-ED54-CFF9-0CD5-622D23396F68}"/>
              </a:ext>
            </a:extLst>
          </p:cNvPr>
          <p:cNvSpPr/>
          <p:nvPr/>
        </p:nvSpPr>
        <p:spPr>
          <a:xfrm>
            <a:off x="5788152" y="4315262"/>
            <a:ext cx="274320" cy="192024"/>
          </a:xfrm>
          <a:custGeom>
            <a:avLst/>
            <a:gdLst/>
            <a:ahLst/>
            <a:cxnLst/>
            <a:rect l="l" t="t" r="r" b="b"/>
            <a:pathLst>
              <a:path w="274320" h="192024">
                <a:moveTo>
                  <a:pt x="0" y="163220"/>
                </a:moveTo>
                <a:lnTo>
                  <a:pt x="123444" y="163220"/>
                </a:lnTo>
                <a:lnTo>
                  <a:pt x="164592" y="38405"/>
                </a:lnTo>
                <a:lnTo>
                  <a:pt x="205740" y="163220"/>
                </a:lnTo>
                <a:lnTo>
                  <a:pt x="274320" y="163220"/>
                </a:lnTo>
              </a:path>
            </a:pathLst>
          </a:custGeom>
          <a:ln w="12700">
            <a:solidFill>
              <a:srgbClr val="3E8E5E"/>
            </a:solidFill>
            <a:prstDash val="solid"/>
          </a:ln>
        </p:spPr>
        <p:txBody>
          <a:bodyPr/>
          <a:lstStyle/>
          <a:p>
            <a:endParaRPr lang="ko-KR" altLang="en-US"/>
          </a:p>
        </p:txBody>
      </p:sp>
      <p:sp>
        <p:nvSpPr>
          <p:cNvPr id="97" name="Text 95">
            <a:extLst>
              <a:ext uri="{FF2B5EF4-FFF2-40B4-BE49-F238E27FC236}">
                <a16:creationId xmlns:a16="http://schemas.microsoft.com/office/drawing/2014/main" id="{7AE902C8-894D-407E-802C-794BE81C2B49}"/>
              </a:ext>
            </a:extLst>
          </p:cNvPr>
          <p:cNvSpPr txBox="1"/>
          <p:nvPr/>
        </p:nvSpPr>
        <p:spPr>
          <a:xfrm>
            <a:off x="4526280" y="4589582"/>
            <a:ext cx="1737360" cy="237744"/>
          </a:xfrm>
          <a:prstGeom prst="rect">
            <a:avLst/>
          </a:prstGeom>
          <a:noFill/>
          <a:ln/>
        </p:spPr>
        <p:txBody>
          <a:bodyPr wrap="square" lIns="0" tIns="0" rIns="0" bIns="0" rtlCol="0" anchor="ctr"/>
          <a:lstStyle/>
          <a:p>
            <a:pPr marL="0" indent="0" algn="ctr">
              <a:buNone/>
            </a:pPr>
            <a:r>
              <a:rPr lang="en-US" sz="1200" b="1" dirty="0">
                <a:solidFill>
                  <a:srgbClr val="000000"/>
                </a:solidFill>
                <a:latin typeface="Times New Roman" pitchFamily="34" charset="0"/>
                <a:ea typeface="Times New Roman" pitchFamily="34" charset="-122"/>
                <a:cs typeface="Times New Roman" pitchFamily="34" charset="-120"/>
              </a:rPr>
              <a:t>Stroke: 12 sensors</a:t>
            </a:r>
            <a:endParaRPr lang="en-US" sz="1200" dirty="0"/>
          </a:p>
        </p:txBody>
      </p:sp>
      <p:sp>
        <p:nvSpPr>
          <p:cNvPr id="98" name="Text 96">
            <a:extLst>
              <a:ext uri="{FF2B5EF4-FFF2-40B4-BE49-F238E27FC236}">
                <a16:creationId xmlns:a16="http://schemas.microsoft.com/office/drawing/2014/main" id="{E9D20B99-DA88-D2BF-6D6C-B0D21DE7B71A}"/>
              </a:ext>
            </a:extLst>
          </p:cNvPr>
          <p:cNvSpPr txBox="1"/>
          <p:nvPr/>
        </p:nvSpPr>
        <p:spPr>
          <a:xfrm>
            <a:off x="4526280" y="4799894"/>
            <a:ext cx="1737360" cy="201168"/>
          </a:xfrm>
          <a:prstGeom prst="rect">
            <a:avLst/>
          </a:prstGeom>
          <a:noFill/>
          <a:ln/>
        </p:spPr>
        <p:txBody>
          <a:bodyPr wrap="square" lIns="0" tIns="0" rIns="0" bIns="0" rtlCol="0" anchor="ctr"/>
          <a:lstStyle/>
          <a:p>
            <a:pPr marL="0" indent="0" algn="ctr">
              <a:buNone/>
            </a:pPr>
            <a:r>
              <a:rPr lang="en-US" sz="950" i="1" dirty="0">
                <a:solidFill>
                  <a:srgbClr val="595959"/>
                </a:solidFill>
                <a:latin typeface="Times New Roman" pitchFamily="34" charset="0"/>
                <a:ea typeface="Times New Roman" pitchFamily="34" charset="-122"/>
                <a:cs typeface="Times New Roman" pitchFamily="34" charset="-120"/>
              </a:rPr>
              <a:t>speed · power · force · position</a:t>
            </a:r>
            <a:endParaRPr lang="en-US" sz="950" dirty="0"/>
          </a:p>
        </p:txBody>
      </p:sp>
      <p:sp>
        <p:nvSpPr>
          <p:cNvPr id="99" name="Shape 97">
            <a:extLst>
              <a:ext uri="{FF2B5EF4-FFF2-40B4-BE49-F238E27FC236}">
                <a16:creationId xmlns:a16="http://schemas.microsoft.com/office/drawing/2014/main" id="{470C663F-D98E-9627-20CF-8765103660AF}"/>
              </a:ext>
            </a:extLst>
          </p:cNvPr>
          <p:cNvSpPr/>
          <p:nvPr/>
        </p:nvSpPr>
        <p:spPr>
          <a:xfrm>
            <a:off x="6263640" y="4104950"/>
            <a:ext cx="411480" cy="91"/>
          </a:xfrm>
          <a:prstGeom prst="line">
            <a:avLst/>
          </a:prstGeom>
          <a:noFill/>
          <a:ln w="25400">
            <a:solidFill>
              <a:srgbClr val="000000"/>
            </a:solidFill>
            <a:prstDash val="solid"/>
            <a:tailEnd type="triangle"/>
          </a:ln>
        </p:spPr>
        <p:txBody>
          <a:bodyPr/>
          <a:lstStyle/>
          <a:p>
            <a:endParaRPr lang="ko-KR" altLang="en-US"/>
          </a:p>
        </p:txBody>
      </p:sp>
      <p:sp>
        <p:nvSpPr>
          <p:cNvPr id="100" name="Shape 98">
            <a:extLst>
              <a:ext uri="{FF2B5EF4-FFF2-40B4-BE49-F238E27FC236}">
                <a16:creationId xmlns:a16="http://schemas.microsoft.com/office/drawing/2014/main" id="{3672BE2F-6435-5BA6-13C3-0FDC53B14B28}"/>
              </a:ext>
            </a:extLst>
          </p:cNvPr>
          <p:cNvSpPr/>
          <p:nvPr/>
        </p:nvSpPr>
        <p:spPr>
          <a:xfrm>
            <a:off x="6766560" y="3647750"/>
            <a:ext cx="731520" cy="914400"/>
          </a:xfrm>
          <a:custGeom>
            <a:avLst/>
            <a:gdLst/>
            <a:ahLst/>
            <a:cxnLst/>
            <a:rect l="l" t="t" r="r" b="b"/>
            <a:pathLst>
              <a:path w="731520" h="914400">
                <a:moveTo>
                  <a:pt x="0" y="0"/>
                </a:moveTo>
                <a:lnTo>
                  <a:pt x="731520" y="292608"/>
                </a:lnTo>
                <a:lnTo>
                  <a:pt x="731520" y="621792"/>
                </a:lnTo>
                <a:lnTo>
                  <a:pt x="0" y="914400"/>
                </a:lnTo>
                <a:close/>
              </a:path>
            </a:pathLst>
          </a:custGeom>
          <a:solidFill>
            <a:srgbClr val="F79646"/>
          </a:solidFill>
          <a:ln w="15875">
            <a:solidFill>
              <a:srgbClr val="984807"/>
            </a:solidFill>
            <a:prstDash val="solid"/>
          </a:ln>
        </p:spPr>
        <p:txBody>
          <a:bodyPr/>
          <a:lstStyle/>
          <a:p>
            <a:endParaRPr lang="ko-KR" altLang="en-US"/>
          </a:p>
        </p:txBody>
      </p:sp>
      <p:sp>
        <p:nvSpPr>
          <p:cNvPr id="101" name="Shape 99">
            <a:extLst>
              <a:ext uri="{FF2B5EF4-FFF2-40B4-BE49-F238E27FC236}">
                <a16:creationId xmlns:a16="http://schemas.microsoft.com/office/drawing/2014/main" id="{A9255696-DDE0-E740-52F2-AA08AC91A113}"/>
              </a:ext>
            </a:extLst>
          </p:cNvPr>
          <p:cNvSpPr/>
          <p:nvPr/>
        </p:nvSpPr>
        <p:spPr>
          <a:xfrm>
            <a:off x="7525512" y="3940358"/>
            <a:ext cx="146304" cy="329184"/>
          </a:xfrm>
          <a:prstGeom prst="rect">
            <a:avLst/>
          </a:prstGeom>
          <a:solidFill>
            <a:srgbClr val="6F5B8F"/>
          </a:solidFill>
          <a:ln w="12700">
            <a:solidFill>
              <a:srgbClr val="4B3C63"/>
            </a:solidFill>
            <a:prstDash val="solid"/>
          </a:ln>
        </p:spPr>
        <p:txBody>
          <a:bodyPr/>
          <a:lstStyle/>
          <a:p>
            <a:endParaRPr lang="ko-KR" altLang="en-US"/>
          </a:p>
        </p:txBody>
      </p:sp>
      <p:sp>
        <p:nvSpPr>
          <p:cNvPr id="102" name="Shape 100">
            <a:extLst>
              <a:ext uri="{FF2B5EF4-FFF2-40B4-BE49-F238E27FC236}">
                <a16:creationId xmlns:a16="http://schemas.microsoft.com/office/drawing/2014/main" id="{513D2D7D-3FFC-7FE7-65CD-F22A1E92E623}"/>
              </a:ext>
            </a:extLst>
          </p:cNvPr>
          <p:cNvSpPr/>
          <p:nvPr/>
        </p:nvSpPr>
        <p:spPr>
          <a:xfrm>
            <a:off x="7699248" y="3647750"/>
            <a:ext cx="731520" cy="914400"/>
          </a:xfrm>
          <a:custGeom>
            <a:avLst/>
            <a:gdLst/>
            <a:ahLst/>
            <a:cxnLst/>
            <a:rect l="l" t="t" r="r" b="b"/>
            <a:pathLst>
              <a:path w="731520" h="914400">
                <a:moveTo>
                  <a:pt x="0" y="292608"/>
                </a:moveTo>
                <a:lnTo>
                  <a:pt x="731520" y="0"/>
                </a:lnTo>
                <a:lnTo>
                  <a:pt x="731520" y="914400"/>
                </a:lnTo>
                <a:lnTo>
                  <a:pt x="0" y="621792"/>
                </a:lnTo>
                <a:close/>
              </a:path>
            </a:pathLst>
          </a:custGeom>
          <a:solidFill>
            <a:srgbClr val="F79646"/>
          </a:solidFill>
          <a:ln w="15875">
            <a:solidFill>
              <a:srgbClr val="984807"/>
            </a:solidFill>
            <a:prstDash val="solid"/>
          </a:ln>
        </p:spPr>
        <p:txBody>
          <a:bodyPr/>
          <a:lstStyle/>
          <a:p>
            <a:endParaRPr lang="ko-KR" altLang="en-US"/>
          </a:p>
        </p:txBody>
      </p:sp>
      <p:sp>
        <p:nvSpPr>
          <p:cNvPr id="103" name="Text 101">
            <a:extLst>
              <a:ext uri="{FF2B5EF4-FFF2-40B4-BE49-F238E27FC236}">
                <a16:creationId xmlns:a16="http://schemas.microsoft.com/office/drawing/2014/main" id="{9911F909-3A5E-7DC2-9979-9D871FFB51D2}"/>
              </a:ext>
            </a:extLst>
          </p:cNvPr>
          <p:cNvSpPr txBox="1"/>
          <p:nvPr/>
        </p:nvSpPr>
        <p:spPr>
          <a:xfrm>
            <a:off x="6766560" y="3995222"/>
            <a:ext cx="731520" cy="219456"/>
          </a:xfrm>
          <a:prstGeom prst="rect">
            <a:avLst/>
          </a:prstGeom>
          <a:noFill/>
          <a:ln/>
        </p:spPr>
        <p:txBody>
          <a:bodyPr wrap="square" lIns="0" tIns="0" rIns="0" bIns="0" rtlCol="0" anchor="ctr"/>
          <a:lstStyle/>
          <a:p>
            <a:pPr marL="0" indent="0" algn="ctr">
              <a:buNone/>
            </a:pPr>
            <a:r>
              <a:rPr lang="en-US" sz="950" b="1" dirty="0">
                <a:solidFill>
                  <a:srgbClr val="000000"/>
                </a:solidFill>
                <a:latin typeface="Times New Roman" pitchFamily="34" charset="0"/>
                <a:ea typeface="Times New Roman" pitchFamily="34" charset="-122"/>
                <a:cs typeface="Times New Roman" pitchFamily="34" charset="-120"/>
              </a:rPr>
              <a:t>Encoder</a:t>
            </a:r>
            <a:endParaRPr lang="en-US" sz="950" dirty="0"/>
          </a:p>
        </p:txBody>
      </p:sp>
      <p:sp>
        <p:nvSpPr>
          <p:cNvPr id="104" name="Text 102">
            <a:extLst>
              <a:ext uri="{FF2B5EF4-FFF2-40B4-BE49-F238E27FC236}">
                <a16:creationId xmlns:a16="http://schemas.microsoft.com/office/drawing/2014/main" id="{39A3BD4A-D3DD-F526-D48C-78B9E51FCB37}"/>
              </a:ext>
            </a:extLst>
          </p:cNvPr>
          <p:cNvSpPr txBox="1"/>
          <p:nvPr/>
        </p:nvSpPr>
        <p:spPr>
          <a:xfrm>
            <a:off x="7699248" y="3995222"/>
            <a:ext cx="731520" cy="219456"/>
          </a:xfrm>
          <a:prstGeom prst="rect">
            <a:avLst/>
          </a:prstGeom>
          <a:noFill/>
          <a:ln/>
        </p:spPr>
        <p:txBody>
          <a:bodyPr wrap="square" lIns="0" tIns="0" rIns="0" bIns="0" rtlCol="0" anchor="ctr"/>
          <a:lstStyle/>
          <a:p>
            <a:pPr marL="0" indent="0" algn="ctr">
              <a:buNone/>
            </a:pPr>
            <a:r>
              <a:rPr lang="en-US" sz="950" b="1" dirty="0">
                <a:solidFill>
                  <a:srgbClr val="000000"/>
                </a:solidFill>
                <a:latin typeface="Times New Roman" pitchFamily="34" charset="0"/>
                <a:ea typeface="Times New Roman" pitchFamily="34" charset="-122"/>
                <a:cs typeface="Times New Roman" pitchFamily="34" charset="-120"/>
              </a:rPr>
              <a:t>Decoder</a:t>
            </a:r>
            <a:endParaRPr lang="en-US" sz="950" dirty="0"/>
          </a:p>
        </p:txBody>
      </p:sp>
      <p:sp>
        <p:nvSpPr>
          <p:cNvPr id="105" name="Text 103">
            <a:extLst>
              <a:ext uri="{FF2B5EF4-FFF2-40B4-BE49-F238E27FC236}">
                <a16:creationId xmlns:a16="http://schemas.microsoft.com/office/drawing/2014/main" id="{FD11E2E3-B294-3096-1A62-7AA748A94C2F}"/>
              </a:ext>
            </a:extLst>
          </p:cNvPr>
          <p:cNvSpPr txBox="1"/>
          <p:nvPr/>
        </p:nvSpPr>
        <p:spPr>
          <a:xfrm>
            <a:off x="6675120" y="4589582"/>
            <a:ext cx="1828800" cy="237744"/>
          </a:xfrm>
          <a:prstGeom prst="rect">
            <a:avLst/>
          </a:prstGeom>
          <a:noFill/>
          <a:ln/>
        </p:spPr>
        <p:txBody>
          <a:bodyPr wrap="square" lIns="0" tIns="0" rIns="0" bIns="0" rtlCol="0" anchor="ctr"/>
          <a:lstStyle/>
          <a:p>
            <a:pPr marL="0" indent="0" algn="ctr">
              <a:buNone/>
            </a:pPr>
            <a:r>
              <a:rPr lang="en-US" sz="1200" b="1" dirty="0">
                <a:solidFill>
                  <a:srgbClr val="000000"/>
                </a:solidFill>
                <a:latin typeface="Times New Roman" pitchFamily="34" charset="0"/>
                <a:ea typeface="Times New Roman" pitchFamily="34" charset="-122"/>
                <a:cs typeface="Times New Roman" pitchFamily="34" charset="-120"/>
              </a:rPr>
              <a:t>2D-CNN-AE</a:t>
            </a:r>
            <a:endParaRPr lang="en-US" sz="1200" dirty="0"/>
          </a:p>
        </p:txBody>
      </p:sp>
      <p:sp>
        <p:nvSpPr>
          <p:cNvPr id="106" name="Text 104">
            <a:extLst>
              <a:ext uri="{FF2B5EF4-FFF2-40B4-BE49-F238E27FC236}">
                <a16:creationId xmlns:a16="http://schemas.microsoft.com/office/drawing/2014/main" id="{AE4ED85C-2E29-81D8-7092-4BA299AB1772}"/>
              </a:ext>
            </a:extLst>
          </p:cNvPr>
          <p:cNvSpPr txBox="1"/>
          <p:nvPr/>
        </p:nvSpPr>
        <p:spPr>
          <a:xfrm>
            <a:off x="6675120" y="4799894"/>
            <a:ext cx="1828800" cy="201168"/>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정상 stroke 516개만 학습</a:t>
            </a:r>
            <a:endParaRPr lang="en-US" sz="950" dirty="0"/>
          </a:p>
        </p:txBody>
      </p:sp>
      <p:sp>
        <p:nvSpPr>
          <p:cNvPr id="107" name="Shape 105">
            <a:extLst>
              <a:ext uri="{FF2B5EF4-FFF2-40B4-BE49-F238E27FC236}">
                <a16:creationId xmlns:a16="http://schemas.microsoft.com/office/drawing/2014/main" id="{6289C239-B974-28C5-BC20-731C5BD82E0A}"/>
              </a:ext>
            </a:extLst>
          </p:cNvPr>
          <p:cNvSpPr/>
          <p:nvPr/>
        </p:nvSpPr>
        <p:spPr>
          <a:xfrm>
            <a:off x="8522208" y="4104950"/>
            <a:ext cx="411480" cy="91"/>
          </a:xfrm>
          <a:prstGeom prst="line">
            <a:avLst/>
          </a:prstGeom>
          <a:noFill/>
          <a:ln w="25400">
            <a:solidFill>
              <a:srgbClr val="000000"/>
            </a:solidFill>
            <a:prstDash val="solid"/>
            <a:tailEnd type="triangle"/>
          </a:ln>
        </p:spPr>
        <p:txBody>
          <a:bodyPr/>
          <a:lstStyle/>
          <a:p>
            <a:endParaRPr lang="ko-KR" altLang="en-US"/>
          </a:p>
        </p:txBody>
      </p:sp>
      <p:sp>
        <p:nvSpPr>
          <p:cNvPr id="108" name="Text 106">
            <a:extLst>
              <a:ext uri="{FF2B5EF4-FFF2-40B4-BE49-F238E27FC236}">
                <a16:creationId xmlns:a16="http://schemas.microsoft.com/office/drawing/2014/main" id="{F08E827A-BD88-A6E1-3076-62BC9D6FA86E}"/>
              </a:ext>
            </a:extLst>
          </p:cNvPr>
          <p:cNvSpPr txBox="1"/>
          <p:nvPr/>
        </p:nvSpPr>
        <p:spPr>
          <a:xfrm>
            <a:off x="9052560" y="3647750"/>
            <a:ext cx="2697480" cy="914400"/>
          </a:xfrm>
          <a:prstGeom prst="rect">
            <a:avLst/>
          </a:prstGeom>
          <a:noFill/>
          <a:ln/>
        </p:spPr>
        <p:txBody>
          <a:bodyPr wrap="square" lIns="0" tIns="0" rIns="0" bIns="0" rtlCol="0" anchor="ctr"/>
          <a:lstStyle/>
          <a:p>
            <a:pPr marL="0" indent="0">
              <a:spcAft>
                <a:spcPts val="200"/>
              </a:spcAft>
              <a:buNone/>
            </a:pPr>
            <a:r>
              <a:rPr lang="en-US" sz="1300" b="1" dirty="0">
                <a:solidFill>
                  <a:srgbClr val="000000"/>
                </a:solidFill>
                <a:latin typeface="Times New Roman" pitchFamily="34" charset="0"/>
                <a:ea typeface="Times New Roman" pitchFamily="34" charset="-122"/>
                <a:cs typeface="Times New Roman" pitchFamily="34" charset="-120"/>
              </a:rPr>
              <a:t>damage index</a:t>
            </a:r>
            <a:endParaRPr lang="en-US" sz="1300" dirty="0"/>
          </a:p>
          <a:p>
            <a:pPr marL="0" indent="0">
              <a:spcAft>
                <a:spcPts val="800"/>
              </a:spcAft>
              <a:buNone/>
            </a:pPr>
            <a:r>
              <a:rPr lang="en-US" sz="1300" b="1" i="1" dirty="0">
                <a:solidFill>
                  <a:srgbClr val="000000"/>
                </a:solidFill>
                <a:latin typeface="Times New Roman" pitchFamily="34" charset="0"/>
                <a:ea typeface="Times New Roman" pitchFamily="34" charset="-122"/>
                <a:cs typeface="Times New Roman" pitchFamily="34" charset="-120"/>
              </a:rPr>
              <a:t>= RMSE(x, x̂)</a:t>
            </a:r>
            <a:endParaRPr lang="en-US" sz="1300" dirty="0"/>
          </a:p>
          <a:p>
            <a:pPr marL="0" indent="0">
              <a:buNone/>
            </a:pPr>
            <a:r>
              <a:rPr lang="en-US" sz="1200" b="1" dirty="0">
                <a:solidFill>
                  <a:srgbClr val="C00000"/>
                </a:solidFill>
                <a:latin typeface="+mn-ea"/>
                <a:cs typeface="Times New Roman" pitchFamily="34" charset="-120"/>
              </a:rPr>
              <a:t>&gt; 정상 검증 p95  → 이상</a:t>
            </a:r>
            <a:endParaRPr lang="en-US" sz="1300" dirty="0">
              <a:latin typeface="+mn-ea"/>
            </a:endParaRPr>
          </a:p>
        </p:txBody>
      </p:sp>
      <p:sp>
        <p:nvSpPr>
          <p:cNvPr id="109" name="Text 107">
            <a:extLst>
              <a:ext uri="{FF2B5EF4-FFF2-40B4-BE49-F238E27FC236}">
                <a16:creationId xmlns:a16="http://schemas.microsoft.com/office/drawing/2014/main" id="{5B5A89B8-7C96-A41A-F607-FF18228A8500}"/>
              </a:ext>
            </a:extLst>
          </p:cNvPr>
          <p:cNvSpPr txBox="1"/>
          <p:nvPr/>
        </p:nvSpPr>
        <p:spPr>
          <a:xfrm>
            <a:off x="9052560" y="4589582"/>
            <a:ext cx="2697480" cy="201168"/>
          </a:xfrm>
          <a:prstGeom prst="rect">
            <a:avLst/>
          </a:prstGeom>
          <a:noFill/>
          <a:ln/>
        </p:spPr>
        <p:txBody>
          <a:bodyPr wrap="square" lIns="0" tIns="0" rIns="0" bIns="0" rtlCol="0" anchor="ctr"/>
          <a:lstStyle/>
          <a:p>
            <a:pPr marL="0" indent="0" algn="l">
              <a:buNone/>
            </a:pPr>
            <a:r>
              <a:rPr lang="en-US" sz="1000" i="1" dirty="0">
                <a:solidFill>
                  <a:srgbClr val="595959"/>
                </a:solidFill>
                <a:latin typeface="Times New Roman" pitchFamily="34" charset="0"/>
                <a:ea typeface="Times New Roman" pitchFamily="34" charset="-122"/>
                <a:cs typeface="Times New Roman" pitchFamily="34" charset="-120"/>
              </a:rPr>
              <a:t>RMSE: Root Mean Squared Error</a:t>
            </a:r>
            <a:endParaRPr lang="en-US" sz="1000" dirty="0"/>
          </a:p>
        </p:txBody>
      </p:sp>
      <p:sp>
        <p:nvSpPr>
          <p:cNvPr id="110" name="Shape 108">
            <a:extLst>
              <a:ext uri="{FF2B5EF4-FFF2-40B4-BE49-F238E27FC236}">
                <a16:creationId xmlns:a16="http://schemas.microsoft.com/office/drawing/2014/main" id="{AD513B41-56C7-3600-028D-953259BAD387}"/>
              </a:ext>
            </a:extLst>
          </p:cNvPr>
          <p:cNvSpPr/>
          <p:nvPr/>
        </p:nvSpPr>
        <p:spPr>
          <a:xfrm>
            <a:off x="4709160" y="6043478"/>
            <a:ext cx="4206240" cy="91"/>
          </a:xfrm>
          <a:prstGeom prst="line">
            <a:avLst/>
          </a:prstGeom>
          <a:noFill/>
          <a:ln w="12700">
            <a:solidFill>
              <a:srgbClr val="000000"/>
            </a:solidFill>
            <a:prstDash val="solid"/>
          </a:ln>
        </p:spPr>
        <p:txBody>
          <a:bodyPr/>
          <a:lstStyle/>
          <a:p>
            <a:endParaRPr lang="ko-KR" altLang="en-US"/>
          </a:p>
        </p:txBody>
      </p:sp>
      <p:sp>
        <p:nvSpPr>
          <p:cNvPr id="111" name="Shape 109">
            <a:extLst>
              <a:ext uri="{FF2B5EF4-FFF2-40B4-BE49-F238E27FC236}">
                <a16:creationId xmlns:a16="http://schemas.microsoft.com/office/drawing/2014/main" id="{D3C2F57C-8985-D22A-2F33-3B4B9A619E1B}"/>
              </a:ext>
            </a:extLst>
          </p:cNvPr>
          <p:cNvSpPr/>
          <p:nvPr/>
        </p:nvSpPr>
        <p:spPr>
          <a:xfrm flipV="1">
            <a:off x="4709160" y="5247950"/>
            <a:ext cx="91" cy="795528"/>
          </a:xfrm>
          <a:prstGeom prst="line">
            <a:avLst/>
          </a:prstGeom>
          <a:noFill/>
          <a:ln w="12700">
            <a:solidFill>
              <a:srgbClr val="000000"/>
            </a:solidFill>
            <a:prstDash val="solid"/>
          </a:ln>
        </p:spPr>
        <p:txBody>
          <a:bodyPr/>
          <a:lstStyle/>
          <a:p>
            <a:endParaRPr lang="ko-KR" altLang="en-US"/>
          </a:p>
        </p:txBody>
      </p:sp>
      <p:sp>
        <p:nvSpPr>
          <p:cNvPr id="112" name="Shape 110">
            <a:extLst>
              <a:ext uri="{FF2B5EF4-FFF2-40B4-BE49-F238E27FC236}">
                <a16:creationId xmlns:a16="http://schemas.microsoft.com/office/drawing/2014/main" id="{B7F634B7-AA42-3D5E-110A-DE5A9391AC91}"/>
              </a:ext>
            </a:extLst>
          </p:cNvPr>
          <p:cNvSpPr/>
          <p:nvPr/>
        </p:nvSpPr>
        <p:spPr>
          <a:xfrm>
            <a:off x="4709160" y="5860598"/>
            <a:ext cx="4206240" cy="91"/>
          </a:xfrm>
          <a:prstGeom prst="line">
            <a:avLst/>
          </a:prstGeom>
          <a:noFill/>
          <a:ln w="19050">
            <a:solidFill>
              <a:srgbClr val="000000"/>
            </a:solidFill>
            <a:prstDash val="solid"/>
          </a:ln>
        </p:spPr>
        <p:txBody>
          <a:bodyPr/>
          <a:lstStyle/>
          <a:p>
            <a:endParaRPr lang="ko-KR" altLang="en-US"/>
          </a:p>
        </p:txBody>
      </p:sp>
      <p:sp>
        <p:nvSpPr>
          <p:cNvPr id="113" name="Text 111">
            <a:extLst>
              <a:ext uri="{FF2B5EF4-FFF2-40B4-BE49-F238E27FC236}">
                <a16:creationId xmlns:a16="http://schemas.microsoft.com/office/drawing/2014/main" id="{D0B278AF-873D-5652-14BF-E88A4203CF51}"/>
              </a:ext>
            </a:extLst>
          </p:cNvPr>
          <p:cNvSpPr txBox="1"/>
          <p:nvPr/>
        </p:nvSpPr>
        <p:spPr>
          <a:xfrm>
            <a:off x="8942832" y="5750870"/>
            <a:ext cx="685800" cy="219456"/>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threshold</a:t>
            </a:r>
            <a:endParaRPr lang="en-US" sz="1000" dirty="0"/>
          </a:p>
        </p:txBody>
      </p:sp>
      <p:sp>
        <p:nvSpPr>
          <p:cNvPr id="114" name="Text 112">
            <a:extLst>
              <a:ext uri="{FF2B5EF4-FFF2-40B4-BE49-F238E27FC236}">
                <a16:creationId xmlns:a16="http://schemas.microsoft.com/office/drawing/2014/main" id="{B6467254-ADE2-D86C-CA68-93421D2B9BAE}"/>
              </a:ext>
            </a:extLst>
          </p:cNvPr>
          <p:cNvSpPr txBox="1"/>
          <p:nvPr/>
        </p:nvSpPr>
        <p:spPr>
          <a:xfrm>
            <a:off x="4782312" y="5183942"/>
            <a:ext cx="1188720" cy="201168"/>
          </a:xfrm>
          <a:prstGeom prst="rect">
            <a:avLst/>
          </a:prstGeom>
          <a:noFill/>
          <a:ln/>
        </p:spPr>
        <p:txBody>
          <a:bodyPr wrap="square" lIns="0" tIns="0" rIns="0" bIns="0" rtlCol="0" anchor="ctr"/>
          <a:lstStyle/>
          <a:p>
            <a:pPr marL="0" indent="0" algn="l">
              <a:buNone/>
            </a:pPr>
            <a:r>
              <a:rPr lang="en-US" sz="1000" i="1" dirty="0">
                <a:solidFill>
                  <a:srgbClr val="000000"/>
                </a:solidFill>
                <a:latin typeface="Times New Roman" pitchFamily="34" charset="0"/>
                <a:ea typeface="Times New Roman" pitchFamily="34" charset="-122"/>
                <a:cs typeface="Times New Roman" pitchFamily="34" charset="-120"/>
              </a:rPr>
              <a:t>damage index</a:t>
            </a:r>
            <a:endParaRPr lang="en-US" sz="1000" dirty="0"/>
          </a:p>
        </p:txBody>
      </p:sp>
      <p:sp>
        <p:nvSpPr>
          <p:cNvPr id="115" name="Shape 113">
            <a:extLst>
              <a:ext uri="{FF2B5EF4-FFF2-40B4-BE49-F238E27FC236}">
                <a16:creationId xmlns:a16="http://schemas.microsoft.com/office/drawing/2014/main" id="{FE73B748-8A18-D4BB-1919-FA027C6045D3}"/>
              </a:ext>
            </a:extLst>
          </p:cNvPr>
          <p:cNvSpPr/>
          <p:nvPr/>
        </p:nvSpPr>
        <p:spPr>
          <a:xfrm>
            <a:off x="4796028" y="5938037"/>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16" name="Shape 114">
            <a:extLst>
              <a:ext uri="{FF2B5EF4-FFF2-40B4-BE49-F238E27FC236}">
                <a16:creationId xmlns:a16="http://schemas.microsoft.com/office/drawing/2014/main" id="{917BA548-A0EB-6CC8-2BD2-46E25EE96C58}"/>
              </a:ext>
            </a:extLst>
          </p:cNvPr>
          <p:cNvSpPr/>
          <p:nvPr/>
        </p:nvSpPr>
        <p:spPr>
          <a:xfrm>
            <a:off x="4841748" y="5972580"/>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17" name="Shape 115">
            <a:extLst>
              <a:ext uri="{FF2B5EF4-FFF2-40B4-BE49-F238E27FC236}">
                <a16:creationId xmlns:a16="http://schemas.microsoft.com/office/drawing/2014/main" id="{6BB03506-CDC8-2B9C-6F12-F4420E7ABA45}"/>
              </a:ext>
            </a:extLst>
          </p:cNvPr>
          <p:cNvSpPr/>
          <p:nvPr/>
        </p:nvSpPr>
        <p:spPr>
          <a:xfrm>
            <a:off x="4887468" y="5947565"/>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18" name="Shape 116">
            <a:extLst>
              <a:ext uri="{FF2B5EF4-FFF2-40B4-BE49-F238E27FC236}">
                <a16:creationId xmlns:a16="http://schemas.microsoft.com/office/drawing/2014/main" id="{8BCEC2D6-8682-4557-6103-D005AFE7FA7A}"/>
              </a:ext>
            </a:extLst>
          </p:cNvPr>
          <p:cNvSpPr/>
          <p:nvPr/>
        </p:nvSpPr>
        <p:spPr>
          <a:xfrm>
            <a:off x="4933188" y="5958845"/>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19" name="Shape 117">
            <a:extLst>
              <a:ext uri="{FF2B5EF4-FFF2-40B4-BE49-F238E27FC236}">
                <a16:creationId xmlns:a16="http://schemas.microsoft.com/office/drawing/2014/main" id="{D4D772C3-80CC-B3F2-BCB0-F755666D16DE}"/>
              </a:ext>
            </a:extLst>
          </p:cNvPr>
          <p:cNvSpPr/>
          <p:nvPr/>
        </p:nvSpPr>
        <p:spPr>
          <a:xfrm>
            <a:off x="4978908" y="5954738"/>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0" name="Shape 118">
            <a:extLst>
              <a:ext uri="{FF2B5EF4-FFF2-40B4-BE49-F238E27FC236}">
                <a16:creationId xmlns:a16="http://schemas.microsoft.com/office/drawing/2014/main" id="{87833D0D-1135-CF25-D4C6-60C359F098C9}"/>
              </a:ext>
            </a:extLst>
          </p:cNvPr>
          <p:cNvSpPr/>
          <p:nvPr/>
        </p:nvSpPr>
        <p:spPr>
          <a:xfrm>
            <a:off x="5024628" y="5930821"/>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1" name="Shape 119">
            <a:extLst>
              <a:ext uri="{FF2B5EF4-FFF2-40B4-BE49-F238E27FC236}">
                <a16:creationId xmlns:a16="http://schemas.microsoft.com/office/drawing/2014/main" id="{8162A6B9-DE51-FC93-FA22-E42E04FF30FC}"/>
              </a:ext>
            </a:extLst>
          </p:cNvPr>
          <p:cNvSpPr/>
          <p:nvPr/>
        </p:nvSpPr>
        <p:spPr>
          <a:xfrm>
            <a:off x="5070348" y="5917046"/>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2" name="Shape 120">
            <a:extLst>
              <a:ext uri="{FF2B5EF4-FFF2-40B4-BE49-F238E27FC236}">
                <a16:creationId xmlns:a16="http://schemas.microsoft.com/office/drawing/2014/main" id="{B956ACEE-9438-3382-9F0F-42BC5F3CE893}"/>
              </a:ext>
            </a:extLst>
          </p:cNvPr>
          <p:cNvSpPr/>
          <p:nvPr/>
        </p:nvSpPr>
        <p:spPr>
          <a:xfrm>
            <a:off x="5116068" y="5931086"/>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3" name="Shape 121">
            <a:extLst>
              <a:ext uri="{FF2B5EF4-FFF2-40B4-BE49-F238E27FC236}">
                <a16:creationId xmlns:a16="http://schemas.microsoft.com/office/drawing/2014/main" id="{DB737290-A8A1-CC08-3B6B-7B7415028466}"/>
              </a:ext>
            </a:extLst>
          </p:cNvPr>
          <p:cNvSpPr/>
          <p:nvPr/>
        </p:nvSpPr>
        <p:spPr>
          <a:xfrm>
            <a:off x="5161788" y="5932296"/>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4" name="Shape 122">
            <a:extLst>
              <a:ext uri="{FF2B5EF4-FFF2-40B4-BE49-F238E27FC236}">
                <a16:creationId xmlns:a16="http://schemas.microsoft.com/office/drawing/2014/main" id="{F1270979-9F09-61F1-5266-B035374FE645}"/>
              </a:ext>
            </a:extLst>
          </p:cNvPr>
          <p:cNvSpPr/>
          <p:nvPr/>
        </p:nvSpPr>
        <p:spPr>
          <a:xfrm>
            <a:off x="5207508" y="5919419"/>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5" name="Shape 123">
            <a:extLst>
              <a:ext uri="{FF2B5EF4-FFF2-40B4-BE49-F238E27FC236}">
                <a16:creationId xmlns:a16="http://schemas.microsoft.com/office/drawing/2014/main" id="{F6635961-DCB3-D1B9-3C74-A8214F7A3932}"/>
              </a:ext>
            </a:extLst>
          </p:cNvPr>
          <p:cNvSpPr/>
          <p:nvPr/>
        </p:nvSpPr>
        <p:spPr>
          <a:xfrm>
            <a:off x="5253228" y="5979515"/>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6" name="Shape 124">
            <a:extLst>
              <a:ext uri="{FF2B5EF4-FFF2-40B4-BE49-F238E27FC236}">
                <a16:creationId xmlns:a16="http://schemas.microsoft.com/office/drawing/2014/main" id="{AA5D6A9C-2558-1AD1-7446-98C39EE5575F}"/>
              </a:ext>
            </a:extLst>
          </p:cNvPr>
          <p:cNvSpPr/>
          <p:nvPr/>
        </p:nvSpPr>
        <p:spPr>
          <a:xfrm>
            <a:off x="5298948" y="5944377"/>
            <a:ext cx="45720" cy="45720"/>
          </a:xfrm>
          <a:prstGeom prst="ellipse">
            <a:avLst/>
          </a:prstGeom>
          <a:solidFill>
            <a:srgbClr val="1F4E79"/>
          </a:solidFill>
          <a:ln w="12700">
            <a:solidFill>
              <a:srgbClr val="1F4E79"/>
            </a:solidFill>
            <a:prstDash val="solid"/>
          </a:ln>
        </p:spPr>
        <p:txBody>
          <a:bodyPr/>
          <a:lstStyle/>
          <a:p>
            <a:endParaRPr lang="ko-KR" altLang="en-US"/>
          </a:p>
        </p:txBody>
      </p:sp>
      <p:sp>
        <p:nvSpPr>
          <p:cNvPr id="127" name="Shape 125">
            <a:extLst>
              <a:ext uri="{FF2B5EF4-FFF2-40B4-BE49-F238E27FC236}">
                <a16:creationId xmlns:a16="http://schemas.microsoft.com/office/drawing/2014/main" id="{DC4C94F2-171D-1299-3428-13573FFF0C5B}"/>
              </a:ext>
            </a:extLst>
          </p:cNvPr>
          <p:cNvSpPr/>
          <p:nvPr/>
        </p:nvSpPr>
        <p:spPr>
          <a:xfrm>
            <a:off x="5500116" y="5696006"/>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28" name="Shape 126">
            <a:extLst>
              <a:ext uri="{FF2B5EF4-FFF2-40B4-BE49-F238E27FC236}">
                <a16:creationId xmlns:a16="http://schemas.microsoft.com/office/drawing/2014/main" id="{FDC421A6-770D-3D68-BBD6-F607B1A8DE19}"/>
              </a:ext>
            </a:extLst>
          </p:cNvPr>
          <p:cNvSpPr/>
          <p:nvPr/>
        </p:nvSpPr>
        <p:spPr>
          <a:xfrm>
            <a:off x="5544312" y="5696006"/>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29" name="Shape 127">
            <a:extLst>
              <a:ext uri="{FF2B5EF4-FFF2-40B4-BE49-F238E27FC236}">
                <a16:creationId xmlns:a16="http://schemas.microsoft.com/office/drawing/2014/main" id="{E02787A6-F256-FE60-45BE-FC8C795E95A8}"/>
              </a:ext>
            </a:extLst>
          </p:cNvPr>
          <p:cNvSpPr/>
          <p:nvPr/>
        </p:nvSpPr>
        <p:spPr>
          <a:xfrm>
            <a:off x="5588508" y="5696006"/>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0" name="Shape 128">
            <a:extLst>
              <a:ext uri="{FF2B5EF4-FFF2-40B4-BE49-F238E27FC236}">
                <a16:creationId xmlns:a16="http://schemas.microsoft.com/office/drawing/2014/main" id="{480826BC-C42D-7B15-AEDF-181B98B16859}"/>
              </a:ext>
            </a:extLst>
          </p:cNvPr>
          <p:cNvSpPr/>
          <p:nvPr/>
        </p:nvSpPr>
        <p:spPr>
          <a:xfrm>
            <a:off x="5632704" y="5696006"/>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1" name="Shape 129">
            <a:extLst>
              <a:ext uri="{FF2B5EF4-FFF2-40B4-BE49-F238E27FC236}">
                <a16:creationId xmlns:a16="http://schemas.microsoft.com/office/drawing/2014/main" id="{26E87A31-F396-00C4-BB11-B4CE03201FF6}"/>
              </a:ext>
            </a:extLst>
          </p:cNvPr>
          <p:cNvSpPr/>
          <p:nvPr/>
        </p:nvSpPr>
        <p:spPr>
          <a:xfrm>
            <a:off x="5705856" y="5610967"/>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2" name="Shape 130">
            <a:extLst>
              <a:ext uri="{FF2B5EF4-FFF2-40B4-BE49-F238E27FC236}">
                <a16:creationId xmlns:a16="http://schemas.microsoft.com/office/drawing/2014/main" id="{DE5C054F-829C-468B-CD6F-A2A5BD261877}"/>
              </a:ext>
            </a:extLst>
          </p:cNvPr>
          <p:cNvSpPr/>
          <p:nvPr/>
        </p:nvSpPr>
        <p:spPr>
          <a:xfrm>
            <a:off x="5750052" y="5610967"/>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3" name="Shape 131">
            <a:extLst>
              <a:ext uri="{FF2B5EF4-FFF2-40B4-BE49-F238E27FC236}">
                <a16:creationId xmlns:a16="http://schemas.microsoft.com/office/drawing/2014/main" id="{74066BF8-029E-6BA0-46D3-955EF2F12311}"/>
              </a:ext>
            </a:extLst>
          </p:cNvPr>
          <p:cNvSpPr/>
          <p:nvPr/>
        </p:nvSpPr>
        <p:spPr>
          <a:xfrm>
            <a:off x="5794248" y="5610967"/>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4" name="Shape 132">
            <a:extLst>
              <a:ext uri="{FF2B5EF4-FFF2-40B4-BE49-F238E27FC236}">
                <a16:creationId xmlns:a16="http://schemas.microsoft.com/office/drawing/2014/main" id="{E2D7FCC1-429C-E512-7E5E-70696A12677F}"/>
              </a:ext>
            </a:extLst>
          </p:cNvPr>
          <p:cNvSpPr/>
          <p:nvPr/>
        </p:nvSpPr>
        <p:spPr>
          <a:xfrm>
            <a:off x="5838444" y="5610967"/>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5" name="Shape 133">
            <a:extLst>
              <a:ext uri="{FF2B5EF4-FFF2-40B4-BE49-F238E27FC236}">
                <a16:creationId xmlns:a16="http://schemas.microsoft.com/office/drawing/2014/main" id="{544C1D57-1FBD-3EF4-1989-3B43197035BD}"/>
              </a:ext>
            </a:extLst>
          </p:cNvPr>
          <p:cNvSpPr/>
          <p:nvPr/>
        </p:nvSpPr>
        <p:spPr>
          <a:xfrm>
            <a:off x="5911596" y="552592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6" name="Shape 134">
            <a:extLst>
              <a:ext uri="{FF2B5EF4-FFF2-40B4-BE49-F238E27FC236}">
                <a16:creationId xmlns:a16="http://schemas.microsoft.com/office/drawing/2014/main" id="{904BD802-7A94-FF59-5673-B2916F67CDC9}"/>
              </a:ext>
            </a:extLst>
          </p:cNvPr>
          <p:cNvSpPr/>
          <p:nvPr/>
        </p:nvSpPr>
        <p:spPr>
          <a:xfrm>
            <a:off x="5955792" y="552592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7" name="Shape 135">
            <a:extLst>
              <a:ext uri="{FF2B5EF4-FFF2-40B4-BE49-F238E27FC236}">
                <a16:creationId xmlns:a16="http://schemas.microsoft.com/office/drawing/2014/main" id="{ECBB532A-E38A-FB6A-6498-18A7125B04F3}"/>
              </a:ext>
            </a:extLst>
          </p:cNvPr>
          <p:cNvSpPr/>
          <p:nvPr/>
        </p:nvSpPr>
        <p:spPr>
          <a:xfrm>
            <a:off x="5999988" y="552592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8" name="Shape 136">
            <a:extLst>
              <a:ext uri="{FF2B5EF4-FFF2-40B4-BE49-F238E27FC236}">
                <a16:creationId xmlns:a16="http://schemas.microsoft.com/office/drawing/2014/main" id="{0A31CEBE-1DE3-6856-4BAA-B78B92929D3B}"/>
              </a:ext>
            </a:extLst>
          </p:cNvPr>
          <p:cNvSpPr/>
          <p:nvPr/>
        </p:nvSpPr>
        <p:spPr>
          <a:xfrm>
            <a:off x="6044184" y="552592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39" name="Shape 137">
            <a:extLst>
              <a:ext uri="{FF2B5EF4-FFF2-40B4-BE49-F238E27FC236}">
                <a16:creationId xmlns:a16="http://schemas.microsoft.com/office/drawing/2014/main" id="{30EA5607-8634-5CAE-F213-BA15CF5EA3B7}"/>
              </a:ext>
            </a:extLst>
          </p:cNvPr>
          <p:cNvSpPr/>
          <p:nvPr/>
        </p:nvSpPr>
        <p:spPr>
          <a:xfrm>
            <a:off x="6117336" y="544088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0" name="Shape 138">
            <a:extLst>
              <a:ext uri="{FF2B5EF4-FFF2-40B4-BE49-F238E27FC236}">
                <a16:creationId xmlns:a16="http://schemas.microsoft.com/office/drawing/2014/main" id="{66053CBC-D1FA-CC74-4EA7-293050BF0EF4}"/>
              </a:ext>
            </a:extLst>
          </p:cNvPr>
          <p:cNvSpPr/>
          <p:nvPr/>
        </p:nvSpPr>
        <p:spPr>
          <a:xfrm>
            <a:off x="6161532" y="544088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1" name="Shape 139">
            <a:extLst>
              <a:ext uri="{FF2B5EF4-FFF2-40B4-BE49-F238E27FC236}">
                <a16:creationId xmlns:a16="http://schemas.microsoft.com/office/drawing/2014/main" id="{79BC64D7-86DC-90A2-9A31-6A86862569C2}"/>
              </a:ext>
            </a:extLst>
          </p:cNvPr>
          <p:cNvSpPr/>
          <p:nvPr/>
        </p:nvSpPr>
        <p:spPr>
          <a:xfrm>
            <a:off x="6205728" y="544088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2" name="Shape 140">
            <a:extLst>
              <a:ext uri="{FF2B5EF4-FFF2-40B4-BE49-F238E27FC236}">
                <a16:creationId xmlns:a16="http://schemas.microsoft.com/office/drawing/2014/main" id="{C595FDB5-F755-26E7-9C87-10B95958CF26}"/>
              </a:ext>
            </a:extLst>
          </p:cNvPr>
          <p:cNvSpPr/>
          <p:nvPr/>
        </p:nvSpPr>
        <p:spPr>
          <a:xfrm>
            <a:off x="6249924" y="5440888"/>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3" name="Shape 141">
            <a:extLst>
              <a:ext uri="{FF2B5EF4-FFF2-40B4-BE49-F238E27FC236}">
                <a16:creationId xmlns:a16="http://schemas.microsoft.com/office/drawing/2014/main" id="{29A2E98E-069B-87C8-623A-8BB98E87AB9B}"/>
              </a:ext>
            </a:extLst>
          </p:cNvPr>
          <p:cNvSpPr/>
          <p:nvPr/>
        </p:nvSpPr>
        <p:spPr>
          <a:xfrm>
            <a:off x="5440680" y="5247950"/>
            <a:ext cx="91" cy="795528"/>
          </a:xfrm>
          <a:prstGeom prst="line">
            <a:avLst/>
          </a:prstGeom>
          <a:noFill/>
          <a:ln w="9525">
            <a:solidFill>
              <a:srgbClr val="5B9BD5"/>
            </a:solidFill>
            <a:prstDash val="dash"/>
          </a:ln>
        </p:spPr>
        <p:txBody>
          <a:bodyPr/>
          <a:lstStyle/>
          <a:p>
            <a:endParaRPr lang="ko-KR" altLang="en-US"/>
          </a:p>
        </p:txBody>
      </p:sp>
      <p:sp>
        <p:nvSpPr>
          <p:cNvPr id="144" name="Text 142">
            <a:extLst>
              <a:ext uri="{FF2B5EF4-FFF2-40B4-BE49-F238E27FC236}">
                <a16:creationId xmlns:a16="http://schemas.microsoft.com/office/drawing/2014/main" id="{D9697B7D-DBEA-DE61-8567-C5D05685F638}"/>
              </a:ext>
            </a:extLst>
          </p:cNvPr>
          <p:cNvSpPr txBox="1"/>
          <p:nvPr/>
        </p:nvSpPr>
        <p:spPr>
          <a:xfrm>
            <a:off x="5440680" y="6061766"/>
            <a:ext cx="914400" cy="201168"/>
          </a:xfrm>
          <a:prstGeom prst="rect">
            <a:avLst/>
          </a:prstGeom>
          <a:noFill/>
          <a:ln/>
        </p:spPr>
        <p:txBody>
          <a:bodyPr wrap="square" lIns="0" tIns="0" rIns="0" bIns="0" rtlCol="0" anchor="ctr"/>
          <a:lstStyle/>
          <a:p>
            <a:pPr marL="0" indent="0" algn="ctr">
              <a:buNone/>
            </a:pPr>
            <a:r>
              <a:rPr lang="en-US" sz="950" dirty="0">
                <a:solidFill>
                  <a:srgbClr val="000000"/>
                </a:solidFill>
                <a:latin typeface="Times New Roman" pitchFamily="34" charset="0"/>
                <a:ea typeface="Times New Roman" pitchFamily="34" charset="-122"/>
                <a:cs typeface="Times New Roman" pitchFamily="34" charset="-120"/>
              </a:rPr>
              <a:t>Force↑</a:t>
            </a:r>
            <a:endParaRPr lang="en-US" sz="950" dirty="0"/>
          </a:p>
        </p:txBody>
      </p:sp>
      <p:sp>
        <p:nvSpPr>
          <p:cNvPr id="145" name="Shape 143">
            <a:extLst>
              <a:ext uri="{FF2B5EF4-FFF2-40B4-BE49-F238E27FC236}">
                <a16:creationId xmlns:a16="http://schemas.microsoft.com/office/drawing/2014/main" id="{B3244F14-F66A-A748-0FCE-7546D5572667}"/>
              </a:ext>
            </a:extLst>
          </p:cNvPr>
          <p:cNvSpPr/>
          <p:nvPr/>
        </p:nvSpPr>
        <p:spPr>
          <a:xfrm>
            <a:off x="6396228" y="5667660"/>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6" name="Shape 144">
            <a:extLst>
              <a:ext uri="{FF2B5EF4-FFF2-40B4-BE49-F238E27FC236}">
                <a16:creationId xmlns:a16="http://schemas.microsoft.com/office/drawing/2014/main" id="{91D55831-BDAB-3A54-D8A4-45EA9094CC58}"/>
              </a:ext>
            </a:extLst>
          </p:cNvPr>
          <p:cNvSpPr/>
          <p:nvPr/>
        </p:nvSpPr>
        <p:spPr>
          <a:xfrm>
            <a:off x="6509004" y="5667660"/>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7" name="Shape 145">
            <a:extLst>
              <a:ext uri="{FF2B5EF4-FFF2-40B4-BE49-F238E27FC236}">
                <a16:creationId xmlns:a16="http://schemas.microsoft.com/office/drawing/2014/main" id="{B8CE5081-03AB-FDD1-D742-2990671343C8}"/>
              </a:ext>
            </a:extLst>
          </p:cNvPr>
          <p:cNvSpPr/>
          <p:nvPr/>
        </p:nvSpPr>
        <p:spPr>
          <a:xfrm>
            <a:off x="6621780" y="5667660"/>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8" name="Shape 146">
            <a:extLst>
              <a:ext uri="{FF2B5EF4-FFF2-40B4-BE49-F238E27FC236}">
                <a16:creationId xmlns:a16="http://schemas.microsoft.com/office/drawing/2014/main" id="{E04BA740-C00C-15F7-46F9-4731E2644EC3}"/>
              </a:ext>
            </a:extLst>
          </p:cNvPr>
          <p:cNvSpPr/>
          <p:nvPr/>
        </p:nvSpPr>
        <p:spPr>
          <a:xfrm>
            <a:off x="6734556" y="5667660"/>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49" name="Shape 147">
            <a:extLst>
              <a:ext uri="{FF2B5EF4-FFF2-40B4-BE49-F238E27FC236}">
                <a16:creationId xmlns:a16="http://schemas.microsoft.com/office/drawing/2014/main" id="{1F598F36-5DE4-833F-417F-FC0169DAEFFC}"/>
              </a:ext>
            </a:extLst>
          </p:cNvPr>
          <p:cNvSpPr/>
          <p:nvPr/>
        </p:nvSpPr>
        <p:spPr>
          <a:xfrm>
            <a:off x="6807708"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0" name="Shape 148">
            <a:extLst>
              <a:ext uri="{FF2B5EF4-FFF2-40B4-BE49-F238E27FC236}">
                <a16:creationId xmlns:a16="http://schemas.microsoft.com/office/drawing/2014/main" id="{B7D138EB-29C3-4842-C1C6-F52B5344CF98}"/>
              </a:ext>
            </a:extLst>
          </p:cNvPr>
          <p:cNvSpPr/>
          <p:nvPr/>
        </p:nvSpPr>
        <p:spPr>
          <a:xfrm>
            <a:off x="6920484"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1" name="Shape 149">
            <a:extLst>
              <a:ext uri="{FF2B5EF4-FFF2-40B4-BE49-F238E27FC236}">
                <a16:creationId xmlns:a16="http://schemas.microsoft.com/office/drawing/2014/main" id="{0E03CEF0-C5EC-499F-1BA5-52161EB53D8B}"/>
              </a:ext>
            </a:extLst>
          </p:cNvPr>
          <p:cNvSpPr/>
          <p:nvPr/>
        </p:nvSpPr>
        <p:spPr>
          <a:xfrm>
            <a:off x="7033260"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2" name="Shape 150">
            <a:extLst>
              <a:ext uri="{FF2B5EF4-FFF2-40B4-BE49-F238E27FC236}">
                <a16:creationId xmlns:a16="http://schemas.microsoft.com/office/drawing/2014/main" id="{C4ED1E24-4159-B2DB-2B3F-714ED4D6C55B}"/>
              </a:ext>
            </a:extLst>
          </p:cNvPr>
          <p:cNvSpPr/>
          <p:nvPr/>
        </p:nvSpPr>
        <p:spPr>
          <a:xfrm>
            <a:off x="7146036"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3" name="Shape 151">
            <a:extLst>
              <a:ext uri="{FF2B5EF4-FFF2-40B4-BE49-F238E27FC236}">
                <a16:creationId xmlns:a16="http://schemas.microsoft.com/office/drawing/2014/main" id="{19EFA3B9-02A6-7941-D59B-C255822C4EFC}"/>
              </a:ext>
            </a:extLst>
          </p:cNvPr>
          <p:cNvSpPr/>
          <p:nvPr/>
        </p:nvSpPr>
        <p:spPr>
          <a:xfrm>
            <a:off x="6336792" y="5247950"/>
            <a:ext cx="91" cy="795528"/>
          </a:xfrm>
          <a:prstGeom prst="line">
            <a:avLst/>
          </a:prstGeom>
          <a:noFill/>
          <a:ln w="9525">
            <a:solidFill>
              <a:srgbClr val="5B9BD5"/>
            </a:solidFill>
            <a:prstDash val="dash"/>
          </a:ln>
        </p:spPr>
        <p:txBody>
          <a:bodyPr/>
          <a:lstStyle/>
          <a:p>
            <a:endParaRPr lang="ko-KR" altLang="en-US"/>
          </a:p>
        </p:txBody>
      </p:sp>
      <p:sp>
        <p:nvSpPr>
          <p:cNvPr id="154" name="Text 152">
            <a:extLst>
              <a:ext uri="{FF2B5EF4-FFF2-40B4-BE49-F238E27FC236}">
                <a16:creationId xmlns:a16="http://schemas.microsoft.com/office/drawing/2014/main" id="{397C7ADA-72AC-38B2-CD84-D7C76696E2A5}"/>
              </a:ext>
            </a:extLst>
          </p:cNvPr>
          <p:cNvSpPr txBox="1"/>
          <p:nvPr/>
        </p:nvSpPr>
        <p:spPr>
          <a:xfrm>
            <a:off x="6336792" y="6061766"/>
            <a:ext cx="914400" cy="201168"/>
          </a:xfrm>
          <a:prstGeom prst="rect">
            <a:avLst/>
          </a:prstGeom>
          <a:noFill/>
          <a:ln/>
        </p:spPr>
        <p:txBody>
          <a:bodyPr wrap="square" lIns="0" tIns="0" rIns="0" bIns="0" rtlCol="0" anchor="ctr"/>
          <a:lstStyle/>
          <a:p>
            <a:pPr marL="0" indent="0" algn="ctr">
              <a:buNone/>
            </a:pPr>
            <a:r>
              <a:rPr lang="en-US" sz="950" dirty="0">
                <a:solidFill>
                  <a:srgbClr val="000000"/>
                </a:solidFill>
                <a:latin typeface="Times New Roman" pitchFamily="34" charset="0"/>
                <a:ea typeface="Times New Roman" pitchFamily="34" charset="-122"/>
                <a:cs typeface="Times New Roman" pitchFamily="34" charset="-120"/>
              </a:rPr>
              <a:t>Force 선행</a:t>
            </a:r>
            <a:endParaRPr lang="en-US" sz="950" dirty="0"/>
          </a:p>
        </p:txBody>
      </p:sp>
      <p:sp>
        <p:nvSpPr>
          <p:cNvPr id="155" name="Shape 153">
            <a:extLst>
              <a:ext uri="{FF2B5EF4-FFF2-40B4-BE49-F238E27FC236}">
                <a16:creationId xmlns:a16="http://schemas.microsoft.com/office/drawing/2014/main" id="{1AC7BBE7-A84B-6143-E29D-E2391408DFC4}"/>
              </a:ext>
            </a:extLst>
          </p:cNvPr>
          <p:cNvSpPr/>
          <p:nvPr/>
        </p:nvSpPr>
        <p:spPr>
          <a:xfrm>
            <a:off x="7292340" y="5724352"/>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6" name="Shape 154">
            <a:extLst>
              <a:ext uri="{FF2B5EF4-FFF2-40B4-BE49-F238E27FC236}">
                <a16:creationId xmlns:a16="http://schemas.microsoft.com/office/drawing/2014/main" id="{DD50E4D3-A785-C2E6-8388-5BAA2533EA80}"/>
              </a:ext>
            </a:extLst>
          </p:cNvPr>
          <p:cNvSpPr/>
          <p:nvPr/>
        </p:nvSpPr>
        <p:spPr>
          <a:xfrm>
            <a:off x="7336536" y="5724352"/>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7" name="Shape 155">
            <a:extLst>
              <a:ext uri="{FF2B5EF4-FFF2-40B4-BE49-F238E27FC236}">
                <a16:creationId xmlns:a16="http://schemas.microsoft.com/office/drawing/2014/main" id="{90A0ADAB-17C3-C15A-A629-A374B57EFED3}"/>
              </a:ext>
            </a:extLst>
          </p:cNvPr>
          <p:cNvSpPr/>
          <p:nvPr/>
        </p:nvSpPr>
        <p:spPr>
          <a:xfrm>
            <a:off x="7380732" y="5724352"/>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8" name="Shape 156">
            <a:extLst>
              <a:ext uri="{FF2B5EF4-FFF2-40B4-BE49-F238E27FC236}">
                <a16:creationId xmlns:a16="http://schemas.microsoft.com/office/drawing/2014/main" id="{DE4457BD-DF19-2680-76F1-59A6C0B27315}"/>
              </a:ext>
            </a:extLst>
          </p:cNvPr>
          <p:cNvSpPr/>
          <p:nvPr/>
        </p:nvSpPr>
        <p:spPr>
          <a:xfrm>
            <a:off x="7424928" y="5724352"/>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59" name="Shape 157">
            <a:extLst>
              <a:ext uri="{FF2B5EF4-FFF2-40B4-BE49-F238E27FC236}">
                <a16:creationId xmlns:a16="http://schemas.microsoft.com/office/drawing/2014/main" id="{7C6D130E-840D-220A-C2AF-7B476AB8AD5A}"/>
              </a:ext>
            </a:extLst>
          </p:cNvPr>
          <p:cNvSpPr/>
          <p:nvPr/>
        </p:nvSpPr>
        <p:spPr>
          <a:xfrm>
            <a:off x="7498080" y="5639313"/>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0" name="Shape 158">
            <a:extLst>
              <a:ext uri="{FF2B5EF4-FFF2-40B4-BE49-F238E27FC236}">
                <a16:creationId xmlns:a16="http://schemas.microsoft.com/office/drawing/2014/main" id="{FD625345-A53F-62F1-4E4A-06C64F1C5464}"/>
              </a:ext>
            </a:extLst>
          </p:cNvPr>
          <p:cNvSpPr/>
          <p:nvPr/>
        </p:nvSpPr>
        <p:spPr>
          <a:xfrm>
            <a:off x="7542276" y="5639313"/>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1" name="Shape 159">
            <a:extLst>
              <a:ext uri="{FF2B5EF4-FFF2-40B4-BE49-F238E27FC236}">
                <a16:creationId xmlns:a16="http://schemas.microsoft.com/office/drawing/2014/main" id="{11D7A2FB-BC36-FED6-B4CF-7E5FAF212CF2}"/>
              </a:ext>
            </a:extLst>
          </p:cNvPr>
          <p:cNvSpPr/>
          <p:nvPr/>
        </p:nvSpPr>
        <p:spPr>
          <a:xfrm>
            <a:off x="7586472" y="5639313"/>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2" name="Shape 160">
            <a:extLst>
              <a:ext uri="{FF2B5EF4-FFF2-40B4-BE49-F238E27FC236}">
                <a16:creationId xmlns:a16="http://schemas.microsoft.com/office/drawing/2014/main" id="{823614C7-513F-5B63-7FDE-4EFFA9C1F299}"/>
              </a:ext>
            </a:extLst>
          </p:cNvPr>
          <p:cNvSpPr/>
          <p:nvPr/>
        </p:nvSpPr>
        <p:spPr>
          <a:xfrm>
            <a:off x="7630668" y="5639313"/>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3" name="Shape 161">
            <a:extLst>
              <a:ext uri="{FF2B5EF4-FFF2-40B4-BE49-F238E27FC236}">
                <a16:creationId xmlns:a16="http://schemas.microsoft.com/office/drawing/2014/main" id="{06E84956-8ED1-CF64-E18A-1FB602748CC7}"/>
              </a:ext>
            </a:extLst>
          </p:cNvPr>
          <p:cNvSpPr/>
          <p:nvPr/>
        </p:nvSpPr>
        <p:spPr>
          <a:xfrm>
            <a:off x="7703820"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4" name="Shape 162">
            <a:extLst>
              <a:ext uri="{FF2B5EF4-FFF2-40B4-BE49-F238E27FC236}">
                <a16:creationId xmlns:a16="http://schemas.microsoft.com/office/drawing/2014/main" id="{0C9EB8C0-D46A-CF11-45F8-D3F675AA492F}"/>
              </a:ext>
            </a:extLst>
          </p:cNvPr>
          <p:cNvSpPr/>
          <p:nvPr/>
        </p:nvSpPr>
        <p:spPr>
          <a:xfrm>
            <a:off x="7748016"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5" name="Shape 163">
            <a:extLst>
              <a:ext uri="{FF2B5EF4-FFF2-40B4-BE49-F238E27FC236}">
                <a16:creationId xmlns:a16="http://schemas.microsoft.com/office/drawing/2014/main" id="{51B958EC-C770-DB94-DD50-512B5733E0F9}"/>
              </a:ext>
            </a:extLst>
          </p:cNvPr>
          <p:cNvSpPr/>
          <p:nvPr/>
        </p:nvSpPr>
        <p:spPr>
          <a:xfrm>
            <a:off x="7792212"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6" name="Shape 164">
            <a:extLst>
              <a:ext uri="{FF2B5EF4-FFF2-40B4-BE49-F238E27FC236}">
                <a16:creationId xmlns:a16="http://schemas.microsoft.com/office/drawing/2014/main" id="{8A7DA853-40E6-A3A4-9C94-33110F95CA11}"/>
              </a:ext>
            </a:extLst>
          </p:cNvPr>
          <p:cNvSpPr/>
          <p:nvPr/>
        </p:nvSpPr>
        <p:spPr>
          <a:xfrm>
            <a:off x="7836408" y="5554274"/>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7" name="Shape 165">
            <a:extLst>
              <a:ext uri="{FF2B5EF4-FFF2-40B4-BE49-F238E27FC236}">
                <a16:creationId xmlns:a16="http://schemas.microsoft.com/office/drawing/2014/main" id="{32713C99-7A74-A4A5-C4E5-8A0D7EDDF27A}"/>
              </a:ext>
            </a:extLst>
          </p:cNvPr>
          <p:cNvSpPr/>
          <p:nvPr/>
        </p:nvSpPr>
        <p:spPr>
          <a:xfrm>
            <a:off x="7909560" y="5469235"/>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8" name="Shape 166">
            <a:extLst>
              <a:ext uri="{FF2B5EF4-FFF2-40B4-BE49-F238E27FC236}">
                <a16:creationId xmlns:a16="http://schemas.microsoft.com/office/drawing/2014/main" id="{44C43A1C-CE37-6ABD-CAFA-36A27AC2407B}"/>
              </a:ext>
            </a:extLst>
          </p:cNvPr>
          <p:cNvSpPr/>
          <p:nvPr/>
        </p:nvSpPr>
        <p:spPr>
          <a:xfrm>
            <a:off x="7953756" y="5469235"/>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69" name="Shape 167">
            <a:extLst>
              <a:ext uri="{FF2B5EF4-FFF2-40B4-BE49-F238E27FC236}">
                <a16:creationId xmlns:a16="http://schemas.microsoft.com/office/drawing/2014/main" id="{BE5BFF81-C7DE-8659-972E-FAC53D79B1B7}"/>
              </a:ext>
            </a:extLst>
          </p:cNvPr>
          <p:cNvSpPr/>
          <p:nvPr/>
        </p:nvSpPr>
        <p:spPr>
          <a:xfrm>
            <a:off x="7997952" y="5469235"/>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0" name="Shape 168">
            <a:extLst>
              <a:ext uri="{FF2B5EF4-FFF2-40B4-BE49-F238E27FC236}">
                <a16:creationId xmlns:a16="http://schemas.microsoft.com/office/drawing/2014/main" id="{E35816B6-D8CB-83AC-2920-70A94D8B58FD}"/>
              </a:ext>
            </a:extLst>
          </p:cNvPr>
          <p:cNvSpPr/>
          <p:nvPr/>
        </p:nvSpPr>
        <p:spPr>
          <a:xfrm>
            <a:off x="8042148" y="5469235"/>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1" name="Shape 169">
            <a:extLst>
              <a:ext uri="{FF2B5EF4-FFF2-40B4-BE49-F238E27FC236}">
                <a16:creationId xmlns:a16="http://schemas.microsoft.com/office/drawing/2014/main" id="{9ABB432A-811C-CDCE-CCAE-F42EA615A54C}"/>
              </a:ext>
            </a:extLst>
          </p:cNvPr>
          <p:cNvSpPr/>
          <p:nvPr/>
        </p:nvSpPr>
        <p:spPr>
          <a:xfrm>
            <a:off x="7232904" y="5247950"/>
            <a:ext cx="91" cy="795528"/>
          </a:xfrm>
          <a:prstGeom prst="line">
            <a:avLst/>
          </a:prstGeom>
          <a:noFill/>
          <a:ln w="9525">
            <a:solidFill>
              <a:srgbClr val="5B9BD5"/>
            </a:solidFill>
            <a:prstDash val="dash"/>
          </a:ln>
        </p:spPr>
        <p:txBody>
          <a:bodyPr/>
          <a:lstStyle/>
          <a:p>
            <a:endParaRPr lang="ko-KR" altLang="en-US"/>
          </a:p>
        </p:txBody>
      </p:sp>
      <p:sp>
        <p:nvSpPr>
          <p:cNvPr id="172" name="Text 170">
            <a:extLst>
              <a:ext uri="{FF2B5EF4-FFF2-40B4-BE49-F238E27FC236}">
                <a16:creationId xmlns:a16="http://schemas.microsoft.com/office/drawing/2014/main" id="{1D0E88B1-33E4-AA11-7B90-8EC67B838908}"/>
              </a:ext>
            </a:extLst>
          </p:cNvPr>
          <p:cNvSpPr txBox="1"/>
          <p:nvPr/>
        </p:nvSpPr>
        <p:spPr>
          <a:xfrm>
            <a:off x="7232904" y="6061766"/>
            <a:ext cx="914400" cy="201168"/>
          </a:xfrm>
          <a:prstGeom prst="rect">
            <a:avLst/>
          </a:prstGeom>
          <a:noFill/>
          <a:ln/>
        </p:spPr>
        <p:txBody>
          <a:bodyPr wrap="square" lIns="0" tIns="0" rIns="0" bIns="0" rtlCol="0" anchor="ctr"/>
          <a:lstStyle/>
          <a:p>
            <a:pPr marL="0" indent="0" algn="ctr">
              <a:buNone/>
            </a:pPr>
            <a:r>
              <a:rPr lang="en-US" sz="950" dirty="0">
                <a:solidFill>
                  <a:srgbClr val="000000"/>
                </a:solidFill>
                <a:latin typeface="Times New Roman" pitchFamily="34" charset="0"/>
                <a:ea typeface="Times New Roman" pitchFamily="34" charset="-122"/>
                <a:cs typeface="Times New Roman" pitchFamily="34" charset="-120"/>
              </a:rPr>
              <a:t>Power↑</a:t>
            </a:r>
            <a:endParaRPr lang="en-US" sz="950" dirty="0"/>
          </a:p>
        </p:txBody>
      </p:sp>
      <p:sp>
        <p:nvSpPr>
          <p:cNvPr id="173" name="Shape 171">
            <a:extLst>
              <a:ext uri="{FF2B5EF4-FFF2-40B4-BE49-F238E27FC236}">
                <a16:creationId xmlns:a16="http://schemas.microsoft.com/office/drawing/2014/main" id="{FA9C15A9-669A-FF78-04A6-D17AF149AE77}"/>
              </a:ext>
            </a:extLst>
          </p:cNvPr>
          <p:cNvSpPr/>
          <p:nvPr/>
        </p:nvSpPr>
        <p:spPr>
          <a:xfrm>
            <a:off x="8188452" y="5338841"/>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4" name="Shape 172">
            <a:extLst>
              <a:ext uri="{FF2B5EF4-FFF2-40B4-BE49-F238E27FC236}">
                <a16:creationId xmlns:a16="http://schemas.microsoft.com/office/drawing/2014/main" id="{6A5B8627-4469-5EF9-6C34-E424791AD49F}"/>
              </a:ext>
            </a:extLst>
          </p:cNvPr>
          <p:cNvSpPr/>
          <p:nvPr/>
        </p:nvSpPr>
        <p:spPr>
          <a:xfrm>
            <a:off x="8331708" y="5338841"/>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5" name="Shape 173">
            <a:extLst>
              <a:ext uri="{FF2B5EF4-FFF2-40B4-BE49-F238E27FC236}">
                <a16:creationId xmlns:a16="http://schemas.microsoft.com/office/drawing/2014/main" id="{F6CCAE70-DAAD-D9B2-BE4A-CF4FF341B323}"/>
              </a:ext>
            </a:extLst>
          </p:cNvPr>
          <p:cNvSpPr/>
          <p:nvPr/>
        </p:nvSpPr>
        <p:spPr>
          <a:xfrm>
            <a:off x="8474964" y="5338841"/>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6" name="Shape 174">
            <a:extLst>
              <a:ext uri="{FF2B5EF4-FFF2-40B4-BE49-F238E27FC236}">
                <a16:creationId xmlns:a16="http://schemas.microsoft.com/office/drawing/2014/main" id="{CEAD1E89-C1B3-91CB-BC02-71D11476E45F}"/>
              </a:ext>
            </a:extLst>
          </p:cNvPr>
          <p:cNvSpPr/>
          <p:nvPr/>
        </p:nvSpPr>
        <p:spPr>
          <a:xfrm>
            <a:off x="8618220" y="5338841"/>
            <a:ext cx="45720" cy="45720"/>
          </a:xfrm>
          <a:prstGeom prst="ellipse">
            <a:avLst/>
          </a:prstGeom>
          <a:solidFill>
            <a:srgbClr val="C00000"/>
          </a:solidFill>
          <a:ln w="12700">
            <a:solidFill>
              <a:srgbClr val="C00000"/>
            </a:solidFill>
            <a:prstDash val="solid"/>
          </a:ln>
        </p:spPr>
        <p:txBody>
          <a:bodyPr/>
          <a:lstStyle/>
          <a:p>
            <a:endParaRPr lang="ko-KR" altLang="en-US"/>
          </a:p>
        </p:txBody>
      </p:sp>
      <p:sp>
        <p:nvSpPr>
          <p:cNvPr id="177" name="Shape 175">
            <a:extLst>
              <a:ext uri="{FF2B5EF4-FFF2-40B4-BE49-F238E27FC236}">
                <a16:creationId xmlns:a16="http://schemas.microsoft.com/office/drawing/2014/main" id="{FB796815-CCC9-CD42-FE2A-4A6F2EAA002C}"/>
              </a:ext>
            </a:extLst>
          </p:cNvPr>
          <p:cNvSpPr/>
          <p:nvPr/>
        </p:nvSpPr>
        <p:spPr>
          <a:xfrm>
            <a:off x="8129016" y="5247950"/>
            <a:ext cx="91" cy="795528"/>
          </a:xfrm>
          <a:prstGeom prst="line">
            <a:avLst/>
          </a:prstGeom>
          <a:noFill/>
          <a:ln w="9525">
            <a:solidFill>
              <a:srgbClr val="5B9BD5"/>
            </a:solidFill>
            <a:prstDash val="dash"/>
          </a:ln>
        </p:spPr>
        <p:txBody>
          <a:bodyPr/>
          <a:lstStyle/>
          <a:p>
            <a:endParaRPr lang="ko-KR" altLang="en-US"/>
          </a:p>
        </p:txBody>
      </p:sp>
      <p:sp>
        <p:nvSpPr>
          <p:cNvPr id="178" name="Text 176">
            <a:extLst>
              <a:ext uri="{FF2B5EF4-FFF2-40B4-BE49-F238E27FC236}">
                <a16:creationId xmlns:a16="http://schemas.microsoft.com/office/drawing/2014/main" id="{302FC8A9-0C4D-0C1F-6BE2-58D329D19B10}"/>
              </a:ext>
            </a:extLst>
          </p:cNvPr>
          <p:cNvSpPr txBox="1"/>
          <p:nvPr/>
        </p:nvSpPr>
        <p:spPr>
          <a:xfrm>
            <a:off x="8129016" y="6061766"/>
            <a:ext cx="594360" cy="201168"/>
          </a:xfrm>
          <a:prstGeom prst="rect">
            <a:avLst/>
          </a:prstGeom>
          <a:noFill/>
          <a:ln/>
        </p:spPr>
        <p:txBody>
          <a:bodyPr wrap="square" lIns="0" tIns="0" rIns="0" bIns="0" rtlCol="0" anchor="ctr"/>
          <a:lstStyle/>
          <a:p>
            <a:pPr marL="0" indent="0" algn="ctr">
              <a:buNone/>
            </a:pPr>
            <a:r>
              <a:rPr lang="en-US" sz="950" dirty="0">
                <a:solidFill>
                  <a:srgbClr val="000000"/>
                </a:solidFill>
                <a:latin typeface="Times New Roman" pitchFamily="34" charset="0"/>
                <a:ea typeface="Times New Roman" pitchFamily="34" charset="-122"/>
                <a:cs typeface="Times New Roman" pitchFamily="34" charset="-120"/>
              </a:rPr>
              <a:t>Switch</a:t>
            </a:r>
            <a:endParaRPr lang="en-US" sz="950" dirty="0"/>
          </a:p>
        </p:txBody>
      </p:sp>
      <p:sp>
        <p:nvSpPr>
          <p:cNvPr id="179" name="Text 177">
            <a:extLst>
              <a:ext uri="{FF2B5EF4-FFF2-40B4-BE49-F238E27FC236}">
                <a16:creationId xmlns:a16="http://schemas.microsoft.com/office/drawing/2014/main" id="{7F3CD738-0A52-C5F6-30A1-4B5AA01C7031}"/>
              </a:ext>
            </a:extLst>
          </p:cNvPr>
          <p:cNvSpPr txBox="1"/>
          <p:nvPr/>
        </p:nvSpPr>
        <p:spPr>
          <a:xfrm>
            <a:off x="4754880" y="6061766"/>
            <a:ext cx="640080" cy="201168"/>
          </a:xfrm>
          <a:prstGeom prst="rect">
            <a:avLst/>
          </a:prstGeom>
          <a:noFill/>
          <a:ln/>
        </p:spPr>
        <p:txBody>
          <a:bodyPr wrap="square" lIns="0" tIns="0" rIns="0" bIns="0" rtlCol="0" anchor="ctr"/>
          <a:lstStyle/>
          <a:p>
            <a:pPr marL="0" indent="0" algn="ctr">
              <a:buNone/>
            </a:pPr>
            <a:r>
              <a:rPr lang="en-US" sz="950" dirty="0">
                <a:solidFill>
                  <a:srgbClr val="000000"/>
                </a:solidFill>
                <a:latin typeface="맑은 고딕" pitchFamily="34" charset="0"/>
                <a:ea typeface="맑은 고딕" pitchFamily="34" charset="-122"/>
                <a:cs typeface="맑은 고딕" pitchFamily="34" charset="-120"/>
              </a:rPr>
              <a:t>정상</a:t>
            </a:r>
            <a:endParaRPr lang="en-US" sz="950" dirty="0"/>
          </a:p>
        </p:txBody>
      </p:sp>
      <p:sp>
        <p:nvSpPr>
          <p:cNvPr id="180" name="Text 178">
            <a:extLst>
              <a:ext uri="{FF2B5EF4-FFF2-40B4-BE49-F238E27FC236}">
                <a16:creationId xmlns:a16="http://schemas.microsoft.com/office/drawing/2014/main" id="{01DD9072-005C-D2C5-49C6-D6E854F034FA}"/>
              </a:ext>
            </a:extLst>
          </p:cNvPr>
          <p:cNvSpPr txBox="1"/>
          <p:nvPr/>
        </p:nvSpPr>
        <p:spPr>
          <a:xfrm>
            <a:off x="9875520" y="5046782"/>
            <a:ext cx="1828800" cy="219456"/>
          </a:xfrm>
          <a:prstGeom prst="rect">
            <a:avLst/>
          </a:prstGeom>
          <a:noFill/>
          <a:ln/>
        </p:spPr>
        <p:txBody>
          <a:bodyPr wrap="square" lIns="0" tIns="0" rIns="0" bIns="0" rtlCol="0" anchor="ctr"/>
          <a:lstStyle/>
          <a:p>
            <a:pPr marL="0" indent="0" algn="l">
              <a:buNone/>
            </a:pPr>
            <a:r>
              <a:rPr lang="en-US" sz="1100" b="1" dirty="0">
                <a:solidFill>
                  <a:srgbClr val="000000"/>
                </a:solidFill>
                <a:latin typeface="맑은 고딕" pitchFamily="34" charset="0"/>
                <a:ea typeface="맑은 고딕" pitchFamily="34" charset="-122"/>
                <a:cs typeface="맑은 고딕" pitchFamily="34" charset="-120"/>
              </a:rPr>
              <a:t>합성 고장 평균 F1</a:t>
            </a:r>
            <a:endParaRPr lang="en-US" sz="1100" dirty="0"/>
          </a:p>
        </p:txBody>
      </p:sp>
      <p:sp>
        <p:nvSpPr>
          <p:cNvPr id="181" name="Text 179">
            <a:extLst>
              <a:ext uri="{FF2B5EF4-FFF2-40B4-BE49-F238E27FC236}">
                <a16:creationId xmlns:a16="http://schemas.microsoft.com/office/drawing/2014/main" id="{FF4E49A9-6816-349E-705D-A5B9828F82B4}"/>
              </a:ext>
            </a:extLst>
          </p:cNvPr>
          <p:cNvSpPr txBox="1"/>
          <p:nvPr/>
        </p:nvSpPr>
        <p:spPr>
          <a:xfrm>
            <a:off x="9875520" y="5321102"/>
            <a:ext cx="8686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2D-CNN-AE</a:t>
            </a:r>
            <a:endParaRPr lang="en-US" sz="1000" dirty="0"/>
          </a:p>
        </p:txBody>
      </p:sp>
      <p:sp>
        <p:nvSpPr>
          <p:cNvPr id="182" name="Shape 180">
            <a:extLst>
              <a:ext uri="{FF2B5EF4-FFF2-40B4-BE49-F238E27FC236}">
                <a16:creationId xmlns:a16="http://schemas.microsoft.com/office/drawing/2014/main" id="{11C5CF45-CE42-F5F0-0EC2-F79F2F695AE6}"/>
              </a:ext>
            </a:extLst>
          </p:cNvPr>
          <p:cNvSpPr/>
          <p:nvPr/>
        </p:nvSpPr>
        <p:spPr>
          <a:xfrm>
            <a:off x="10789920" y="5357678"/>
            <a:ext cx="950519" cy="182880"/>
          </a:xfrm>
          <a:prstGeom prst="rect">
            <a:avLst/>
          </a:prstGeom>
          <a:solidFill>
            <a:srgbClr val="F79646"/>
          </a:solidFill>
          <a:ln w="12700">
            <a:solidFill>
              <a:srgbClr val="F79646"/>
            </a:solidFill>
            <a:prstDash val="solid"/>
          </a:ln>
        </p:spPr>
        <p:txBody>
          <a:bodyPr/>
          <a:lstStyle/>
          <a:p>
            <a:endParaRPr lang="ko-KR" altLang="en-US"/>
          </a:p>
        </p:txBody>
      </p:sp>
      <p:sp>
        <p:nvSpPr>
          <p:cNvPr id="183" name="Text 181">
            <a:extLst>
              <a:ext uri="{FF2B5EF4-FFF2-40B4-BE49-F238E27FC236}">
                <a16:creationId xmlns:a16="http://schemas.microsoft.com/office/drawing/2014/main" id="{FEAA210F-C49F-396F-5F04-30B45C10F068}"/>
              </a:ext>
            </a:extLst>
          </p:cNvPr>
          <p:cNvSpPr txBox="1"/>
          <p:nvPr/>
        </p:nvSpPr>
        <p:spPr>
          <a:xfrm>
            <a:off x="11767871" y="5321102"/>
            <a:ext cx="4114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0.99</a:t>
            </a:r>
            <a:endParaRPr lang="en-US" sz="1000" dirty="0"/>
          </a:p>
        </p:txBody>
      </p:sp>
      <p:sp>
        <p:nvSpPr>
          <p:cNvPr id="184" name="Text 182">
            <a:extLst>
              <a:ext uri="{FF2B5EF4-FFF2-40B4-BE49-F238E27FC236}">
                <a16:creationId xmlns:a16="http://schemas.microsoft.com/office/drawing/2014/main" id="{BEA741E7-D72C-502E-89DE-62F8550D7795}"/>
              </a:ext>
            </a:extLst>
          </p:cNvPr>
          <p:cNvSpPr txBox="1"/>
          <p:nvPr/>
        </p:nvSpPr>
        <p:spPr>
          <a:xfrm>
            <a:off x="9875520" y="5622854"/>
            <a:ext cx="8686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Null-space</a:t>
            </a:r>
            <a:endParaRPr lang="en-US" sz="1000" dirty="0"/>
          </a:p>
        </p:txBody>
      </p:sp>
      <p:sp>
        <p:nvSpPr>
          <p:cNvPr id="185" name="Shape 183">
            <a:extLst>
              <a:ext uri="{FF2B5EF4-FFF2-40B4-BE49-F238E27FC236}">
                <a16:creationId xmlns:a16="http://schemas.microsoft.com/office/drawing/2014/main" id="{F380D85F-C869-23B1-F61B-3C641FC8A2A6}"/>
              </a:ext>
            </a:extLst>
          </p:cNvPr>
          <p:cNvSpPr/>
          <p:nvPr/>
        </p:nvSpPr>
        <p:spPr>
          <a:xfrm>
            <a:off x="10789920" y="5659430"/>
            <a:ext cx="883310" cy="182880"/>
          </a:xfrm>
          <a:prstGeom prst="rect">
            <a:avLst/>
          </a:prstGeom>
          <a:solidFill>
            <a:srgbClr val="7F7F7F"/>
          </a:solidFill>
          <a:ln w="12700">
            <a:solidFill>
              <a:srgbClr val="7F7F7F"/>
            </a:solidFill>
            <a:prstDash val="solid"/>
          </a:ln>
        </p:spPr>
        <p:txBody>
          <a:bodyPr/>
          <a:lstStyle/>
          <a:p>
            <a:endParaRPr lang="ko-KR" altLang="en-US"/>
          </a:p>
        </p:txBody>
      </p:sp>
      <p:sp>
        <p:nvSpPr>
          <p:cNvPr id="186" name="Text 184">
            <a:extLst>
              <a:ext uri="{FF2B5EF4-FFF2-40B4-BE49-F238E27FC236}">
                <a16:creationId xmlns:a16="http://schemas.microsoft.com/office/drawing/2014/main" id="{847F0ACE-B7C1-64FA-9B0D-B49825C2CAD9}"/>
              </a:ext>
            </a:extLst>
          </p:cNvPr>
          <p:cNvSpPr txBox="1"/>
          <p:nvPr/>
        </p:nvSpPr>
        <p:spPr>
          <a:xfrm>
            <a:off x="11700662" y="5622854"/>
            <a:ext cx="4114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0.92</a:t>
            </a:r>
            <a:endParaRPr lang="en-US" sz="1000" dirty="0"/>
          </a:p>
        </p:txBody>
      </p:sp>
      <p:sp>
        <p:nvSpPr>
          <p:cNvPr id="187" name="Text 185">
            <a:extLst>
              <a:ext uri="{FF2B5EF4-FFF2-40B4-BE49-F238E27FC236}">
                <a16:creationId xmlns:a16="http://schemas.microsoft.com/office/drawing/2014/main" id="{56C53DFC-8235-856E-6D75-BED09B57F9B6}"/>
              </a:ext>
            </a:extLst>
          </p:cNvPr>
          <p:cNvSpPr txBox="1"/>
          <p:nvPr/>
        </p:nvSpPr>
        <p:spPr>
          <a:xfrm>
            <a:off x="9875520" y="5924606"/>
            <a:ext cx="8686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맑은 고딕" pitchFamily="34" charset="0"/>
                <a:ea typeface="맑은 고딕" pitchFamily="34" charset="-122"/>
                <a:cs typeface="맑은 고딕" pitchFamily="34" charset="-120"/>
              </a:rPr>
              <a:t>현장 기술자</a:t>
            </a:r>
            <a:endParaRPr lang="en-US" sz="1000" dirty="0"/>
          </a:p>
        </p:txBody>
      </p:sp>
      <p:sp>
        <p:nvSpPr>
          <p:cNvPr id="188" name="Shape 186">
            <a:extLst>
              <a:ext uri="{FF2B5EF4-FFF2-40B4-BE49-F238E27FC236}">
                <a16:creationId xmlns:a16="http://schemas.microsoft.com/office/drawing/2014/main" id="{A3BD3066-8E84-5BC2-11F6-1590EB5275AF}"/>
              </a:ext>
            </a:extLst>
          </p:cNvPr>
          <p:cNvSpPr/>
          <p:nvPr/>
        </p:nvSpPr>
        <p:spPr>
          <a:xfrm>
            <a:off x="10789920" y="5961182"/>
            <a:ext cx="787298" cy="182880"/>
          </a:xfrm>
          <a:prstGeom prst="rect">
            <a:avLst/>
          </a:prstGeom>
          <a:solidFill>
            <a:srgbClr val="A6A6A6"/>
          </a:solidFill>
          <a:ln w="12700">
            <a:solidFill>
              <a:srgbClr val="A6A6A6"/>
            </a:solidFill>
            <a:prstDash val="solid"/>
          </a:ln>
        </p:spPr>
        <p:txBody>
          <a:bodyPr/>
          <a:lstStyle/>
          <a:p>
            <a:endParaRPr lang="ko-KR" altLang="en-US"/>
          </a:p>
        </p:txBody>
      </p:sp>
      <p:sp>
        <p:nvSpPr>
          <p:cNvPr id="189" name="Text 187">
            <a:extLst>
              <a:ext uri="{FF2B5EF4-FFF2-40B4-BE49-F238E27FC236}">
                <a16:creationId xmlns:a16="http://schemas.microsoft.com/office/drawing/2014/main" id="{A3649DEF-F251-DDD7-A818-BDB7B6D6A85E}"/>
              </a:ext>
            </a:extLst>
          </p:cNvPr>
          <p:cNvSpPr txBox="1"/>
          <p:nvPr/>
        </p:nvSpPr>
        <p:spPr>
          <a:xfrm>
            <a:off x="11604650" y="5924606"/>
            <a:ext cx="411480" cy="237744"/>
          </a:xfrm>
          <a:prstGeom prst="rect">
            <a:avLst/>
          </a:prstGeom>
          <a:noFill/>
          <a:ln/>
        </p:spPr>
        <p:txBody>
          <a:bodyPr wrap="square" lIns="0" tIns="0" rIns="0" bIns="0" rtlCol="0" anchor="ctr"/>
          <a:lstStyle/>
          <a:p>
            <a:pPr marL="0" indent="0" algn="l">
              <a:buNone/>
            </a:pPr>
            <a:r>
              <a:rPr lang="en-US" sz="1000" b="1" dirty="0">
                <a:solidFill>
                  <a:srgbClr val="000000"/>
                </a:solidFill>
                <a:latin typeface="Times New Roman" pitchFamily="34" charset="0"/>
                <a:ea typeface="Times New Roman" pitchFamily="34" charset="-122"/>
                <a:cs typeface="Times New Roman" pitchFamily="34" charset="-120"/>
              </a:rPr>
              <a:t>0.82</a:t>
            </a:r>
            <a:endParaRPr lang="en-US" sz="1000" dirty="0"/>
          </a:p>
        </p:txBody>
      </p:sp>
      <p:sp>
        <p:nvSpPr>
          <p:cNvPr id="191" name="Slide Number Placeholder 0">
            <a:extLst>
              <a:ext uri="{FF2B5EF4-FFF2-40B4-BE49-F238E27FC236}">
                <a16:creationId xmlns:a16="http://schemas.microsoft.com/office/drawing/2014/main" id="{B39A012E-5835-3A3F-2D82-E1882F8CC24C}"/>
              </a:ext>
            </a:extLst>
          </p:cNvPr>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1640503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제안방법론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Why Density-based Detection?</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ko-KR" altLang="en-US" sz="2100" dirty="0">
                <a:solidFill>
                  <a:srgbClr val="262626"/>
                </a:solidFill>
                <a:latin typeface="맑은 고딕" pitchFamily="34" charset="0"/>
                <a:ea typeface="맑은 고딕" pitchFamily="34" charset="-122"/>
                <a:cs typeface="맑은 고딕" pitchFamily="34" charset="-120"/>
              </a:rPr>
              <a:t>우리의 데이터셋에는 어떤 이상 탐지 모델이 적합할까</a:t>
            </a:r>
            <a:r>
              <a:rPr lang="en-US" altLang="ko-KR" sz="2100" dirty="0">
                <a:solidFill>
                  <a:srgbClr val="262626"/>
                </a:solidFill>
                <a:latin typeface="맑은 고딕" pitchFamily="34" charset="0"/>
                <a:ea typeface="맑은 고딕" pitchFamily="34" charset="-122"/>
                <a:cs typeface="맑은 고딕" pitchFamily="34" charset="-120"/>
              </a:rPr>
              <a:t>?</a:t>
            </a:r>
            <a:endParaRPr lang="en-US" sz="2100" dirty="0"/>
          </a:p>
        </p:txBody>
      </p:sp>
      <p:sp>
        <p:nvSpPr>
          <p:cNvPr id="5" name="bullets"/>
          <p:cNvSpPr txBox="1"/>
          <p:nvPr/>
        </p:nvSpPr>
        <p:spPr>
          <a:xfrm>
            <a:off x="1280160" y="201168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계승: 정상만 학습 + 정상 분위수 임계값이라는 semi-supervised 구조는 그대로 유지</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차이: 짧은 clip에서 0.1초마다 판단해야 함 → </a:t>
            </a:r>
            <a:r>
              <a:rPr lang="en-US" sz="1600" dirty="0">
                <a:solidFill>
                  <a:srgbClr val="FF0000"/>
                </a:solidFill>
                <a:latin typeface="맑은 고딕" pitchFamily="34" charset="0"/>
                <a:ea typeface="맑은 고딕" pitchFamily="34" charset="-122"/>
                <a:cs typeface="맑은 고딕" pitchFamily="34" charset="-120"/>
              </a:rPr>
              <a:t>stroke 전체를 복원하는 AE 대신 짧은 창의 희소도를 바로 재는</a:t>
            </a:r>
            <a:r>
              <a:rPr lang="en-US" sz="1600" dirty="0">
                <a:solidFill>
                  <a:srgbClr val="262626"/>
                </a:solidFill>
                <a:latin typeface="맑은 고딕" pitchFamily="34" charset="0"/>
                <a:ea typeface="맑은 고딕" pitchFamily="34" charset="-122"/>
                <a:cs typeface="맑은 고딕" pitchFamily="34" charset="-120"/>
              </a:rPr>
              <a:t> </a:t>
            </a:r>
            <a:r>
              <a:rPr lang="en-US" sz="1600" dirty="0">
                <a:solidFill>
                  <a:srgbClr val="FF0000"/>
                </a:solidFill>
                <a:latin typeface="맑은 고딕" pitchFamily="34" charset="0"/>
                <a:ea typeface="맑은 고딕" pitchFamily="34" charset="-122"/>
                <a:cs typeface="맑은 고딕" pitchFamily="34" charset="-120"/>
              </a:rPr>
              <a:t>밀도 </a:t>
            </a:r>
            <a:r>
              <a:rPr lang="en-US" sz="1600" dirty="0" err="1">
                <a:solidFill>
                  <a:srgbClr val="FF0000"/>
                </a:solidFill>
                <a:latin typeface="맑은 고딕" pitchFamily="34" charset="0"/>
                <a:ea typeface="맑은 고딕" pitchFamily="34" charset="-122"/>
                <a:cs typeface="맑은 고딕" pitchFamily="34" charset="-120"/>
              </a:rPr>
              <a:t>모델</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선택</a:t>
            </a:r>
            <a:endParaRPr lang="en-US" sz="1600" dirty="0"/>
          </a:p>
          <a:p>
            <a:pPr marL="742950" lvl="1" indent="-285750">
              <a:spcAft>
                <a:spcPts val="600"/>
              </a:spcAft>
              <a:buSzPct val="100000"/>
              <a:buFont typeface="Wingdings" panose="05000000000000000000" pitchFamily="2" charset="2"/>
              <a:buChar char="ü"/>
            </a:pPr>
            <a:r>
              <a:rPr lang="en-US" sz="1400" dirty="0">
                <a:solidFill>
                  <a:srgbClr val="404040"/>
                </a:solidFill>
                <a:latin typeface="맑은 고딕" pitchFamily="34" charset="0"/>
                <a:ea typeface="맑은 고딕" pitchFamily="34" charset="-122"/>
                <a:cs typeface="맑은 고딕" pitchFamily="34" charset="-120"/>
              </a:rPr>
              <a:t>17개 </a:t>
            </a:r>
            <a:r>
              <a:rPr lang="en-US" sz="1400" dirty="0" err="1">
                <a:solidFill>
                  <a:srgbClr val="404040"/>
                </a:solidFill>
                <a:latin typeface="맑은 고딕" pitchFamily="34" charset="0"/>
                <a:ea typeface="맑은 고딕" pitchFamily="34" charset="-122"/>
                <a:cs typeface="맑은 고딕" pitchFamily="34" charset="-120"/>
              </a:rPr>
              <a:t>방법</a:t>
            </a:r>
            <a:r>
              <a:rPr lang="en-US" sz="1400" dirty="0">
                <a:solidFill>
                  <a:srgbClr val="404040"/>
                </a:solidFill>
                <a:latin typeface="맑은 고딕" pitchFamily="34" charset="0"/>
                <a:ea typeface="맑은 고딕" pitchFamily="34" charset="-122"/>
                <a:cs typeface="맑은 고딕" pitchFamily="34" charset="-120"/>
              </a:rPr>
              <a:t> </a:t>
            </a:r>
            <a:r>
              <a:rPr lang="en-US" sz="1400" dirty="0" err="1">
                <a:solidFill>
                  <a:srgbClr val="404040"/>
                </a:solidFill>
                <a:latin typeface="맑은 고딕" pitchFamily="34" charset="0"/>
                <a:ea typeface="맑은 고딕" pitchFamily="34" charset="-122"/>
                <a:cs typeface="맑은 고딕" pitchFamily="34" charset="-120"/>
              </a:rPr>
              <a:t>비교에서도</a:t>
            </a:r>
            <a:r>
              <a:rPr lang="en-US" sz="1400" dirty="0">
                <a:solidFill>
                  <a:srgbClr val="404040"/>
                </a:solidFill>
                <a:latin typeface="맑은 고딕" pitchFamily="34" charset="0"/>
                <a:ea typeface="맑은 고딕" pitchFamily="34" charset="-122"/>
                <a:cs typeface="맑은 고딕" pitchFamily="34" charset="-120"/>
              </a:rPr>
              <a:t> 기본 GMM F1 0.928로 최고 → Experiments에서 검증</a:t>
            </a:r>
            <a:endParaRPr lang="en-US" sz="1600" dirty="0"/>
          </a:p>
        </p:txBody>
      </p:sp>
      <p:sp>
        <p:nvSpPr>
          <p:cNvPr id="6" name="Shape 4"/>
          <p:cNvSpPr/>
          <p:nvPr/>
        </p:nvSpPr>
        <p:spPr>
          <a:xfrm>
            <a:off x="6080760" y="3291840"/>
            <a:ext cx="91" cy="2468880"/>
          </a:xfrm>
          <a:prstGeom prst="line">
            <a:avLst/>
          </a:prstGeom>
          <a:noFill/>
          <a:ln w="9525">
            <a:solidFill>
              <a:srgbClr val="BFBFBF"/>
            </a:solidFill>
            <a:prstDash val="dash"/>
          </a:ln>
        </p:spPr>
        <p:txBody>
          <a:bodyPr/>
          <a:lstStyle/>
          <a:p>
            <a:endParaRPr lang="ko-KR" altLang="en-US"/>
          </a:p>
        </p:txBody>
      </p:sp>
      <p:sp>
        <p:nvSpPr>
          <p:cNvPr id="8" name="Shape 6"/>
          <p:cNvSpPr/>
          <p:nvPr/>
        </p:nvSpPr>
        <p:spPr>
          <a:xfrm>
            <a:off x="868680" y="3749040"/>
            <a:ext cx="2743200" cy="685800"/>
          </a:xfrm>
          <a:custGeom>
            <a:avLst/>
            <a:gdLst/>
            <a:ahLst/>
            <a:cxnLst/>
            <a:rect l="l" t="t" r="r" b="b"/>
            <a:pathLst>
              <a:path w="2743200" h="685800">
                <a:moveTo>
                  <a:pt x="0" y="653225"/>
                </a:moveTo>
                <a:lnTo>
                  <a:pt x="22860" y="653225"/>
                </a:lnTo>
                <a:lnTo>
                  <a:pt x="45720" y="653225"/>
                </a:lnTo>
                <a:lnTo>
                  <a:pt x="68580" y="653225"/>
                </a:lnTo>
                <a:lnTo>
                  <a:pt x="91440" y="653225"/>
                </a:lnTo>
                <a:lnTo>
                  <a:pt x="114300" y="653225"/>
                </a:lnTo>
                <a:lnTo>
                  <a:pt x="137160" y="653225"/>
                </a:lnTo>
                <a:lnTo>
                  <a:pt x="160020" y="653225"/>
                </a:lnTo>
                <a:lnTo>
                  <a:pt x="182880" y="653225"/>
                </a:lnTo>
                <a:lnTo>
                  <a:pt x="205740" y="653225"/>
                </a:lnTo>
                <a:lnTo>
                  <a:pt x="228600" y="653225"/>
                </a:lnTo>
                <a:lnTo>
                  <a:pt x="251460" y="653225"/>
                </a:lnTo>
                <a:lnTo>
                  <a:pt x="274320" y="653225"/>
                </a:lnTo>
                <a:lnTo>
                  <a:pt x="297180" y="653225"/>
                </a:lnTo>
                <a:lnTo>
                  <a:pt x="320040" y="653225"/>
                </a:lnTo>
                <a:lnTo>
                  <a:pt x="342900" y="653225"/>
                </a:lnTo>
                <a:lnTo>
                  <a:pt x="365760" y="653225"/>
                </a:lnTo>
                <a:lnTo>
                  <a:pt x="388620" y="653225"/>
                </a:lnTo>
                <a:lnTo>
                  <a:pt x="411480" y="653225"/>
                </a:lnTo>
                <a:lnTo>
                  <a:pt x="434340" y="653225"/>
                </a:lnTo>
                <a:lnTo>
                  <a:pt x="457200" y="653225"/>
                </a:lnTo>
                <a:lnTo>
                  <a:pt x="480060" y="653225"/>
                </a:lnTo>
                <a:lnTo>
                  <a:pt x="502920" y="653225"/>
                </a:lnTo>
                <a:lnTo>
                  <a:pt x="525780" y="653225"/>
                </a:lnTo>
                <a:lnTo>
                  <a:pt x="548640" y="653225"/>
                </a:lnTo>
                <a:lnTo>
                  <a:pt x="571500" y="653225"/>
                </a:lnTo>
                <a:lnTo>
                  <a:pt x="594360" y="653225"/>
                </a:lnTo>
                <a:lnTo>
                  <a:pt x="617220" y="653225"/>
                </a:lnTo>
                <a:lnTo>
                  <a:pt x="640080" y="653225"/>
                </a:lnTo>
                <a:lnTo>
                  <a:pt x="662940" y="653225"/>
                </a:lnTo>
                <a:lnTo>
                  <a:pt x="685800" y="653225"/>
                </a:lnTo>
                <a:lnTo>
                  <a:pt x="708660" y="653225"/>
                </a:lnTo>
                <a:lnTo>
                  <a:pt x="731520" y="653225"/>
                </a:lnTo>
                <a:lnTo>
                  <a:pt x="754380" y="653225"/>
                </a:lnTo>
                <a:lnTo>
                  <a:pt x="777240" y="653225"/>
                </a:lnTo>
                <a:lnTo>
                  <a:pt x="800100" y="653225"/>
                </a:lnTo>
                <a:lnTo>
                  <a:pt x="822960" y="653225"/>
                </a:lnTo>
                <a:lnTo>
                  <a:pt x="845820" y="653225"/>
                </a:lnTo>
                <a:lnTo>
                  <a:pt x="868680" y="653225"/>
                </a:lnTo>
                <a:lnTo>
                  <a:pt x="891540" y="653225"/>
                </a:lnTo>
                <a:lnTo>
                  <a:pt x="914400" y="653225"/>
                </a:lnTo>
                <a:lnTo>
                  <a:pt x="937260" y="653225"/>
                </a:lnTo>
                <a:lnTo>
                  <a:pt x="960120" y="653225"/>
                </a:lnTo>
                <a:lnTo>
                  <a:pt x="982980" y="653225"/>
                </a:lnTo>
                <a:lnTo>
                  <a:pt x="1005840" y="653225"/>
                </a:lnTo>
                <a:lnTo>
                  <a:pt x="1028700" y="653225"/>
                </a:lnTo>
                <a:lnTo>
                  <a:pt x="1051560" y="653225"/>
                </a:lnTo>
                <a:lnTo>
                  <a:pt x="1074420" y="653225"/>
                </a:lnTo>
                <a:lnTo>
                  <a:pt x="1097280" y="653225"/>
                </a:lnTo>
                <a:lnTo>
                  <a:pt x="1120140" y="653225"/>
                </a:lnTo>
                <a:lnTo>
                  <a:pt x="1143000" y="653225"/>
                </a:lnTo>
                <a:lnTo>
                  <a:pt x="1165860" y="653225"/>
                </a:lnTo>
                <a:lnTo>
                  <a:pt x="1188720" y="653224"/>
                </a:lnTo>
                <a:lnTo>
                  <a:pt x="1211580" y="653224"/>
                </a:lnTo>
                <a:lnTo>
                  <a:pt x="1234440" y="653224"/>
                </a:lnTo>
                <a:lnTo>
                  <a:pt x="1257300" y="653224"/>
                </a:lnTo>
                <a:lnTo>
                  <a:pt x="1280160" y="653224"/>
                </a:lnTo>
                <a:lnTo>
                  <a:pt x="1303020" y="653210"/>
                </a:lnTo>
                <a:lnTo>
                  <a:pt x="1325880" y="652927"/>
                </a:lnTo>
                <a:lnTo>
                  <a:pt x="1348740" y="649916"/>
                </a:lnTo>
                <a:lnTo>
                  <a:pt x="1371600" y="633404"/>
                </a:lnTo>
                <a:lnTo>
                  <a:pt x="1394460" y="589181"/>
                </a:lnTo>
                <a:lnTo>
                  <a:pt x="1417320" y="541603"/>
                </a:lnTo>
                <a:lnTo>
                  <a:pt x="1440180" y="548285"/>
                </a:lnTo>
                <a:lnTo>
                  <a:pt x="1463040" y="600008"/>
                </a:lnTo>
                <a:lnTo>
                  <a:pt x="1485900" y="638645"/>
                </a:lnTo>
                <a:lnTo>
                  <a:pt x="1508760" y="649882"/>
                </a:lnTo>
                <a:lnTo>
                  <a:pt x="1531620" y="629294"/>
                </a:lnTo>
                <a:lnTo>
                  <a:pt x="1554480" y="473132"/>
                </a:lnTo>
                <a:lnTo>
                  <a:pt x="1577340" y="132933"/>
                </a:lnTo>
                <a:lnTo>
                  <a:pt x="1600200" y="80251"/>
                </a:lnTo>
                <a:lnTo>
                  <a:pt x="1623060" y="412709"/>
                </a:lnTo>
                <a:lnTo>
                  <a:pt x="1645920" y="614741"/>
                </a:lnTo>
                <a:lnTo>
                  <a:pt x="1668780" y="650877"/>
                </a:lnTo>
                <a:lnTo>
                  <a:pt x="1691640" y="653170"/>
                </a:lnTo>
                <a:lnTo>
                  <a:pt x="1714500" y="653224"/>
                </a:lnTo>
                <a:lnTo>
                  <a:pt x="1737360" y="653224"/>
                </a:lnTo>
                <a:lnTo>
                  <a:pt x="1760220" y="653224"/>
                </a:lnTo>
                <a:lnTo>
                  <a:pt x="1783080" y="653224"/>
                </a:lnTo>
                <a:lnTo>
                  <a:pt x="1805940" y="653225"/>
                </a:lnTo>
                <a:lnTo>
                  <a:pt x="1828800" y="653225"/>
                </a:lnTo>
                <a:lnTo>
                  <a:pt x="1851660" y="653225"/>
                </a:lnTo>
                <a:lnTo>
                  <a:pt x="1874520" y="653225"/>
                </a:lnTo>
                <a:lnTo>
                  <a:pt x="1897380" y="653225"/>
                </a:lnTo>
                <a:lnTo>
                  <a:pt x="1920240" y="653225"/>
                </a:lnTo>
                <a:lnTo>
                  <a:pt x="1943100" y="653225"/>
                </a:lnTo>
                <a:lnTo>
                  <a:pt x="1965960" y="653225"/>
                </a:lnTo>
                <a:lnTo>
                  <a:pt x="1988820" y="653225"/>
                </a:lnTo>
                <a:lnTo>
                  <a:pt x="2011680" y="653225"/>
                </a:lnTo>
                <a:lnTo>
                  <a:pt x="2034540" y="653225"/>
                </a:lnTo>
                <a:lnTo>
                  <a:pt x="2057400" y="653225"/>
                </a:lnTo>
                <a:lnTo>
                  <a:pt x="2080260" y="653225"/>
                </a:lnTo>
                <a:lnTo>
                  <a:pt x="2103120" y="653225"/>
                </a:lnTo>
                <a:lnTo>
                  <a:pt x="2125980" y="653225"/>
                </a:lnTo>
                <a:lnTo>
                  <a:pt x="2148840" y="653225"/>
                </a:lnTo>
                <a:lnTo>
                  <a:pt x="2171700" y="653225"/>
                </a:lnTo>
                <a:lnTo>
                  <a:pt x="2194560" y="653225"/>
                </a:lnTo>
                <a:lnTo>
                  <a:pt x="2217420" y="653225"/>
                </a:lnTo>
                <a:lnTo>
                  <a:pt x="2240280" y="653225"/>
                </a:lnTo>
                <a:lnTo>
                  <a:pt x="2263140" y="653225"/>
                </a:lnTo>
                <a:lnTo>
                  <a:pt x="2286000" y="653225"/>
                </a:lnTo>
                <a:lnTo>
                  <a:pt x="2308860" y="653225"/>
                </a:lnTo>
                <a:lnTo>
                  <a:pt x="2331720" y="653225"/>
                </a:lnTo>
                <a:lnTo>
                  <a:pt x="2354580" y="653225"/>
                </a:lnTo>
                <a:lnTo>
                  <a:pt x="2377440" y="653225"/>
                </a:lnTo>
                <a:lnTo>
                  <a:pt x="2400300" y="653225"/>
                </a:lnTo>
                <a:lnTo>
                  <a:pt x="2423160" y="653225"/>
                </a:lnTo>
                <a:lnTo>
                  <a:pt x="2446020" y="653225"/>
                </a:lnTo>
                <a:lnTo>
                  <a:pt x="2468880" y="653225"/>
                </a:lnTo>
                <a:lnTo>
                  <a:pt x="2491740" y="653225"/>
                </a:lnTo>
                <a:lnTo>
                  <a:pt x="2514600" y="653225"/>
                </a:lnTo>
                <a:lnTo>
                  <a:pt x="2537460" y="653225"/>
                </a:lnTo>
                <a:lnTo>
                  <a:pt x="2560320" y="653225"/>
                </a:lnTo>
                <a:lnTo>
                  <a:pt x="2583180" y="653225"/>
                </a:lnTo>
                <a:lnTo>
                  <a:pt x="2606040" y="653225"/>
                </a:lnTo>
                <a:lnTo>
                  <a:pt x="2628900" y="653225"/>
                </a:lnTo>
                <a:lnTo>
                  <a:pt x="2651760" y="653225"/>
                </a:lnTo>
                <a:lnTo>
                  <a:pt x="2674620" y="653225"/>
                </a:lnTo>
                <a:lnTo>
                  <a:pt x="2697480" y="653225"/>
                </a:lnTo>
                <a:lnTo>
                  <a:pt x="2720340" y="653225"/>
                </a:lnTo>
                <a:lnTo>
                  <a:pt x="2743200" y="653225"/>
                </a:lnTo>
              </a:path>
            </a:pathLst>
          </a:custGeom>
          <a:ln w="19050">
            <a:solidFill>
              <a:srgbClr val="3E8E5E"/>
            </a:solidFill>
            <a:prstDash val="solid"/>
          </a:ln>
        </p:spPr>
        <p:txBody>
          <a:bodyPr/>
          <a:lstStyle/>
          <a:p>
            <a:endParaRPr lang="ko-KR" altLang="en-US"/>
          </a:p>
        </p:txBody>
      </p:sp>
      <p:sp>
        <p:nvSpPr>
          <p:cNvPr id="9" name="Shape 7"/>
          <p:cNvSpPr/>
          <p:nvPr/>
        </p:nvSpPr>
        <p:spPr>
          <a:xfrm>
            <a:off x="822960" y="3675888"/>
            <a:ext cx="2834640" cy="832104"/>
          </a:xfrm>
          <a:prstGeom prst="rect">
            <a:avLst/>
          </a:prstGeom>
          <a:ln w="15875">
            <a:solidFill>
              <a:srgbClr val="595959"/>
            </a:solidFill>
            <a:prstDash val="solid"/>
          </a:ln>
        </p:spPr>
        <p:txBody>
          <a:bodyPr/>
          <a:lstStyle/>
          <a:p>
            <a:endParaRPr lang="ko-KR" altLang="en-US"/>
          </a:p>
        </p:txBody>
      </p:sp>
      <p:sp>
        <p:nvSpPr>
          <p:cNvPr id="10" name="Text 8"/>
          <p:cNvSpPr txBox="1"/>
          <p:nvPr/>
        </p:nvSpPr>
        <p:spPr>
          <a:xfrm>
            <a:off x="868680" y="4544568"/>
            <a:ext cx="2743200" cy="219456"/>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stroke 1회 전체 (× 12개 센서)</a:t>
            </a:r>
            <a:endParaRPr lang="en-US" sz="1050" dirty="0"/>
          </a:p>
        </p:txBody>
      </p:sp>
      <p:sp>
        <p:nvSpPr>
          <p:cNvPr id="11" name="Shape 9"/>
          <p:cNvSpPr/>
          <p:nvPr/>
        </p:nvSpPr>
        <p:spPr>
          <a:xfrm>
            <a:off x="3721608" y="4091940"/>
            <a:ext cx="347472" cy="91"/>
          </a:xfrm>
          <a:prstGeom prst="line">
            <a:avLst/>
          </a:prstGeom>
          <a:noFill/>
          <a:ln w="22225">
            <a:solidFill>
              <a:srgbClr val="000000"/>
            </a:solidFill>
            <a:prstDash val="solid"/>
            <a:tailEnd type="triangle"/>
          </a:ln>
        </p:spPr>
        <p:txBody>
          <a:bodyPr/>
          <a:lstStyle/>
          <a:p>
            <a:endParaRPr lang="ko-KR" altLang="en-US"/>
          </a:p>
        </p:txBody>
      </p:sp>
      <p:sp>
        <p:nvSpPr>
          <p:cNvPr id="12" name="Shape 10"/>
          <p:cNvSpPr/>
          <p:nvPr/>
        </p:nvSpPr>
        <p:spPr>
          <a:xfrm>
            <a:off x="4160520" y="3726180"/>
            <a:ext cx="384048" cy="731520"/>
          </a:xfrm>
          <a:custGeom>
            <a:avLst/>
            <a:gdLst/>
            <a:ahLst/>
            <a:cxnLst/>
            <a:rect l="l" t="t" r="r" b="b"/>
            <a:pathLst>
              <a:path w="384048" h="731520">
                <a:moveTo>
                  <a:pt x="0" y="0"/>
                </a:moveTo>
                <a:lnTo>
                  <a:pt x="384048" y="256032"/>
                </a:lnTo>
                <a:lnTo>
                  <a:pt x="384048" y="475488"/>
                </a:lnTo>
                <a:lnTo>
                  <a:pt x="0" y="731520"/>
                </a:lnTo>
                <a:close/>
              </a:path>
            </a:pathLst>
          </a:custGeom>
          <a:solidFill>
            <a:srgbClr val="D9D9D9"/>
          </a:solidFill>
          <a:ln w="12700">
            <a:solidFill>
              <a:srgbClr val="7F7F7F"/>
            </a:solidFill>
            <a:prstDash val="solid"/>
          </a:ln>
        </p:spPr>
        <p:txBody>
          <a:bodyPr/>
          <a:lstStyle/>
          <a:p>
            <a:endParaRPr lang="ko-KR" altLang="en-US"/>
          </a:p>
        </p:txBody>
      </p:sp>
      <p:sp>
        <p:nvSpPr>
          <p:cNvPr id="13" name="Shape 11"/>
          <p:cNvSpPr/>
          <p:nvPr/>
        </p:nvSpPr>
        <p:spPr>
          <a:xfrm>
            <a:off x="4562856" y="3726180"/>
            <a:ext cx="384048" cy="731520"/>
          </a:xfrm>
          <a:custGeom>
            <a:avLst/>
            <a:gdLst/>
            <a:ahLst/>
            <a:cxnLst/>
            <a:rect l="l" t="t" r="r" b="b"/>
            <a:pathLst>
              <a:path w="384048" h="731520">
                <a:moveTo>
                  <a:pt x="0" y="256032"/>
                </a:moveTo>
                <a:lnTo>
                  <a:pt x="384048" y="0"/>
                </a:lnTo>
                <a:lnTo>
                  <a:pt x="384048" y="731520"/>
                </a:lnTo>
                <a:lnTo>
                  <a:pt x="0" y="475488"/>
                </a:lnTo>
                <a:close/>
              </a:path>
            </a:pathLst>
          </a:custGeom>
          <a:solidFill>
            <a:srgbClr val="D9D9D9"/>
          </a:solidFill>
          <a:ln w="12700">
            <a:solidFill>
              <a:srgbClr val="7F7F7F"/>
            </a:solidFill>
            <a:prstDash val="solid"/>
          </a:ln>
        </p:spPr>
        <p:txBody>
          <a:bodyPr/>
          <a:lstStyle/>
          <a:p>
            <a:endParaRPr lang="ko-KR" altLang="en-US"/>
          </a:p>
        </p:txBody>
      </p:sp>
      <p:sp>
        <p:nvSpPr>
          <p:cNvPr id="14" name="Text 12"/>
          <p:cNvSpPr txBox="1"/>
          <p:nvPr/>
        </p:nvSpPr>
        <p:spPr>
          <a:xfrm>
            <a:off x="3977640" y="4544568"/>
            <a:ext cx="1188720" cy="219456"/>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2D-CNN-AE</a:t>
            </a:r>
            <a:endParaRPr lang="en-US" sz="1050" dirty="0"/>
          </a:p>
        </p:txBody>
      </p:sp>
      <p:sp>
        <p:nvSpPr>
          <p:cNvPr id="15" name="Text 13"/>
          <p:cNvSpPr txBox="1"/>
          <p:nvPr/>
        </p:nvSpPr>
        <p:spPr>
          <a:xfrm>
            <a:off x="5029200" y="3973068"/>
            <a:ext cx="822960" cy="237744"/>
          </a:xfrm>
          <a:prstGeom prst="rect">
            <a:avLst/>
          </a:prstGeom>
          <a:noFill/>
          <a:ln/>
        </p:spPr>
        <p:txBody>
          <a:bodyPr wrap="square" lIns="0" tIns="0" rIns="0" bIns="0" rtlCol="0" anchor="ctr"/>
          <a:lstStyle/>
          <a:p>
            <a:pPr marL="0" indent="0" algn="l">
              <a:buNone/>
            </a:pPr>
            <a:r>
              <a:rPr lang="en-US" sz="1100" b="1" dirty="0">
                <a:solidFill>
                  <a:srgbClr val="595959"/>
                </a:solidFill>
                <a:latin typeface="맑은 고딕" pitchFamily="34" charset="0"/>
                <a:ea typeface="맑은 고딕" pitchFamily="34" charset="-122"/>
                <a:cs typeface="맑은 고딕" pitchFamily="34" charset="-120"/>
              </a:rPr>
              <a:t>복원 오차</a:t>
            </a:r>
            <a:endParaRPr lang="en-US" sz="1100" dirty="0"/>
          </a:p>
        </p:txBody>
      </p:sp>
      <p:sp>
        <p:nvSpPr>
          <p:cNvPr id="16" name="Shape 14"/>
          <p:cNvSpPr/>
          <p:nvPr/>
        </p:nvSpPr>
        <p:spPr>
          <a:xfrm>
            <a:off x="868680" y="5193792"/>
            <a:ext cx="4754880" cy="91"/>
          </a:xfrm>
          <a:prstGeom prst="line">
            <a:avLst/>
          </a:prstGeom>
          <a:noFill/>
          <a:ln w="12700">
            <a:solidFill>
              <a:srgbClr val="595959"/>
            </a:solidFill>
            <a:prstDash val="solid"/>
            <a:tailEnd type="triangle"/>
          </a:ln>
        </p:spPr>
        <p:txBody>
          <a:bodyPr/>
          <a:lstStyle/>
          <a:p>
            <a:endParaRPr lang="ko-KR" altLang="en-US"/>
          </a:p>
        </p:txBody>
      </p:sp>
      <p:sp>
        <p:nvSpPr>
          <p:cNvPr id="17" name="Text 15"/>
          <p:cNvSpPr txBox="1"/>
          <p:nvPr/>
        </p:nvSpPr>
        <p:spPr>
          <a:xfrm>
            <a:off x="868680" y="4828032"/>
            <a:ext cx="1097280" cy="219456"/>
          </a:xfrm>
          <a:prstGeom prst="rect">
            <a:avLst/>
          </a:prstGeom>
          <a:noFill/>
          <a:ln/>
        </p:spPr>
        <p:txBody>
          <a:bodyPr wrap="square" lIns="0" tIns="0" rIns="0" bIns="0" rtlCol="0" anchor="ctr"/>
          <a:lstStyle/>
          <a:p>
            <a:pPr marL="0" indent="0" algn="l">
              <a:buNone/>
            </a:pPr>
            <a:r>
              <a:rPr lang="en-US" sz="1050" b="1" dirty="0">
                <a:solidFill>
                  <a:srgbClr val="595959"/>
                </a:solidFill>
                <a:latin typeface="맑은 고딕" pitchFamily="34" charset="0"/>
                <a:ea typeface="맑은 고딕" pitchFamily="34" charset="-122"/>
                <a:cs typeface="맑은 고딕" pitchFamily="34" charset="-120"/>
              </a:rPr>
              <a:t>판단 시점</a:t>
            </a:r>
            <a:endParaRPr lang="en-US" sz="1050" dirty="0"/>
          </a:p>
        </p:txBody>
      </p:sp>
      <p:sp>
        <p:nvSpPr>
          <p:cNvPr id="18" name="Shape 16"/>
          <p:cNvSpPr/>
          <p:nvPr/>
        </p:nvSpPr>
        <p:spPr>
          <a:xfrm>
            <a:off x="868680" y="5084064"/>
            <a:ext cx="1463040" cy="219456"/>
          </a:xfrm>
          <a:prstGeom prst="rect">
            <a:avLst/>
          </a:prstGeom>
          <a:solidFill>
            <a:srgbClr val="EDEDED"/>
          </a:solidFill>
          <a:ln w="6350">
            <a:solidFill>
              <a:srgbClr val="BFBFBF"/>
            </a:solidFill>
            <a:prstDash val="solid"/>
          </a:ln>
        </p:spPr>
        <p:txBody>
          <a:bodyPr/>
          <a:lstStyle/>
          <a:p>
            <a:endParaRPr lang="ko-KR" altLang="en-US"/>
          </a:p>
        </p:txBody>
      </p:sp>
      <p:sp>
        <p:nvSpPr>
          <p:cNvPr id="19" name="Text 17"/>
          <p:cNvSpPr txBox="1"/>
          <p:nvPr/>
        </p:nvSpPr>
        <p:spPr>
          <a:xfrm>
            <a:off x="868680" y="5084064"/>
            <a:ext cx="1463040" cy="219456"/>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stroke 1</a:t>
            </a:r>
            <a:endParaRPr lang="en-US" sz="950" dirty="0"/>
          </a:p>
        </p:txBody>
      </p:sp>
      <p:sp>
        <p:nvSpPr>
          <p:cNvPr id="20" name="Shape 18"/>
          <p:cNvSpPr/>
          <p:nvPr/>
        </p:nvSpPr>
        <p:spPr>
          <a:xfrm>
            <a:off x="2258568" y="5120640"/>
            <a:ext cx="146304" cy="146304"/>
          </a:xfrm>
          <a:prstGeom prst="ellipse">
            <a:avLst/>
          </a:prstGeom>
          <a:solidFill>
            <a:srgbClr val="595959"/>
          </a:solidFill>
          <a:ln w="12700">
            <a:solidFill>
              <a:srgbClr val="595959"/>
            </a:solidFill>
            <a:prstDash val="solid"/>
          </a:ln>
        </p:spPr>
        <p:txBody>
          <a:bodyPr/>
          <a:lstStyle/>
          <a:p>
            <a:endParaRPr lang="ko-KR" altLang="en-US"/>
          </a:p>
        </p:txBody>
      </p:sp>
      <p:sp>
        <p:nvSpPr>
          <p:cNvPr id="21" name="Shape 19"/>
          <p:cNvSpPr/>
          <p:nvPr/>
        </p:nvSpPr>
        <p:spPr>
          <a:xfrm>
            <a:off x="2468880" y="5084064"/>
            <a:ext cx="1463040" cy="219456"/>
          </a:xfrm>
          <a:prstGeom prst="rect">
            <a:avLst/>
          </a:prstGeom>
          <a:solidFill>
            <a:srgbClr val="EDEDED"/>
          </a:solidFill>
          <a:ln w="6350">
            <a:solidFill>
              <a:srgbClr val="BFBFBF"/>
            </a:solidFill>
            <a:prstDash val="solid"/>
          </a:ln>
        </p:spPr>
        <p:txBody>
          <a:bodyPr/>
          <a:lstStyle/>
          <a:p>
            <a:endParaRPr lang="ko-KR" altLang="en-US"/>
          </a:p>
        </p:txBody>
      </p:sp>
      <p:sp>
        <p:nvSpPr>
          <p:cNvPr id="22" name="Text 20"/>
          <p:cNvSpPr txBox="1"/>
          <p:nvPr/>
        </p:nvSpPr>
        <p:spPr>
          <a:xfrm>
            <a:off x="2468880" y="5084064"/>
            <a:ext cx="1463040" cy="219456"/>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stroke 2</a:t>
            </a:r>
            <a:endParaRPr lang="en-US" sz="950" dirty="0"/>
          </a:p>
        </p:txBody>
      </p:sp>
      <p:sp>
        <p:nvSpPr>
          <p:cNvPr id="23" name="Shape 21"/>
          <p:cNvSpPr/>
          <p:nvPr/>
        </p:nvSpPr>
        <p:spPr>
          <a:xfrm>
            <a:off x="3858768" y="5120640"/>
            <a:ext cx="146304" cy="146304"/>
          </a:xfrm>
          <a:prstGeom prst="ellipse">
            <a:avLst/>
          </a:prstGeom>
          <a:solidFill>
            <a:srgbClr val="595959"/>
          </a:solidFill>
          <a:ln w="12700">
            <a:solidFill>
              <a:srgbClr val="595959"/>
            </a:solidFill>
            <a:prstDash val="solid"/>
          </a:ln>
        </p:spPr>
        <p:txBody>
          <a:bodyPr/>
          <a:lstStyle/>
          <a:p>
            <a:endParaRPr lang="ko-KR" altLang="en-US"/>
          </a:p>
        </p:txBody>
      </p:sp>
      <p:sp>
        <p:nvSpPr>
          <p:cNvPr id="24" name="Shape 22"/>
          <p:cNvSpPr/>
          <p:nvPr/>
        </p:nvSpPr>
        <p:spPr>
          <a:xfrm>
            <a:off x="4069080" y="5084064"/>
            <a:ext cx="1463040" cy="219456"/>
          </a:xfrm>
          <a:prstGeom prst="rect">
            <a:avLst/>
          </a:prstGeom>
          <a:solidFill>
            <a:srgbClr val="EDEDED"/>
          </a:solidFill>
          <a:ln w="6350">
            <a:solidFill>
              <a:srgbClr val="BFBFBF"/>
            </a:solidFill>
            <a:prstDash val="solid"/>
          </a:ln>
        </p:spPr>
        <p:txBody>
          <a:bodyPr/>
          <a:lstStyle/>
          <a:p>
            <a:endParaRPr lang="ko-KR" altLang="en-US"/>
          </a:p>
        </p:txBody>
      </p:sp>
      <p:sp>
        <p:nvSpPr>
          <p:cNvPr id="25" name="Text 23"/>
          <p:cNvSpPr txBox="1"/>
          <p:nvPr/>
        </p:nvSpPr>
        <p:spPr>
          <a:xfrm>
            <a:off x="4069080" y="5084064"/>
            <a:ext cx="1463040" cy="219456"/>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stroke 3</a:t>
            </a:r>
            <a:endParaRPr lang="en-US" sz="950" dirty="0"/>
          </a:p>
        </p:txBody>
      </p:sp>
      <p:sp>
        <p:nvSpPr>
          <p:cNvPr id="26" name="Shape 24"/>
          <p:cNvSpPr/>
          <p:nvPr/>
        </p:nvSpPr>
        <p:spPr>
          <a:xfrm>
            <a:off x="5458968" y="5120640"/>
            <a:ext cx="146304" cy="146304"/>
          </a:xfrm>
          <a:prstGeom prst="ellipse">
            <a:avLst/>
          </a:prstGeom>
          <a:solidFill>
            <a:srgbClr val="595959"/>
          </a:solidFill>
          <a:ln w="12700">
            <a:solidFill>
              <a:srgbClr val="595959"/>
            </a:solidFill>
            <a:prstDash val="solid"/>
          </a:ln>
        </p:spPr>
        <p:txBody>
          <a:bodyPr/>
          <a:lstStyle/>
          <a:p>
            <a:endParaRPr lang="ko-KR" altLang="en-US"/>
          </a:p>
        </p:txBody>
      </p:sp>
      <p:sp>
        <p:nvSpPr>
          <p:cNvPr id="27" name="Text 25"/>
          <p:cNvSpPr txBox="1"/>
          <p:nvPr/>
        </p:nvSpPr>
        <p:spPr>
          <a:xfrm>
            <a:off x="868680" y="5376672"/>
            <a:ext cx="3657600" cy="237744"/>
          </a:xfrm>
          <a:prstGeom prst="rect">
            <a:avLst/>
          </a:prstGeom>
          <a:noFill/>
          <a:ln/>
        </p:spPr>
        <p:txBody>
          <a:bodyPr wrap="square" lIns="0" tIns="0" rIns="0" bIns="0" rtlCol="0" anchor="ctr"/>
          <a:lstStyle/>
          <a:p>
            <a:pPr marL="0" indent="0" algn="l">
              <a:buNone/>
            </a:pPr>
            <a:r>
              <a:rPr lang="en-US" sz="1150" dirty="0">
                <a:solidFill>
                  <a:srgbClr val="404040"/>
                </a:solidFill>
                <a:latin typeface="맑은 고딕" pitchFamily="34" charset="0"/>
                <a:ea typeface="맑은 고딕" pitchFamily="34" charset="-122"/>
                <a:cs typeface="맑은 고딕" pitchFamily="34" charset="-120"/>
              </a:rPr>
              <a:t>● stroke가 끝나야 1번 판단</a:t>
            </a:r>
            <a:endParaRPr lang="en-US" sz="1150" dirty="0"/>
          </a:p>
        </p:txBody>
      </p:sp>
      <p:sp>
        <p:nvSpPr>
          <p:cNvPr id="28" name="Text 26"/>
          <p:cNvSpPr txBox="1"/>
          <p:nvPr/>
        </p:nvSpPr>
        <p:spPr>
          <a:xfrm>
            <a:off x="6355080" y="3291840"/>
            <a:ext cx="5303520" cy="274320"/>
          </a:xfrm>
          <a:prstGeom prst="rect">
            <a:avLst/>
          </a:prstGeom>
          <a:noFill/>
          <a:ln/>
        </p:spPr>
        <p:txBody>
          <a:bodyPr wrap="square" lIns="0" tIns="0" rIns="0" bIns="0" rtlCol="0" anchor="ctr"/>
          <a:lstStyle/>
          <a:p>
            <a:pPr marL="0" indent="0" algn="l">
              <a:buNone/>
            </a:pPr>
            <a:r>
              <a:rPr lang="en-US" sz="1400" b="1" dirty="0">
                <a:solidFill>
                  <a:srgbClr val="C00000"/>
                </a:solidFill>
                <a:latin typeface="맑은 고딕" pitchFamily="34" charset="0"/>
                <a:ea typeface="맑은 고딕" pitchFamily="34" charset="-122"/>
                <a:cs typeface="맑은 고딕" pitchFamily="34" charset="-120"/>
              </a:rPr>
              <a:t>우리: 유압펌프 clip</a:t>
            </a:r>
            <a:endParaRPr lang="en-US" sz="1400" dirty="0"/>
          </a:p>
        </p:txBody>
      </p:sp>
      <p:sp>
        <p:nvSpPr>
          <p:cNvPr id="29" name="Shape 27"/>
          <p:cNvSpPr/>
          <p:nvPr/>
        </p:nvSpPr>
        <p:spPr>
          <a:xfrm>
            <a:off x="6446520" y="3749040"/>
            <a:ext cx="2743200" cy="685800"/>
          </a:xfrm>
          <a:custGeom>
            <a:avLst/>
            <a:gdLst/>
            <a:ahLst/>
            <a:cxnLst/>
            <a:rect l="l" t="t" r="r" b="b"/>
            <a:pathLst>
              <a:path w="2743200" h="685800">
                <a:moveTo>
                  <a:pt x="0" y="522954"/>
                </a:moveTo>
                <a:lnTo>
                  <a:pt x="94593" y="372879"/>
                </a:lnTo>
                <a:lnTo>
                  <a:pt x="189186" y="454125"/>
                </a:lnTo>
                <a:lnTo>
                  <a:pt x="283779" y="88342"/>
                </a:lnTo>
                <a:lnTo>
                  <a:pt x="378372" y="142624"/>
                </a:lnTo>
                <a:lnTo>
                  <a:pt x="472966" y="499892"/>
                </a:lnTo>
                <a:lnTo>
                  <a:pt x="567559" y="199035"/>
                </a:lnTo>
                <a:lnTo>
                  <a:pt x="662152" y="524727"/>
                </a:lnTo>
                <a:lnTo>
                  <a:pt x="756745" y="685800"/>
                </a:lnTo>
                <a:lnTo>
                  <a:pt x="851338" y="70247"/>
                </a:lnTo>
                <a:lnTo>
                  <a:pt x="945931" y="395231"/>
                </a:lnTo>
                <a:lnTo>
                  <a:pt x="1040524" y="599942"/>
                </a:lnTo>
                <a:lnTo>
                  <a:pt x="1135117" y="299084"/>
                </a:lnTo>
                <a:lnTo>
                  <a:pt x="1229710" y="537855"/>
                </a:lnTo>
                <a:lnTo>
                  <a:pt x="1324303" y="161427"/>
                </a:lnTo>
                <a:lnTo>
                  <a:pt x="1418897" y="0"/>
                </a:lnTo>
                <a:lnTo>
                  <a:pt x="1513490" y="627260"/>
                </a:lnTo>
                <a:lnTo>
                  <a:pt x="1608083" y="366493"/>
                </a:lnTo>
                <a:lnTo>
                  <a:pt x="1702676" y="359398"/>
                </a:lnTo>
                <a:lnTo>
                  <a:pt x="1797269" y="583267"/>
                </a:lnTo>
                <a:lnTo>
                  <a:pt x="1891862" y="92244"/>
                </a:lnTo>
                <a:lnTo>
                  <a:pt x="1986455" y="287376"/>
                </a:lnTo>
                <a:lnTo>
                  <a:pt x="2081048" y="488894"/>
                </a:lnTo>
                <a:lnTo>
                  <a:pt x="2175641" y="300858"/>
                </a:lnTo>
                <a:lnTo>
                  <a:pt x="2270234" y="593556"/>
                </a:lnTo>
                <a:lnTo>
                  <a:pt x="2364828" y="336336"/>
                </a:lnTo>
                <a:lnTo>
                  <a:pt x="2459421" y="116015"/>
                </a:lnTo>
                <a:lnTo>
                  <a:pt x="2554014" y="615907"/>
                </a:lnTo>
                <a:lnTo>
                  <a:pt x="2648607" y="310437"/>
                </a:lnTo>
                <a:lnTo>
                  <a:pt x="2743200" y="147945"/>
                </a:lnTo>
              </a:path>
            </a:pathLst>
          </a:custGeom>
          <a:ln w="15875">
            <a:solidFill>
              <a:srgbClr val="1F4E79"/>
            </a:solidFill>
            <a:prstDash val="solid"/>
          </a:ln>
        </p:spPr>
        <p:txBody>
          <a:bodyPr/>
          <a:lstStyle/>
          <a:p>
            <a:endParaRPr lang="ko-KR" altLang="en-US"/>
          </a:p>
        </p:txBody>
      </p:sp>
      <p:sp>
        <p:nvSpPr>
          <p:cNvPr id="30" name="Shape 28"/>
          <p:cNvSpPr/>
          <p:nvPr/>
        </p:nvSpPr>
        <p:spPr>
          <a:xfrm>
            <a:off x="6599130" y="3675888"/>
            <a:ext cx="262338" cy="832104"/>
          </a:xfrm>
          <a:prstGeom prst="rect">
            <a:avLst/>
          </a:prstGeom>
          <a:ln w="12700">
            <a:solidFill>
              <a:srgbClr val="BFBFBF"/>
            </a:solidFill>
            <a:prstDash val="solid"/>
          </a:ln>
        </p:spPr>
        <p:txBody>
          <a:bodyPr/>
          <a:lstStyle/>
          <a:p>
            <a:endParaRPr lang="ko-KR" altLang="en-US"/>
          </a:p>
        </p:txBody>
      </p:sp>
      <p:sp>
        <p:nvSpPr>
          <p:cNvPr id="31" name="Shape 29"/>
          <p:cNvSpPr/>
          <p:nvPr/>
        </p:nvSpPr>
        <p:spPr>
          <a:xfrm>
            <a:off x="7355875" y="3675888"/>
            <a:ext cx="262338" cy="832104"/>
          </a:xfrm>
          <a:prstGeom prst="rect">
            <a:avLst/>
          </a:prstGeom>
          <a:ln w="12700">
            <a:solidFill>
              <a:srgbClr val="BFBFBF"/>
            </a:solidFill>
            <a:prstDash val="solid"/>
          </a:ln>
        </p:spPr>
        <p:txBody>
          <a:bodyPr/>
          <a:lstStyle/>
          <a:p>
            <a:endParaRPr lang="ko-KR" altLang="en-US"/>
          </a:p>
        </p:txBody>
      </p:sp>
      <p:sp>
        <p:nvSpPr>
          <p:cNvPr id="32" name="Shape 30"/>
          <p:cNvSpPr/>
          <p:nvPr/>
        </p:nvSpPr>
        <p:spPr>
          <a:xfrm>
            <a:off x="8112620" y="3675888"/>
            <a:ext cx="262338" cy="832104"/>
          </a:xfrm>
          <a:prstGeom prst="rect">
            <a:avLst/>
          </a:prstGeom>
          <a:ln w="22225">
            <a:solidFill>
              <a:srgbClr val="C00000"/>
            </a:solidFill>
            <a:prstDash val="solid"/>
          </a:ln>
        </p:spPr>
        <p:txBody>
          <a:bodyPr/>
          <a:lstStyle/>
          <a:p>
            <a:endParaRPr lang="ko-KR" altLang="en-US"/>
          </a:p>
        </p:txBody>
      </p:sp>
      <p:sp>
        <p:nvSpPr>
          <p:cNvPr id="33" name="Text 31"/>
          <p:cNvSpPr txBox="1"/>
          <p:nvPr/>
        </p:nvSpPr>
        <p:spPr>
          <a:xfrm>
            <a:off x="6355080" y="4544568"/>
            <a:ext cx="3017520" cy="219456"/>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최근 4관측 창 (× 3개 센서), 0.1초씩 이동</a:t>
            </a:r>
            <a:endParaRPr lang="en-US" sz="1050" dirty="0"/>
          </a:p>
        </p:txBody>
      </p:sp>
      <p:sp>
        <p:nvSpPr>
          <p:cNvPr id="34" name="Shape 32"/>
          <p:cNvSpPr/>
          <p:nvPr/>
        </p:nvSpPr>
        <p:spPr>
          <a:xfrm>
            <a:off x="9299448" y="4091940"/>
            <a:ext cx="347472" cy="91"/>
          </a:xfrm>
          <a:prstGeom prst="line">
            <a:avLst/>
          </a:prstGeom>
          <a:noFill/>
          <a:ln w="22225">
            <a:solidFill>
              <a:srgbClr val="000000"/>
            </a:solidFill>
            <a:prstDash val="solid"/>
            <a:tailEnd type="triangle"/>
          </a:ln>
        </p:spPr>
        <p:txBody>
          <a:bodyPr/>
          <a:lstStyle/>
          <a:p>
            <a:endParaRPr lang="ko-KR" altLang="en-US"/>
          </a:p>
        </p:txBody>
      </p:sp>
      <p:sp>
        <p:nvSpPr>
          <p:cNvPr id="35" name="Shape 33"/>
          <p:cNvSpPr/>
          <p:nvPr/>
        </p:nvSpPr>
        <p:spPr>
          <a:xfrm>
            <a:off x="9674352" y="3835908"/>
            <a:ext cx="768096" cy="512064"/>
          </a:xfrm>
          <a:prstGeom prst="ellipse">
            <a:avLst/>
          </a:prstGeom>
          <a:ln w="11430">
            <a:solidFill>
              <a:srgbClr val="1F4E79"/>
            </a:solidFill>
            <a:prstDash val="solid"/>
          </a:ln>
        </p:spPr>
        <p:txBody>
          <a:bodyPr/>
          <a:lstStyle/>
          <a:p>
            <a:endParaRPr lang="ko-KR" altLang="en-US"/>
          </a:p>
        </p:txBody>
      </p:sp>
      <p:sp>
        <p:nvSpPr>
          <p:cNvPr id="36" name="Shape 34"/>
          <p:cNvSpPr/>
          <p:nvPr/>
        </p:nvSpPr>
        <p:spPr>
          <a:xfrm>
            <a:off x="9802368" y="3921252"/>
            <a:ext cx="512064" cy="341376"/>
          </a:xfrm>
          <a:prstGeom prst="ellipse">
            <a:avLst/>
          </a:prstGeom>
          <a:ln w="11430">
            <a:solidFill>
              <a:srgbClr val="1F4E79"/>
            </a:solidFill>
            <a:prstDash val="solid"/>
          </a:ln>
        </p:spPr>
        <p:txBody>
          <a:bodyPr/>
          <a:lstStyle/>
          <a:p>
            <a:endParaRPr lang="ko-KR" altLang="en-US"/>
          </a:p>
        </p:txBody>
      </p:sp>
      <p:sp>
        <p:nvSpPr>
          <p:cNvPr id="37" name="Shape 35"/>
          <p:cNvSpPr/>
          <p:nvPr/>
        </p:nvSpPr>
        <p:spPr>
          <a:xfrm>
            <a:off x="9930384" y="4006596"/>
            <a:ext cx="256032" cy="170688"/>
          </a:xfrm>
          <a:prstGeom prst="ellipse">
            <a:avLst/>
          </a:prstGeom>
          <a:ln w="19050">
            <a:solidFill>
              <a:srgbClr val="1F4E79"/>
            </a:solidFill>
            <a:prstDash val="solid"/>
          </a:ln>
        </p:spPr>
        <p:txBody>
          <a:bodyPr/>
          <a:lstStyle/>
          <a:p>
            <a:endParaRPr lang="ko-KR" altLang="en-US"/>
          </a:p>
        </p:txBody>
      </p:sp>
      <p:sp>
        <p:nvSpPr>
          <p:cNvPr id="38" name="Shape 36"/>
          <p:cNvSpPr/>
          <p:nvPr/>
        </p:nvSpPr>
        <p:spPr>
          <a:xfrm>
            <a:off x="10058400" y="4046220"/>
            <a:ext cx="91440" cy="91440"/>
          </a:xfrm>
          <a:prstGeom prst="ellipse">
            <a:avLst/>
          </a:prstGeom>
          <a:solidFill>
            <a:srgbClr val="1F4E79"/>
          </a:solidFill>
          <a:ln w="12700">
            <a:solidFill>
              <a:srgbClr val="1F4E79"/>
            </a:solidFill>
            <a:prstDash val="solid"/>
          </a:ln>
        </p:spPr>
        <p:txBody>
          <a:bodyPr/>
          <a:lstStyle/>
          <a:p>
            <a:endParaRPr lang="ko-KR" altLang="en-US"/>
          </a:p>
        </p:txBody>
      </p:sp>
      <p:sp>
        <p:nvSpPr>
          <p:cNvPr id="39" name="Shape 37"/>
          <p:cNvSpPr/>
          <p:nvPr/>
        </p:nvSpPr>
        <p:spPr>
          <a:xfrm>
            <a:off x="10625328" y="4311396"/>
            <a:ext cx="109728" cy="109728"/>
          </a:xfrm>
          <a:prstGeom prst="line">
            <a:avLst/>
          </a:prstGeom>
          <a:noFill/>
          <a:ln w="28575">
            <a:solidFill>
              <a:srgbClr val="C00000"/>
            </a:solidFill>
            <a:prstDash val="solid"/>
          </a:ln>
        </p:spPr>
        <p:txBody>
          <a:bodyPr/>
          <a:lstStyle/>
          <a:p>
            <a:endParaRPr lang="ko-KR" altLang="en-US"/>
          </a:p>
        </p:txBody>
      </p:sp>
      <p:sp>
        <p:nvSpPr>
          <p:cNvPr id="40" name="Shape 38"/>
          <p:cNvSpPr/>
          <p:nvPr/>
        </p:nvSpPr>
        <p:spPr>
          <a:xfrm flipV="1">
            <a:off x="10625328" y="4311396"/>
            <a:ext cx="109728" cy="109728"/>
          </a:xfrm>
          <a:prstGeom prst="line">
            <a:avLst/>
          </a:prstGeom>
          <a:noFill/>
          <a:ln w="28575">
            <a:solidFill>
              <a:srgbClr val="C00000"/>
            </a:solidFill>
            <a:prstDash val="solid"/>
          </a:ln>
        </p:spPr>
        <p:txBody>
          <a:bodyPr/>
          <a:lstStyle/>
          <a:p>
            <a:endParaRPr lang="ko-KR" altLang="en-US"/>
          </a:p>
        </p:txBody>
      </p:sp>
      <p:sp>
        <p:nvSpPr>
          <p:cNvPr id="41" name="Text 39"/>
          <p:cNvSpPr txBox="1"/>
          <p:nvPr/>
        </p:nvSpPr>
        <p:spPr>
          <a:xfrm>
            <a:off x="9601200" y="4544568"/>
            <a:ext cx="914400" cy="219456"/>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GMM</a:t>
            </a:r>
            <a:endParaRPr lang="en-US" sz="1050" dirty="0"/>
          </a:p>
        </p:txBody>
      </p:sp>
      <p:sp>
        <p:nvSpPr>
          <p:cNvPr id="42" name="Text 40"/>
          <p:cNvSpPr txBox="1"/>
          <p:nvPr/>
        </p:nvSpPr>
        <p:spPr>
          <a:xfrm>
            <a:off x="10808208" y="3973068"/>
            <a:ext cx="731520" cy="237744"/>
          </a:xfrm>
          <a:prstGeom prst="rect">
            <a:avLst/>
          </a:prstGeom>
          <a:noFill/>
          <a:ln/>
        </p:spPr>
        <p:txBody>
          <a:bodyPr wrap="square" lIns="0" tIns="0" rIns="0" bIns="0" rtlCol="0" anchor="ctr"/>
          <a:lstStyle/>
          <a:p>
            <a:pPr marL="0" indent="0" algn="l">
              <a:buNone/>
            </a:pPr>
            <a:r>
              <a:rPr lang="en-US" sz="1100" b="1" dirty="0">
                <a:solidFill>
                  <a:srgbClr val="C00000"/>
                </a:solidFill>
                <a:latin typeface="맑은 고딕" pitchFamily="34" charset="0"/>
                <a:ea typeface="맑은 고딕" pitchFamily="34" charset="-122"/>
                <a:cs typeface="맑은 고딕" pitchFamily="34" charset="-120"/>
              </a:rPr>
              <a:t>희소도</a:t>
            </a:r>
            <a:endParaRPr lang="en-US" sz="1100" dirty="0"/>
          </a:p>
        </p:txBody>
      </p:sp>
      <p:sp>
        <p:nvSpPr>
          <p:cNvPr id="43" name="Shape 41"/>
          <p:cNvSpPr/>
          <p:nvPr/>
        </p:nvSpPr>
        <p:spPr>
          <a:xfrm>
            <a:off x="6446520" y="5193792"/>
            <a:ext cx="4754880" cy="91"/>
          </a:xfrm>
          <a:prstGeom prst="line">
            <a:avLst/>
          </a:prstGeom>
          <a:noFill/>
          <a:ln w="12700">
            <a:solidFill>
              <a:srgbClr val="595959"/>
            </a:solidFill>
            <a:prstDash val="solid"/>
            <a:tailEnd type="triangle"/>
          </a:ln>
        </p:spPr>
        <p:txBody>
          <a:bodyPr/>
          <a:lstStyle/>
          <a:p>
            <a:endParaRPr lang="ko-KR" altLang="en-US"/>
          </a:p>
        </p:txBody>
      </p:sp>
      <p:sp>
        <p:nvSpPr>
          <p:cNvPr id="44" name="Text 42"/>
          <p:cNvSpPr txBox="1"/>
          <p:nvPr/>
        </p:nvSpPr>
        <p:spPr>
          <a:xfrm>
            <a:off x="6446520" y="4828032"/>
            <a:ext cx="1097280" cy="219456"/>
          </a:xfrm>
          <a:prstGeom prst="rect">
            <a:avLst/>
          </a:prstGeom>
          <a:noFill/>
          <a:ln/>
        </p:spPr>
        <p:txBody>
          <a:bodyPr wrap="square" lIns="0" tIns="0" rIns="0" bIns="0" rtlCol="0" anchor="ctr"/>
          <a:lstStyle/>
          <a:p>
            <a:pPr marL="0" indent="0" algn="l">
              <a:buNone/>
            </a:pPr>
            <a:r>
              <a:rPr lang="en-US" sz="1050" b="1" dirty="0">
                <a:solidFill>
                  <a:srgbClr val="C00000"/>
                </a:solidFill>
                <a:latin typeface="맑은 고딕" pitchFamily="34" charset="0"/>
                <a:ea typeface="맑은 고딕" pitchFamily="34" charset="-122"/>
                <a:cs typeface="맑은 고딕" pitchFamily="34" charset="-120"/>
              </a:rPr>
              <a:t>판단 시점</a:t>
            </a:r>
            <a:endParaRPr lang="en-US" sz="1050" dirty="0"/>
          </a:p>
        </p:txBody>
      </p:sp>
      <p:sp>
        <p:nvSpPr>
          <p:cNvPr id="45" name="Shape 43"/>
          <p:cNvSpPr/>
          <p:nvPr/>
        </p:nvSpPr>
        <p:spPr>
          <a:xfrm>
            <a:off x="6446520" y="5084064"/>
            <a:ext cx="2377440" cy="219456"/>
          </a:xfrm>
          <a:prstGeom prst="rect">
            <a:avLst/>
          </a:prstGeom>
          <a:solidFill>
            <a:srgbClr val="E3ECF6"/>
          </a:solidFill>
          <a:ln w="6350">
            <a:solidFill>
              <a:srgbClr val="BFCBDA"/>
            </a:solidFill>
            <a:prstDash val="solid"/>
          </a:ln>
        </p:spPr>
        <p:txBody>
          <a:bodyPr/>
          <a:lstStyle/>
          <a:p>
            <a:endParaRPr lang="ko-KR" altLang="en-US"/>
          </a:p>
        </p:txBody>
      </p:sp>
      <p:sp>
        <p:nvSpPr>
          <p:cNvPr id="46" name="Text 44"/>
          <p:cNvSpPr txBox="1"/>
          <p:nvPr/>
        </p:nvSpPr>
        <p:spPr>
          <a:xfrm>
            <a:off x="8275320" y="4828032"/>
            <a:ext cx="548640" cy="219456"/>
          </a:xfrm>
          <a:prstGeom prst="rect">
            <a:avLst/>
          </a:prstGeom>
          <a:noFill/>
          <a:ln/>
        </p:spPr>
        <p:txBody>
          <a:bodyPr wrap="square" lIns="0" tIns="0" rIns="0" bIns="0" rtlCol="0" anchor="ctr"/>
          <a:lstStyle/>
          <a:p>
            <a:pPr marL="0" indent="0" algn="r">
              <a:buNone/>
            </a:pPr>
            <a:r>
              <a:rPr lang="en-US" sz="950" dirty="0">
                <a:solidFill>
                  <a:srgbClr val="1F4E79"/>
                </a:solidFill>
                <a:latin typeface="맑은 고딕" pitchFamily="34" charset="0"/>
                <a:ea typeface="맑은 고딕" pitchFamily="34" charset="-122"/>
                <a:cs typeface="맑은 고딕" pitchFamily="34" charset="-120"/>
              </a:rPr>
              <a:t>clip 1</a:t>
            </a:r>
            <a:endParaRPr lang="en-US" sz="950" dirty="0"/>
          </a:p>
        </p:txBody>
      </p:sp>
      <p:sp>
        <p:nvSpPr>
          <p:cNvPr id="47" name="Text 45"/>
          <p:cNvSpPr txBox="1"/>
          <p:nvPr/>
        </p:nvSpPr>
        <p:spPr>
          <a:xfrm>
            <a:off x="10287000" y="4828032"/>
            <a:ext cx="548640" cy="219456"/>
          </a:xfrm>
          <a:prstGeom prst="rect">
            <a:avLst/>
          </a:prstGeom>
          <a:noFill/>
          <a:ln/>
        </p:spPr>
        <p:txBody>
          <a:bodyPr wrap="square" lIns="0" tIns="0" rIns="0" bIns="0" rtlCol="0" anchor="ctr"/>
          <a:lstStyle/>
          <a:p>
            <a:pPr marL="0" indent="0" algn="r">
              <a:buNone/>
            </a:pPr>
            <a:r>
              <a:rPr lang="en-US" sz="950" dirty="0">
                <a:solidFill>
                  <a:srgbClr val="1F4E79"/>
                </a:solidFill>
                <a:latin typeface="맑은 고딕" pitchFamily="34" charset="0"/>
                <a:ea typeface="맑은 고딕" pitchFamily="34" charset="-122"/>
                <a:cs typeface="맑은 고딕" pitchFamily="34" charset="-120"/>
              </a:rPr>
              <a:t>clip 2</a:t>
            </a:r>
            <a:endParaRPr lang="en-US" sz="950" dirty="0"/>
          </a:p>
        </p:txBody>
      </p:sp>
      <p:sp>
        <p:nvSpPr>
          <p:cNvPr id="48" name="Shape 46"/>
          <p:cNvSpPr/>
          <p:nvPr/>
        </p:nvSpPr>
        <p:spPr>
          <a:xfrm>
            <a:off x="9372600" y="5084064"/>
            <a:ext cx="1463040" cy="219456"/>
          </a:xfrm>
          <a:prstGeom prst="rect">
            <a:avLst/>
          </a:prstGeom>
          <a:solidFill>
            <a:srgbClr val="E3ECF6"/>
          </a:solidFill>
          <a:ln w="6350">
            <a:solidFill>
              <a:srgbClr val="BFCBDA"/>
            </a:solidFill>
            <a:prstDash val="solid"/>
          </a:ln>
        </p:spPr>
        <p:txBody>
          <a:bodyPr/>
          <a:lstStyle/>
          <a:p>
            <a:endParaRPr lang="ko-KR" altLang="en-US"/>
          </a:p>
        </p:txBody>
      </p:sp>
      <p:sp>
        <p:nvSpPr>
          <p:cNvPr id="49" name="Shape 47"/>
          <p:cNvSpPr/>
          <p:nvPr/>
        </p:nvSpPr>
        <p:spPr>
          <a:xfrm>
            <a:off x="66019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0" name="Shape 48"/>
          <p:cNvSpPr/>
          <p:nvPr/>
        </p:nvSpPr>
        <p:spPr>
          <a:xfrm>
            <a:off x="66934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1" name="Shape 49"/>
          <p:cNvSpPr/>
          <p:nvPr/>
        </p:nvSpPr>
        <p:spPr>
          <a:xfrm>
            <a:off x="67848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2" name="Shape 50"/>
          <p:cNvSpPr/>
          <p:nvPr/>
        </p:nvSpPr>
        <p:spPr>
          <a:xfrm>
            <a:off x="68762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3" name="Shape 51"/>
          <p:cNvSpPr/>
          <p:nvPr/>
        </p:nvSpPr>
        <p:spPr>
          <a:xfrm>
            <a:off x="69677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4" name="Shape 52"/>
          <p:cNvSpPr/>
          <p:nvPr/>
        </p:nvSpPr>
        <p:spPr>
          <a:xfrm>
            <a:off x="70591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5" name="Shape 53"/>
          <p:cNvSpPr/>
          <p:nvPr/>
        </p:nvSpPr>
        <p:spPr>
          <a:xfrm>
            <a:off x="71506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6" name="Shape 54"/>
          <p:cNvSpPr/>
          <p:nvPr/>
        </p:nvSpPr>
        <p:spPr>
          <a:xfrm>
            <a:off x="72420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7" name="Shape 55"/>
          <p:cNvSpPr/>
          <p:nvPr/>
        </p:nvSpPr>
        <p:spPr>
          <a:xfrm>
            <a:off x="73334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8" name="Shape 56"/>
          <p:cNvSpPr/>
          <p:nvPr/>
        </p:nvSpPr>
        <p:spPr>
          <a:xfrm>
            <a:off x="74249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59" name="Shape 57"/>
          <p:cNvSpPr/>
          <p:nvPr/>
        </p:nvSpPr>
        <p:spPr>
          <a:xfrm>
            <a:off x="75163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0" name="Shape 58"/>
          <p:cNvSpPr/>
          <p:nvPr/>
        </p:nvSpPr>
        <p:spPr>
          <a:xfrm>
            <a:off x="76078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1" name="Shape 59"/>
          <p:cNvSpPr/>
          <p:nvPr/>
        </p:nvSpPr>
        <p:spPr>
          <a:xfrm>
            <a:off x="76992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2" name="Shape 60"/>
          <p:cNvSpPr/>
          <p:nvPr/>
        </p:nvSpPr>
        <p:spPr>
          <a:xfrm>
            <a:off x="77906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3" name="Shape 61"/>
          <p:cNvSpPr/>
          <p:nvPr/>
        </p:nvSpPr>
        <p:spPr>
          <a:xfrm>
            <a:off x="78821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4" name="Shape 62"/>
          <p:cNvSpPr/>
          <p:nvPr/>
        </p:nvSpPr>
        <p:spPr>
          <a:xfrm>
            <a:off x="79735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5" name="Shape 63"/>
          <p:cNvSpPr/>
          <p:nvPr/>
        </p:nvSpPr>
        <p:spPr>
          <a:xfrm>
            <a:off x="80650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6" name="Shape 64"/>
          <p:cNvSpPr/>
          <p:nvPr/>
        </p:nvSpPr>
        <p:spPr>
          <a:xfrm>
            <a:off x="81564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7" name="Shape 65"/>
          <p:cNvSpPr/>
          <p:nvPr/>
        </p:nvSpPr>
        <p:spPr>
          <a:xfrm>
            <a:off x="82478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8" name="Shape 66"/>
          <p:cNvSpPr/>
          <p:nvPr/>
        </p:nvSpPr>
        <p:spPr>
          <a:xfrm>
            <a:off x="83393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69" name="Shape 67"/>
          <p:cNvSpPr/>
          <p:nvPr/>
        </p:nvSpPr>
        <p:spPr>
          <a:xfrm>
            <a:off x="84307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0" name="Shape 68"/>
          <p:cNvSpPr/>
          <p:nvPr/>
        </p:nvSpPr>
        <p:spPr>
          <a:xfrm>
            <a:off x="85222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1" name="Shape 69"/>
          <p:cNvSpPr/>
          <p:nvPr/>
        </p:nvSpPr>
        <p:spPr>
          <a:xfrm>
            <a:off x="86136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2" name="Shape 70"/>
          <p:cNvSpPr/>
          <p:nvPr/>
        </p:nvSpPr>
        <p:spPr>
          <a:xfrm>
            <a:off x="87050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3" name="Shape 71"/>
          <p:cNvSpPr/>
          <p:nvPr/>
        </p:nvSpPr>
        <p:spPr>
          <a:xfrm>
            <a:off x="95280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4" name="Shape 72"/>
          <p:cNvSpPr/>
          <p:nvPr/>
        </p:nvSpPr>
        <p:spPr>
          <a:xfrm>
            <a:off x="96194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5" name="Shape 73"/>
          <p:cNvSpPr/>
          <p:nvPr/>
        </p:nvSpPr>
        <p:spPr>
          <a:xfrm>
            <a:off x="97109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6" name="Shape 74"/>
          <p:cNvSpPr/>
          <p:nvPr/>
        </p:nvSpPr>
        <p:spPr>
          <a:xfrm>
            <a:off x="98023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7" name="Shape 75"/>
          <p:cNvSpPr/>
          <p:nvPr/>
        </p:nvSpPr>
        <p:spPr>
          <a:xfrm>
            <a:off x="98938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8" name="Shape 76"/>
          <p:cNvSpPr/>
          <p:nvPr/>
        </p:nvSpPr>
        <p:spPr>
          <a:xfrm>
            <a:off x="99852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79" name="Shape 77"/>
          <p:cNvSpPr/>
          <p:nvPr/>
        </p:nvSpPr>
        <p:spPr>
          <a:xfrm>
            <a:off x="100766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0" name="Shape 78"/>
          <p:cNvSpPr/>
          <p:nvPr/>
        </p:nvSpPr>
        <p:spPr>
          <a:xfrm>
            <a:off x="101681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1" name="Shape 79"/>
          <p:cNvSpPr/>
          <p:nvPr/>
        </p:nvSpPr>
        <p:spPr>
          <a:xfrm>
            <a:off x="102595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2" name="Shape 80"/>
          <p:cNvSpPr/>
          <p:nvPr/>
        </p:nvSpPr>
        <p:spPr>
          <a:xfrm>
            <a:off x="1035100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3" name="Shape 81"/>
          <p:cNvSpPr/>
          <p:nvPr/>
        </p:nvSpPr>
        <p:spPr>
          <a:xfrm>
            <a:off x="1044244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4" name="Shape 82"/>
          <p:cNvSpPr/>
          <p:nvPr/>
        </p:nvSpPr>
        <p:spPr>
          <a:xfrm>
            <a:off x="1053388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5" name="Shape 83"/>
          <p:cNvSpPr/>
          <p:nvPr/>
        </p:nvSpPr>
        <p:spPr>
          <a:xfrm>
            <a:off x="1062532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6" name="Shape 84"/>
          <p:cNvSpPr/>
          <p:nvPr/>
        </p:nvSpPr>
        <p:spPr>
          <a:xfrm>
            <a:off x="10716768" y="5166360"/>
            <a:ext cx="54864" cy="54864"/>
          </a:xfrm>
          <a:prstGeom prst="ellipse">
            <a:avLst/>
          </a:prstGeom>
          <a:solidFill>
            <a:srgbClr val="C00000"/>
          </a:solidFill>
          <a:ln w="12700">
            <a:solidFill>
              <a:srgbClr val="C00000"/>
            </a:solidFill>
            <a:prstDash val="solid"/>
          </a:ln>
        </p:spPr>
        <p:txBody>
          <a:bodyPr/>
          <a:lstStyle/>
          <a:p>
            <a:endParaRPr lang="ko-KR" altLang="en-US"/>
          </a:p>
        </p:txBody>
      </p:sp>
      <p:sp>
        <p:nvSpPr>
          <p:cNvPr id="87" name="Text 85"/>
          <p:cNvSpPr txBox="1"/>
          <p:nvPr/>
        </p:nvSpPr>
        <p:spPr>
          <a:xfrm>
            <a:off x="6446520" y="5376672"/>
            <a:ext cx="5120640" cy="237744"/>
          </a:xfrm>
          <a:prstGeom prst="rect">
            <a:avLst/>
          </a:prstGeom>
          <a:noFill/>
          <a:ln/>
        </p:spPr>
        <p:txBody>
          <a:bodyPr wrap="square" lIns="0" tIns="0" rIns="0" bIns="0" rtlCol="0" anchor="ctr"/>
          <a:lstStyle/>
          <a:p>
            <a:pPr marL="0" indent="0" algn="l">
              <a:buNone/>
            </a:pPr>
            <a:r>
              <a:rPr lang="en-US" sz="1150" dirty="0">
                <a:solidFill>
                  <a:srgbClr val="C00000"/>
                </a:solidFill>
                <a:latin typeface="맑은 고딕" pitchFamily="34" charset="0"/>
                <a:ea typeface="맑은 고딕" pitchFamily="34" charset="-122"/>
                <a:cs typeface="맑은 고딕" pitchFamily="34" charset="-120"/>
              </a:rPr>
              <a:t>● 0.3초부터 0.1초마다 판단 → 짧은 clip에서도 조기 경보</a:t>
            </a:r>
            <a:endParaRPr lang="en-US" sz="1150" dirty="0"/>
          </a:p>
        </p:txBody>
      </p:sp>
      <p:sp>
        <p:nvSpPr>
          <p:cNvPr id="88" name="Shape 86"/>
          <p:cNvSpPr/>
          <p:nvPr/>
        </p:nvSpPr>
        <p:spPr>
          <a:xfrm>
            <a:off x="777240" y="5870448"/>
            <a:ext cx="10881360" cy="420624"/>
          </a:xfrm>
          <a:prstGeom prst="rect">
            <a:avLst/>
          </a:prstGeom>
          <a:solidFill>
            <a:srgbClr val="FFFFFF"/>
          </a:solidFill>
          <a:ln w="15875">
            <a:solidFill>
              <a:schemeClr val="tx1"/>
            </a:solidFill>
            <a:prstDash val="solid"/>
          </a:ln>
        </p:spPr>
        <p:txBody>
          <a:bodyPr/>
          <a:lstStyle/>
          <a:p>
            <a:endParaRPr lang="ko-KR" altLang="en-US"/>
          </a:p>
        </p:txBody>
      </p:sp>
      <p:sp>
        <p:nvSpPr>
          <p:cNvPr id="89" name="Text 87"/>
          <p:cNvSpPr txBox="1"/>
          <p:nvPr/>
        </p:nvSpPr>
        <p:spPr>
          <a:xfrm>
            <a:off x="914400" y="5870448"/>
            <a:ext cx="10607040" cy="420624"/>
          </a:xfrm>
          <a:prstGeom prst="rect">
            <a:avLst/>
          </a:prstGeom>
          <a:noFill/>
          <a:ln/>
        </p:spPr>
        <p:txBody>
          <a:bodyPr wrap="square" lIns="0" tIns="0" rIns="0" bIns="0" rtlCol="0" anchor="ctr"/>
          <a:lstStyle/>
          <a:p>
            <a:pPr marL="0" indent="0" algn="ctr">
              <a:buNone/>
            </a:pPr>
            <a:r>
              <a:rPr lang="en-US" sz="1300" b="1" dirty="0" err="1">
                <a:latin typeface="맑은 고딕" pitchFamily="34" charset="0"/>
                <a:ea typeface="맑은 고딕" pitchFamily="34" charset="-122"/>
                <a:cs typeface="맑은 고딕" pitchFamily="34" charset="-120"/>
              </a:rPr>
              <a:t>공통</a:t>
            </a:r>
            <a:r>
              <a:rPr lang="en-US" sz="1300" dirty="0">
                <a:latin typeface="맑은 고딕" pitchFamily="34" charset="0"/>
                <a:ea typeface="맑은 고딕" pitchFamily="34" charset="-122"/>
                <a:cs typeface="맑은 고딕" pitchFamily="34" charset="-120"/>
              </a:rPr>
              <a:t>   정상 데이터만 학습  ·  정상 점수의 분위수로 임계값 결정  ·  </a:t>
            </a:r>
            <a:r>
              <a:rPr lang="ko-KR" altLang="en-US" sz="1300" dirty="0">
                <a:latin typeface="맑은 고딕" pitchFamily="34" charset="0"/>
                <a:ea typeface="맑은 고딕" pitchFamily="34" charset="-122"/>
                <a:cs typeface="맑은 고딕" pitchFamily="34" charset="-120"/>
              </a:rPr>
              <a:t>이상</a:t>
            </a:r>
            <a:r>
              <a:rPr lang="en-US" sz="1300" dirty="0">
                <a:latin typeface="맑은 고딕" pitchFamily="34" charset="0"/>
                <a:ea typeface="맑은 고딕" pitchFamily="34" charset="-122"/>
                <a:cs typeface="맑은 고딕" pitchFamily="34" charset="-120"/>
              </a:rPr>
              <a:t> </a:t>
            </a:r>
            <a:r>
              <a:rPr lang="en-US" sz="1300" dirty="0" err="1">
                <a:latin typeface="맑은 고딕" pitchFamily="34" charset="0"/>
                <a:ea typeface="맑은 고딕" pitchFamily="34" charset="-122"/>
                <a:cs typeface="맑은 고딕" pitchFamily="34" charset="-120"/>
              </a:rPr>
              <a:t>라벨</a:t>
            </a:r>
            <a:r>
              <a:rPr lang="ko-KR" altLang="en-US" sz="1300" dirty="0">
                <a:latin typeface="맑은 고딕" pitchFamily="34" charset="0"/>
                <a:ea typeface="맑은 고딕" pitchFamily="34" charset="-122"/>
                <a:cs typeface="맑은 고딕" pitchFamily="34" charset="-120"/>
              </a:rPr>
              <a:t>은 테스트셋에만 사용</a:t>
            </a:r>
            <a:endParaRPr lang="en-US" sz="1300" dirty="0"/>
          </a:p>
        </p:txBody>
      </p:sp>
      <p:sp>
        <p:nvSpPr>
          <p:cNvPr id="91"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제안방법론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Overall Framework</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ko-KR" altLang="en-US" sz="2100" dirty="0">
                <a:latin typeface="맑은 고딕" pitchFamily="34" charset="0"/>
                <a:ea typeface="맑은 고딕" pitchFamily="34" charset="-122"/>
                <a:cs typeface="맑은 고딕" pitchFamily="34" charset="-120"/>
              </a:rPr>
              <a:t>우리의</a:t>
            </a:r>
            <a:r>
              <a:rPr lang="ko-KR" altLang="en-US" sz="2100" dirty="0">
                <a:solidFill>
                  <a:srgbClr val="1F4E79"/>
                </a:solidFill>
                <a:latin typeface="맑은 고딕" pitchFamily="34" charset="0"/>
                <a:ea typeface="맑은 고딕" pitchFamily="34" charset="-122"/>
                <a:cs typeface="맑은 고딕" pitchFamily="34" charset="-120"/>
              </a:rPr>
              <a:t> </a:t>
            </a:r>
            <a:r>
              <a:rPr lang="ko-KR" altLang="en-US" sz="2100" dirty="0">
                <a:solidFill>
                  <a:srgbClr val="262626"/>
                </a:solidFill>
                <a:latin typeface="맑은 고딕" pitchFamily="34" charset="0"/>
                <a:ea typeface="맑은 고딕" pitchFamily="34" charset="-122"/>
                <a:cs typeface="맑은 고딕" pitchFamily="34" charset="-120"/>
              </a:rPr>
              <a:t>모델</a:t>
            </a:r>
            <a:r>
              <a:rPr lang="en-US" sz="2100" dirty="0">
                <a:solidFill>
                  <a:srgbClr val="262626"/>
                </a:solidFill>
                <a:latin typeface="맑은 고딕" pitchFamily="34" charset="0"/>
                <a:ea typeface="맑은 고딕" pitchFamily="34" charset="-122"/>
                <a:cs typeface="맑은 고딕" pitchFamily="34" charset="-120"/>
              </a:rPr>
              <a:t>은 매 순간 어떻게 이상을 판단할까?</a:t>
            </a:r>
            <a:endParaRPr lang="en-US" sz="2100" dirty="0"/>
          </a:p>
        </p:txBody>
      </p:sp>
      <mc:AlternateContent xmlns:mc="http://schemas.openxmlformats.org/markup-compatibility/2006" xmlns:a14="http://schemas.microsoft.com/office/drawing/2010/main">
        <mc:Choice Requires="a14">
          <p:sp>
            <p:nvSpPr>
              <p:cNvPr id="5" name="bullets"/>
              <p:cNvSpPr txBox="1"/>
              <p:nvPr/>
            </p:nvSpPr>
            <p:spPr>
              <a:xfrm>
                <a:off x="1280160" y="2011680"/>
                <a:ext cx="10332720" cy="7315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학습 (정상 데이터만): 정상 창 </a:t>
                </a:r>
                <a14:m>
                  <m:oMath xmlns:m="http://schemas.openxmlformats.org/officeDocument/2006/math">
                    <m:r>
                      <a:rPr lang="en-US" altLang="ko-KR" sz="1600" i="1">
                        <a:solidFill>
                          <a:srgbClr val="262626"/>
                        </a:solidFill>
                        <a:latin typeface="Cambria Math" panose="02040503050406030204" pitchFamily="18" charset="0"/>
                        <a:ea typeface="맑은 고딕" pitchFamily="34" charset="-122"/>
                        <a:cs typeface="맑은 고딕" pitchFamily="34" charset="-120"/>
                      </a:rPr>
                      <m:t>𝑧</m:t>
                    </m:r>
                    <m:r>
                      <a:rPr lang="en-US" altLang="ko-KR" sz="1600" i="1">
                        <a:solidFill>
                          <a:srgbClr val="262626"/>
                        </a:solidFill>
                        <a:latin typeface="Cambria Math" panose="02040503050406030204" pitchFamily="18" charset="0"/>
                        <a:ea typeface="맑은 고딕" pitchFamily="34" charset="-122"/>
                        <a:cs typeface="맑은 고딕" pitchFamily="34" charset="-120"/>
                      </a:rPr>
                      <m:t> </m:t>
                    </m:r>
                  </m:oMath>
                </a14:m>
                <a:r>
                  <a:rPr lang="en-US" sz="1600" dirty="0">
                    <a:solidFill>
                      <a:srgbClr val="262626"/>
                    </a:solidFill>
                    <a:latin typeface="맑은 고딕" pitchFamily="34" charset="0"/>
                    <a:ea typeface="맑은 고딕" pitchFamily="34" charset="-122"/>
                    <a:cs typeface="맑은 고딕" pitchFamily="34" charset="-120"/>
                  </a:rPr>
                  <a:t>의 </a:t>
                </a:r>
                <a:r>
                  <a:rPr lang="en-US" sz="1600" dirty="0" err="1">
                    <a:solidFill>
                      <a:srgbClr val="262626"/>
                    </a:solidFill>
                    <a:latin typeface="맑은 고딕" pitchFamily="34" charset="0"/>
                    <a:ea typeface="맑은 고딕" pitchFamily="34" charset="-122"/>
                    <a:cs typeface="맑은 고딕" pitchFamily="34" charset="-120"/>
                  </a:rPr>
                  <a:t>분포</a:t>
                </a:r>
                <a:r>
                  <a:rPr lang="en-US" sz="1600" dirty="0">
                    <a:solidFill>
                      <a:srgbClr val="262626"/>
                    </a:solidFill>
                    <a:latin typeface="맑은 고딕" pitchFamily="34" charset="0"/>
                    <a:ea typeface="맑은 고딕" pitchFamily="34" charset="-122"/>
                    <a:cs typeface="맑은 고딕" pitchFamily="34" charset="-120"/>
                  </a:rPr>
                  <a:t> </a:t>
                </a:r>
                <a14:m>
                  <m:oMath xmlns:m="http://schemas.openxmlformats.org/officeDocument/2006/math">
                    <m:r>
                      <a:rPr lang="en-US" sz="1600" b="0" i="1" smtClean="0">
                        <a:solidFill>
                          <a:srgbClr val="262626"/>
                        </a:solidFill>
                        <a:latin typeface="Cambria Math" panose="02040503050406030204" pitchFamily="18" charset="0"/>
                        <a:ea typeface="맑은 고딕" pitchFamily="34" charset="-122"/>
                        <a:cs typeface="맑은 고딕" pitchFamily="34" charset="-120"/>
                      </a:rPr>
                      <m:t>𝑝</m:t>
                    </m:r>
                    <m:r>
                      <a:rPr lang="en-US" sz="1600" b="0" i="1" smtClean="0">
                        <a:solidFill>
                          <a:srgbClr val="262626"/>
                        </a:solidFill>
                        <a:latin typeface="Cambria Math" panose="02040503050406030204" pitchFamily="18" charset="0"/>
                        <a:ea typeface="맑은 고딕" pitchFamily="34" charset="-122"/>
                        <a:cs typeface="맑은 고딕" pitchFamily="34" charset="-120"/>
                      </a:rPr>
                      <m:t>(</m:t>
                    </m:r>
                    <m:r>
                      <a:rPr lang="en-US" sz="1600" b="0" i="1" smtClean="0">
                        <a:solidFill>
                          <a:srgbClr val="262626"/>
                        </a:solidFill>
                        <a:latin typeface="Cambria Math" panose="02040503050406030204" pitchFamily="18" charset="0"/>
                        <a:ea typeface="맑은 고딕" pitchFamily="34" charset="-122"/>
                        <a:cs typeface="맑은 고딕" pitchFamily="34" charset="-120"/>
                      </a:rPr>
                      <m:t>𝑧</m:t>
                    </m:r>
                    <m:r>
                      <a:rPr lang="en-US" sz="1600" b="0" i="1" smtClean="0">
                        <a:solidFill>
                          <a:srgbClr val="262626"/>
                        </a:solidFill>
                        <a:latin typeface="Cambria Math" panose="02040503050406030204" pitchFamily="18" charset="0"/>
                        <a:ea typeface="맑은 고딕" pitchFamily="34" charset="-122"/>
                        <a:cs typeface="맑은 고딕" pitchFamily="34" charset="-120"/>
                      </a:rPr>
                      <m:t>)</m:t>
                    </m:r>
                  </m:oMath>
                </a14:m>
                <a:r>
                  <a:rPr lang="en-US" sz="1600" dirty="0">
                    <a:solidFill>
                      <a:srgbClr val="262626"/>
                    </a:solidFill>
                    <a:latin typeface="맑은 고딕" pitchFamily="34" charset="0"/>
                    <a:ea typeface="맑은 고딕" pitchFamily="34" charset="-122"/>
                    <a:cs typeface="맑은 고딕" pitchFamily="34" charset="-120"/>
                  </a:rPr>
                  <a:t>를 GMM으로 학습하고, 보정 데이터로 경보 </a:t>
                </a:r>
                <a:r>
                  <a:rPr lang="en-US" sz="1600" dirty="0" err="1">
                    <a:solidFill>
                      <a:srgbClr val="262626"/>
                    </a:solidFill>
                    <a:latin typeface="맑은 고딕" pitchFamily="34" charset="0"/>
                    <a:ea typeface="맑은 고딕" pitchFamily="34" charset="-122"/>
                    <a:cs typeface="맑은 고딕" pitchFamily="34" charset="-120"/>
                  </a:rPr>
                  <a:t>임계값</a:t>
                </a:r>
                <a:r>
                  <a:rPr lang="en-US" sz="1600" dirty="0">
                    <a:solidFill>
                      <a:srgbClr val="262626"/>
                    </a:solidFill>
                    <a:latin typeface="맑은 고딕" pitchFamily="34" charset="0"/>
                    <a:ea typeface="맑은 고딕" pitchFamily="34" charset="-122"/>
                    <a:cs typeface="맑은 고딕" pitchFamily="34" charset="-120"/>
                  </a:rPr>
                  <a:t> </a:t>
                </a:r>
                <a14:m>
                  <m:oMath xmlns:m="http://schemas.openxmlformats.org/officeDocument/2006/math">
                    <m:r>
                      <m:rPr>
                        <m:sty m:val="p"/>
                      </m:rPr>
                      <a:rPr lang="en-US" altLang="ko-KR" sz="1600" i="1">
                        <a:solidFill>
                          <a:srgbClr val="262626"/>
                        </a:solidFill>
                        <a:latin typeface="Cambria Math" panose="02040503050406030204" pitchFamily="18" charset="0"/>
                        <a:ea typeface="맑은 고딕" pitchFamily="34" charset="-122"/>
                        <a:cs typeface="맑은 고딕" pitchFamily="34" charset="-120"/>
                      </a:rPr>
                      <m:t>θ</m:t>
                    </m:r>
                  </m:oMath>
                </a14:m>
                <a:r>
                  <a:rPr lang="en-US" sz="1600" dirty="0">
                    <a:solidFill>
                      <a:srgbClr val="262626"/>
                    </a:solidFill>
                    <a:latin typeface="맑은 고딕" pitchFamily="34" charset="0"/>
                    <a:ea typeface="맑은 고딕" pitchFamily="34" charset="-122"/>
                    <a:cs typeface="맑은 고딕" pitchFamily="34" charset="-120"/>
                  </a:rPr>
                  <a:t> 결정</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판단 (0.1초마다): 새 창의 </a:t>
                </a:r>
                <a:r>
                  <a:rPr lang="en-US" sz="1600" dirty="0" err="1">
                    <a:solidFill>
                      <a:srgbClr val="262626"/>
                    </a:solidFill>
                    <a:latin typeface="맑은 고딕" pitchFamily="34" charset="0"/>
                    <a:ea typeface="맑은 고딕" pitchFamily="34" charset="-122"/>
                    <a:cs typeface="맑은 고딕" pitchFamily="34" charset="-120"/>
                  </a:rPr>
                  <a:t>점수</a:t>
                </a:r>
                <a:r>
                  <a:rPr lang="en-US" sz="1600" dirty="0">
                    <a:solidFill>
                      <a:srgbClr val="262626"/>
                    </a:solidFill>
                    <a:latin typeface="맑은 고딕" pitchFamily="34" charset="0"/>
                    <a:ea typeface="맑은 고딕" pitchFamily="34" charset="-122"/>
                    <a:cs typeface="맑은 고딕" pitchFamily="34" charset="-120"/>
                  </a:rPr>
                  <a:t> </a:t>
                </a:r>
                <a14:m>
                  <m:oMath xmlns:m="http://schemas.openxmlformats.org/officeDocument/2006/math">
                    <m:sSub>
                      <m:sSubPr>
                        <m:ctrlPr>
                          <a:rPr lang="en-US" sz="1600" b="0" i="1" smtClean="0">
                            <a:solidFill>
                              <a:srgbClr val="262626"/>
                            </a:solidFill>
                            <a:latin typeface="Cambria Math" panose="02040503050406030204" pitchFamily="18" charset="0"/>
                            <a:ea typeface="맑은 고딕" pitchFamily="34" charset="-122"/>
                            <a:cs typeface="맑은 고딕" pitchFamily="34" charset="-120"/>
                          </a:rPr>
                        </m:ctrlPr>
                      </m:sSubPr>
                      <m:e>
                        <m:r>
                          <a:rPr lang="en-US" sz="1600" b="0" i="1" smtClean="0">
                            <a:solidFill>
                              <a:srgbClr val="262626"/>
                            </a:solidFill>
                            <a:latin typeface="Cambria Math" panose="02040503050406030204" pitchFamily="18" charset="0"/>
                            <a:ea typeface="맑은 고딕" pitchFamily="34" charset="-122"/>
                            <a:cs typeface="맑은 고딕" pitchFamily="34" charset="-120"/>
                          </a:rPr>
                          <m:t>𝑠</m:t>
                        </m:r>
                      </m:e>
                      <m:sub>
                        <m:r>
                          <a:rPr lang="en-US" sz="1600" b="0" i="1" smtClean="0">
                            <a:solidFill>
                              <a:srgbClr val="262626"/>
                            </a:solidFill>
                            <a:latin typeface="Cambria Math" panose="02040503050406030204" pitchFamily="18" charset="0"/>
                            <a:ea typeface="맑은 고딕" pitchFamily="34" charset="-122"/>
                            <a:cs typeface="맑은 고딕" pitchFamily="34" charset="-120"/>
                          </a:rPr>
                          <m:t>𝑡</m:t>
                        </m:r>
                      </m:sub>
                    </m:sSub>
                    <m:r>
                      <a:rPr lang="en-US" sz="1600" b="0" i="1" smtClean="0">
                        <a:solidFill>
                          <a:srgbClr val="262626"/>
                        </a:solidFill>
                        <a:latin typeface="Cambria Math" panose="02040503050406030204" pitchFamily="18" charset="0"/>
                        <a:ea typeface="맑은 고딕" pitchFamily="34" charset="-122"/>
                        <a:cs typeface="맑은 고딕" pitchFamily="34" charset="-120"/>
                      </a:rPr>
                      <m:t>=−</m:t>
                    </m:r>
                    <m:func>
                      <m:funcPr>
                        <m:ctrlPr>
                          <a:rPr lang="en-US" sz="1600" b="0" i="0" smtClean="0">
                            <a:solidFill>
                              <a:srgbClr val="262626"/>
                            </a:solidFill>
                            <a:latin typeface="Cambria Math" panose="02040503050406030204" pitchFamily="18" charset="0"/>
                            <a:ea typeface="맑은 고딕" pitchFamily="34" charset="-122"/>
                            <a:cs typeface="맑은 고딕" pitchFamily="34" charset="-120"/>
                          </a:rPr>
                        </m:ctrlPr>
                      </m:funcPr>
                      <m:fName>
                        <m:r>
                          <m:rPr>
                            <m:sty m:val="p"/>
                          </m:rPr>
                          <a:rPr lang="en-US" sz="1600" b="0" i="0" smtClean="0">
                            <a:solidFill>
                              <a:srgbClr val="262626"/>
                            </a:solidFill>
                            <a:latin typeface="Cambria Math" panose="02040503050406030204" pitchFamily="18" charset="0"/>
                            <a:ea typeface="맑은 고딕" pitchFamily="34" charset="-122"/>
                            <a:cs typeface="맑은 고딕" pitchFamily="34" charset="-120"/>
                          </a:rPr>
                          <m:t>log</m:t>
                        </m:r>
                      </m:fName>
                      <m:e>
                        <m:r>
                          <a:rPr lang="en-US" sz="1600" b="0" i="1" smtClean="0">
                            <a:solidFill>
                              <a:srgbClr val="262626"/>
                            </a:solidFill>
                            <a:latin typeface="Cambria Math" panose="02040503050406030204" pitchFamily="18" charset="0"/>
                            <a:ea typeface="맑은 고딕" pitchFamily="34" charset="-122"/>
                            <a:cs typeface="맑은 고딕" pitchFamily="34" charset="-120"/>
                          </a:rPr>
                          <m:t>𝑝</m:t>
                        </m:r>
                        <m:r>
                          <a:rPr lang="en-US" sz="1600" b="0" i="1" smtClean="0">
                            <a:solidFill>
                              <a:srgbClr val="262626"/>
                            </a:solidFill>
                            <a:latin typeface="Cambria Math" panose="02040503050406030204" pitchFamily="18" charset="0"/>
                            <a:ea typeface="맑은 고딕" pitchFamily="34" charset="-122"/>
                            <a:cs typeface="맑은 고딕" pitchFamily="34" charset="-120"/>
                          </a:rPr>
                          <m:t>(</m:t>
                        </m:r>
                        <m:sSub>
                          <m:sSubPr>
                            <m:ctrlPr>
                              <a:rPr lang="en-US" sz="1600" b="0" i="1" smtClean="0">
                                <a:solidFill>
                                  <a:srgbClr val="262626"/>
                                </a:solidFill>
                                <a:latin typeface="Cambria Math" panose="02040503050406030204" pitchFamily="18" charset="0"/>
                                <a:ea typeface="맑은 고딕" pitchFamily="34" charset="-122"/>
                                <a:cs typeface="맑은 고딕" pitchFamily="34" charset="-120"/>
                              </a:rPr>
                            </m:ctrlPr>
                          </m:sSubPr>
                          <m:e>
                            <m:r>
                              <a:rPr lang="en-US" sz="1600" b="0" i="1" smtClean="0">
                                <a:solidFill>
                                  <a:srgbClr val="262626"/>
                                </a:solidFill>
                                <a:latin typeface="Cambria Math" panose="02040503050406030204" pitchFamily="18" charset="0"/>
                                <a:ea typeface="맑은 고딕" pitchFamily="34" charset="-122"/>
                                <a:cs typeface="맑은 고딕" pitchFamily="34" charset="-120"/>
                              </a:rPr>
                              <m:t>𝑧</m:t>
                            </m:r>
                          </m:e>
                          <m:sub>
                            <m:r>
                              <a:rPr lang="en-US" sz="1600" b="0" i="1" smtClean="0">
                                <a:solidFill>
                                  <a:srgbClr val="262626"/>
                                </a:solidFill>
                                <a:latin typeface="Cambria Math" panose="02040503050406030204" pitchFamily="18" charset="0"/>
                                <a:ea typeface="맑은 고딕" pitchFamily="34" charset="-122"/>
                                <a:cs typeface="맑은 고딕" pitchFamily="34" charset="-120"/>
                              </a:rPr>
                              <m:t>𝑡</m:t>
                            </m:r>
                          </m:sub>
                        </m:sSub>
                        <m:r>
                          <a:rPr lang="en-US" sz="1600" b="0" i="1" smtClean="0">
                            <a:solidFill>
                              <a:srgbClr val="262626"/>
                            </a:solidFill>
                            <a:latin typeface="Cambria Math" panose="02040503050406030204" pitchFamily="18" charset="0"/>
                            <a:ea typeface="맑은 고딕" pitchFamily="34" charset="-122"/>
                            <a:cs typeface="맑은 고딕" pitchFamily="34" charset="-120"/>
                          </a:rPr>
                          <m:t>)</m:t>
                        </m:r>
                      </m:e>
                    </m:func>
                  </m:oMath>
                </a14:m>
                <a:r>
                  <a:rPr lang="en-US" sz="1600" dirty="0">
                    <a:solidFill>
                      <a:srgbClr val="262626"/>
                    </a:solidFill>
                    <a:latin typeface="맑은 고딕" pitchFamily="34" charset="0"/>
                    <a:ea typeface="맑은 고딕" pitchFamily="34" charset="-122"/>
                    <a:cs typeface="맑은 고딕" pitchFamily="34" charset="-120"/>
                  </a:rPr>
                  <a:t>가 </a:t>
                </a:r>
                <a14:m>
                  <m:oMath xmlns:m="http://schemas.openxmlformats.org/officeDocument/2006/math">
                    <m:r>
                      <m:rPr>
                        <m:sty m:val="p"/>
                      </m:rPr>
                      <a:rPr lang="en-US" sz="1600" b="0" i="1" smtClean="0">
                        <a:solidFill>
                          <a:srgbClr val="262626"/>
                        </a:solidFill>
                        <a:latin typeface="Cambria Math" panose="02040503050406030204" pitchFamily="18" charset="0"/>
                        <a:ea typeface="맑은 고딕" pitchFamily="34" charset="-122"/>
                        <a:cs typeface="맑은 고딕" pitchFamily="34" charset="-120"/>
                      </a:rPr>
                      <m:t>θ</m:t>
                    </m:r>
                  </m:oMath>
                </a14:m>
                <a:r>
                  <a:rPr lang="en-US" sz="1600" dirty="0">
                    <a:solidFill>
                      <a:srgbClr val="262626"/>
                    </a:solidFill>
                    <a:latin typeface="맑은 고딕" pitchFamily="34" charset="0"/>
                    <a:ea typeface="맑은 고딕" pitchFamily="34" charset="-122"/>
                    <a:cs typeface="맑은 고딕" pitchFamily="34" charset="-120"/>
                  </a:rPr>
                  <a:t>를 넘으면 그 시점에 경보</a:t>
                </a:r>
                <a:endParaRPr lang="en-US" sz="1600" dirty="0"/>
              </a:p>
            </p:txBody>
          </p:sp>
        </mc:Choice>
        <mc:Fallback xmlns="">
          <p:sp>
            <p:nvSpPr>
              <p:cNvPr id="5" name="bullets"/>
              <p:cNvSpPr txBox="1">
                <a:spLocks noRot="1" noChangeAspect="1" noMove="1" noResize="1" noEditPoints="1" noAdjustHandles="1" noChangeArrowheads="1" noChangeShapeType="1" noTextEdit="1"/>
              </p:cNvSpPr>
              <p:nvPr/>
            </p:nvSpPr>
            <p:spPr>
              <a:xfrm>
                <a:off x="1280160" y="2011680"/>
                <a:ext cx="10332720" cy="731520"/>
              </a:xfrm>
              <a:prstGeom prst="rect">
                <a:avLst/>
              </a:prstGeom>
              <a:blipFill>
                <a:blip r:embed="rId3"/>
                <a:stretch>
                  <a:fillRect l="-1298" t="-11667"/>
                </a:stretch>
              </a:blipFill>
              <a:ln/>
            </p:spPr>
            <p:txBody>
              <a:bodyPr/>
              <a:lstStyle/>
              <a:p>
                <a:r>
                  <a:rPr lang="ko-KR" altLang="en-US">
                    <a:noFill/>
                  </a:rPr>
                  <a:t> </a:t>
                </a:r>
              </a:p>
            </p:txBody>
          </p:sp>
        </mc:Fallback>
      </mc:AlternateContent>
      <p:sp>
        <p:nvSpPr>
          <p:cNvPr id="6" name="Text 4"/>
          <p:cNvSpPr txBox="1"/>
          <p:nvPr/>
        </p:nvSpPr>
        <p:spPr>
          <a:xfrm>
            <a:off x="731520" y="2880360"/>
            <a:ext cx="3108960" cy="292608"/>
          </a:xfrm>
          <a:prstGeom prst="rect">
            <a:avLst/>
          </a:prstGeom>
          <a:noFill/>
          <a:ln/>
        </p:spPr>
        <p:txBody>
          <a:bodyPr wrap="square" lIns="0" tIns="0" rIns="0" bIns="0" rtlCol="0" anchor="ctr"/>
          <a:lstStyle/>
          <a:p>
            <a:pPr marL="0" indent="0" algn="l">
              <a:buNone/>
            </a:pPr>
            <a:r>
              <a:rPr lang="en-US" sz="1500" b="1" dirty="0">
                <a:solidFill>
                  <a:srgbClr val="1F4E79"/>
                </a:solidFill>
                <a:latin typeface="Times New Roman" pitchFamily="34" charset="0"/>
                <a:ea typeface="Times New Roman" pitchFamily="34" charset="-122"/>
                <a:cs typeface="Times New Roman" pitchFamily="34" charset="-120"/>
              </a:rPr>
              <a:t>Offline training</a:t>
            </a:r>
            <a:endParaRPr lang="en-US" sz="1500" dirty="0"/>
          </a:p>
        </p:txBody>
      </p:sp>
      <p:sp>
        <p:nvSpPr>
          <p:cNvPr id="7" name="Text 5"/>
          <p:cNvSpPr txBox="1"/>
          <p:nvPr/>
        </p:nvSpPr>
        <p:spPr>
          <a:xfrm>
            <a:off x="731520" y="3172968"/>
            <a:ext cx="3108960" cy="256032"/>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정상 학습 창 9,394개 (normal only)</a:t>
            </a:r>
            <a:endParaRPr lang="en-US" sz="1100" dirty="0"/>
          </a:p>
        </p:txBody>
      </p:sp>
      <p:sp>
        <p:nvSpPr>
          <p:cNvPr id="8" name="Shape 6"/>
          <p:cNvSpPr/>
          <p:nvPr/>
        </p:nvSpPr>
        <p:spPr>
          <a:xfrm>
            <a:off x="2683088" y="403623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9" name="Shape 7"/>
          <p:cNvSpPr/>
          <p:nvPr/>
        </p:nvSpPr>
        <p:spPr>
          <a:xfrm>
            <a:off x="1188534" y="397915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0" name="Shape 8"/>
          <p:cNvSpPr/>
          <p:nvPr/>
        </p:nvSpPr>
        <p:spPr>
          <a:xfrm>
            <a:off x="1206182" y="388724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1" name="Shape 9"/>
          <p:cNvSpPr/>
          <p:nvPr/>
        </p:nvSpPr>
        <p:spPr>
          <a:xfrm>
            <a:off x="1447662" y="391918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2" name="Shape 10"/>
          <p:cNvSpPr/>
          <p:nvPr/>
        </p:nvSpPr>
        <p:spPr>
          <a:xfrm>
            <a:off x="1693394" y="384341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3" name="Shape 11"/>
          <p:cNvSpPr/>
          <p:nvPr/>
        </p:nvSpPr>
        <p:spPr>
          <a:xfrm>
            <a:off x="1482837" y="3658899"/>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4" name="Shape 12"/>
          <p:cNvSpPr/>
          <p:nvPr/>
        </p:nvSpPr>
        <p:spPr>
          <a:xfrm>
            <a:off x="1389209" y="384720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5" name="Shape 13"/>
          <p:cNvSpPr/>
          <p:nvPr/>
        </p:nvSpPr>
        <p:spPr>
          <a:xfrm>
            <a:off x="1552647" y="386446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6" name="Shape 14"/>
          <p:cNvSpPr/>
          <p:nvPr/>
        </p:nvSpPr>
        <p:spPr>
          <a:xfrm>
            <a:off x="1343158" y="388728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7" name="Shape 15"/>
          <p:cNvSpPr/>
          <p:nvPr/>
        </p:nvSpPr>
        <p:spPr>
          <a:xfrm>
            <a:off x="1321506" y="392380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8" name="Shape 16"/>
          <p:cNvSpPr/>
          <p:nvPr/>
        </p:nvSpPr>
        <p:spPr>
          <a:xfrm>
            <a:off x="1620454" y="392171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19" name="Shape 17"/>
          <p:cNvSpPr/>
          <p:nvPr/>
        </p:nvSpPr>
        <p:spPr>
          <a:xfrm>
            <a:off x="1093658" y="4047859"/>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0" name="Shape 18"/>
          <p:cNvSpPr/>
          <p:nvPr/>
        </p:nvSpPr>
        <p:spPr>
          <a:xfrm>
            <a:off x="1569033" y="3853202"/>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1" name="Shape 19"/>
          <p:cNvSpPr/>
          <p:nvPr/>
        </p:nvSpPr>
        <p:spPr>
          <a:xfrm>
            <a:off x="1694752" y="4066812"/>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2" name="Shape 20"/>
          <p:cNvSpPr/>
          <p:nvPr/>
        </p:nvSpPr>
        <p:spPr>
          <a:xfrm>
            <a:off x="1347360" y="378004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3" name="Shape 21"/>
          <p:cNvSpPr/>
          <p:nvPr/>
        </p:nvSpPr>
        <p:spPr>
          <a:xfrm>
            <a:off x="971912" y="399231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4" name="Shape 22"/>
          <p:cNvSpPr/>
          <p:nvPr/>
        </p:nvSpPr>
        <p:spPr>
          <a:xfrm>
            <a:off x="1300573" y="392041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5" name="Shape 23"/>
          <p:cNvSpPr/>
          <p:nvPr/>
        </p:nvSpPr>
        <p:spPr>
          <a:xfrm>
            <a:off x="1133675" y="390820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6" name="Shape 24"/>
          <p:cNvSpPr/>
          <p:nvPr/>
        </p:nvSpPr>
        <p:spPr>
          <a:xfrm>
            <a:off x="1347407" y="397525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7" name="Shape 25"/>
          <p:cNvSpPr/>
          <p:nvPr/>
        </p:nvSpPr>
        <p:spPr>
          <a:xfrm>
            <a:off x="1242233" y="379664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8" name="Shape 26"/>
          <p:cNvSpPr/>
          <p:nvPr/>
        </p:nvSpPr>
        <p:spPr>
          <a:xfrm>
            <a:off x="1593289" y="411341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29" name="Shape 27"/>
          <p:cNvSpPr/>
          <p:nvPr/>
        </p:nvSpPr>
        <p:spPr>
          <a:xfrm>
            <a:off x="834564" y="424176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0" name="Shape 28"/>
          <p:cNvSpPr/>
          <p:nvPr/>
        </p:nvSpPr>
        <p:spPr>
          <a:xfrm>
            <a:off x="1442665" y="406793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1" name="Shape 29"/>
          <p:cNvSpPr/>
          <p:nvPr/>
        </p:nvSpPr>
        <p:spPr>
          <a:xfrm>
            <a:off x="1103308" y="424911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2" name="Shape 30"/>
          <p:cNvSpPr/>
          <p:nvPr/>
        </p:nvSpPr>
        <p:spPr>
          <a:xfrm>
            <a:off x="1559938" y="404039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3" name="Shape 31"/>
          <p:cNvSpPr/>
          <p:nvPr/>
        </p:nvSpPr>
        <p:spPr>
          <a:xfrm>
            <a:off x="1399827" y="398119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4" name="Shape 32"/>
          <p:cNvSpPr/>
          <p:nvPr/>
        </p:nvSpPr>
        <p:spPr>
          <a:xfrm>
            <a:off x="3065958" y="360201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5" name="Shape 33"/>
          <p:cNvSpPr/>
          <p:nvPr/>
        </p:nvSpPr>
        <p:spPr>
          <a:xfrm>
            <a:off x="2231422" y="3665034"/>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6" name="Shape 34"/>
          <p:cNvSpPr/>
          <p:nvPr/>
        </p:nvSpPr>
        <p:spPr>
          <a:xfrm>
            <a:off x="2456069" y="380760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7" name="Shape 35"/>
          <p:cNvSpPr/>
          <p:nvPr/>
        </p:nvSpPr>
        <p:spPr>
          <a:xfrm>
            <a:off x="1877856" y="405585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8" name="Shape 36"/>
          <p:cNvSpPr/>
          <p:nvPr/>
        </p:nvSpPr>
        <p:spPr>
          <a:xfrm>
            <a:off x="2673255" y="396465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39" name="Shape 37"/>
          <p:cNvSpPr/>
          <p:nvPr/>
        </p:nvSpPr>
        <p:spPr>
          <a:xfrm>
            <a:off x="2935062" y="359323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0" name="Shape 38"/>
          <p:cNvSpPr/>
          <p:nvPr/>
        </p:nvSpPr>
        <p:spPr>
          <a:xfrm>
            <a:off x="2519238" y="343301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1" name="Shape 39"/>
          <p:cNvSpPr/>
          <p:nvPr/>
        </p:nvSpPr>
        <p:spPr>
          <a:xfrm>
            <a:off x="2524392" y="363023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2" name="Shape 40"/>
          <p:cNvSpPr/>
          <p:nvPr/>
        </p:nvSpPr>
        <p:spPr>
          <a:xfrm>
            <a:off x="2760285" y="390765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3" name="Shape 41"/>
          <p:cNvSpPr/>
          <p:nvPr/>
        </p:nvSpPr>
        <p:spPr>
          <a:xfrm>
            <a:off x="2232687" y="3719612"/>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4" name="Shape 42"/>
          <p:cNvSpPr/>
          <p:nvPr/>
        </p:nvSpPr>
        <p:spPr>
          <a:xfrm>
            <a:off x="2531354" y="367200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5" name="Shape 43"/>
          <p:cNvSpPr/>
          <p:nvPr/>
        </p:nvSpPr>
        <p:spPr>
          <a:xfrm>
            <a:off x="2267516" y="362410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6" name="Shape 44"/>
          <p:cNvSpPr/>
          <p:nvPr/>
        </p:nvSpPr>
        <p:spPr>
          <a:xfrm>
            <a:off x="2333039" y="346308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7" name="Shape 45"/>
          <p:cNvSpPr/>
          <p:nvPr/>
        </p:nvSpPr>
        <p:spPr>
          <a:xfrm>
            <a:off x="2317987" y="351282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8" name="Shape 46"/>
          <p:cNvSpPr/>
          <p:nvPr/>
        </p:nvSpPr>
        <p:spPr>
          <a:xfrm>
            <a:off x="2333647" y="355887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49" name="Shape 47"/>
          <p:cNvSpPr/>
          <p:nvPr/>
        </p:nvSpPr>
        <p:spPr>
          <a:xfrm>
            <a:off x="2256782" y="3679569"/>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0" name="Shape 48"/>
          <p:cNvSpPr/>
          <p:nvPr/>
        </p:nvSpPr>
        <p:spPr>
          <a:xfrm>
            <a:off x="2625664" y="367378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1" name="Shape 49"/>
          <p:cNvSpPr/>
          <p:nvPr/>
        </p:nvSpPr>
        <p:spPr>
          <a:xfrm>
            <a:off x="2612629" y="350445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2" name="Shape 50"/>
          <p:cNvSpPr/>
          <p:nvPr/>
        </p:nvSpPr>
        <p:spPr>
          <a:xfrm>
            <a:off x="2629555" y="371987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3" name="Shape 51"/>
          <p:cNvSpPr/>
          <p:nvPr/>
        </p:nvSpPr>
        <p:spPr>
          <a:xfrm>
            <a:off x="2618485" y="353284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4" name="Shape 52"/>
          <p:cNvSpPr/>
          <p:nvPr/>
        </p:nvSpPr>
        <p:spPr>
          <a:xfrm>
            <a:off x="2148828" y="3589704"/>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5" name="Shape 53"/>
          <p:cNvSpPr/>
          <p:nvPr/>
        </p:nvSpPr>
        <p:spPr>
          <a:xfrm>
            <a:off x="2648163" y="345021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6" name="Shape 54"/>
          <p:cNvSpPr/>
          <p:nvPr/>
        </p:nvSpPr>
        <p:spPr>
          <a:xfrm>
            <a:off x="2360326" y="367544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7" name="Shape 55"/>
          <p:cNvSpPr/>
          <p:nvPr/>
        </p:nvSpPr>
        <p:spPr>
          <a:xfrm>
            <a:off x="2217386" y="370082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8" name="Shape 56"/>
          <p:cNvSpPr/>
          <p:nvPr/>
        </p:nvSpPr>
        <p:spPr>
          <a:xfrm>
            <a:off x="2590962" y="363107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59" name="Shape 57"/>
          <p:cNvSpPr/>
          <p:nvPr/>
        </p:nvSpPr>
        <p:spPr>
          <a:xfrm>
            <a:off x="2521769" y="3574699"/>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0" name="Shape 58"/>
          <p:cNvSpPr/>
          <p:nvPr/>
        </p:nvSpPr>
        <p:spPr>
          <a:xfrm>
            <a:off x="2224910" y="454184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1" name="Shape 59"/>
          <p:cNvSpPr/>
          <p:nvPr/>
        </p:nvSpPr>
        <p:spPr>
          <a:xfrm>
            <a:off x="2476741" y="4590394"/>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2" name="Shape 60"/>
          <p:cNvSpPr/>
          <p:nvPr/>
        </p:nvSpPr>
        <p:spPr>
          <a:xfrm>
            <a:off x="2293493" y="4498559"/>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3" name="Shape 61"/>
          <p:cNvSpPr/>
          <p:nvPr/>
        </p:nvSpPr>
        <p:spPr>
          <a:xfrm>
            <a:off x="1891756" y="423964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4" name="Shape 62"/>
          <p:cNvSpPr/>
          <p:nvPr/>
        </p:nvSpPr>
        <p:spPr>
          <a:xfrm>
            <a:off x="2055264" y="440002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5" name="Shape 63"/>
          <p:cNvSpPr/>
          <p:nvPr/>
        </p:nvSpPr>
        <p:spPr>
          <a:xfrm>
            <a:off x="1808597" y="4414562"/>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6" name="Shape 64"/>
          <p:cNvSpPr/>
          <p:nvPr/>
        </p:nvSpPr>
        <p:spPr>
          <a:xfrm>
            <a:off x="2225011" y="454594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7" name="Shape 65"/>
          <p:cNvSpPr/>
          <p:nvPr/>
        </p:nvSpPr>
        <p:spPr>
          <a:xfrm>
            <a:off x="2268768" y="425855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8" name="Shape 66"/>
          <p:cNvSpPr/>
          <p:nvPr/>
        </p:nvSpPr>
        <p:spPr>
          <a:xfrm>
            <a:off x="2456774" y="429844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69" name="Shape 67"/>
          <p:cNvSpPr/>
          <p:nvPr/>
        </p:nvSpPr>
        <p:spPr>
          <a:xfrm>
            <a:off x="1831700" y="4396715"/>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0" name="Shape 68"/>
          <p:cNvSpPr/>
          <p:nvPr/>
        </p:nvSpPr>
        <p:spPr>
          <a:xfrm>
            <a:off x="1957807" y="469016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1" name="Shape 69"/>
          <p:cNvSpPr/>
          <p:nvPr/>
        </p:nvSpPr>
        <p:spPr>
          <a:xfrm>
            <a:off x="2332656" y="452604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2" name="Shape 70"/>
          <p:cNvSpPr/>
          <p:nvPr/>
        </p:nvSpPr>
        <p:spPr>
          <a:xfrm>
            <a:off x="2091699" y="445974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3" name="Shape 71"/>
          <p:cNvSpPr/>
          <p:nvPr/>
        </p:nvSpPr>
        <p:spPr>
          <a:xfrm>
            <a:off x="2097424" y="4312964"/>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4" name="Shape 72"/>
          <p:cNvSpPr/>
          <p:nvPr/>
        </p:nvSpPr>
        <p:spPr>
          <a:xfrm>
            <a:off x="1800489" y="427957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5" name="Shape 73"/>
          <p:cNvSpPr/>
          <p:nvPr/>
        </p:nvSpPr>
        <p:spPr>
          <a:xfrm>
            <a:off x="2034566" y="433219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6" name="Shape 74"/>
          <p:cNvSpPr/>
          <p:nvPr/>
        </p:nvSpPr>
        <p:spPr>
          <a:xfrm>
            <a:off x="2213486" y="444053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7" name="Shape 75"/>
          <p:cNvSpPr/>
          <p:nvPr/>
        </p:nvSpPr>
        <p:spPr>
          <a:xfrm>
            <a:off x="1784775" y="4414356"/>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8" name="Shape 76"/>
          <p:cNvSpPr/>
          <p:nvPr/>
        </p:nvSpPr>
        <p:spPr>
          <a:xfrm>
            <a:off x="2365513" y="4486701"/>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79" name="Shape 77"/>
          <p:cNvSpPr/>
          <p:nvPr/>
        </p:nvSpPr>
        <p:spPr>
          <a:xfrm>
            <a:off x="2063316" y="439402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0" name="Shape 78"/>
          <p:cNvSpPr/>
          <p:nvPr/>
        </p:nvSpPr>
        <p:spPr>
          <a:xfrm>
            <a:off x="2107663" y="443632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1" name="Shape 79"/>
          <p:cNvSpPr/>
          <p:nvPr/>
        </p:nvSpPr>
        <p:spPr>
          <a:xfrm>
            <a:off x="2107293" y="4366758"/>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2" name="Shape 80"/>
          <p:cNvSpPr/>
          <p:nvPr/>
        </p:nvSpPr>
        <p:spPr>
          <a:xfrm>
            <a:off x="1838358" y="4343544"/>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3" name="Shape 81"/>
          <p:cNvSpPr/>
          <p:nvPr/>
        </p:nvSpPr>
        <p:spPr>
          <a:xfrm>
            <a:off x="2062197" y="4315077"/>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4" name="Shape 82"/>
          <p:cNvSpPr/>
          <p:nvPr/>
        </p:nvSpPr>
        <p:spPr>
          <a:xfrm>
            <a:off x="2196710" y="4398590"/>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5" name="Shape 83"/>
          <p:cNvSpPr/>
          <p:nvPr/>
        </p:nvSpPr>
        <p:spPr>
          <a:xfrm>
            <a:off x="2123701" y="4332503"/>
            <a:ext cx="51206" cy="51206"/>
          </a:xfrm>
          <a:prstGeom prst="ellipse">
            <a:avLst/>
          </a:prstGeom>
          <a:solidFill>
            <a:srgbClr val="7F7F7F"/>
          </a:solidFill>
          <a:ln w="12700">
            <a:solidFill>
              <a:srgbClr val="7F7F7F"/>
            </a:solidFill>
            <a:prstDash val="solid"/>
          </a:ln>
        </p:spPr>
        <p:txBody>
          <a:bodyPr/>
          <a:lstStyle/>
          <a:p>
            <a:endParaRPr lang="ko-KR" altLang="en-US"/>
          </a:p>
        </p:txBody>
      </p:sp>
      <p:sp>
        <p:nvSpPr>
          <p:cNvPr id="86" name="Shape 84"/>
          <p:cNvSpPr/>
          <p:nvPr/>
        </p:nvSpPr>
        <p:spPr>
          <a:xfrm>
            <a:off x="3291840" y="3886200"/>
            <a:ext cx="777240" cy="91"/>
          </a:xfrm>
          <a:prstGeom prst="line">
            <a:avLst/>
          </a:prstGeom>
          <a:noFill/>
          <a:ln w="28575">
            <a:solidFill>
              <a:srgbClr val="000000"/>
            </a:solidFill>
            <a:prstDash val="solid"/>
            <a:tailEnd type="triangle"/>
          </a:ln>
        </p:spPr>
        <p:txBody>
          <a:bodyPr/>
          <a:lstStyle/>
          <a:p>
            <a:endParaRPr lang="ko-KR" altLang="en-US"/>
          </a:p>
        </p:txBody>
      </p:sp>
      <p:sp>
        <p:nvSpPr>
          <p:cNvPr id="87" name="Text 85"/>
          <p:cNvSpPr txBox="1"/>
          <p:nvPr/>
        </p:nvSpPr>
        <p:spPr>
          <a:xfrm>
            <a:off x="3246120" y="3566160"/>
            <a:ext cx="868680" cy="274320"/>
          </a:xfrm>
          <a:prstGeom prst="rect">
            <a:avLst/>
          </a:prstGeom>
          <a:noFill/>
          <a:ln/>
        </p:spPr>
        <p:txBody>
          <a:bodyPr wrap="square" lIns="0" tIns="0" rIns="0" bIns="0" rtlCol="0" anchor="ctr"/>
          <a:lstStyle/>
          <a:p>
            <a:pPr marL="0" indent="0" algn="ctr">
              <a:buNone/>
            </a:pPr>
            <a:r>
              <a:rPr lang="en-US" sz="1200" b="1" i="1" dirty="0">
                <a:solidFill>
                  <a:srgbClr val="000000"/>
                </a:solidFill>
                <a:latin typeface="Times New Roman" pitchFamily="34" charset="0"/>
                <a:ea typeface="Times New Roman" pitchFamily="34" charset="-122"/>
                <a:cs typeface="Times New Roman" pitchFamily="34" charset="-120"/>
              </a:rPr>
              <a:t>EM fit</a:t>
            </a:r>
            <a:endParaRPr lang="en-US" sz="1200" dirty="0"/>
          </a:p>
        </p:txBody>
      </p:sp>
      <p:sp>
        <p:nvSpPr>
          <p:cNvPr id="88" name="Shape 86"/>
          <p:cNvSpPr/>
          <p:nvPr/>
        </p:nvSpPr>
        <p:spPr>
          <a:xfrm>
            <a:off x="4251960" y="4846320"/>
            <a:ext cx="3657600" cy="91"/>
          </a:xfrm>
          <a:prstGeom prst="line">
            <a:avLst/>
          </a:prstGeom>
          <a:noFill/>
          <a:ln w="12700">
            <a:solidFill>
              <a:srgbClr val="000000"/>
            </a:solidFill>
            <a:prstDash val="solid"/>
          </a:ln>
        </p:spPr>
        <p:txBody>
          <a:bodyPr/>
          <a:lstStyle/>
          <a:p>
            <a:endParaRPr lang="ko-KR" altLang="en-US"/>
          </a:p>
        </p:txBody>
      </p:sp>
      <p:sp>
        <p:nvSpPr>
          <p:cNvPr id="89" name="Shape 87"/>
          <p:cNvSpPr/>
          <p:nvPr/>
        </p:nvSpPr>
        <p:spPr>
          <a:xfrm flipV="1">
            <a:off x="4251960" y="2926080"/>
            <a:ext cx="91" cy="1920240"/>
          </a:xfrm>
          <a:prstGeom prst="line">
            <a:avLst/>
          </a:prstGeom>
          <a:noFill/>
          <a:ln w="12700">
            <a:solidFill>
              <a:srgbClr val="000000"/>
            </a:solidFill>
            <a:prstDash val="solid"/>
          </a:ln>
        </p:spPr>
        <p:txBody>
          <a:bodyPr/>
          <a:lstStyle/>
          <a:p>
            <a:endParaRPr lang="ko-KR" altLang="en-US"/>
          </a:p>
        </p:txBody>
      </p:sp>
      <p:sp>
        <p:nvSpPr>
          <p:cNvPr id="90" name="Text 88"/>
          <p:cNvSpPr txBox="1"/>
          <p:nvPr/>
        </p:nvSpPr>
        <p:spPr>
          <a:xfrm>
            <a:off x="7955280" y="4727448"/>
            <a:ext cx="274320" cy="228600"/>
          </a:xfrm>
          <a:prstGeom prst="rect">
            <a:avLst/>
          </a:prstGeom>
          <a:noFill/>
          <a:ln/>
        </p:spPr>
        <p:txBody>
          <a:bodyPr wrap="square" lIns="0" tIns="0" rIns="0" bIns="0" rtlCol="0" anchor="ctr"/>
          <a:lstStyle/>
          <a:p>
            <a:pPr marL="0" indent="0" algn="ctr">
              <a:buNone/>
            </a:pPr>
            <a:r>
              <a:rPr lang="en-US" sz="1100" i="1" dirty="0">
                <a:solidFill>
                  <a:srgbClr val="000000"/>
                </a:solidFill>
                <a:latin typeface="Times New Roman" pitchFamily="34" charset="0"/>
                <a:ea typeface="Times New Roman" pitchFamily="34" charset="-122"/>
                <a:cs typeface="Times New Roman" pitchFamily="34" charset="-120"/>
              </a:rPr>
              <a:t>z₁</a:t>
            </a:r>
            <a:endParaRPr lang="en-US" sz="1100" dirty="0"/>
          </a:p>
        </p:txBody>
      </p:sp>
      <p:sp>
        <p:nvSpPr>
          <p:cNvPr id="91" name="Text 89"/>
          <p:cNvSpPr txBox="1"/>
          <p:nvPr/>
        </p:nvSpPr>
        <p:spPr>
          <a:xfrm>
            <a:off x="3959352" y="2926080"/>
            <a:ext cx="274320" cy="228600"/>
          </a:xfrm>
          <a:prstGeom prst="rect">
            <a:avLst/>
          </a:prstGeom>
          <a:noFill/>
          <a:ln/>
        </p:spPr>
        <p:txBody>
          <a:bodyPr wrap="square" lIns="0" tIns="0" rIns="0" bIns="0" rtlCol="0" anchor="ctr"/>
          <a:lstStyle/>
          <a:p>
            <a:pPr marL="0" indent="0" algn="ctr">
              <a:buNone/>
            </a:pPr>
            <a:r>
              <a:rPr lang="en-US" sz="1100" i="1" dirty="0">
                <a:solidFill>
                  <a:srgbClr val="000000"/>
                </a:solidFill>
                <a:latin typeface="Times New Roman" pitchFamily="34" charset="0"/>
                <a:ea typeface="Times New Roman" pitchFamily="34" charset="-122"/>
                <a:cs typeface="Times New Roman" pitchFamily="34" charset="-120"/>
              </a:rPr>
              <a:t>z₂</a:t>
            </a:r>
            <a:endParaRPr lang="en-US" sz="1100" dirty="0"/>
          </a:p>
        </p:txBody>
      </p:sp>
      <p:sp>
        <p:nvSpPr>
          <p:cNvPr id="92" name="Shape 90"/>
          <p:cNvSpPr/>
          <p:nvPr/>
        </p:nvSpPr>
        <p:spPr>
          <a:xfrm>
            <a:off x="4663440" y="3584448"/>
            <a:ext cx="1280160" cy="694944"/>
          </a:xfrm>
          <a:prstGeom prst="ellipse">
            <a:avLst/>
          </a:prstGeom>
          <a:ln w="11430">
            <a:solidFill>
              <a:srgbClr val="1F4E79"/>
            </a:solidFill>
            <a:prstDash val="solid"/>
          </a:ln>
        </p:spPr>
        <p:txBody>
          <a:bodyPr/>
          <a:lstStyle/>
          <a:p>
            <a:endParaRPr lang="ko-KR" altLang="en-US"/>
          </a:p>
        </p:txBody>
      </p:sp>
      <p:sp>
        <p:nvSpPr>
          <p:cNvPr id="93" name="Shape 91"/>
          <p:cNvSpPr/>
          <p:nvPr/>
        </p:nvSpPr>
        <p:spPr>
          <a:xfrm>
            <a:off x="4823460" y="3671316"/>
            <a:ext cx="960120" cy="521208"/>
          </a:xfrm>
          <a:prstGeom prst="ellipse">
            <a:avLst/>
          </a:prstGeom>
          <a:ln w="11430">
            <a:solidFill>
              <a:srgbClr val="1F4E79"/>
            </a:solidFill>
            <a:prstDash val="solid"/>
          </a:ln>
        </p:spPr>
        <p:txBody>
          <a:bodyPr/>
          <a:lstStyle/>
          <a:p>
            <a:endParaRPr lang="ko-KR" altLang="en-US"/>
          </a:p>
        </p:txBody>
      </p:sp>
      <p:sp>
        <p:nvSpPr>
          <p:cNvPr id="94" name="Shape 92"/>
          <p:cNvSpPr/>
          <p:nvPr/>
        </p:nvSpPr>
        <p:spPr>
          <a:xfrm>
            <a:off x="4983480" y="3758184"/>
            <a:ext cx="640080" cy="347472"/>
          </a:xfrm>
          <a:prstGeom prst="ellipse">
            <a:avLst/>
          </a:prstGeom>
          <a:ln w="11430">
            <a:solidFill>
              <a:srgbClr val="1F4E79"/>
            </a:solidFill>
            <a:prstDash val="solid"/>
          </a:ln>
        </p:spPr>
        <p:txBody>
          <a:bodyPr/>
          <a:lstStyle/>
          <a:p>
            <a:endParaRPr lang="ko-KR" altLang="en-US"/>
          </a:p>
        </p:txBody>
      </p:sp>
      <p:sp>
        <p:nvSpPr>
          <p:cNvPr id="95" name="Shape 93"/>
          <p:cNvSpPr/>
          <p:nvPr/>
        </p:nvSpPr>
        <p:spPr>
          <a:xfrm>
            <a:off x="5143500" y="3845052"/>
            <a:ext cx="320040" cy="173736"/>
          </a:xfrm>
          <a:prstGeom prst="ellipse">
            <a:avLst/>
          </a:prstGeom>
          <a:ln w="19050">
            <a:solidFill>
              <a:srgbClr val="1F4E79"/>
            </a:solidFill>
            <a:prstDash val="solid"/>
          </a:ln>
        </p:spPr>
        <p:txBody>
          <a:bodyPr/>
          <a:lstStyle/>
          <a:p>
            <a:endParaRPr lang="ko-KR" altLang="en-US"/>
          </a:p>
        </p:txBody>
      </p:sp>
      <p:sp>
        <p:nvSpPr>
          <p:cNvPr id="96" name="Shape 94"/>
          <p:cNvSpPr/>
          <p:nvPr/>
        </p:nvSpPr>
        <p:spPr>
          <a:xfrm>
            <a:off x="5943600" y="3200400"/>
            <a:ext cx="1005840" cy="548640"/>
          </a:xfrm>
          <a:prstGeom prst="ellipse">
            <a:avLst/>
          </a:prstGeom>
          <a:ln w="11430">
            <a:solidFill>
              <a:srgbClr val="2E75B6"/>
            </a:solidFill>
            <a:prstDash val="solid"/>
          </a:ln>
        </p:spPr>
        <p:txBody>
          <a:bodyPr/>
          <a:lstStyle/>
          <a:p>
            <a:endParaRPr lang="ko-KR" altLang="en-US"/>
          </a:p>
        </p:txBody>
      </p:sp>
      <p:sp>
        <p:nvSpPr>
          <p:cNvPr id="97" name="Shape 95"/>
          <p:cNvSpPr/>
          <p:nvPr/>
        </p:nvSpPr>
        <p:spPr>
          <a:xfrm>
            <a:off x="6069330" y="3268980"/>
            <a:ext cx="754380" cy="411480"/>
          </a:xfrm>
          <a:prstGeom prst="ellipse">
            <a:avLst/>
          </a:prstGeom>
          <a:ln w="11430">
            <a:solidFill>
              <a:srgbClr val="2E75B6"/>
            </a:solidFill>
            <a:prstDash val="solid"/>
          </a:ln>
        </p:spPr>
        <p:txBody>
          <a:bodyPr/>
          <a:lstStyle/>
          <a:p>
            <a:endParaRPr lang="ko-KR" altLang="en-US"/>
          </a:p>
        </p:txBody>
      </p:sp>
      <p:sp>
        <p:nvSpPr>
          <p:cNvPr id="98" name="Shape 96"/>
          <p:cNvSpPr/>
          <p:nvPr/>
        </p:nvSpPr>
        <p:spPr>
          <a:xfrm>
            <a:off x="6195060" y="3337560"/>
            <a:ext cx="502920" cy="274320"/>
          </a:xfrm>
          <a:prstGeom prst="ellipse">
            <a:avLst/>
          </a:prstGeom>
          <a:ln w="11430">
            <a:solidFill>
              <a:srgbClr val="2E75B6"/>
            </a:solidFill>
            <a:prstDash val="solid"/>
          </a:ln>
        </p:spPr>
        <p:txBody>
          <a:bodyPr/>
          <a:lstStyle/>
          <a:p>
            <a:endParaRPr lang="ko-KR" altLang="en-US"/>
          </a:p>
        </p:txBody>
      </p:sp>
      <p:sp>
        <p:nvSpPr>
          <p:cNvPr id="99" name="Shape 97"/>
          <p:cNvSpPr/>
          <p:nvPr/>
        </p:nvSpPr>
        <p:spPr>
          <a:xfrm>
            <a:off x="6320790" y="3406140"/>
            <a:ext cx="251460" cy="137160"/>
          </a:xfrm>
          <a:prstGeom prst="ellipse">
            <a:avLst/>
          </a:prstGeom>
          <a:ln w="19050">
            <a:solidFill>
              <a:srgbClr val="2E75B6"/>
            </a:solidFill>
            <a:prstDash val="solid"/>
          </a:ln>
        </p:spPr>
        <p:txBody>
          <a:bodyPr/>
          <a:lstStyle/>
          <a:p>
            <a:endParaRPr lang="ko-KR" altLang="en-US"/>
          </a:p>
        </p:txBody>
      </p:sp>
      <p:sp>
        <p:nvSpPr>
          <p:cNvPr id="100" name="Shape 98"/>
          <p:cNvSpPr/>
          <p:nvPr/>
        </p:nvSpPr>
        <p:spPr>
          <a:xfrm>
            <a:off x="6473952" y="4023360"/>
            <a:ext cx="768096" cy="365760"/>
          </a:xfrm>
          <a:prstGeom prst="ellipse">
            <a:avLst/>
          </a:prstGeom>
          <a:ln w="11430">
            <a:solidFill>
              <a:srgbClr val="5B9BD5"/>
            </a:solidFill>
            <a:prstDash val="solid"/>
          </a:ln>
        </p:spPr>
        <p:txBody>
          <a:bodyPr/>
          <a:lstStyle/>
          <a:p>
            <a:endParaRPr lang="ko-KR" altLang="en-US"/>
          </a:p>
        </p:txBody>
      </p:sp>
      <p:sp>
        <p:nvSpPr>
          <p:cNvPr id="101" name="Shape 99"/>
          <p:cNvSpPr/>
          <p:nvPr/>
        </p:nvSpPr>
        <p:spPr>
          <a:xfrm>
            <a:off x="6601968" y="4084320"/>
            <a:ext cx="512064" cy="243840"/>
          </a:xfrm>
          <a:prstGeom prst="ellipse">
            <a:avLst/>
          </a:prstGeom>
          <a:ln w="11430">
            <a:solidFill>
              <a:srgbClr val="5B9BD5"/>
            </a:solidFill>
            <a:prstDash val="solid"/>
          </a:ln>
        </p:spPr>
        <p:txBody>
          <a:bodyPr/>
          <a:lstStyle/>
          <a:p>
            <a:endParaRPr lang="ko-KR" altLang="en-US"/>
          </a:p>
        </p:txBody>
      </p:sp>
      <p:sp>
        <p:nvSpPr>
          <p:cNvPr id="102" name="Shape 100"/>
          <p:cNvSpPr/>
          <p:nvPr/>
        </p:nvSpPr>
        <p:spPr>
          <a:xfrm>
            <a:off x="6729984" y="4145280"/>
            <a:ext cx="256032" cy="121920"/>
          </a:xfrm>
          <a:prstGeom prst="ellipse">
            <a:avLst/>
          </a:prstGeom>
          <a:ln w="19050">
            <a:solidFill>
              <a:srgbClr val="5B9BD5"/>
            </a:solidFill>
            <a:prstDash val="solid"/>
          </a:ln>
        </p:spPr>
        <p:txBody>
          <a:bodyPr/>
          <a:lstStyle/>
          <a:p>
            <a:endParaRPr lang="ko-KR" altLang="en-US"/>
          </a:p>
        </p:txBody>
      </p:sp>
      <p:sp>
        <p:nvSpPr>
          <p:cNvPr id="103" name="Text 101"/>
          <p:cNvSpPr txBox="1"/>
          <p:nvPr/>
        </p:nvSpPr>
        <p:spPr>
          <a:xfrm>
            <a:off x="3977640" y="4892040"/>
            <a:ext cx="4206240" cy="274320"/>
          </a:xfrm>
          <a:prstGeom prst="rect">
            <a:avLst/>
          </a:prstGeom>
          <a:noFill/>
          <a:ln/>
        </p:spPr>
        <p:txBody>
          <a:bodyPr wrap="square" lIns="0" tIns="0" rIns="0" bIns="0" rtlCol="0" anchor="ctr"/>
          <a:lstStyle/>
          <a:p>
            <a:pPr marL="0" indent="0" algn="ctr">
              <a:buNone/>
            </a:pPr>
            <a:r>
              <a:rPr lang="en-US" sz="1200" b="1" i="1" dirty="0">
                <a:solidFill>
                  <a:srgbClr val="000000"/>
                </a:solidFill>
                <a:latin typeface="Times New Roman" pitchFamily="34" charset="0"/>
                <a:ea typeface="Times New Roman" pitchFamily="34" charset="-122"/>
                <a:cs typeface="Times New Roman" pitchFamily="34" charset="-120"/>
              </a:rPr>
              <a:t>Learned density  p(z) = Σ</a:t>
            </a:r>
            <a:r>
              <a:rPr lang="en-US" sz="1200" b="1" i="1" baseline="-40000" dirty="0">
                <a:solidFill>
                  <a:srgbClr val="000000"/>
                </a:solidFill>
                <a:latin typeface="Times New Roman" pitchFamily="34" charset="0"/>
                <a:ea typeface="Times New Roman" pitchFamily="34" charset="-122"/>
                <a:cs typeface="Times New Roman" pitchFamily="34" charset="-120"/>
              </a:rPr>
              <a:t>k</a:t>
            </a:r>
            <a:r>
              <a:rPr lang="en-US" sz="1200" b="1" i="1" dirty="0">
                <a:solidFill>
                  <a:srgbClr val="000000"/>
                </a:solidFill>
                <a:latin typeface="Times New Roman" pitchFamily="34" charset="0"/>
                <a:ea typeface="Times New Roman" pitchFamily="34" charset="-122"/>
                <a:cs typeface="Times New Roman" pitchFamily="34" charset="-120"/>
              </a:rPr>
              <a:t> π</a:t>
            </a:r>
            <a:r>
              <a:rPr lang="en-US" sz="1200" b="1" i="1" baseline="-40000" dirty="0">
                <a:solidFill>
                  <a:srgbClr val="000000"/>
                </a:solidFill>
                <a:latin typeface="Times New Roman" pitchFamily="34" charset="0"/>
                <a:ea typeface="Times New Roman" pitchFamily="34" charset="-122"/>
                <a:cs typeface="Times New Roman" pitchFamily="34" charset="-120"/>
              </a:rPr>
              <a:t>k</a:t>
            </a:r>
            <a:r>
              <a:rPr lang="en-US" sz="1200" b="1" i="1" dirty="0">
                <a:solidFill>
                  <a:srgbClr val="000000"/>
                </a:solidFill>
                <a:latin typeface="Times New Roman" pitchFamily="34" charset="0"/>
                <a:ea typeface="Times New Roman" pitchFamily="34" charset="-122"/>
                <a:cs typeface="Times New Roman" pitchFamily="34" charset="-120"/>
              </a:rPr>
              <a:t> N(z | μ</a:t>
            </a:r>
            <a:r>
              <a:rPr lang="en-US" sz="1200" b="1" i="1" baseline="-40000" dirty="0">
                <a:solidFill>
                  <a:srgbClr val="000000"/>
                </a:solidFill>
                <a:latin typeface="Times New Roman" pitchFamily="34" charset="0"/>
                <a:ea typeface="Times New Roman" pitchFamily="34" charset="-122"/>
                <a:cs typeface="Times New Roman" pitchFamily="34" charset="-120"/>
              </a:rPr>
              <a:t>k</a:t>
            </a:r>
            <a:r>
              <a:rPr lang="en-US" sz="1200" b="1" i="1" dirty="0">
                <a:solidFill>
                  <a:srgbClr val="000000"/>
                </a:solidFill>
                <a:latin typeface="Times New Roman" pitchFamily="34" charset="0"/>
                <a:ea typeface="Times New Roman" pitchFamily="34" charset="-122"/>
                <a:cs typeface="Times New Roman" pitchFamily="34" charset="-120"/>
              </a:rPr>
              <a:t>, </a:t>
            </a:r>
            <a:r>
              <a:rPr lang="en-US" sz="1200" b="1" i="1" dirty="0" err="1">
                <a:solidFill>
                  <a:srgbClr val="000000"/>
                </a:solidFill>
                <a:latin typeface="Times New Roman" pitchFamily="34" charset="0"/>
                <a:ea typeface="Times New Roman" pitchFamily="34" charset="-122"/>
                <a:cs typeface="Times New Roman" pitchFamily="34" charset="-120"/>
              </a:rPr>
              <a:t>Σ</a:t>
            </a:r>
            <a:r>
              <a:rPr lang="en-US" sz="1200" b="1" i="1" baseline="-40000" dirty="0" err="1">
                <a:solidFill>
                  <a:srgbClr val="000000"/>
                </a:solidFill>
                <a:latin typeface="Times New Roman" pitchFamily="34" charset="0"/>
                <a:ea typeface="Times New Roman" pitchFamily="34" charset="-122"/>
                <a:cs typeface="Times New Roman" pitchFamily="34" charset="-120"/>
              </a:rPr>
              <a:t>k</a:t>
            </a:r>
            <a:r>
              <a:rPr lang="en-US" sz="1200" b="1" i="1" dirty="0">
                <a:solidFill>
                  <a:srgbClr val="000000"/>
                </a:solidFill>
                <a:latin typeface="Times New Roman" pitchFamily="34" charset="0"/>
                <a:ea typeface="Times New Roman" pitchFamily="34" charset="-122"/>
                <a:cs typeface="Times New Roman" pitchFamily="34" charset="-120"/>
              </a:rPr>
              <a:t>)</a:t>
            </a:r>
            <a:endParaRPr lang="en-US" sz="1200" dirty="0"/>
          </a:p>
        </p:txBody>
      </p:sp>
      <p:sp>
        <p:nvSpPr>
          <p:cNvPr id="104" name="Shape 102"/>
          <p:cNvSpPr/>
          <p:nvPr/>
        </p:nvSpPr>
        <p:spPr>
          <a:xfrm>
            <a:off x="5280660" y="3881628"/>
            <a:ext cx="137160" cy="137160"/>
          </a:xfrm>
          <a:prstGeom prst="ellipse">
            <a:avLst/>
          </a:prstGeom>
          <a:solidFill>
            <a:srgbClr val="1F4E79"/>
          </a:solidFill>
          <a:ln w="12700">
            <a:solidFill>
              <a:srgbClr val="FFFFFF"/>
            </a:solidFill>
            <a:prstDash val="solid"/>
          </a:ln>
        </p:spPr>
        <p:txBody>
          <a:bodyPr/>
          <a:lstStyle/>
          <a:p>
            <a:endParaRPr lang="ko-KR" altLang="en-US"/>
          </a:p>
        </p:txBody>
      </p:sp>
      <p:sp>
        <p:nvSpPr>
          <p:cNvPr id="105" name="Shape 103"/>
          <p:cNvSpPr/>
          <p:nvPr/>
        </p:nvSpPr>
        <p:spPr>
          <a:xfrm>
            <a:off x="7507224" y="4507992"/>
            <a:ext cx="164592" cy="164592"/>
          </a:xfrm>
          <a:prstGeom prst="line">
            <a:avLst/>
          </a:prstGeom>
          <a:noFill/>
          <a:ln w="28575">
            <a:solidFill>
              <a:srgbClr val="C00000"/>
            </a:solidFill>
            <a:prstDash val="solid"/>
          </a:ln>
        </p:spPr>
        <p:txBody>
          <a:bodyPr/>
          <a:lstStyle/>
          <a:p>
            <a:endParaRPr lang="ko-KR" altLang="en-US"/>
          </a:p>
        </p:txBody>
      </p:sp>
      <p:sp>
        <p:nvSpPr>
          <p:cNvPr id="106" name="Shape 104"/>
          <p:cNvSpPr/>
          <p:nvPr/>
        </p:nvSpPr>
        <p:spPr>
          <a:xfrm flipV="1">
            <a:off x="7507224" y="4507992"/>
            <a:ext cx="164592" cy="164592"/>
          </a:xfrm>
          <a:prstGeom prst="line">
            <a:avLst/>
          </a:prstGeom>
          <a:noFill/>
          <a:ln w="28575">
            <a:solidFill>
              <a:srgbClr val="C00000"/>
            </a:solidFill>
            <a:prstDash val="solid"/>
          </a:ln>
        </p:spPr>
        <p:txBody>
          <a:bodyPr/>
          <a:lstStyle/>
          <a:p>
            <a:endParaRPr lang="ko-KR" altLang="en-US"/>
          </a:p>
        </p:txBody>
      </p:sp>
      <p:sp>
        <p:nvSpPr>
          <p:cNvPr id="107" name="Text 105"/>
          <p:cNvSpPr txBox="1"/>
          <p:nvPr/>
        </p:nvSpPr>
        <p:spPr>
          <a:xfrm>
            <a:off x="4526280" y="4407408"/>
            <a:ext cx="1097280" cy="228600"/>
          </a:xfrm>
          <a:prstGeom prst="rect">
            <a:avLst/>
          </a:prstGeom>
          <a:noFill/>
          <a:ln/>
        </p:spPr>
        <p:txBody>
          <a:bodyPr wrap="square" lIns="0" tIns="0" rIns="0" bIns="0" rtlCol="0" anchor="ctr"/>
          <a:lstStyle/>
          <a:p>
            <a:pPr marL="0" indent="0" algn="l">
              <a:buNone/>
            </a:pPr>
            <a:r>
              <a:rPr lang="en-US" sz="1050" b="1" dirty="0">
                <a:solidFill>
                  <a:srgbClr val="1F4E79"/>
                </a:solidFill>
                <a:latin typeface="Times New Roman" pitchFamily="34" charset="0"/>
                <a:ea typeface="Times New Roman" pitchFamily="34" charset="-122"/>
                <a:cs typeface="Times New Roman" pitchFamily="34" charset="-120"/>
              </a:rPr>
              <a:t>normal window</a:t>
            </a:r>
            <a:endParaRPr lang="en-US" sz="1050" dirty="0"/>
          </a:p>
        </p:txBody>
      </p:sp>
      <p:sp>
        <p:nvSpPr>
          <p:cNvPr id="108" name="Text 106"/>
          <p:cNvSpPr txBox="1"/>
          <p:nvPr/>
        </p:nvSpPr>
        <p:spPr>
          <a:xfrm>
            <a:off x="6492240" y="4498848"/>
            <a:ext cx="960120" cy="228600"/>
          </a:xfrm>
          <a:prstGeom prst="rect">
            <a:avLst/>
          </a:prstGeom>
          <a:noFill/>
          <a:ln/>
        </p:spPr>
        <p:txBody>
          <a:bodyPr wrap="square" lIns="0" tIns="0" rIns="0" bIns="0" rtlCol="0" anchor="ctr"/>
          <a:lstStyle/>
          <a:p>
            <a:pPr marL="0" indent="0" algn="r">
              <a:buNone/>
            </a:pPr>
            <a:r>
              <a:rPr lang="en-US" sz="1050" b="1" dirty="0">
                <a:solidFill>
                  <a:srgbClr val="C00000"/>
                </a:solidFill>
                <a:latin typeface="Times New Roman" pitchFamily="34" charset="0"/>
                <a:ea typeface="Times New Roman" pitchFamily="34" charset="-122"/>
                <a:cs typeface="Times New Roman" pitchFamily="34" charset="-120"/>
              </a:rPr>
              <a:t>fault window</a:t>
            </a:r>
            <a:endParaRPr lang="en-US" sz="1050" dirty="0"/>
          </a:p>
        </p:txBody>
      </p:sp>
      <p:sp>
        <p:nvSpPr>
          <p:cNvPr id="109" name="Text 107"/>
          <p:cNvSpPr txBox="1"/>
          <p:nvPr/>
        </p:nvSpPr>
        <p:spPr>
          <a:xfrm>
            <a:off x="8321040" y="2880360"/>
            <a:ext cx="3383280" cy="292608"/>
          </a:xfrm>
          <a:prstGeom prst="rect">
            <a:avLst/>
          </a:prstGeom>
          <a:noFill/>
          <a:ln/>
        </p:spPr>
        <p:txBody>
          <a:bodyPr wrap="square" lIns="0" tIns="0" rIns="0" bIns="0" rtlCol="0" anchor="ctr"/>
          <a:lstStyle/>
          <a:p>
            <a:pPr marL="0" indent="0" algn="l">
              <a:buNone/>
            </a:pPr>
            <a:r>
              <a:rPr lang="en-US" sz="1500" b="1" dirty="0">
                <a:solidFill>
                  <a:srgbClr val="C00000"/>
                </a:solidFill>
                <a:latin typeface="Times New Roman" pitchFamily="34" charset="0"/>
                <a:ea typeface="Times New Roman" pitchFamily="34" charset="-122"/>
                <a:cs typeface="Times New Roman" pitchFamily="34" charset="-120"/>
              </a:rPr>
              <a:t>Online detection</a:t>
            </a:r>
            <a:endParaRPr lang="en-US" sz="1500" dirty="0"/>
          </a:p>
        </p:txBody>
      </p:sp>
      <p:sp>
        <p:nvSpPr>
          <p:cNvPr id="110" name="Text 108"/>
          <p:cNvSpPr txBox="1"/>
          <p:nvPr/>
        </p:nvSpPr>
        <p:spPr>
          <a:xfrm>
            <a:off x="8321040" y="3172968"/>
            <a:ext cx="3383280" cy="256032"/>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0.1초마다 새 창 z</a:t>
            </a:r>
            <a:r>
              <a:rPr lang="en-US" sz="1100" baseline="-40000" dirty="0">
                <a:solidFill>
                  <a:srgbClr val="404040"/>
                </a:solidFill>
                <a:latin typeface="맑은 고딕" pitchFamily="34" charset="0"/>
                <a:ea typeface="맑은 고딕" pitchFamily="34" charset="-122"/>
                <a:cs typeface="맑은 고딕" pitchFamily="34" charset="-120"/>
              </a:rPr>
              <a:t>t</a:t>
            </a:r>
            <a:r>
              <a:rPr lang="en-US" sz="1100" dirty="0">
                <a:solidFill>
                  <a:srgbClr val="404040"/>
                </a:solidFill>
                <a:latin typeface="맑은 고딕" pitchFamily="34" charset="0"/>
                <a:ea typeface="맑은 고딕" pitchFamily="34" charset="-122"/>
                <a:cs typeface="맑은 고딕" pitchFamily="34" charset="-120"/>
              </a:rPr>
              <a:t> 평가</a:t>
            </a:r>
            <a:endParaRPr lang="en-US" sz="1100" dirty="0"/>
          </a:p>
        </p:txBody>
      </p:sp>
      <p:sp>
        <p:nvSpPr>
          <p:cNvPr id="111" name="Shape 109"/>
          <p:cNvSpPr/>
          <p:nvPr/>
        </p:nvSpPr>
        <p:spPr>
          <a:xfrm>
            <a:off x="8641080" y="3566160"/>
            <a:ext cx="1463040" cy="228600"/>
          </a:xfrm>
          <a:custGeom>
            <a:avLst/>
            <a:gdLst/>
            <a:ahLst/>
            <a:cxnLst/>
            <a:rect l="l" t="t" r="r" b="b"/>
            <a:pathLst>
              <a:path w="1463040" h="228600">
                <a:moveTo>
                  <a:pt x="0" y="0"/>
                </a:moveTo>
                <a:lnTo>
                  <a:pt x="209006" y="228600"/>
                </a:lnTo>
                <a:lnTo>
                  <a:pt x="418011" y="193885"/>
                </a:lnTo>
                <a:lnTo>
                  <a:pt x="627017" y="154739"/>
                </a:lnTo>
                <a:lnTo>
                  <a:pt x="836023" y="117808"/>
                </a:lnTo>
                <a:lnTo>
                  <a:pt x="1045029" y="129626"/>
                </a:lnTo>
                <a:lnTo>
                  <a:pt x="1254034" y="79031"/>
                </a:lnTo>
                <a:lnTo>
                  <a:pt x="1463040" y="209765"/>
                </a:lnTo>
              </a:path>
            </a:pathLst>
          </a:custGeom>
          <a:ln w="13970">
            <a:solidFill>
              <a:srgbClr val="000000"/>
            </a:solidFill>
            <a:prstDash val="solid"/>
          </a:ln>
        </p:spPr>
        <p:txBody>
          <a:bodyPr/>
          <a:lstStyle/>
          <a:p>
            <a:endParaRPr lang="ko-KR" altLang="en-US"/>
          </a:p>
        </p:txBody>
      </p:sp>
      <p:sp>
        <p:nvSpPr>
          <p:cNvPr id="112" name="Shape 110"/>
          <p:cNvSpPr/>
          <p:nvPr/>
        </p:nvSpPr>
        <p:spPr>
          <a:xfrm>
            <a:off x="8641080" y="3867912"/>
            <a:ext cx="1463040" cy="228600"/>
          </a:xfrm>
          <a:custGeom>
            <a:avLst/>
            <a:gdLst/>
            <a:ahLst/>
            <a:cxnLst/>
            <a:rect l="l" t="t" r="r" b="b"/>
            <a:pathLst>
              <a:path w="1463040" h="228600">
                <a:moveTo>
                  <a:pt x="0" y="96253"/>
                </a:moveTo>
                <a:lnTo>
                  <a:pt x="209006" y="0"/>
                </a:lnTo>
                <a:lnTo>
                  <a:pt x="418011" y="57381"/>
                </a:lnTo>
                <a:lnTo>
                  <a:pt x="627017" y="51828"/>
                </a:lnTo>
                <a:lnTo>
                  <a:pt x="836023" y="43499"/>
                </a:lnTo>
                <a:lnTo>
                  <a:pt x="1045029" y="135124"/>
                </a:lnTo>
                <a:lnTo>
                  <a:pt x="1254034" y="111061"/>
                </a:lnTo>
                <a:lnTo>
                  <a:pt x="1463040" y="228600"/>
                </a:lnTo>
              </a:path>
            </a:pathLst>
          </a:custGeom>
          <a:ln w="13970">
            <a:solidFill>
              <a:srgbClr val="000000"/>
            </a:solidFill>
            <a:prstDash val="solid"/>
          </a:ln>
        </p:spPr>
        <p:txBody>
          <a:bodyPr/>
          <a:lstStyle/>
          <a:p>
            <a:endParaRPr lang="ko-KR" altLang="en-US"/>
          </a:p>
        </p:txBody>
      </p:sp>
      <p:sp>
        <p:nvSpPr>
          <p:cNvPr id="113" name="Shape 111"/>
          <p:cNvSpPr/>
          <p:nvPr/>
        </p:nvSpPr>
        <p:spPr>
          <a:xfrm>
            <a:off x="8641080" y="4169664"/>
            <a:ext cx="1463040" cy="228600"/>
          </a:xfrm>
          <a:custGeom>
            <a:avLst/>
            <a:gdLst/>
            <a:ahLst/>
            <a:cxnLst/>
            <a:rect l="l" t="t" r="r" b="b"/>
            <a:pathLst>
              <a:path w="1463040" h="228600">
                <a:moveTo>
                  <a:pt x="0" y="118017"/>
                </a:moveTo>
                <a:lnTo>
                  <a:pt x="209006" y="90140"/>
                </a:lnTo>
                <a:lnTo>
                  <a:pt x="418011" y="26949"/>
                </a:lnTo>
                <a:lnTo>
                  <a:pt x="627017" y="29737"/>
                </a:lnTo>
                <a:lnTo>
                  <a:pt x="836023" y="58544"/>
                </a:lnTo>
                <a:lnTo>
                  <a:pt x="1045029" y="119876"/>
                </a:lnTo>
                <a:lnTo>
                  <a:pt x="1254034" y="0"/>
                </a:lnTo>
                <a:lnTo>
                  <a:pt x="1463040" y="228600"/>
                </a:lnTo>
              </a:path>
            </a:pathLst>
          </a:custGeom>
          <a:ln w="13970">
            <a:solidFill>
              <a:srgbClr val="000000"/>
            </a:solidFill>
            <a:prstDash val="solid"/>
          </a:ln>
        </p:spPr>
        <p:txBody>
          <a:bodyPr/>
          <a:lstStyle/>
          <a:p>
            <a:endParaRPr lang="ko-KR" altLang="en-US"/>
          </a:p>
        </p:txBody>
      </p:sp>
      <p:sp>
        <p:nvSpPr>
          <p:cNvPr id="114" name="Shape 112"/>
          <p:cNvSpPr/>
          <p:nvPr/>
        </p:nvSpPr>
        <p:spPr>
          <a:xfrm>
            <a:off x="9449671" y="3502152"/>
            <a:ext cx="717151" cy="960120"/>
          </a:xfrm>
          <a:prstGeom prst="rect">
            <a:avLst/>
          </a:prstGeom>
          <a:ln w="19050">
            <a:solidFill>
              <a:srgbClr val="C00000"/>
            </a:solidFill>
            <a:prstDash val="dash"/>
          </a:ln>
        </p:spPr>
        <p:txBody>
          <a:bodyPr/>
          <a:lstStyle/>
          <a:p>
            <a:endParaRPr lang="ko-KR" altLang="en-US"/>
          </a:p>
        </p:txBody>
      </p:sp>
      <p:sp>
        <p:nvSpPr>
          <p:cNvPr id="115" name="Text 113"/>
          <p:cNvSpPr txBox="1"/>
          <p:nvPr/>
        </p:nvSpPr>
        <p:spPr>
          <a:xfrm>
            <a:off x="10241280" y="3794760"/>
            <a:ext cx="1508760" cy="274320"/>
          </a:xfrm>
          <a:prstGeom prst="rect">
            <a:avLst/>
          </a:prstGeom>
          <a:noFill/>
          <a:ln/>
        </p:spPr>
        <p:txBody>
          <a:bodyPr wrap="square" lIns="0" tIns="0" rIns="0" bIns="0" rtlCol="0" anchor="ctr"/>
          <a:lstStyle/>
          <a:p>
            <a:pPr marL="0" indent="0" algn="l">
              <a:buNone/>
            </a:pPr>
            <a:r>
              <a:rPr lang="en-US" sz="1200" b="1" i="1" dirty="0">
                <a:solidFill>
                  <a:srgbClr val="000000"/>
                </a:solidFill>
                <a:latin typeface="Times New Roman" pitchFamily="34" charset="0"/>
                <a:ea typeface="Times New Roman" pitchFamily="34" charset="-122"/>
                <a:cs typeface="Times New Roman" pitchFamily="34" charset="-120"/>
              </a:rPr>
              <a:t>x</a:t>
            </a:r>
            <a:r>
              <a:rPr lang="en-US" sz="1200" b="1" i="1" baseline="-40000" dirty="0">
                <a:solidFill>
                  <a:srgbClr val="000000"/>
                </a:solidFill>
                <a:latin typeface="Times New Roman" pitchFamily="34" charset="0"/>
                <a:ea typeface="Times New Roman" pitchFamily="34" charset="-122"/>
                <a:cs typeface="Times New Roman" pitchFamily="34" charset="-120"/>
              </a:rPr>
              <a:t>t−3</a:t>
            </a:r>
            <a:r>
              <a:rPr lang="en-US" sz="1200" b="1" i="1" dirty="0">
                <a:solidFill>
                  <a:srgbClr val="000000"/>
                </a:solidFill>
                <a:latin typeface="Times New Roman" pitchFamily="34" charset="0"/>
                <a:ea typeface="Times New Roman" pitchFamily="34" charset="-122"/>
                <a:cs typeface="Times New Roman" pitchFamily="34" charset="-120"/>
              </a:rPr>
              <a:t>, …, x</a:t>
            </a:r>
            <a:r>
              <a:rPr lang="en-US" sz="1200" b="1" i="1" baseline="-40000" dirty="0">
                <a:solidFill>
                  <a:srgbClr val="000000"/>
                </a:solidFill>
                <a:latin typeface="Times New Roman" pitchFamily="34" charset="0"/>
                <a:ea typeface="Times New Roman" pitchFamily="34" charset="-122"/>
                <a:cs typeface="Times New Roman" pitchFamily="34" charset="-120"/>
              </a:rPr>
              <a:t>t</a:t>
            </a:r>
            <a:endParaRPr lang="en-US" sz="1200" dirty="0"/>
          </a:p>
        </p:txBody>
      </p:sp>
      <p:sp>
        <p:nvSpPr>
          <p:cNvPr id="116" name="Shape 114"/>
          <p:cNvSpPr/>
          <p:nvPr/>
        </p:nvSpPr>
        <p:spPr>
          <a:xfrm>
            <a:off x="891540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17" name="Shape 115"/>
          <p:cNvSpPr/>
          <p:nvPr/>
        </p:nvSpPr>
        <p:spPr>
          <a:xfrm>
            <a:off x="908685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18" name="Shape 116"/>
          <p:cNvSpPr/>
          <p:nvPr/>
        </p:nvSpPr>
        <p:spPr>
          <a:xfrm>
            <a:off x="925830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19" name="Shape 117"/>
          <p:cNvSpPr/>
          <p:nvPr/>
        </p:nvSpPr>
        <p:spPr>
          <a:xfrm>
            <a:off x="942975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20" name="Shape 118"/>
          <p:cNvSpPr/>
          <p:nvPr/>
        </p:nvSpPr>
        <p:spPr>
          <a:xfrm>
            <a:off x="960120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21" name="Shape 119"/>
          <p:cNvSpPr/>
          <p:nvPr/>
        </p:nvSpPr>
        <p:spPr>
          <a:xfrm>
            <a:off x="977265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700" name="Shape new0"/>
          <p:cNvSpPr/>
          <p:nvPr/>
        </p:nvSpPr>
        <p:spPr>
          <a:xfrm>
            <a:off x="994410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701" name="Shape new1"/>
          <p:cNvSpPr/>
          <p:nvPr/>
        </p:nvSpPr>
        <p:spPr>
          <a:xfrm>
            <a:off x="1011555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702" name="Shape new2"/>
          <p:cNvSpPr/>
          <p:nvPr/>
        </p:nvSpPr>
        <p:spPr>
          <a:xfrm>
            <a:off x="10287000" y="4480560"/>
            <a:ext cx="171450" cy="228600"/>
          </a:xfrm>
          <a:prstGeom prst="rect">
            <a:avLst/>
          </a:prstGeom>
          <a:solidFill>
            <a:srgbClr val="DEEBF7"/>
          </a:solidFill>
          <a:ln w="9525">
            <a:solidFill>
              <a:srgbClr val="595959"/>
            </a:solidFill>
            <a:prstDash val="solid"/>
          </a:ln>
        </p:spPr>
        <p:txBody>
          <a:bodyPr/>
          <a:lstStyle/>
          <a:p>
            <a:endParaRPr lang="ko-KR" altLang="en-US"/>
          </a:p>
        </p:txBody>
      </p:sp>
      <p:sp>
        <p:nvSpPr>
          <p:cNvPr id="122" name="Shape 120"/>
          <p:cNvSpPr/>
          <p:nvPr/>
        </p:nvSpPr>
        <p:spPr>
          <a:xfrm>
            <a:off x="10458450" y="4480560"/>
            <a:ext cx="171450" cy="228600"/>
          </a:xfrm>
          <a:prstGeom prst="rect">
            <a:avLst/>
          </a:prstGeom>
          <a:solidFill>
            <a:srgbClr val="F2DCDB"/>
          </a:solidFill>
          <a:ln w="9525">
            <a:solidFill>
              <a:srgbClr val="595959"/>
            </a:solidFill>
            <a:prstDash val="solid"/>
          </a:ln>
        </p:spPr>
        <p:txBody>
          <a:bodyPr/>
          <a:lstStyle/>
          <a:p>
            <a:endParaRPr lang="ko-KR" altLang="en-US"/>
          </a:p>
        </p:txBody>
      </p:sp>
      <p:sp>
        <p:nvSpPr>
          <p:cNvPr id="123" name="Shape 121"/>
          <p:cNvSpPr/>
          <p:nvPr/>
        </p:nvSpPr>
        <p:spPr>
          <a:xfrm>
            <a:off x="10629900" y="4480560"/>
            <a:ext cx="171450" cy="228600"/>
          </a:xfrm>
          <a:prstGeom prst="rect">
            <a:avLst/>
          </a:prstGeom>
          <a:solidFill>
            <a:srgbClr val="F2DCDB"/>
          </a:solidFill>
          <a:ln w="9525">
            <a:solidFill>
              <a:srgbClr val="595959"/>
            </a:solidFill>
            <a:prstDash val="solid"/>
          </a:ln>
        </p:spPr>
        <p:txBody>
          <a:bodyPr/>
          <a:lstStyle/>
          <a:p>
            <a:endParaRPr lang="ko-KR" altLang="en-US"/>
          </a:p>
        </p:txBody>
      </p:sp>
      <p:sp>
        <p:nvSpPr>
          <p:cNvPr id="124" name="Shape 122"/>
          <p:cNvSpPr/>
          <p:nvPr/>
        </p:nvSpPr>
        <p:spPr>
          <a:xfrm>
            <a:off x="10801350" y="4480560"/>
            <a:ext cx="171450" cy="228600"/>
          </a:xfrm>
          <a:prstGeom prst="rect">
            <a:avLst/>
          </a:prstGeom>
          <a:solidFill>
            <a:srgbClr val="F2DCDB"/>
          </a:solidFill>
          <a:ln w="9525">
            <a:solidFill>
              <a:srgbClr val="595959"/>
            </a:solidFill>
            <a:prstDash val="solid"/>
          </a:ln>
        </p:spPr>
        <p:txBody>
          <a:bodyPr/>
          <a:lstStyle/>
          <a:p>
            <a:endParaRPr lang="ko-KR" altLang="en-US"/>
          </a:p>
        </p:txBody>
      </p:sp>
      <p:sp>
        <p:nvSpPr>
          <p:cNvPr id="125" name="Text 123"/>
          <p:cNvSpPr txBox="1"/>
          <p:nvPr/>
        </p:nvSpPr>
        <p:spPr>
          <a:xfrm>
            <a:off x="8915400" y="4736592"/>
            <a:ext cx="2057400" cy="256032"/>
          </a:xfrm>
          <a:prstGeom prst="rect">
            <a:avLst/>
          </a:prstGeom>
          <a:noFill/>
          <a:ln/>
        </p:spPr>
        <p:txBody>
          <a:bodyPr wrap="square" lIns="0" tIns="0" rIns="0" bIns="0" rtlCol="0" anchor="ctr"/>
          <a:lstStyle/>
          <a:p>
            <a:pPr marL="0" indent="0" algn="ctr">
              <a:buNone/>
            </a:pPr>
            <a:r>
              <a:rPr lang="en-US" sz="1200" b="1" i="1" dirty="0">
                <a:solidFill>
                  <a:srgbClr val="000000"/>
                </a:solidFill>
                <a:latin typeface="Times New Roman" pitchFamily="34" charset="0"/>
                <a:ea typeface="Times New Roman" pitchFamily="34" charset="-122"/>
                <a:cs typeface="Times New Roman" pitchFamily="34" charset="-120"/>
              </a:rPr>
              <a:t>z</a:t>
            </a:r>
            <a:r>
              <a:rPr lang="en-US" sz="1200" b="1" i="1" baseline="-40000" dirty="0">
                <a:solidFill>
                  <a:srgbClr val="000000"/>
                </a:solidFill>
                <a:latin typeface="Times New Roman" pitchFamily="34" charset="0"/>
                <a:ea typeface="Times New Roman" pitchFamily="34" charset="-122"/>
                <a:cs typeface="Times New Roman" pitchFamily="34" charset="-120"/>
              </a:rPr>
              <a:t>t</a:t>
            </a:r>
            <a:r>
              <a:rPr lang="en-US" sz="1200" b="1" i="1" dirty="0">
                <a:solidFill>
                  <a:srgbClr val="000000"/>
                </a:solidFill>
                <a:latin typeface="Times New Roman" pitchFamily="34" charset="0"/>
                <a:ea typeface="Times New Roman" pitchFamily="34" charset="-122"/>
                <a:cs typeface="Times New Roman" pitchFamily="34" charset="-120"/>
              </a:rPr>
              <a:t> (12-dim)</a:t>
            </a:r>
            <a:endParaRPr lang="en-US" sz="1200" dirty="0"/>
          </a:p>
        </p:txBody>
      </p:sp>
      <p:sp>
        <p:nvSpPr>
          <p:cNvPr id="126" name="Shape 124"/>
          <p:cNvSpPr/>
          <p:nvPr/>
        </p:nvSpPr>
        <p:spPr>
          <a:xfrm flipH="1">
            <a:off x="7726680" y="4590288"/>
            <a:ext cx="1051560" cy="91"/>
          </a:xfrm>
          <a:prstGeom prst="line">
            <a:avLst/>
          </a:prstGeom>
          <a:noFill/>
          <a:ln w="28575">
            <a:solidFill>
              <a:srgbClr val="000000"/>
            </a:solidFill>
            <a:prstDash val="solid"/>
            <a:tailEnd type="triangle"/>
          </a:ln>
        </p:spPr>
        <p:txBody>
          <a:bodyPr/>
          <a:lstStyle/>
          <a:p>
            <a:endParaRPr lang="ko-KR" altLang="en-US"/>
          </a:p>
        </p:txBody>
      </p:sp>
      <p:sp>
        <p:nvSpPr>
          <p:cNvPr id="127" name="Shape 125"/>
          <p:cNvSpPr/>
          <p:nvPr/>
        </p:nvSpPr>
        <p:spPr>
          <a:xfrm>
            <a:off x="5454873" y="5486400"/>
            <a:ext cx="5700806" cy="502920"/>
          </a:xfrm>
          <a:prstGeom prst="rect">
            <a:avLst/>
          </a:prstGeom>
          <a:solidFill>
            <a:srgbClr val="F2DCDB"/>
          </a:solidFill>
          <a:ln w="12700">
            <a:solidFill>
              <a:srgbClr val="F2DCDB"/>
            </a:solidFill>
            <a:prstDash val="solid"/>
          </a:ln>
        </p:spPr>
        <p:txBody>
          <a:bodyPr/>
          <a:lstStyle/>
          <a:p>
            <a:endParaRPr lang="ko-KR" altLang="en-US"/>
          </a:p>
        </p:txBody>
      </p:sp>
      <p:sp>
        <p:nvSpPr>
          <p:cNvPr id="128" name="Shape 126"/>
          <p:cNvSpPr/>
          <p:nvPr/>
        </p:nvSpPr>
        <p:spPr>
          <a:xfrm>
            <a:off x="1463040" y="5989320"/>
            <a:ext cx="9829800" cy="91"/>
          </a:xfrm>
          <a:prstGeom prst="line">
            <a:avLst/>
          </a:prstGeom>
          <a:noFill/>
          <a:ln w="19050">
            <a:solidFill>
              <a:srgbClr val="000000"/>
            </a:solidFill>
            <a:prstDash val="solid"/>
            <a:tailEnd type="triangle"/>
          </a:ln>
        </p:spPr>
        <p:txBody>
          <a:bodyPr/>
          <a:lstStyle/>
          <a:p>
            <a:endParaRPr lang="ko-KR" altLang="en-US"/>
          </a:p>
        </p:txBody>
      </p:sp>
      <p:sp>
        <p:nvSpPr>
          <p:cNvPr id="129" name="Shape 127"/>
          <p:cNvSpPr/>
          <p:nvPr/>
        </p:nvSpPr>
        <p:spPr>
          <a:xfrm>
            <a:off x="1463040" y="5989320"/>
            <a:ext cx="91" cy="73152"/>
          </a:xfrm>
          <a:prstGeom prst="line">
            <a:avLst/>
          </a:prstGeom>
          <a:noFill/>
          <a:ln w="12700">
            <a:solidFill>
              <a:srgbClr val="000000"/>
            </a:solidFill>
            <a:prstDash val="solid"/>
          </a:ln>
        </p:spPr>
        <p:txBody>
          <a:bodyPr/>
          <a:lstStyle/>
          <a:p>
            <a:endParaRPr lang="ko-KR" altLang="en-US"/>
          </a:p>
        </p:txBody>
      </p:sp>
      <p:sp>
        <p:nvSpPr>
          <p:cNvPr id="130" name="Text 128"/>
          <p:cNvSpPr txBox="1"/>
          <p:nvPr/>
        </p:nvSpPr>
        <p:spPr>
          <a:xfrm>
            <a:off x="1188720" y="6080760"/>
            <a:ext cx="548640" cy="201168"/>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a:t>
            </a:r>
            <a:endParaRPr lang="en-US" sz="1100" dirty="0"/>
          </a:p>
        </p:txBody>
      </p:sp>
      <p:sp>
        <p:nvSpPr>
          <p:cNvPr id="131" name="Shape 129"/>
          <p:cNvSpPr/>
          <p:nvPr/>
        </p:nvSpPr>
        <p:spPr>
          <a:xfrm>
            <a:off x="4693920" y="5989320"/>
            <a:ext cx="91" cy="73152"/>
          </a:xfrm>
          <a:prstGeom prst="line">
            <a:avLst/>
          </a:prstGeom>
          <a:noFill/>
          <a:ln w="12700">
            <a:solidFill>
              <a:srgbClr val="000000"/>
            </a:solidFill>
            <a:prstDash val="solid"/>
          </a:ln>
        </p:spPr>
        <p:txBody>
          <a:bodyPr/>
          <a:lstStyle/>
          <a:p>
            <a:endParaRPr lang="ko-KR" altLang="en-US"/>
          </a:p>
        </p:txBody>
      </p:sp>
      <p:sp>
        <p:nvSpPr>
          <p:cNvPr id="132" name="Text 130"/>
          <p:cNvSpPr txBox="1"/>
          <p:nvPr/>
        </p:nvSpPr>
        <p:spPr>
          <a:xfrm>
            <a:off x="4419600" y="6080760"/>
            <a:ext cx="548640" cy="201168"/>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10</a:t>
            </a:r>
            <a:endParaRPr lang="en-US" sz="1100" dirty="0"/>
          </a:p>
        </p:txBody>
      </p:sp>
      <p:sp>
        <p:nvSpPr>
          <p:cNvPr id="133" name="Shape 131"/>
          <p:cNvSpPr/>
          <p:nvPr/>
        </p:nvSpPr>
        <p:spPr>
          <a:xfrm>
            <a:off x="7924800" y="5989320"/>
            <a:ext cx="91" cy="73152"/>
          </a:xfrm>
          <a:prstGeom prst="line">
            <a:avLst/>
          </a:prstGeom>
          <a:noFill/>
          <a:ln w="12700">
            <a:solidFill>
              <a:srgbClr val="000000"/>
            </a:solidFill>
            <a:prstDash val="solid"/>
          </a:ln>
        </p:spPr>
        <p:txBody>
          <a:bodyPr/>
          <a:lstStyle/>
          <a:p>
            <a:endParaRPr lang="ko-KR" altLang="en-US"/>
          </a:p>
        </p:txBody>
      </p:sp>
      <p:sp>
        <p:nvSpPr>
          <p:cNvPr id="134" name="Text 132"/>
          <p:cNvSpPr txBox="1"/>
          <p:nvPr/>
        </p:nvSpPr>
        <p:spPr>
          <a:xfrm>
            <a:off x="7650480" y="6080760"/>
            <a:ext cx="548640" cy="201168"/>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100</a:t>
            </a:r>
            <a:endParaRPr lang="en-US" sz="1100" dirty="0"/>
          </a:p>
        </p:txBody>
      </p:sp>
      <p:sp>
        <p:nvSpPr>
          <p:cNvPr id="135" name="Shape 133"/>
          <p:cNvSpPr/>
          <p:nvPr/>
        </p:nvSpPr>
        <p:spPr>
          <a:xfrm>
            <a:off x="11155680" y="5989320"/>
            <a:ext cx="91" cy="73152"/>
          </a:xfrm>
          <a:prstGeom prst="line">
            <a:avLst/>
          </a:prstGeom>
          <a:noFill/>
          <a:ln w="12700">
            <a:solidFill>
              <a:srgbClr val="000000"/>
            </a:solidFill>
            <a:prstDash val="solid"/>
          </a:ln>
        </p:spPr>
        <p:txBody>
          <a:bodyPr/>
          <a:lstStyle/>
          <a:p>
            <a:endParaRPr lang="ko-KR" altLang="en-US"/>
          </a:p>
        </p:txBody>
      </p:sp>
      <p:sp>
        <p:nvSpPr>
          <p:cNvPr id="136" name="Text 134"/>
          <p:cNvSpPr txBox="1"/>
          <p:nvPr/>
        </p:nvSpPr>
        <p:spPr>
          <a:xfrm>
            <a:off x="10881360" y="6080760"/>
            <a:ext cx="548640" cy="201168"/>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1000</a:t>
            </a:r>
            <a:endParaRPr lang="en-US" sz="1100" dirty="0"/>
          </a:p>
        </p:txBody>
      </p:sp>
      <p:sp>
        <p:nvSpPr>
          <p:cNvPr id="137" name="Shape 135"/>
          <p:cNvSpPr/>
          <p:nvPr/>
        </p:nvSpPr>
        <p:spPr>
          <a:xfrm>
            <a:off x="3138563" y="5852160"/>
            <a:ext cx="164592" cy="137160"/>
          </a:xfrm>
          <a:prstGeom prst="rect">
            <a:avLst/>
          </a:prstGeom>
          <a:solidFill>
            <a:srgbClr val="BDD7EE"/>
          </a:solidFill>
          <a:ln w="6350">
            <a:solidFill>
              <a:srgbClr val="5B9BD5"/>
            </a:solidFill>
            <a:prstDash val="solid"/>
          </a:ln>
        </p:spPr>
        <p:txBody>
          <a:bodyPr/>
          <a:lstStyle/>
          <a:p>
            <a:endParaRPr lang="ko-KR" altLang="en-US"/>
          </a:p>
        </p:txBody>
      </p:sp>
      <p:sp>
        <p:nvSpPr>
          <p:cNvPr id="138" name="Shape 136"/>
          <p:cNvSpPr/>
          <p:nvPr/>
        </p:nvSpPr>
        <p:spPr>
          <a:xfrm>
            <a:off x="3491195" y="5696712"/>
            <a:ext cx="164592" cy="292608"/>
          </a:xfrm>
          <a:prstGeom prst="rect">
            <a:avLst/>
          </a:prstGeom>
          <a:solidFill>
            <a:srgbClr val="BDD7EE"/>
          </a:solidFill>
          <a:ln w="6350">
            <a:solidFill>
              <a:srgbClr val="5B9BD5"/>
            </a:solidFill>
            <a:prstDash val="solid"/>
          </a:ln>
        </p:spPr>
        <p:txBody>
          <a:bodyPr/>
          <a:lstStyle/>
          <a:p>
            <a:endParaRPr lang="ko-KR" altLang="en-US"/>
          </a:p>
        </p:txBody>
      </p:sp>
      <p:sp>
        <p:nvSpPr>
          <p:cNvPr id="139" name="Shape 137"/>
          <p:cNvSpPr/>
          <p:nvPr/>
        </p:nvSpPr>
        <p:spPr>
          <a:xfrm>
            <a:off x="3772767" y="5577840"/>
            <a:ext cx="164592" cy="411480"/>
          </a:xfrm>
          <a:prstGeom prst="rect">
            <a:avLst/>
          </a:prstGeom>
          <a:solidFill>
            <a:srgbClr val="BDD7EE"/>
          </a:solidFill>
          <a:ln w="6350">
            <a:solidFill>
              <a:srgbClr val="5B9BD5"/>
            </a:solidFill>
            <a:prstDash val="solid"/>
          </a:ln>
        </p:spPr>
        <p:txBody>
          <a:bodyPr/>
          <a:lstStyle/>
          <a:p>
            <a:endParaRPr lang="ko-KR" altLang="en-US"/>
          </a:p>
        </p:txBody>
      </p:sp>
      <p:sp>
        <p:nvSpPr>
          <p:cNvPr id="140" name="Shape 138"/>
          <p:cNvSpPr/>
          <p:nvPr/>
        </p:nvSpPr>
        <p:spPr>
          <a:xfrm>
            <a:off x="4007170" y="5605272"/>
            <a:ext cx="164592" cy="384048"/>
          </a:xfrm>
          <a:prstGeom prst="rect">
            <a:avLst/>
          </a:prstGeom>
          <a:solidFill>
            <a:srgbClr val="BDD7EE"/>
          </a:solidFill>
          <a:ln w="6350">
            <a:solidFill>
              <a:srgbClr val="5B9BD5"/>
            </a:solidFill>
            <a:prstDash val="solid"/>
          </a:ln>
        </p:spPr>
        <p:txBody>
          <a:bodyPr/>
          <a:lstStyle/>
          <a:p>
            <a:endParaRPr lang="ko-KR" altLang="en-US"/>
          </a:p>
        </p:txBody>
      </p:sp>
      <p:sp>
        <p:nvSpPr>
          <p:cNvPr id="141" name="Shape 139"/>
          <p:cNvSpPr/>
          <p:nvPr/>
        </p:nvSpPr>
        <p:spPr>
          <a:xfrm>
            <a:off x="4298519" y="5669280"/>
            <a:ext cx="164592" cy="320040"/>
          </a:xfrm>
          <a:prstGeom prst="rect">
            <a:avLst/>
          </a:prstGeom>
          <a:solidFill>
            <a:srgbClr val="BDD7EE"/>
          </a:solidFill>
          <a:ln w="6350">
            <a:solidFill>
              <a:srgbClr val="5B9BD5"/>
            </a:solidFill>
            <a:prstDash val="solid"/>
          </a:ln>
        </p:spPr>
        <p:txBody>
          <a:bodyPr/>
          <a:lstStyle/>
          <a:p>
            <a:endParaRPr lang="ko-KR" altLang="en-US"/>
          </a:p>
        </p:txBody>
      </p:sp>
      <p:sp>
        <p:nvSpPr>
          <p:cNvPr id="142" name="Shape 140"/>
          <p:cNvSpPr/>
          <p:nvPr/>
        </p:nvSpPr>
        <p:spPr>
          <a:xfrm>
            <a:off x="4611624" y="5788152"/>
            <a:ext cx="164592" cy="201168"/>
          </a:xfrm>
          <a:prstGeom prst="rect">
            <a:avLst/>
          </a:prstGeom>
          <a:solidFill>
            <a:srgbClr val="BDD7EE"/>
          </a:solidFill>
          <a:ln w="6350">
            <a:solidFill>
              <a:srgbClr val="5B9BD5"/>
            </a:solidFill>
            <a:prstDash val="solid"/>
          </a:ln>
        </p:spPr>
        <p:txBody>
          <a:bodyPr/>
          <a:lstStyle/>
          <a:p>
            <a:endParaRPr lang="ko-KR" altLang="en-US"/>
          </a:p>
        </p:txBody>
      </p:sp>
      <p:sp>
        <p:nvSpPr>
          <p:cNvPr id="143" name="Shape 141"/>
          <p:cNvSpPr/>
          <p:nvPr/>
        </p:nvSpPr>
        <p:spPr>
          <a:xfrm>
            <a:off x="4924729" y="5879592"/>
            <a:ext cx="164592" cy="109728"/>
          </a:xfrm>
          <a:prstGeom prst="rect">
            <a:avLst/>
          </a:prstGeom>
          <a:solidFill>
            <a:srgbClr val="BDD7EE"/>
          </a:solidFill>
          <a:ln w="6350">
            <a:solidFill>
              <a:srgbClr val="5B9BD5"/>
            </a:solidFill>
            <a:prstDash val="solid"/>
          </a:ln>
        </p:spPr>
        <p:txBody>
          <a:bodyPr/>
          <a:lstStyle/>
          <a:p>
            <a:endParaRPr lang="ko-KR" altLang="en-US"/>
          </a:p>
        </p:txBody>
      </p:sp>
      <p:sp>
        <p:nvSpPr>
          <p:cNvPr id="144" name="Shape 142"/>
          <p:cNvSpPr/>
          <p:nvPr/>
        </p:nvSpPr>
        <p:spPr>
          <a:xfrm>
            <a:off x="5271111" y="5943600"/>
            <a:ext cx="164592" cy="45720"/>
          </a:xfrm>
          <a:prstGeom prst="rect">
            <a:avLst/>
          </a:prstGeom>
          <a:solidFill>
            <a:srgbClr val="BDD7EE"/>
          </a:solidFill>
          <a:ln w="6350">
            <a:solidFill>
              <a:srgbClr val="5B9BD5"/>
            </a:solidFill>
            <a:prstDash val="solid"/>
          </a:ln>
        </p:spPr>
        <p:txBody>
          <a:bodyPr/>
          <a:lstStyle/>
          <a:p>
            <a:endParaRPr lang="ko-KR" altLang="en-US"/>
          </a:p>
        </p:txBody>
      </p:sp>
      <p:sp>
        <p:nvSpPr>
          <p:cNvPr id="145" name="Shape 143"/>
          <p:cNvSpPr/>
          <p:nvPr/>
        </p:nvSpPr>
        <p:spPr>
          <a:xfrm>
            <a:off x="5584216" y="5961888"/>
            <a:ext cx="164592" cy="27432"/>
          </a:xfrm>
          <a:prstGeom prst="rect">
            <a:avLst/>
          </a:prstGeom>
          <a:solidFill>
            <a:srgbClr val="BDD7EE"/>
          </a:solidFill>
          <a:ln w="6350">
            <a:solidFill>
              <a:srgbClr val="5B9BD5"/>
            </a:solidFill>
            <a:prstDash val="solid"/>
          </a:ln>
        </p:spPr>
        <p:txBody>
          <a:bodyPr/>
          <a:lstStyle/>
          <a:p>
            <a:endParaRPr lang="ko-KR" altLang="en-US"/>
          </a:p>
        </p:txBody>
      </p:sp>
      <p:sp>
        <p:nvSpPr>
          <p:cNvPr id="146" name="Shape 144"/>
          <p:cNvSpPr/>
          <p:nvPr/>
        </p:nvSpPr>
        <p:spPr>
          <a:xfrm>
            <a:off x="5454873" y="5422392"/>
            <a:ext cx="91" cy="566928"/>
          </a:xfrm>
          <a:prstGeom prst="line">
            <a:avLst/>
          </a:prstGeom>
          <a:noFill/>
          <a:ln w="25400">
            <a:solidFill>
              <a:srgbClr val="C00000"/>
            </a:solidFill>
            <a:prstDash val="dash"/>
          </a:ln>
        </p:spPr>
        <p:txBody>
          <a:bodyPr/>
          <a:lstStyle/>
          <a:p>
            <a:endParaRPr lang="ko-KR" altLang="en-US"/>
          </a:p>
        </p:txBody>
      </p:sp>
      <p:sp>
        <p:nvSpPr>
          <p:cNvPr id="147" name="Text 145"/>
          <p:cNvSpPr txBox="1"/>
          <p:nvPr/>
        </p:nvSpPr>
        <p:spPr>
          <a:xfrm>
            <a:off x="5043393" y="5184648"/>
            <a:ext cx="822960" cy="228600"/>
          </a:xfrm>
          <a:prstGeom prst="rect">
            <a:avLst/>
          </a:prstGeom>
          <a:noFill/>
          <a:ln/>
        </p:spPr>
        <p:txBody>
          <a:bodyPr wrap="square" lIns="0" tIns="0" rIns="0" bIns="0" rtlCol="0" anchor="ctr"/>
          <a:lstStyle/>
          <a:p>
            <a:pPr marL="0" indent="0" algn="ctr">
              <a:buNone/>
            </a:pPr>
            <a:r>
              <a:rPr lang="en-US" sz="1200" b="1" dirty="0">
                <a:solidFill>
                  <a:srgbClr val="C00000"/>
                </a:solidFill>
                <a:latin typeface="Times New Roman" pitchFamily="34" charset="0"/>
                <a:ea typeface="Times New Roman" pitchFamily="34" charset="-122"/>
                <a:cs typeface="Times New Roman" pitchFamily="34" charset="-120"/>
              </a:rPr>
              <a:t>θ = 17.2</a:t>
            </a:r>
            <a:endParaRPr lang="en-US" sz="1200" dirty="0"/>
          </a:p>
        </p:txBody>
      </p:sp>
      <p:sp>
        <p:nvSpPr>
          <p:cNvPr id="148" name="Text 146"/>
          <p:cNvSpPr txBox="1"/>
          <p:nvPr/>
        </p:nvSpPr>
        <p:spPr>
          <a:xfrm>
            <a:off x="2730242" y="5239512"/>
            <a:ext cx="2194560" cy="201168"/>
          </a:xfrm>
          <a:prstGeom prst="rect">
            <a:avLst/>
          </a:prstGeom>
          <a:noFill/>
          <a:ln/>
        </p:spPr>
        <p:txBody>
          <a:bodyPr wrap="square" lIns="0" tIns="0" rIns="0" bIns="0" rtlCol="0" anchor="ctr"/>
          <a:lstStyle/>
          <a:p>
            <a:pPr marL="0" indent="0" algn="l">
              <a:buNone/>
            </a:pPr>
            <a:r>
              <a:rPr lang="en-US" sz="1050" dirty="0">
                <a:solidFill>
                  <a:srgbClr val="2E75B6"/>
                </a:solidFill>
                <a:latin typeface="Times New Roman" pitchFamily="34" charset="0"/>
                <a:ea typeface="Times New Roman" pitchFamily="34" charset="-122"/>
                <a:cs typeface="Times New Roman" pitchFamily="34" charset="-120"/>
              </a:rPr>
              <a:t>calibration scores (normal)</a:t>
            </a:r>
            <a:endParaRPr lang="en-US" sz="1050" dirty="0"/>
          </a:p>
        </p:txBody>
      </p:sp>
      <p:sp>
        <p:nvSpPr>
          <p:cNvPr id="149" name="Text 147"/>
          <p:cNvSpPr txBox="1"/>
          <p:nvPr/>
        </p:nvSpPr>
        <p:spPr>
          <a:xfrm>
            <a:off x="8348752" y="5605272"/>
            <a:ext cx="1097280" cy="228600"/>
          </a:xfrm>
          <a:prstGeom prst="rect">
            <a:avLst/>
          </a:prstGeom>
          <a:noFill/>
          <a:ln/>
        </p:spPr>
        <p:txBody>
          <a:bodyPr wrap="square" lIns="0" tIns="0" rIns="0" bIns="0" rtlCol="0" anchor="ctr"/>
          <a:lstStyle/>
          <a:p>
            <a:pPr marL="0" indent="0" algn="ctr">
              <a:buNone/>
            </a:pPr>
            <a:r>
              <a:rPr lang="en-US" sz="1200" b="1" dirty="0">
                <a:solidFill>
                  <a:srgbClr val="C00000"/>
                </a:solidFill>
                <a:latin typeface="Times New Roman" pitchFamily="34" charset="0"/>
                <a:ea typeface="Times New Roman" pitchFamily="34" charset="-122"/>
                <a:cs typeface="Times New Roman" pitchFamily="34" charset="-120"/>
              </a:rPr>
              <a:t>alarm region</a:t>
            </a:r>
            <a:endParaRPr lang="en-US" sz="1200" dirty="0"/>
          </a:p>
        </p:txBody>
      </p:sp>
      <p:sp>
        <p:nvSpPr>
          <p:cNvPr id="150" name="Shape 148"/>
          <p:cNvSpPr/>
          <p:nvPr/>
        </p:nvSpPr>
        <p:spPr>
          <a:xfrm>
            <a:off x="3904001" y="5916168"/>
            <a:ext cx="146304" cy="146304"/>
          </a:xfrm>
          <a:prstGeom prst="ellipse">
            <a:avLst/>
          </a:prstGeom>
          <a:solidFill>
            <a:srgbClr val="1F4E79"/>
          </a:solidFill>
          <a:ln w="12700">
            <a:solidFill>
              <a:srgbClr val="FFFFFF"/>
            </a:solidFill>
            <a:prstDash val="solid"/>
          </a:ln>
        </p:spPr>
        <p:txBody>
          <a:bodyPr/>
          <a:lstStyle/>
          <a:p>
            <a:endParaRPr lang="ko-KR" altLang="en-US"/>
          </a:p>
        </p:txBody>
      </p:sp>
      <p:sp>
        <p:nvSpPr>
          <p:cNvPr id="151" name="Text 149"/>
          <p:cNvSpPr txBox="1"/>
          <p:nvPr/>
        </p:nvSpPr>
        <p:spPr>
          <a:xfrm>
            <a:off x="3748553" y="6080760"/>
            <a:ext cx="457200" cy="201168"/>
          </a:xfrm>
          <a:prstGeom prst="rect">
            <a:avLst/>
          </a:prstGeom>
          <a:noFill/>
          <a:ln/>
        </p:spPr>
        <p:txBody>
          <a:bodyPr wrap="square" lIns="0" tIns="0" rIns="0" bIns="0" rtlCol="0" anchor="ctr"/>
          <a:lstStyle/>
          <a:p>
            <a:pPr marL="0" indent="0" algn="ctr">
              <a:buNone/>
            </a:pPr>
            <a:r>
              <a:rPr lang="en-US" sz="1100" b="1" dirty="0">
                <a:solidFill>
                  <a:srgbClr val="1F4E79"/>
                </a:solidFill>
                <a:latin typeface="Times New Roman" pitchFamily="34" charset="0"/>
                <a:ea typeface="Times New Roman" pitchFamily="34" charset="-122"/>
                <a:cs typeface="Times New Roman" pitchFamily="34" charset="-120"/>
              </a:rPr>
              <a:t>6.0</a:t>
            </a:r>
            <a:endParaRPr lang="en-US" sz="1100" dirty="0"/>
          </a:p>
        </p:txBody>
      </p:sp>
      <p:sp>
        <p:nvSpPr>
          <p:cNvPr id="152" name="Shape 150"/>
          <p:cNvSpPr/>
          <p:nvPr/>
        </p:nvSpPr>
        <p:spPr>
          <a:xfrm>
            <a:off x="7720083" y="5907024"/>
            <a:ext cx="164592" cy="164592"/>
          </a:xfrm>
          <a:prstGeom prst="line">
            <a:avLst/>
          </a:prstGeom>
          <a:noFill/>
          <a:ln w="28575">
            <a:solidFill>
              <a:srgbClr val="C00000"/>
            </a:solidFill>
            <a:prstDash val="solid"/>
          </a:ln>
        </p:spPr>
        <p:txBody>
          <a:bodyPr/>
          <a:lstStyle/>
          <a:p>
            <a:endParaRPr lang="ko-KR" altLang="en-US"/>
          </a:p>
        </p:txBody>
      </p:sp>
      <p:sp>
        <p:nvSpPr>
          <p:cNvPr id="153" name="Shape 151"/>
          <p:cNvSpPr/>
          <p:nvPr/>
        </p:nvSpPr>
        <p:spPr>
          <a:xfrm flipV="1">
            <a:off x="7720083" y="5907024"/>
            <a:ext cx="164592" cy="164592"/>
          </a:xfrm>
          <a:prstGeom prst="line">
            <a:avLst/>
          </a:prstGeom>
          <a:noFill/>
          <a:ln w="28575">
            <a:solidFill>
              <a:srgbClr val="C00000"/>
            </a:solidFill>
            <a:prstDash val="solid"/>
          </a:ln>
        </p:spPr>
        <p:txBody>
          <a:bodyPr/>
          <a:lstStyle/>
          <a:p>
            <a:endParaRPr lang="ko-KR" altLang="en-US"/>
          </a:p>
        </p:txBody>
      </p:sp>
      <p:sp>
        <p:nvSpPr>
          <p:cNvPr id="154" name="Text 152"/>
          <p:cNvSpPr txBox="1"/>
          <p:nvPr/>
        </p:nvSpPr>
        <p:spPr>
          <a:xfrm>
            <a:off x="7921251" y="5760720"/>
            <a:ext cx="548640" cy="201168"/>
          </a:xfrm>
          <a:prstGeom prst="rect">
            <a:avLst/>
          </a:prstGeom>
          <a:noFill/>
          <a:ln/>
        </p:spPr>
        <p:txBody>
          <a:bodyPr wrap="square" lIns="0" tIns="0" rIns="0" bIns="0" rtlCol="0" anchor="ctr"/>
          <a:lstStyle/>
          <a:p>
            <a:pPr marL="0" indent="0" algn="l">
              <a:buNone/>
            </a:pPr>
            <a:r>
              <a:rPr lang="en-US" sz="1100" b="1" dirty="0">
                <a:solidFill>
                  <a:srgbClr val="C00000"/>
                </a:solidFill>
                <a:latin typeface="Times New Roman" pitchFamily="34" charset="0"/>
                <a:ea typeface="Times New Roman" pitchFamily="34" charset="-122"/>
                <a:cs typeface="Times New Roman" pitchFamily="34" charset="-120"/>
              </a:rPr>
              <a:t>91.6</a:t>
            </a:r>
            <a:endParaRPr lang="en-US" sz="1100" dirty="0"/>
          </a:p>
        </p:txBody>
      </p:sp>
      <p:sp>
        <p:nvSpPr>
          <p:cNvPr id="155" name="Text 153"/>
          <p:cNvSpPr txBox="1"/>
          <p:nvPr/>
        </p:nvSpPr>
        <p:spPr>
          <a:xfrm>
            <a:off x="457200" y="5852160"/>
            <a:ext cx="960120" cy="274320"/>
          </a:xfrm>
          <a:prstGeom prst="rect">
            <a:avLst/>
          </a:prstGeom>
          <a:noFill/>
          <a:ln/>
        </p:spPr>
        <p:txBody>
          <a:bodyPr wrap="square" lIns="0" tIns="0" rIns="0" bIns="0" rtlCol="0" anchor="ctr"/>
          <a:lstStyle/>
          <a:p>
            <a:pPr marL="0" indent="0" algn="l">
              <a:buNone/>
            </a:pPr>
            <a:r>
              <a:rPr lang="en-US" sz="1200" b="1" i="1" dirty="0">
                <a:solidFill>
                  <a:srgbClr val="000000"/>
                </a:solidFill>
                <a:latin typeface="Times New Roman" pitchFamily="34" charset="0"/>
                <a:ea typeface="Times New Roman" pitchFamily="34" charset="-122"/>
                <a:cs typeface="Times New Roman" pitchFamily="34" charset="-120"/>
              </a:rPr>
              <a:t>s = −log p(z)</a:t>
            </a:r>
            <a:endParaRPr lang="en-US" sz="1200" dirty="0"/>
          </a:p>
        </p:txBody>
      </p:sp>
      <p:sp>
        <p:nvSpPr>
          <p:cNvPr id="156" name="Shape 154"/>
          <p:cNvSpPr/>
          <p:nvPr/>
        </p:nvSpPr>
        <p:spPr>
          <a:xfrm flipH="1">
            <a:off x="3977152" y="3998083"/>
            <a:ext cx="1372087" cy="1881509"/>
          </a:xfrm>
          <a:prstGeom prst="line">
            <a:avLst/>
          </a:prstGeom>
          <a:noFill/>
          <a:ln w="12700">
            <a:solidFill>
              <a:srgbClr val="1F4E79"/>
            </a:solidFill>
            <a:prstDash val="sysDot"/>
            <a:tailEnd type="triangle"/>
          </a:ln>
        </p:spPr>
        <p:txBody>
          <a:bodyPr/>
          <a:lstStyle/>
          <a:p>
            <a:endParaRPr lang="ko-KR" altLang="en-US"/>
          </a:p>
        </p:txBody>
      </p:sp>
      <p:sp>
        <p:nvSpPr>
          <p:cNvPr id="157" name="Shape 155"/>
          <p:cNvSpPr/>
          <p:nvPr/>
        </p:nvSpPr>
        <p:spPr>
          <a:xfrm>
            <a:off x="7571232" y="4636008"/>
            <a:ext cx="228250" cy="1307592"/>
          </a:xfrm>
          <a:prstGeom prst="line">
            <a:avLst/>
          </a:prstGeom>
          <a:noFill/>
          <a:ln w="12700">
            <a:solidFill>
              <a:srgbClr val="C00000"/>
            </a:solidFill>
            <a:prstDash val="sysDot"/>
            <a:tailEnd type="triangle"/>
          </a:ln>
        </p:spPr>
        <p:txBody>
          <a:bodyPr/>
          <a:lstStyle/>
          <a:p>
            <a:endParaRPr lang="ko-KR" altLang="en-US"/>
          </a:p>
        </p:txBody>
      </p:sp>
      <p:sp>
        <p:nvSpPr>
          <p:cNvPr id="159"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pPr marL="0" indent="0" algn="l">
              <a:buNone/>
            </a:pPr>
            <a:r>
              <a:rPr lang="ko-KR" altLang="en-US" dirty="0">
                <a:latin typeface="+mj-ea"/>
                <a:ea typeface="+mj-ea"/>
              </a:rPr>
              <a:t>제안방법론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Causal Input Window</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모델은 매 순간 무엇을 보고 판단할까?</a:t>
            </a:r>
            <a:endParaRPr lang="en-US" sz="2100" dirty="0"/>
          </a:p>
        </p:txBody>
      </p:sp>
      <mc:AlternateContent xmlns:mc="http://schemas.openxmlformats.org/markup-compatibility/2006">
        <mc:Choice xmlns:a14="http://schemas.microsoft.com/office/drawing/2010/main" Requires="a14">
          <p:sp>
            <p:nvSpPr>
              <p:cNvPr id="790" name="bullets"/>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ko-KR" altLang="en-US" sz="1600" dirty="0">
                    <a:solidFill>
                      <a:srgbClr val="262626"/>
                    </a:solidFill>
                    <a:latin typeface="맑은 고딕" pitchFamily="34" charset="0"/>
                    <a:ea typeface="맑은 고딕" pitchFamily="34" charset="-122"/>
                    <a:cs typeface="맑은 고딕" pitchFamily="34" charset="-120"/>
                  </a:rPr>
                  <a:t>입력 창: 과거 3시점 + 현재 </a:t>
                </a:r>
                <a:r>
                  <a:rPr lang="en-US" altLang="ko-KR" sz="1600" dirty="0">
                    <a:solidFill>
                      <a:srgbClr val="262626"/>
                    </a:solidFill>
                    <a:latin typeface="맑은 고딕" pitchFamily="34" charset="0"/>
                    <a:ea typeface="맑은 고딕" pitchFamily="34" charset="-122"/>
                    <a:cs typeface="맑은 고딕" pitchFamily="34" charset="-120"/>
                  </a:rPr>
                  <a:t>1</a:t>
                </a:r>
                <a:r>
                  <a:rPr lang="ko-KR" altLang="en-US" sz="1600" dirty="0">
                    <a:solidFill>
                      <a:srgbClr val="262626"/>
                    </a:solidFill>
                    <a:latin typeface="맑은 고딕" pitchFamily="34" charset="0"/>
                    <a:ea typeface="맑은 고딕" pitchFamily="34" charset="-122"/>
                    <a:cs typeface="맑은 고딕" pitchFamily="34" charset="-120"/>
                  </a:rPr>
                  <a:t>시점을 쌓은 </a:t>
                </a:r>
                <a14:m>
                  <m:oMath xmlns:m="http://schemas.openxmlformats.org/officeDocument/2006/math">
                    <m:sSub>
                      <m:sSubPr>
                        <m:ctrlPr>
                          <a:rPr lang="en-US" altLang="ko-KR" sz="1600" b="0" i="1" smtClean="0">
                            <a:solidFill>
                              <a:srgbClr val="262626"/>
                            </a:solidFill>
                            <a:latin typeface="Cambria Math" panose="02040503050406030204" pitchFamily="18" charset="0"/>
                            <a:ea typeface="맑은 고딕" pitchFamily="34" charset="-122"/>
                            <a:cs typeface="맑은 고딕" pitchFamily="34" charset="-120"/>
                          </a:rPr>
                        </m:ctrlPr>
                      </m:sSubPr>
                      <m:e>
                        <m:r>
                          <a:rPr lang="en-US" altLang="ko-KR" sz="1600" b="0" i="1" smtClean="0">
                            <a:solidFill>
                              <a:srgbClr val="262626"/>
                            </a:solidFill>
                            <a:latin typeface="Cambria Math" panose="02040503050406030204" pitchFamily="18" charset="0"/>
                            <a:ea typeface="맑은 고딕" pitchFamily="34" charset="-122"/>
                            <a:cs typeface="맑은 고딕" pitchFamily="34" charset="-120"/>
                          </a:rPr>
                          <m:t>𝑧</m:t>
                        </m:r>
                      </m:e>
                      <m:sub>
                        <m:r>
                          <a:rPr lang="en-US" altLang="ko-KR" sz="1600" b="0" i="1" smtClean="0">
                            <a:solidFill>
                              <a:srgbClr val="262626"/>
                            </a:solidFill>
                            <a:latin typeface="Cambria Math" panose="02040503050406030204" pitchFamily="18" charset="0"/>
                            <a:ea typeface="맑은 고딕" pitchFamily="34" charset="-122"/>
                            <a:cs typeface="맑은 고딕" pitchFamily="34" charset="-120"/>
                          </a:rPr>
                          <m:t>𝑡</m:t>
                        </m:r>
                      </m:sub>
                    </m:sSub>
                    <m:r>
                      <a:rPr lang="en-US" altLang="ko-KR" sz="1600" b="0" i="1" smtClean="0">
                        <a:solidFill>
                          <a:srgbClr val="262626"/>
                        </a:solidFill>
                        <a:latin typeface="Cambria Math" panose="02040503050406030204" pitchFamily="18" charset="0"/>
                        <a:ea typeface="맑은 고딕" pitchFamily="34" charset="-122"/>
                        <a:cs typeface="맑은 고딕" pitchFamily="34" charset="-120"/>
                      </a:rPr>
                      <m:t>=</m:t>
                    </m:r>
                    <m:d>
                      <m:dPr>
                        <m:begChr m:val="["/>
                        <m:endChr m:val="]"/>
                        <m:ctrlPr>
                          <a:rPr lang="en-US" altLang="ko-KR" sz="1600" i="1" dirty="0">
                            <a:solidFill>
                              <a:srgbClr val="262626"/>
                            </a:solidFill>
                            <a:latin typeface="Times New Roman" pitchFamily="34" charset="0"/>
                            <a:ea typeface="Times New Roman" pitchFamily="34" charset="-122"/>
                            <a:cs typeface="Times New Roman" pitchFamily="34" charset="-120"/>
                          </a:rPr>
                        </m:ctrlPr>
                      </m:dPr>
                      <m:e>
                        <m:r>
                          <m:rPr>
                            <m:nor/>
                          </m:rPr>
                          <a:rPr lang="en-US" altLang="ko-KR" sz="1600" i="1" dirty="0">
                            <a:solidFill>
                              <a:srgbClr val="262626"/>
                            </a:solidFill>
                            <a:latin typeface="Times New Roman" pitchFamily="34" charset="0"/>
                            <a:ea typeface="Times New Roman" pitchFamily="34" charset="-122"/>
                            <a:cs typeface="Times New Roman" pitchFamily="34" charset="-120"/>
                          </a:rPr>
                          <m:t>x</m:t>
                        </m:r>
                        <m:r>
                          <m:rPr>
                            <m:nor/>
                          </m:rPr>
                          <a:rPr lang="en-US" altLang="ko-KR" sz="1600" i="1" baseline="-25000" dirty="0">
                            <a:solidFill>
                              <a:srgbClr val="262626"/>
                            </a:solidFill>
                            <a:latin typeface="Times New Roman" pitchFamily="34" charset="0"/>
                            <a:ea typeface="Times New Roman" pitchFamily="34" charset="-122"/>
                            <a:cs typeface="Times New Roman" pitchFamily="34" charset="-120"/>
                          </a:rPr>
                          <m:t>t−3</m:t>
                        </m:r>
                        <m:r>
                          <m:rPr>
                            <m:nor/>
                          </m:rPr>
                          <a:rPr lang="en-US" altLang="ko-KR" sz="1600" i="1" dirty="0">
                            <a:solidFill>
                              <a:srgbClr val="262626"/>
                            </a:solidFill>
                            <a:latin typeface="Times New Roman" pitchFamily="34" charset="0"/>
                            <a:ea typeface="Times New Roman" pitchFamily="34" charset="-122"/>
                            <a:cs typeface="Times New Roman" pitchFamily="34" charset="-120"/>
                          </a:rPr>
                          <m:t>; x</m:t>
                        </m:r>
                        <m:r>
                          <m:rPr>
                            <m:nor/>
                          </m:rPr>
                          <a:rPr lang="en-US" altLang="ko-KR" sz="1600" i="1" baseline="-25000" dirty="0">
                            <a:solidFill>
                              <a:srgbClr val="262626"/>
                            </a:solidFill>
                            <a:latin typeface="Times New Roman" pitchFamily="34" charset="0"/>
                            <a:ea typeface="Times New Roman" pitchFamily="34" charset="-122"/>
                            <a:cs typeface="Times New Roman" pitchFamily="34" charset="-120"/>
                          </a:rPr>
                          <m:t>t−2</m:t>
                        </m:r>
                        <m:r>
                          <m:rPr>
                            <m:nor/>
                          </m:rPr>
                          <a:rPr lang="en-US" altLang="ko-KR" sz="1600" i="1" dirty="0">
                            <a:solidFill>
                              <a:srgbClr val="262626"/>
                            </a:solidFill>
                            <a:latin typeface="Times New Roman" pitchFamily="34" charset="0"/>
                            <a:ea typeface="Times New Roman" pitchFamily="34" charset="-122"/>
                            <a:cs typeface="Times New Roman" pitchFamily="34" charset="-120"/>
                          </a:rPr>
                          <m:t>; x</m:t>
                        </m:r>
                        <m:r>
                          <m:rPr>
                            <m:nor/>
                          </m:rPr>
                          <a:rPr lang="en-US" altLang="ko-KR" sz="1600" i="1" baseline="-25000" dirty="0">
                            <a:solidFill>
                              <a:srgbClr val="262626"/>
                            </a:solidFill>
                            <a:latin typeface="Times New Roman" pitchFamily="34" charset="0"/>
                            <a:ea typeface="Times New Roman" pitchFamily="34" charset="-122"/>
                            <a:cs typeface="Times New Roman" pitchFamily="34" charset="-120"/>
                          </a:rPr>
                          <m:t>t−1</m:t>
                        </m:r>
                        <m:r>
                          <m:rPr>
                            <m:nor/>
                          </m:rPr>
                          <a:rPr lang="en-US" altLang="ko-KR" sz="1600" i="1" dirty="0">
                            <a:solidFill>
                              <a:srgbClr val="262626"/>
                            </a:solidFill>
                            <a:latin typeface="Times New Roman" pitchFamily="34" charset="0"/>
                            <a:ea typeface="Times New Roman" pitchFamily="34" charset="-122"/>
                            <a:cs typeface="Times New Roman" pitchFamily="34" charset="-120"/>
                          </a:rPr>
                          <m:t>; x</m:t>
                        </m:r>
                        <m:r>
                          <m:rPr>
                            <m:nor/>
                          </m:rPr>
                          <a:rPr lang="en-US" altLang="ko-KR" sz="1600" i="1" baseline="-25000" dirty="0">
                            <a:solidFill>
                              <a:srgbClr val="262626"/>
                            </a:solidFill>
                            <a:latin typeface="Times New Roman" pitchFamily="34" charset="0"/>
                            <a:ea typeface="Times New Roman" pitchFamily="34" charset="-122"/>
                            <a:cs typeface="Times New Roman" pitchFamily="34" charset="-120"/>
                          </a:rPr>
                          <m:t>t</m:t>
                        </m:r>
                      </m:e>
                    </m:d>
                  </m:oMath>
                </a14:m>
                <a:r>
                  <a:rPr lang="ko-KR" altLang="en-US" sz="1600" dirty="0">
                    <a:solidFill>
                      <a:srgbClr val="262626"/>
                    </a:solidFill>
                    <a:latin typeface="맑은 고딕" pitchFamily="34" charset="0"/>
                    <a:ea typeface="맑은 고딕" pitchFamily="34" charset="-122"/>
                    <a:cs typeface="맑은 고딕" pitchFamily="34" charset="-120"/>
                  </a:rPr>
                  <a:t>(W = 3) → 3센서 × 4시점 = 12차원</a:t>
                </a:r>
                <a:endParaRPr lang="en-US" sz="1600" dirty="0"/>
              </a:p>
              <a:p>
                <a:pPr marL="254000" indent="-254000">
                  <a:spcAft>
                    <a:spcPts val="600"/>
                  </a:spcAft>
                  <a:buSzPct val="100000"/>
                  <a:buChar char="•"/>
                </a:pPr>
                <a:r>
                  <a:rPr lang="ko-KR" altLang="en-US" sz="1600" dirty="0">
                    <a:solidFill>
                      <a:srgbClr val="262626"/>
                    </a:solidFill>
                    <a:latin typeface="맑은 고딕" pitchFamily="34" charset="0"/>
                    <a:ea typeface="맑은 고딕" pitchFamily="34" charset="-122"/>
                    <a:cs typeface="맑은 고딕" pitchFamily="34" charset="-120"/>
                  </a:rPr>
                  <a:t>판단 규칙: clip 경계·미래 값은 사용하지 않고, 처음 3시점(0.0~0.2초)은 관측된 값만으로 판정</a:t>
                </a:r>
                <a:endParaRPr lang="en-US" sz="1600" dirty="0"/>
              </a:p>
            </p:txBody>
          </p:sp>
        </mc:Choice>
        <mc:Fallback>
          <p:sp>
            <p:nvSpPr>
              <p:cNvPr id="790" name="bullets"/>
              <p:cNvSpPr txBox="1">
                <a:spLocks noRot="1" noChangeAspect="1" noMove="1" noResize="1" noEditPoints="1" noAdjustHandles="1" noChangeArrowheads="1" noChangeShapeType="1" noTextEdit="1"/>
              </p:cNvSpPr>
              <p:nvPr/>
            </p:nvSpPr>
            <p:spPr>
              <a:xfrm>
                <a:off x="1280160" y="2011680"/>
                <a:ext cx="10332720" cy="777240"/>
              </a:xfrm>
              <a:prstGeom prst="rect">
                <a:avLst/>
              </a:prstGeom>
              <a:blipFill>
                <a:blip r:embed="rId3"/>
                <a:stretch>
                  <a:fillRect l="-1298" t="-10938"/>
                </a:stretch>
              </a:blipFill>
              <a:ln/>
            </p:spPr>
            <p:txBody>
              <a:bodyPr/>
              <a:lstStyle/>
              <a:p>
                <a:r>
                  <a:rPr lang="ko-KR" altLang="en-US">
                    <a:noFill/>
                  </a:rPr>
                  <a:t> </a:t>
                </a:r>
              </a:p>
            </p:txBody>
          </p:sp>
        </mc:Fallback>
      </mc:AlternateContent>
      <p:sp>
        <p:nvSpPr>
          <p:cNvPr id="801" name="Text 801"/>
          <p:cNvSpPr txBox="1"/>
          <p:nvPr/>
        </p:nvSpPr>
        <p:spPr>
          <a:xfrm>
            <a:off x="777240" y="2898648"/>
            <a:ext cx="4389120" cy="256032"/>
          </a:xfrm>
          <a:prstGeom prst="rect">
            <a:avLst/>
          </a:prstGeom>
          <a:noFill/>
          <a:ln/>
        </p:spPr>
        <p:txBody>
          <a:bodyPr wrap="square" lIns="0" tIns="0" rIns="0" bIns="0" rtlCol="0" anchor="ctr"/>
          <a:lstStyle/>
          <a:p>
            <a:pPr marL="0" indent="0" algn="l">
              <a:buNone/>
            </a:pPr>
            <a:r>
              <a:rPr lang="en-US" sz="1150" b="1" dirty="0">
                <a:solidFill>
                  <a:srgbClr val="262626"/>
                </a:solidFill>
                <a:latin typeface="맑은 고딕" pitchFamily="34" charset="0"/>
                <a:ea typeface="맑은 고딕" pitchFamily="34" charset="-122"/>
                <a:cs typeface="맑은 고딕" pitchFamily="34" charset="-120"/>
              </a:rPr>
              <a:t>한 clip의 센서 기록 (0.1초 간격)</a:t>
            </a:r>
            <a:endParaRPr lang="en-US" sz="1150" dirty="0"/>
          </a:p>
        </p:txBody>
      </p:sp>
      <p:sp>
        <p:nvSpPr>
          <p:cNvPr id="802" name="Text 802"/>
          <p:cNvSpPr txBox="1"/>
          <p:nvPr/>
        </p:nvSpPr>
        <p:spPr>
          <a:xfrm>
            <a:off x="1344168"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0.0초</a:t>
            </a:r>
            <a:endParaRPr lang="en-US" sz="950" dirty="0"/>
          </a:p>
        </p:txBody>
      </p:sp>
      <p:sp>
        <p:nvSpPr>
          <p:cNvPr id="803" name="Text 803"/>
          <p:cNvSpPr txBox="1"/>
          <p:nvPr/>
        </p:nvSpPr>
        <p:spPr>
          <a:xfrm>
            <a:off x="1865376"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0.1초</a:t>
            </a:r>
            <a:endParaRPr lang="en-US" sz="950" dirty="0"/>
          </a:p>
        </p:txBody>
      </p:sp>
      <p:sp>
        <p:nvSpPr>
          <p:cNvPr id="804" name="Text 804"/>
          <p:cNvSpPr txBox="1"/>
          <p:nvPr/>
        </p:nvSpPr>
        <p:spPr>
          <a:xfrm>
            <a:off x="2386584"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0.2초</a:t>
            </a:r>
            <a:endParaRPr lang="en-US" sz="950" dirty="0"/>
          </a:p>
        </p:txBody>
      </p:sp>
      <p:sp>
        <p:nvSpPr>
          <p:cNvPr id="805" name="Text 805"/>
          <p:cNvSpPr txBox="1"/>
          <p:nvPr/>
        </p:nvSpPr>
        <p:spPr>
          <a:xfrm>
            <a:off x="2907792"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0.3초</a:t>
            </a:r>
            <a:endParaRPr lang="en-US" sz="950" dirty="0"/>
          </a:p>
        </p:txBody>
      </p:sp>
      <p:sp>
        <p:nvSpPr>
          <p:cNvPr id="806" name="Text 806"/>
          <p:cNvSpPr txBox="1"/>
          <p:nvPr/>
        </p:nvSpPr>
        <p:spPr>
          <a:xfrm>
            <a:off x="3429000"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0.4초</a:t>
            </a:r>
            <a:endParaRPr lang="en-US" sz="950" dirty="0"/>
          </a:p>
        </p:txBody>
      </p:sp>
      <p:sp>
        <p:nvSpPr>
          <p:cNvPr id="807" name="Text 807"/>
          <p:cNvSpPr txBox="1"/>
          <p:nvPr/>
        </p:nvSpPr>
        <p:spPr>
          <a:xfrm>
            <a:off x="3950208" y="3200400"/>
            <a:ext cx="530352" cy="201168"/>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0.5초</a:t>
            </a:r>
            <a:endParaRPr lang="en-US" sz="950" dirty="0"/>
          </a:p>
        </p:txBody>
      </p:sp>
      <p:sp>
        <p:nvSpPr>
          <p:cNvPr id="808" name="Text 808"/>
          <p:cNvSpPr txBox="1"/>
          <p:nvPr/>
        </p:nvSpPr>
        <p:spPr>
          <a:xfrm>
            <a:off x="4471416" y="3200400"/>
            <a:ext cx="530352" cy="201168"/>
          </a:xfrm>
          <a:prstGeom prst="rect">
            <a:avLst/>
          </a:prstGeom>
          <a:noFill/>
          <a:ln/>
        </p:spPr>
        <p:txBody>
          <a:bodyPr wrap="square" lIns="0" tIns="0" rIns="0" bIns="0" rtlCol="0" anchor="ctr"/>
          <a:lstStyle/>
          <a:p>
            <a:pPr marL="0" indent="0" algn="ctr">
              <a:buNone/>
            </a:pPr>
            <a:r>
              <a:rPr lang="en-US" sz="950" dirty="0">
                <a:solidFill>
                  <a:srgbClr val="9A9A9A"/>
                </a:solidFill>
                <a:latin typeface="맑은 고딕" pitchFamily="34" charset="0"/>
                <a:ea typeface="맑은 고딕" pitchFamily="34" charset="-122"/>
                <a:cs typeface="맑은 고딕" pitchFamily="34" charset="-120"/>
              </a:rPr>
              <a:t>0.6초</a:t>
            </a:r>
            <a:endParaRPr lang="en-US" sz="950" dirty="0"/>
          </a:p>
        </p:txBody>
      </p:sp>
      <p:sp>
        <p:nvSpPr>
          <p:cNvPr id="809" name="Text 809"/>
          <p:cNvSpPr txBox="1"/>
          <p:nvPr/>
        </p:nvSpPr>
        <p:spPr>
          <a:xfrm>
            <a:off x="731520" y="3456432"/>
            <a:ext cx="566928" cy="329184"/>
          </a:xfrm>
          <a:prstGeom prst="rect">
            <a:avLst/>
          </a:prstGeom>
          <a:noFill/>
          <a:ln/>
        </p:spPr>
        <p:txBody>
          <a:bodyPr wrap="square" lIns="0" tIns="0" rIns="0" bIns="0" rtlCol="0" anchor="ctr"/>
          <a:lstStyle/>
          <a:p>
            <a:pPr marL="0" indent="0" algn="r">
              <a:buNone/>
            </a:pPr>
            <a:r>
              <a:rPr lang="en-US" sz="1100" b="1" dirty="0">
                <a:solidFill>
                  <a:srgbClr val="262626"/>
                </a:solidFill>
                <a:latin typeface="맑은 고딕" pitchFamily="34" charset="0"/>
                <a:ea typeface="맑은 고딕" pitchFamily="34" charset="-122"/>
                <a:cs typeface="맑은 고딕" pitchFamily="34" charset="-120"/>
              </a:rPr>
              <a:t>v0</a:t>
            </a:r>
            <a:endParaRPr lang="en-US" sz="1100" dirty="0"/>
          </a:p>
        </p:txBody>
      </p:sp>
      <p:sp>
        <p:nvSpPr>
          <p:cNvPr id="810" name="Shape 810"/>
          <p:cNvSpPr/>
          <p:nvPr/>
        </p:nvSpPr>
        <p:spPr>
          <a:xfrm>
            <a:off x="1371600" y="3456432"/>
            <a:ext cx="475488" cy="329184"/>
          </a:xfrm>
          <a:prstGeom prst="rect">
            <a:avLst/>
          </a:prstGeom>
          <a:solidFill>
            <a:srgbClr val="F2F7FB"/>
          </a:solidFill>
          <a:ln w="9525">
            <a:solidFill>
              <a:srgbClr val="7F9DB9"/>
            </a:solidFill>
            <a:prstDash val="solid"/>
          </a:ln>
        </p:spPr>
        <p:txBody>
          <a:bodyPr/>
          <a:lstStyle/>
          <a:p>
            <a:endParaRPr lang="ko-KR" altLang="en-US"/>
          </a:p>
        </p:txBody>
      </p:sp>
      <p:sp>
        <p:nvSpPr>
          <p:cNvPr id="811" name="Text 811"/>
          <p:cNvSpPr txBox="1"/>
          <p:nvPr/>
        </p:nvSpPr>
        <p:spPr>
          <a:xfrm>
            <a:off x="1371600" y="345643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v0</a:t>
            </a:r>
            <a:endParaRPr lang="en-US" sz="950" dirty="0"/>
          </a:p>
        </p:txBody>
      </p:sp>
      <p:sp>
        <p:nvSpPr>
          <p:cNvPr id="812" name="Shape 812"/>
          <p:cNvSpPr/>
          <p:nvPr/>
        </p:nvSpPr>
        <p:spPr>
          <a:xfrm>
            <a:off x="1892808" y="3456432"/>
            <a:ext cx="475488" cy="329184"/>
          </a:xfrm>
          <a:prstGeom prst="rect">
            <a:avLst/>
          </a:prstGeom>
          <a:solidFill>
            <a:srgbClr val="D9E7F4"/>
          </a:solidFill>
          <a:ln w="9525">
            <a:solidFill>
              <a:srgbClr val="7F9DB9"/>
            </a:solidFill>
            <a:prstDash val="solid"/>
          </a:ln>
        </p:spPr>
        <p:txBody>
          <a:bodyPr/>
          <a:lstStyle/>
          <a:p>
            <a:endParaRPr lang="ko-KR" altLang="en-US"/>
          </a:p>
        </p:txBody>
      </p:sp>
      <p:sp>
        <p:nvSpPr>
          <p:cNvPr id="813" name="Text 813"/>
          <p:cNvSpPr txBox="1"/>
          <p:nvPr/>
        </p:nvSpPr>
        <p:spPr>
          <a:xfrm>
            <a:off x="1892808" y="345643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v0</a:t>
            </a:r>
            <a:endParaRPr lang="en-US" sz="950" dirty="0"/>
          </a:p>
        </p:txBody>
      </p:sp>
      <p:sp>
        <p:nvSpPr>
          <p:cNvPr id="814" name="Shape 814"/>
          <p:cNvSpPr/>
          <p:nvPr/>
        </p:nvSpPr>
        <p:spPr>
          <a:xfrm>
            <a:off x="2414016" y="3456432"/>
            <a:ext cx="475488" cy="329184"/>
          </a:xfrm>
          <a:prstGeom prst="rect">
            <a:avLst/>
          </a:prstGeom>
          <a:solidFill>
            <a:srgbClr val="B4D0EA"/>
          </a:solidFill>
          <a:ln w="9525">
            <a:solidFill>
              <a:srgbClr val="7F9DB9"/>
            </a:solidFill>
            <a:prstDash val="solid"/>
          </a:ln>
        </p:spPr>
        <p:txBody>
          <a:bodyPr/>
          <a:lstStyle/>
          <a:p>
            <a:endParaRPr lang="ko-KR" altLang="en-US"/>
          </a:p>
        </p:txBody>
      </p:sp>
      <p:sp>
        <p:nvSpPr>
          <p:cNvPr id="815" name="Text 815"/>
          <p:cNvSpPr txBox="1"/>
          <p:nvPr/>
        </p:nvSpPr>
        <p:spPr>
          <a:xfrm>
            <a:off x="2414016" y="345643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v0</a:t>
            </a:r>
            <a:endParaRPr lang="en-US" sz="950" dirty="0"/>
          </a:p>
        </p:txBody>
      </p:sp>
      <p:sp>
        <p:nvSpPr>
          <p:cNvPr id="816" name="Shape 816"/>
          <p:cNvSpPr/>
          <p:nvPr/>
        </p:nvSpPr>
        <p:spPr>
          <a:xfrm>
            <a:off x="2935224" y="3456432"/>
            <a:ext cx="475488" cy="329184"/>
          </a:xfrm>
          <a:prstGeom prst="rect">
            <a:avLst/>
          </a:prstGeom>
          <a:solidFill>
            <a:srgbClr val="86B1DD"/>
          </a:solidFill>
          <a:ln w="9525">
            <a:solidFill>
              <a:srgbClr val="7F9DB9"/>
            </a:solidFill>
            <a:prstDash val="solid"/>
          </a:ln>
        </p:spPr>
        <p:txBody>
          <a:bodyPr/>
          <a:lstStyle/>
          <a:p>
            <a:endParaRPr lang="ko-KR" altLang="en-US"/>
          </a:p>
        </p:txBody>
      </p:sp>
      <p:sp>
        <p:nvSpPr>
          <p:cNvPr id="817" name="Text 817"/>
          <p:cNvSpPr txBox="1"/>
          <p:nvPr/>
        </p:nvSpPr>
        <p:spPr>
          <a:xfrm>
            <a:off x="2935224" y="345643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v0</a:t>
            </a:r>
            <a:endParaRPr lang="en-US" sz="950" dirty="0"/>
          </a:p>
        </p:txBody>
      </p:sp>
      <p:sp>
        <p:nvSpPr>
          <p:cNvPr id="818" name="Shape 818"/>
          <p:cNvSpPr/>
          <p:nvPr/>
        </p:nvSpPr>
        <p:spPr>
          <a:xfrm>
            <a:off x="3456432" y="3456432"/>
            <a:ext cx="475488" cy="329184"/>
          </a:xfrm>
          <a:prstGeom prst="rect">
            <a:avLst/>
          </a:prstGeom>
          <a:solidFill>
            <a:srgbClr val="4F8CC9"/>
          </a:solidFill>
          <a:ln w="9525">
            <a:solidFill>
              <a:srgbClr val="7F9DB9"/>
            </a:solidFill>
            <a:prstDash val="solid"/>
          </a:ln>
        </p:spPr>
        <p:txBody>
          <a:bodyPr/>
          <a:lstStyle/>
          <a:p>
            <a:endParaRPr lang="ko-KR" altLang="en-US"/>
          </a:p>
        </p:txBody>
      </p:sp>
      <p:sp>
        <p:nvSpPr>
          <p:cNvPr id="819" name="Text 819"/>
          <p:cNvSpPr txBox="1"/>
          <p:nvPr/>
        </p:nvSpPr>
        <p:spPr>
          <a:xfrm>
            <a:off x="3456432" y="345643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v0</a:t>
            </a:r>
            <a:endParaRPr lang="en-US" sz="950" dirty="0"/>
          </a:p>
        </p:txBody>
      </p:sp>
      <p:sp>
        <p:nvSpPr>
          <p:cNvPr id="820" name="Shape 820"/>
          <p:cNvSpPr/>
          <p:nvPr/>
        </p:nvSpPr>
        <p:spPr>
          <a:xfrm>
            <a:off x="3977640" y="3456432"/>
            <a:ext cx="475488" cy="329184"/>
          </a:xfrm>
          <a:prstGeom prst="rect">
            <a:avLst/>
          </a:prstGeom>
          <a:solidFill>
            <a:srgbClr val="1F5A99"/>
          </a:solidFill>
          <a:ln w="9525">
            <a:solidFill>
              <a:srgbClr val="7F9DB9"/>
            </a:solidFill>
            <a:prstDash val="solid"/>
          </a:ln>
        </p:spPr>
        <p:txBody>
          <a:bodyPr/>
          <a:lstStyle/>
          <a:p>
            <a:endParaRPr lang="ko-KR" altLang="en-US"/>
          </a:p>
        </p:txBody>
      </p:sp>
      <p:sp>
        <p:nvSpPr>
          <p:cNvPr id="821" name="Text 821"/>
          <p:cNvSpPr txBox="1"/>
          <p:nvPr/>
        </p:nvSpPr>
        <p:spPr>
          <a:xfrm>
            <a:off x="3977640" y="345643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v0</a:t>
            </a:r>
            <a:endParaRPr lang="en-US" sz="950" dirty="0"/>
          </a:p>
        </p:txBody>
      </p:sp>
      <p:sp>
        <p:nvSpPr>
          <p:cNvPr id="822" name="Shape 822"/>
          <p:cNvSpPr/>
          <p:nvPr/>
        </p:nvSpPr>
        <p:spPr>
          <a:xfrm>
            <a:off x="4498848" y="3456432"/>
            <a:ext cx="475488" cy="329184"/>
          </a:xfrm>
          <a:prstGeom prst="rect">
            <a:avLst/>
          </a:prstGeom>
          <a:noFill/>
          <a:ln w="9525">
            <a:solidFill>
              <a:srgbClr val="A6A6A6"/>
            </a:solidFill>
            <a:prstDash val="dash"/>
          </a:ln>
        </p:spPr>
        <p:txBody>
          <a:bodyPr/>
          <a:lstStyle/>
          <a:p>
            <a:endParaRPr lang="ko-KR" altLang="en-US"/>
          </a:p>
        </p:txBody>
      </p:sp>
      <p:sp>
        <p:nvSpPr>
          <p:cNvPr id="823" name="Text 823"/>
          <p:cNvSpPr txBox="1"/>
          <p:nvPr/>
        </p:nvSpPr>
        <p:spPr>
          <a:xfrm>
            <a:off x="731520" y="3822192"/>
            <a:ext cx="566928" cy="329184"/>
          </a:xfrm>
          <a:prstGeom prst="rect">
            <a:avLst/>
          </a:prstGeom>
          <a:noFill/>
          <a:ln/>
        </p:spPr>
        <p:txBody>
          <a:bodyPr wrap="square" lIns="0" tIns="0" rIns="0" bIns="0" rtlCol="0" anchor="ctr"/>
          <a:lstStyle/>
          <a:p>
            <a:pPr marL="0" indent="0" algn="r">
              <a:buNone/>
            </a:pPr>
            <a:r>
              <a:rPr lang="en-US" sz="1100" b="1" dirty="0">
                <a:solidFill>
                  <a:srgbClr val="262626"/>
                </a:solidFill>
                <a:latin typeface="맑은 고딕" pitchFamily="34" charset="0"/>
                <a:ea typeface="맑은 고딕" pitchFamily="34" charset="-122"/>
                <a:cs typeface="맑은 고딕" pitchFamily="34" charset="-120"/>
              </a:rPr>
              <a:t>v1</a:t>
            </a:r>
            <a:endParaRPr lang="en-US" sz="1100" dirty="0"/>
          </a:p>
        </p:txBody>
      </p:sp>
      <p:sp>
        <p:nvSpPr>
          <p:cNvPr id="824" name="Shape 824"/>
          <p:cNvSpPr/>
          <p:nvPr/>
        </p:nvSpPr>
        <p:spPr>
          <a:xfrm>
            <a:off x="1371600" y="3822192"/>
            <a:ext cx="475488" cy="329184"/>
          </a:xfrm>
          <a:prstGeom prst="rect">
            <a:avLst/>
          </a:prstGeom>
          <a:solidFill>
            <a:srgbClr val="F2F7FB"/>
          </a:solidFill>
          <a:ln w="9525">
            <a:solidFill>
              <a:srgbClr val="7F9DB9"/>
            </a:solidFill>
            <a:prstDash val="solid"/>
          </a:ln>
        </p:spPr>
        <p:txBody>
          <a:bodyPr/>
          <a:lstStyle/>
          <a:p>
            <a:endParaRPr lang="ko-KR" altLang="en-US"/>
          </a:p>
        </p:txBody>
      </p:sp>
      <p:sp>
        <p:nvSpPr>
          <p:cNvPr id="825" name="Text 825"/>
          <p:cNvSpPr txBox="1"/>
          <p:nvPr/>
        </p:nvSpPr>
        <p:spPr>
          <a:xfrm>
            <a:off x="1371600" y="382219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v1</a:t>
            </a:r>
            <a:endParaRPr lang="en-US" sz="950" dirty="0"/>
          </a:p>
        </p:txBody>
      </p:sp>
      <p:sp>
        <p:nvSpPr>
          <p:cNvPr id="826" name="Shape 826"/>
          <p:cNvSpPr/>
          <p:nvPr/>
        </p:nvSpPr>
        <p:spPr>
          <a:xfrm>
            <a:off x="1892808" y="3822192"/>
            <a:ext cx="475488" cy="329184"/>
          </a:xfrm>
          <a:prstGeom prst="rect">
            <a:avLst/>
          </a:prstGeom>
          <a:solidFill>
            <a:srgbClr val="D9E7F4"/>
          </a:solidFill>
          <a:ln w="9525">
            <a:solidFill>
              <a:srgbClr val="7F9DB9"/>
            </a:solidFill>
            <a:prstDash val="solid"/>
          </a:ln>
        </p:spPr>
        <p:txBody>
          <a:bodyPr/>
          <a:lstStyle/>
          <a:p>
            <a:endParaRPr lang="ko-KR" altLang="en-US"/>
          </a:p>
        </p:txBody>
      </p:sp>
      <p:sp>
        <p:nvSpPr>
          <p:cNvPr id="827" name="Text 827"/>
          <p:cNvSpPr txBox="1"/>
          <p:nvPr/>
        </p:nvSpPr>
        <p:spPr>
          <a:xfrm>
            <a:off x="1892808" y="382219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v1</a:t>
            </a:r>
            <a:endParaRPr lang="en-US" sz="950" dirty="0"/>
          </a:p>
        </p:txBody>
      </p:sp>
      <p:sp>
        <p:nvSpPr>
          <p:cNvPr id="828" name="Shape 828"/>
          <p:cNvSpPr/>
          <p:nvPr/>
        </p:nvSpPr>
        <p:spPr>
          <a:xfrm>
            <a:off x="2414016" y="3822192"/>
            <a:ext cx="475488" cy="329184"/>
          </a:xfrm>
          <a:prstGeom prst="rect">
            <a:avLst/>
          </a:prstGeom>
          <a:solidFill>
            <a:srgbClr val="B4D0EA"/>
          </a:solidFill>
          <a:ln w="9525">
            <a:solidFill>
              <a:srgbClr val="7F9DB9"/>
            </a:solidFill>
            <a:prstDash val="solid"/>
          </a:ln>
        </p:spPr>
        <p:txBody>
          <a:bodyPr/>
          <a:lstStyle/>
          <a:p>
            <a:endParaRPr lang="ko-KR" altLang="en-US"/>
          </a:p>
        </p:txBody>
      </p:sp>
      <p:sp>
        <p:nvSpPr>
          <p:cNvPr id="829" name="Text 829"/>
          <p:cNvSpPr txBox="1"/>
          <p:nvPr/>
        </p:nvSpPr>
        <p:spPr>
          <a:xfrm>
            <a:off x="2414016" y="382219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v1</a:t>
            </a:r>
            <a:endParaRPr lang="en-US" sz="950" dirty="0"/>
          </a:p>
        </p:txBody>
      </p:sp>
      <p:sp>
        <p:nvSpPr>
          <p:cNvPr id="830" name="Shape 830"/>
          <p:cNvSpPr/>
          <p:nvPr/>
        </p:nvSpPr>
        <p:spPr>
          <a:xfrm>
            <a:off x="2935224" y="3822192"/>
            <a:ext cx="475488" cy="329184"/>
          </a:xfrm>
          <a:prstGeom prst="rect">
            <a:avLst/>
          </a:prstGeom>
          <a:solidFill>
            <a:srgbClr val="86B1DD"/>
          </a:solidFill>
          <a:ln w="9525">
            <a:solidFill>
              <a:srgbClr val="7F9DB9"/>
            </a:solidFill>
            <a:prstDash val="solid"/>
          </a:ln>
        </p:spPr>
        <p:txBody>
          <a:bodyPr/>
          <a:lstStyle/>
          <a:p>
            <a:endParaRPr lang="ko-KR" altLang="en-US"/>
          </a:p>
        </p:txBody>
      </p:sp>
      <p:sp>
        <p:nvSpPr>
          <p:cNvPr id="831" name="Text 831"/>
          <p:cNvSpPr txBox="1"/>
          <p:nvPr/>
        </p:nvSpPr>
        <p:spPr>
          <a:xfrm>
            <a:off x="2935224" y="382219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v1</a:t>
            </a:r>
            <a:endParaRPr lang="en-US" sz="950" dirty="0"/>
          </a:p>
        </p:txBody>
      </p:sp>
      <p:sp>
        <p:nvSpPr>
          <p:cNvPr id="832" name="Shape 832"/>
          <p:cNvSpPr/>
          <p:nvPr/>
        </p:nvSpPr>
        <p:spPr>
          <a:xfrm>
            <a:off x="3456432" y="3822192"/>
            <a:ext cx="475488" cy="329184"/>
          </a:xfrm>
          <a:prstGeom prst="rect">
            <a:avLst/>
          </a:prstGeom>
          <a:solidFill>
            <a:srgbClr val="4F8CC9"/>
          </a:solidFill>
          <a:ln w="9525">
            <a:solidFill>
              <a:srgbClr val="7F9DB9"/>
            </a:solidFill>
            <a:prstDash val="solid"/>
          </a:ln>
        </p:spPr>
        <p:txBody>
          <a:bodyPr/>
          <a:lstStyle/>
          <a:p>
            <a:endParaRPr lang="ko-KR" altLang="en-US"/>
          </a:p>
        </p:txBody>
      </p:sp>
      <p:sp>
        <p:nvSpPr>
          <p:cNvPr id="833" name="Text 833"/>
          <p:cNvSpPr txBox="1"/>
          <p:nvPr/>
        </p:nvSpPr>
        <p:spPr>
          <a:xfrm>
            <a:off x="3456432" y="382219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v1</a:t>
            </a:r>
            <a:endParaRPr lang="en-US" sz="950" dirty="0"/>
          </a:p>
        </p:txBody>
      </p:sp>
      <p:sp>
        <p:nvSpPr>
          <p:cNvPr id="834" name="Shape 834"/>
          <p:cNvSpPr/>
          <p:nvPr/>
        </p:nvSpPr>
        <p:spPr>
          <a:xfrm>
            <a:off x="3977640" y="3822192"/>
            <a:ext cx="475488" cy="329184"/>
          </a:xfrm>
          <a:prstGeom prst="rect">
            <a:avLst/>
          </a:prstGeom>
          <a:solidFill>
            <a:srgbClr val="1F5A99"/>
          </a:solidFill>
          <a:ln w="9525">
            <a:solidFill>
              <a:srgbClr val="7F9DB9"/>
            </a:solidFill>
            <a:prstDash val="solid"/>
          </a:ln>
        </p:spPr>
        <p:txBody>
          <a:bodyPr/>
          <a:lstStyle/>
          <a:p>
            <a:endParaRPr lang="ko-KR" altLang="en-US"/>
          </a:p>
        </p:txBody>
      </p:sp>
      <p:sp>
        <p:nvSpPr>
          <p:cNvPr id="835" name="Text 835"/>
          <p:cNvSpPr txBox="1"/>
          <p:nvPr/>
        </p:nvSpPr>
        <p:spPr>
          <a:xfrm>
            <a:off x="3977640" y="382219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v1</a:t>
            </a:r>
            <a:endParaRPr lang="en-US" sz="950" dirty="0"/>
          </a:p>
        </p:txBody>
      </p:sp>
      <p:sp>
        <p:nvSpPr>
          <p:cNvPr id="836" name="Shape 836"/>
          <p:cNvSpPr/>
          <p:nvPr/>
        </p:nvSpPr>
        <p:spPr>
          <a:xfrm>
            <a:off x="4498848" y="3822192"/>
            <a:ext cx="475488" cy="329184"/>
          </a:xfrm>
          <a:prstGeom prst="rect">
            <a:avLst/>
          </a:prstGeom>
          <a:noFill/>
          <a:ln w="9525">
            <a:solidFill>
              <a:srgbClr val="A6A6A6"/>
            </a:solidFill>
            <a:prstDash val="dash"/>
          </a:ln>
        </p:spPr>
        <p:txBody>
          <a:bodyPr/>
          <a:lstStyle/>
          <a:p>
            <a:endParaRPr lang="ko-KR" altLang="en-US"/>
          </a:p>
        </p:txBody>
      </p:sp>
      <p:sp>
        <p:nvSpPr>
          <p:cNvPr id="837" name="Text 837"/>
          <p:cNvSpPr txBox="1"/>
          <p:nvPr/>
        </p:nvSpPr>
        <p:spPr>
          <a:xfrm>
            <a:off x="731520" y="4187952"/>
            <a:ext cx="566928" cy="329184"/>
          </a:xfrm>
          <a:prstGeom prst="rect">
            <a:avLst/>
          </a:prstGeom>
          <a:noFill/>
          <a:ln/>
        </p:spPr>
        <p:txBody>
          <a:bodyPr wrap="square" lIns="0" tIns="0" rIns="0" bIns="0" rtlCol="0" anchor="ctr"/>
          <a:lstStyle/>
          <a:p>
            <a:pPr marL="0" indent="0" algn="r">
              <a:buNone/>
            </a:pPr>
            <a:r>
              <a:rPr lang="en-US" sz="1100" b="1" dirty="0">
                <a:solidFill>
                  <a:srgbClr val="262626"/>
                </a:solidFill>
                <a:latin typeface="맑은 고딕" pitchFamily="34" charset="0"/>
                <a:ea typeface="맑은 고딕" pitchFamily="34" charset="-122"/>
                <a:cs typeface="맑은 고딕" pitchFamily="34" charset="-120"/>
              </a:rPr>
              <a:t>c</a:t>
            </a:r>
            <a:endParaRPr lang="en-US" sz="1100" dirty="0"/>
          </a:p>
        </p:txBody>
      </p:sp>
      <p:sp>
        <p:nvSpPr>
          <p:cNvPr id="838" name="Shape 838"/>
          <p:cNvSpPr/>
          <p:nvPr/>
        </p:nvSpPr>
        <p:spPr>
          <a:xfrm>
            <a:off x="1371600" y="4187952"/>
            <a:ext cx="475488" cy="329184"/>
          </a:xfrm>
          <a:prstGeom prst="rect">
            <a:avLst/>
          </a:prstGeom>
          <a:solidFill>
            <a:srgbClr val="F2F7FB"/>
          </a:solidFill>
          <a:ln w="9525">
            <a:solidFill>
              <a:srgbClr val="7F9DB9"/>
            </a:solidFill>
            <a:prstDash val="solid"/>
          </a:ln>
        </p:spPr>
        <p:txBody>
          <a:bodyPr/>
          <a:lstStyle/>
          <a:p>
            <a:endParaRPr lang="ko-KR" altLang="en-US"/>
          </a:p>
        </p:txBody>
      </p:sp>
      <p:sp>
        <p:nvSpPr>
          <p:cNvPr id="839" name="Text 839"/>
          <p:cNvSpPr txBox="1"/>
          <p:nvPr/>
        </p:nvSpPr>
        <p:spPr>
          <a:xfrm>
            <a:off x="1371600" y="418795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c</a:t>
            </a:r>
            <a:endParaRPr lang="en-US" sz="950" dirty="0"/>
          </a:p>
        </p:txBody>
      </p:sp>
      <p:sp>
        <p:nvSpPr>
          <p:cNvPr id="840" name="Shape 840"/>
          <p:cNvSpPr/>
          <p:nvPr/>
        </p:nvSpPr>
        <p:spPr>
          <a:xfrm>
            <a:off x="1892808" y="4187952"/>
            <a:ext cx="475488" cy="329184"/>
          </a:xfrm>
          <a:prstGeom prst="rect">
            <a:avLst/>
          </a:prstGeom>
          <a:solidFill>
            <a:srgbClr val="D9E7F4"/>
          </a:solidFill>
          <a:ln w="9525">
            <a:solidFill>
              <a:srgbClr val="7F9DB9"/>
            </a:solidFill>
            <a:prstDash val="solid"/>
          </a:ln>
        </p:spPr>
        <p:txBody>
          <a:bodyPr/>
          <a:lstStyle/>
          <a:p>
            <a:endParaRPr lang="ko-KR" altLang="en-US"/>
          </a:p>
        </p:txBody>
      </p:sp>
      <p:sp>
        <p:nvSpPr>
          <p:cNvPr id="841" name="Text 841"/>
          <p:cNvSpPr txBox="1"/>
          <p:nvPr/>
        </p:nvSpPr>
        <p:spPr>
          <a:xfrm>
            <a:off x="1892808" y="418795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c</a:t>
            </a:r>
            <a:endParaRPr lang="en-US" sz="950" dirty="0"/>
          </a:p>
        </p:txBody>
      </p:sp>
      <p:sp>
        <p:nvSpPr>
          <p:cNvPr id="842" name="Shape 842"/>
          <p:cNvSpPr/>
          <p:nvPr/>
        </p:nvSpPr>
        <p:spPr>
          <a:xfrm>
            <a:off x="2414016" y="4187952"/>
            <a:ext cx="475488" cy="329184"/>
          </a:xfrm>
          <a:prstGeom prst="rect">
            <a:avLst/>
          </a:prstGeom>
          <a:solidFill>
            <a:srgbClr val="B4D0EA"/>
          </a:solidFill>
          <a:ln w="9525">
            <a:solidFill>
              <a:srgbClr val="7F9DB9"/>
            </a:solidFill>
            <a:prstDash val="solid"/>
          </a:ln>
        </p:spPr>
        <p:txBody>
          <a:bodyPr/>
          <a:lstStyle/>
          <a:p>
            <a:endParaRPr lang="ko-KR" altLang="en-US"/>
          </a:p>
        </p:txBody>
      </p:sp>
      <p:sp>
        <p:nvSpPr>
          <p:cNvPr id="843" name="Text 843"/>
          <p:cNvSpPr txBox="1"/>
          <p:nvPr/>
        </p:nvSpPr>
        <p:spPr>
          <a:xfrm>
            <a:off x="2414016" y="418795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c</a:t>
            </a:r>
            <a:endParaRPr lang="en-US" sz="950" dirty="0"/>
          </a:p>
        </p:txBody>
      </p:sp>
      <p:sp>
        <p:nvSpPr>
          <p:cNvPr id="844" name="Shape 844"/>
          <p:cNvSpPr/>
          <p:nvPr/>
        </p:nvSpPr>
        <p:spPr>
          <a:xfrm>
            <a:off x="2935224" y="4187952"/>
            <a:ext cx="475488" cy="329184"/>
          </a:xfrm>
          <a:prstGeom prst="rect">
            <a:avLst/>
          </a:prstGeom>
          <a:solidFill>
            <a:srgbClr val="86B1DD"/>
          </a:solidFill>
          <a:ln w="9525">
            <a:solidFill>
              <a:srgbClr val="7F9DB9"/>
            </a:solidFill>
            <a:prstDash val="solid"/>
          </a:ln>
        </p:spPr>
        <p:txBody>
          <a:bodyPr/>
          <a:lstStyle/>
          <a:p>
            <a:endParaRPr lang="ko-KR" altLang="en-US"/>
          </a:p>
        </p:txBody>
      </p:sp>
      <p:sp>
        <p:nvSpPr>
          <p:cNvPr id="845" name="Text 845"/>
          <p:cNvSpPr txBox="1"/>
          <p:nvPr/>
        </p:nvSpPr>
        <p:spPr>
          <a:xfrm>
            <a:off x="2935224" y="4187952"/>
            <a:ext cx="475488" cy="329184"/>
          </a:xfrm>
          <a:prstGeom prst="rect">
            <a:avLst/>
          </a:prstGeom>
          <a:noFill/>
          <a:ln/>
        </p:spPr>
        <p:txBody>
          <a:bodyPr wrap="square" lIns="0" tIns="0" rIns="0" bIns="0" rtlCol="0" anchor="ctr"/>
          <a:lstStyle/>
          <a:p>
            <a:pPr marL="0" indent="0" algn="ctr">
              <a:buNone/>
            </a:pPr>
            <a:r>
              <a:rPr lang="en-US" sz="950" dirty="0">
                <a:solidFill>
                  <a:srgbClr val="262626"/>
                </a:solidFill>
                <a:latin typeface="맑은 고딕" pitchFamily="34" charset="0"/>
                <a:ea typeface="맑은 고딕" pitchFamily="34" charset="-122"/>
                <a:cs typeface="맑은 고딕" pitchFamily="34" charset="-120"/>
              </a:rPr>
              <a:t>c</a:t>
            </a:r>
            <a:endParaRPr lang="en-US" sz="950" dirty="0"/>
          </a:p>
        </p:txBody>
      </p:sp>
      <p:sp>
        <p:nvSpPr>
          <p:cNvPr id="846" name="Shape 846"/>
          <p:cNvSpPr/>
          <p:nvPr/>
        </p:nvSpPr>
        <p:spPr>
          <a:xfrm>
            <a:off x="3456432" y="4187952"/>
            <a:ext cx="475488" cy="329184"/>
          </a:xfrm>
          <a:prstGeom prst="rect">
            <a:avLst/>
          </a:prstGeom>
          <a:solidFill>
            <a:srgbClr val="4F8CC9"/>
          </a:solidFill>
          <a:ln w="9525">
            <a:solidFill>
              <a:srgbClr val="7F9DB9"/>
            </a:solidFill>
            <a:prstDash val="solid"/>
          </a:ln>
        </p:spPr>
        <p:txBody>
          <a:bodyPr/>
          <a:lstStyle/>
          <a:p>
            <a:endParaRPr lang="ko-KR" altLang="en-US"/>
          </a:p>
        </p:txBody>
      </p:sp>
      <p:sp>
        <p:nvSpPr>
          <p:cNvPr id="847" name="Text 847"/>
          <p:cNvSpPr txBox="1"/>
          <p:nvPr/>
        </p:nvSpPr>
        <p:spPr>
          <a:xfrm>
            <a:off x="3456432" y="418795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c</a:t>
            </a:r>
            <a:endParaRPr lang="en-US" sz="950" dirty="0"/>
          </a:p>
        </p:txBody>
      </p:sp>
      <p:sp>
        <p:nvSpPr>
          <p:cNvPr id="848" name="Shape 848"/>
          <p:cNvSpPr/>
          <p:nvPr/>
        </p:nvSpPr>
        <p:spPr>
          <a:xfrm>
            <a:off x="3977640" y="4187952"/>
            <a:ext cx="475488" cy="329184"/>
          </a:xfrm>
          <a:prstGeom prst="rect">
            <a:avLst/>
          </a:prstGeom>
          <a:solidFill>
            <a:srgbClr val="1F5A99"/>
          </a:solidFill>
          <a:ln w="9525">
            <a:solidFill>
              <a:srgbClr val="7F9DB9"/>
            </a:solidFill>
            <a:prstDash val="solid"/>
          </a:ln>
        </p:spPr>
        <p:txBody>
          <a:bodyPr/>
          <a:lstStyle/>
          <a:p>
            <a:endParaRPr lang="ko-KR" altLang="en-US"/>
          </a:p>
        </p:txBody>
      </p:sp>
      <p:sp>
        <p:nvSpPr>
          <p:cNvPr id="849" name="Text 849"/>
          <p:cNvSpPr txBox="1"/>
          <p:nvPr/>
        </p:nvSpPr>
        <p:spPr>
          <a:xfrm>
            <a:off x="3977640" y="4187952"/>
            <a:ext cx="475488" cy="329184"/>
          </a:xfrm>
          <a:prstGeom prst="rect">
            <a:avLst/>
          </a:prstGeom>
          <a:noFill/>
          <a:ln/>
        </p:spPr>
        <p:txBody>
          <a:bodyPr wrap="square" lIns="0" tIns="0" rIns="0" bIns="0" rtlCol="0" anchor="ctr"/>
          <a:lstStyle/>
          <a:p>
            <a:pPr marL="0" indent="0" algn="ctr">
              <a:buNone/>
            </a:pPr>
            <a:r>
              <a:rPr lang="en-US" sz="950" dirty="0">
                <a:solidFill>
                  <a:srgbClr val="FFFFFF"/>
                </a:solidFill>
                <a:latin typeface="맑은 고딕" pitchFamily="34" charset="0"/>
                <a:ea typeface="맑은 고딕" pitchFamily="34" charset="-122"/>
                <a:cs typeface="맑은 고딕" pitchFamily="34" charset="-120"/>
              </a:rPr>
              <a:t>c</a:t>
            </a:r>
            <a:endParaRPr lang="en-US" sz="950" dirty="0"/>
          </a:p>
        </p:txBody>
      </p:sp>
      <p:sp>
        <p:nvSpPr>
          <p:cNvPr id="850" name="Shape 850"/>
          <p:cNvSpPr/>
          <p:nvPr/>
        </p:nvSpPr>
        <p:spPr>
          <a:xfrm>
            <a:off x="4498848" y="4187952"/>
            <a:ext cx="475488" cy="329184"/>
          </a:xfrm>
          <a:prstGeom prst="rect">
            <a:avLst/>
          </a:prstGeom>
          <a:noFill/>
          <a:ln w="9525">
            <a:solidFill>
              <a:srgbClr val="A6A6A6"/>
            </a:solidFill>
            <a:prstDash val="dash"/>
          </a:ln>
        </p:spPr>
        <p:txBody>
          <a:bodyPr/>
          <a:lstStyle/>
          <a:p>
            <a:endParaRPr lang="ko-KR" altLang="en-US"/>
          </a:p>
        </p:txBody>
      </p:sp>
      <p:sp>
        <p:nvSpPr>
          <p:cNvPr id="851" name="Text 851"/>
          <p:cNvSpPr txBox="1"/>
          <p:nvPr/>
        </p:nvSpPr>
        <p:spPr>
          <a:xfrm>
            <a:off x="4498848" y="4553712"/>
            <a:ext cx="475488" cy="182880"/>
          </a:xfrm>
          <a:prstGeom prst="rect">
            <a:avLst/>
          </a:prstGeom>
          <a:noFill/>
          <a:ln/>
        </p:spPr>
        <p:txBody>
          <a:bodyPr wrap="square" lIns="0" tIns="0" rIns="0" bIns="0" rtlCol="0" anchor="ctr"/>
          <a:lstStyle/>
          <a:p>
            <a:pPr marL="0" indent="0" algn="ctr">
              <a:buNone/>
            </a:pPr>
            <a:r>
              <a:rPr lang="en-US" sz="950" dirty="0">
                <a:solidFill>
                  <a:srgbClr val="9A9A9A"/>
                </a:solidFill>
                <a:latin typeface="맑은 고딕" pitchFamily="34" charset="0"/>
                <a:ea typeface="맑은 고딕" pitchFamily="34" charset="-122"/>
                <a:cs typeface="맑은 고딕" pitchFamily="34" charset="-120"/>
              </a:rPr>
              <a:t>미래</a:t>
            </a:r>
            <a:endParaRPr lang="en-US" sz="950" dirty="0"/>
          </a:p>
        </p:txBody>
      </p:sp>
      <p:sp>
        <p:nvSpPr>
          <p:cNvPr id="852" name="Text 852"/>
          <p:cNvSpPr txBox="1"/>
          <p:nvPr/>
        </p:nvSpPr>
        <p:spPr>
          <a:xfrm>
            <a:off x="731520" y="4901184"/>
            <a:ext cx="566928" cy="256032"/>
          </a:xfrm>
          <a:prstGeom prst="rect">
            <a:avLst/>
          </a:prstGeom>
          <a:noFill/>
          <a:ln/>
        </p:spPr>
        <p:txBody>
          <a:bodyPr wrap="square" lIns="0" tIns="0" rIns="0" bIns="0" rtlCol="0" anchor="ctr"/>
          <a:lstStyle/>
          <a:p>
            <a:pPr marL="0" indent="0" algn="r">
              <a:buNone/>
            </a:pPr>
            <a:r>
              <a:rPr lang="en-US" sz="1100" b="1" dirty="0">
                <a:solidFill>
                  <a:srgbClr val="262626"/>
                </a:solidFill>
                <a:latin typeface="맑은 고딕" pitchFamily="34" charset="0"/>
                <a:ea typeface="맑은 고딕" pitchFamily="34" charset="-122"/>
                <a:cs typeface="맑은 고딕" pitchFamily="34" charset="-120"/>
              </a:rPr>
              <a:t>판단</a:t>
            </a:r>
            <a:endParaRPr lang="en-US" sz="1100" dirty="0"/>
          </a:p>
        </p:txBody>
      </p:sp>
      <p:sp>
        <p:nvSpPr>
          <p:cNvPr id="853" name="Text 853"/>
          <p:cNvSpPr txBox="1"/>
          <p:nvPr/>
        </p:nvSpPr>
        <p:spPr>
          <a:xfrm>
            <a:off x="1344168" y="4901184"/>
            <a:ext cx="530352" cy="256032"/>
          </a:xfrm>
          <a:prstGeom prst="rect">
            <a:avLst/>
          </a:prstGeom>
          <a:noFill/>
          <a:ln/>
        </p:spPr>
        <p:txBody>
          <a:bodyPr wrap="square" lIns="0" tIns="0" rIns="0" bIns="0" rtlCol="0" anchor="ctr"/>
          <a:lstStyle/>
          <a:p>
            <a:pPr marL="0" indent="0" algn="ctr">
              <a:buNone/>
            </a:pPr>
            <a:r>
              <a:rPr lang="en-US" sz="1000" dirty="0">
                <a:solidFill>
                  <a:srgbClr val="595959"/>
                </a:solidFill>
                <a:latin typeface="맑은 고딕" pitchFamily="34" charset="0"/>
                <a:ea typeface="맑은 고딕" pitchFamily="34" charset="-122"/>
                <a:cs typeface="맑은 고딕" pitchFamily="34" charset="-120"/>
              </a:rPr>
              <a:t>3차원</a:t>
            </a:r>
            <a:endParaRPr lang="en-US" sz="1000" dirty="0"/>
          </a:p>
        </p:txBody>
      </p:sp>
      <p:sp>
        <p:nvSpPr>
          <p:cNvPr id="854" name="Text 854"/>
          <p:cNvSpPr txBox="1"/>
          <p:nvPr/>
        </p:nvSpPr>
        <p:spPr>
          <a:xfrm>
            <a:off x="1865376" y="4901184"/>
            <a:ext cx="530352" cy="256032"/>
          </a:xfrm>
          <a:prstGeom prst="rect">
            <a:avLst/>
          </a:prstGeom>
          <a:noFill/>
          <a:ln/>
        </p:spPr>
        <p:txBody>
          <a:bodyPr wrap="square" lIns="0" tIns="0" rIns="0" bIns="0" rtlCol="0" anchor="ctr"/>
          <a:lstStyle/>
          <a:p>
            <a:pPr marL="0" indent="0" algn="ctr">
              <a:buNone/>
            </a:pPr>
            <a:r>
              <a:rPr lang="en-US" sz="1000" dirty="0">
                <a:solidFill>
                  <a:srgbClr val="595959"/>
                </a:solidFill>
                <a:latin typeface="맑은 고딕" pitchFamily="34" charset="0"/>
                <a:ea typeface="맑은 고딕" pitchFamily="34" charset="-122"/>
                <a:cs typeface="맑은 고딕" pitchFamily="34" charset="-120"/>
              </a:rPr>
              <a:t>6차원</a:t>
            </a:r>
            <a:endParaRPr lang="en-US" sz="1000" dirty="0"/>
          </a:p>
        </p:txBody>
      </p:sp>
      <p:sp>
        <p:nvSpPr>
          <p:cNvPr id="855" name="Text 855"/>
          <p:cNvSpPr txBox="1"/>
          <p:nvPr/>
        </p:nvSpPr>
        <p:spPr>
          <a:xfrm>
            <a:off x="2386584" y="4901184"/>
            <a:ext cx="530352" cy="256032"/>
          </a:xfrm>
          <a:prstGeom prst="rect">
            <a:avLst/>
          </a:prstGeom>
          <a:noFill/>
          <a:ln/>
        </p:spPr>
        <p:txBody>
          <a:bodyPr wrap="square" lIns="0" tIns="0" rIns="0" bIns="0" rtlCol="0" anchor="ctr"/>
          <a:lstStyle/>
          <a:p>
            <a:pPr marL="0" indent="0" algn="ctr">
              <a:buNone/>
            </a:pPr>
            <a:r>
              <a:rPr lang="en-US" sz="1000" dirty="0">
                <a:solidFill>
                  <a:srgbClr val="595959"/>
                </a:solidFill>
                <a:latin typeface="맑은 고딕" pitchFamily="34" charset="0"/>
                <a:ea typeface="맑은 고딕" pitchFamily="34" charset="-122"/>
                <a:cs typeface="맑은 고딕" pitchFamily="34" charset="-120"/>
              </a:rPr>
              <a:t>9차원</a:t>
            </a:r>
            <a:endParaRPr lang="en-US" sz="1000" dirty="0"/>
          </a:p>
        </p:txBody>
      </p:sp>
      <p:sp>
        <p:nvSpPr>
          <p:cNvPr id="856" name="Text 856"/>
          <p:cNvSpPr txBox="1"/>
          <p:nvPr/>
        </p:nvSpPr>
        <p:spPr>
          <a:xfrm>
            <a:off x="2907792" y="4901184"/>
            <a:ext cx="530352" cy="256032"/>
          </a:xfrm>
          <a:prstGeom prst="rect">
            <a:avLst/>
          </a:prstGeom>
          <a:noFill/>
          <a:ln/>
        </p:spPr>
        <p:txBody>
          <a:bodyPr wrap="square" lIns="0" tIns="0" rIns="0" bIns="0" rtlCol="0" anchor="ctr"/>
          <a:lstStyle/>
          <a:p>
            <a:pPr marL="0" indent="0" algn="ctr">
              <a:buNone/>
            </a:pPr>
            <a:r>
              <a:rPr lang="en-US" sz="1000" b="1" i="1" dirty="0">
                <a:solidFill>
                  <a:srgbClr val="262626"/>
                </a:solidFill>
                <a:latin typeface="Times New Roman" pitchFamily="34" charset="0"/>
                <a:ea typeface="Times New Roman" pitchFamily="34" charset="-122"/>
                <a:cs typeface="Times New Roman" pitchFamily="34" charset="-120"/>
              </a:rPr>
              <a:t>z</a:t>
            </a:r>
            <a:r>
              <a:rPr lang="en-US" sz="1000" b="1" i="1" baseline="-25000" dirty="0">
                <a:solidFill>
                  <a:srgbClr val="262626"/>
                </a:solidFill>
                <a:latin typeface="Times New Roman" pitchFamily="34" charset="0"/>
                <a:ea typeface="Times New Roman" pitchFamily="34" charset="-122"/>
                <a:cs typeface="Times New Roman" pitchFamily="34" charset="-120"/>
              </a:rPr>
              <a:t>0.3</a:t>
            </a:r>
            <a:endParaRPr lang="en-US" sz="1000" dirty="0"/>
          </a:p>
        </p:txBody>
      </p:sp>
      <p:sp>
        <p:nvSpPr>
          <p:cNvPr id="857" name="Text 857"/>
          <p:cNvSpPr txBox="1"/>
          <p:nvPr/>
        </p:nvSpPr>
        <p:spPr>
          <a:xfrm>
            <a:off x="3429000" y="4901184"/>
            <a:ext cx="530352" cy="256032"/>
          </a:xfrm>
          <a:prstGeom prst="rect">
            <a:avLst/>
          </a:prstGeom>
          <a:noFill/>
          <a:ln/>
        </p:spPr>
        <p:txBody>
          <a:bodyPr wrap="square" lIns="0" tIns="0" rIns="0" bIns="0" rtlCol="0" anchor="ctr"/>
          <a:lstStyle/>
          <a:p>
            <a:pPr marL="0" indent="0" algn="ctr">
              <a:buNone/>
            </a:pPr>
            <a:r>
              <a:rPr lang="en-US" sz="1000" b="1" i="1" dirty="0">
                <a:solidFill>
                  <a:srgbClr val="262626"/>
                </a:solidFill>
                <a:latin typeface="Times New Roman" pitchFamily="34" charset="0"/>
                <a:ea typeface="Times New Roman" pitchFamily="34" charset="-122"/>
                <a:cs typeface="Times New Roman" pitchFamily="34" charset="-120"/>
              </a:rPr>
              <a:t>z</a:t>
            </a:r>
            <a:r>
              <a:rPr lang="en-US" sz="1000" b="1" i="1" baseline="-25000" dirty="0">
                <a:solidFill>
                  <a:srgbClr val="262626"/>
                </a:solidFill>
                <a:latin typeface="Times New Roman" pitchFamily="34" charset="0"/>
                <a:ea typeface="Times New Roman" pitchFamily="34" charset="-122"/>
                <a:cs typeface="Times New Roman" pitchFamily="34" charset="-120"/>
              </a:rPr>
              <a:t>0.4</a:t>
            </a:r>
            <a:endParaRPr lang="en-US" sz="1000" dirty="0"/>
          </a:p>
        </p:txBody>
      </p:sp>
      <p:sp>
        <p:nvSpPr>
          <p:cNvPr id="858" name="Text 858"/>
          <p:cNvSpPr txBox="1"/>
          <p:nvPr/>
        </p:nvSpPr>
        <p:spPr>
          <a:xfrm>
            <a:off x="3950208" y="4901184"/>
            <a:ext cx="530352" cy="256032"/>
          </a:xfrm>
          <a:prstGeom prst="rect">
            <a:avLst/>
          </a:prstGeom>
          <a:noFill/>
          <a:ln/>
        </p:spPr>
        <p:txBody>
          <a:bodyPr wrap="square" lIns="0" tIns="0" rIns="0" bIns="0" rtlCol="0" anchor="ctr"/>
          <a:lstStyle/>
          <a:p>
            <a:pPr marL="0" indent="0" algn="ctr">
              <a:buNone/>
            </a:pPr>
            <a:r>
              <a:rPr lang="en-US" sz="1000" b="1" i="1" dirty="0">
                <a:solidFill>
                  <a:srgbClr val="C00000"/>
                </a:solidFill>
                <a:latin typeface="Times New Roman" pitchFamily="34" charset="0"/>
                <a:ea typeface="Times New Roman" pitchFamily="34" charset="-122"/>
                <a:cs typeface="Times New Roman" pitchFamily="34" charset="-120"/>
              </a:rPr>
              <a:t>z</a:t>
            </a:r>
            <a:r>
              <a:rPr lang="en-US" sz="1000" b="1" i="1" baseline="-25000" dirty="0">
                <a:solidFill>
                  <a:srgbClr val="C00000"/>
                </a:solidFill>
                <a:latin typeface="Times New Roman" pitchFamily="34" charset="0"/>
                <a:ea typeface="Times New Roman" pitchFamily="34" charset="-122"/>
                <a:cs typeface="Times New Roman" pitchFamily="34" charset="-120"/>
              </a:rPr>
              <a:t>0.5</a:t>
            </a:r>
            <a:endParaRPr lang="en-US" sz="1000" dirty="0"/>
          </a:p>
        </p:txBody>
      </p:sp>
      <p:sp>
        <p:nvSpPr>
          <p:cNvPr id="859" name="Text 859"/>
          <p:cNvSpPr txBox="1"/>
          <p:nvPr/>
        </p:nvSpPr>
        <p:spPr>
          <a:xfrm>
            <a:off x="1371600" y="5285232"/>
            <a:ext cx="3611880" cy="566928"/>
          </a:xfrm>
          <a:prstGeom prst="rect">
            <a:avLst/>
          </a:prstGeom>
          <a:noFill/>
          <a:ln/>
        </p:spPr>
        <p:txBody>
          <a:bodyPr wrap="square" lIns="0" tIns="0" rIns="0" bIns="0" rtlCol="0" anchor="t"/>
          <a:lstStyle/>
          <a:p>
            <a:pPr marL="0" indent="0" algn="l">
              <a:buNone/>
            </a:pPr>
            <a:r>
              <a:rPr lang="en-US" sz="950" dirty="0">
                <a:solidFill>
                  <a:srgbClr val="404040"/>
                </a:solidFill>
                <a:latin typeface="맑은 고딕" pitchFamily="34" charset="0"/>
                <a:ea typeface="맑은 고딕" pitchFamily="34" charset="-122"/>
                <a:cs typeface="맑은 고딕" pitchFamily="34" charset="-120"/>
              </a:rPr>
              <a:t>0.0~0.2초는 창이 덜 차서 관측된 값만으로 판정 (3·6·9차원) → 0.3초부터 12차원 창</a:t>
            </a:r>
            <a:endParaRPr lang="en-US" sz="950" dirty="0"/>
          </a:p>
        </p:txBody>
      </p:sp>
      <p:sp>
        <p:nvSpPr>
          <p:cNvPr id="860" name="Text 860"/>
          <p:cNvSpPr txBox="1"/>
          <p:nvPr/>
        </p:nvSpPr>
        <p:spPr>
          <a:xfrm>
            <a:off x="5623560" y="2898648"/>
            <a:ext cx="777240" cy="274320"/>
          </a:xfrm>
          <a:prstGeom prst="rect">
            <a:avLst/>
          </a:prstGeom>
          <a:noFill/>
          <a:ln/>
        </p:spPr>
        <p:txBody>
          <a:bodyPr wrap="square" lIns="0" tIns="0" rIns="0" bIns="0" rtlCol="0" anchor="ctr"/>
          <a:lstStyle/>
          <a:p>
            <a:pPr marL="0" indent="0" algn="ctr">
              <a:buNone/>
            </a:pPr>
            <a:r>
              <a:rPr lang="en-US" sz="1200" b="1" i="1" dirty="0">
                <a:solidFill>
                  <a:srgbClr val="262626"/>
                </a:solidFill>
                <a:latin typeface="Times New Roman" pitchFamily="34" charset="0"/>
                <a:ea typeface="Times New Roman" pitchFamily="34" charset="-122"/>
                <a:cs typeface="Times New Roman" pitchFamily="34" charset="-120"/>
              </a:rPr>
              <a:t>z</a:t>
            </a:r>
            <a:r>
              <a:rPr lang="en-US" sz="1200" b="1" i="1" baseline="-25000" dirty="0">
                <a:solidFill>
                  <a:srgbClr val="262626"/>
                </a:solidFill>
                <a:latin typeface="Times New Roman" pitchFamily="34" charset="0"/>
                <a:ea typeface="Times New Roman" pitchFamily="34" charset="-122"/>
                <a:cs typeface="Times New Roman" pitchFamily="34" charset="-120"/>
              </a:rPr>
              <a:t>0.3</a:t>
            </a:r>
            <a:endParaRPr lang="en-US" sz="1200" dirty="0"/>
          </a:p>
        </p:txBody>
      </p:sp>
      <p:sp>
        <p:nvSpPr>
          <p:cNvPr id="861" name="Shape 861"/>
          <p:cNvSpPr/>
          <p:nvPr/>
        </p:nvSpPr>
        <p:spPr>
          <a:xfrm>
            <a:off x="5669280" y="3246120"/>
            <a:ext cx="685800" cy="202997"/>
          </a:xfrm>
          <a:prstGeom prst="rect">
            <a:avLst/>
          </a:prstGeom>
          <a:solidFill>
            <a:srgbClr val="F2F7FB"/>
          </a:solidFill>
          <a:ln w="9525">
            <a:solidFill>
              <a:srgbClr val="7F9DB9"/>
            </a:solidFill>
            <a:prstDash val="solid"/>
          </a:ln>
        </p:spPr>
        <p:txBody>
          <a:bodyPr/>
          <a:lstStyle/>
          <a:p>
            <a:endParaRPr lang="ko-KR" altLang="en-US"/>
          </a:p>
        </p:txBody>
      </p:sp>
      <p:sp>
        <p:nvSpPr>
          <p:cNvPr id="862" name="Text 862"/>
          <p:cNvSpPr txBox="1"/>
          <p:nvPr/>
        </p:nvSpPr>
        <p:spPr>
          <a:xfrm>
            <a:off x="5669280" y="3246120"/>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63" name="Shape 863"/>
          <p:cNvSpPr/>
          <p:nvPr/>
        </p:nvSpPr>
        <p:spPr>
          <a:xfrm>
            <a:off x="5669280" y="3458261"/>
            <a:ext cx="685800" cy="202997"/>
          </a:xfrm>
          <a:prstGeom prst="rect">
            <a:avLst/>
          </a:prstGeom>
          <a:solidFill>
            <a:srgbClr val="F2F7FB"/>
          </a:solidFill>
          <a:ln w="9525">
            <a:solidFill>
              <a:srgbClr val="7F9DB9"/>
            </a:solidFill>
            <a:prstDash val="solid"/>
          </a:ln>
        </p:spPr>
        <p:txBody>
          <a:bodyPr/>
          <a:lstStyle/>
          <a:p>
            <a:endParaRPr lang="ko-KR" altLang="en-US"/>
          </a:p>
        </p:txBody>
      </p:sp>
      <p:sp>
        <p:nvSpPr>
          <p:cNvPr id="864" name="Text 864"/>
          <p:cNvSpPr txBox="1"/>
          <p:nvPr/>
        </p:nvSpPr>
        <p:spPr>
          <a:xfrm>
            <a:off x="5669280" y="3458261"/>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65" name="Shape 865"/>
          <p:cNvSpPr/>
          <p:nvPr/>
        </p:nvSpPr>
        <p:spPr>
          <a:xfrm>
            <a:off x="5669280" y="3670402"/>
            <a:ext cx="685800" cy="202997"/>
          </a:xfrm>
          <a:prstGeom prst="rect">
            <a:avLst/>
          </a:prstGeom>
          <a:solidFill>
            <a:srgbClr val="F2F7FB"/>
          </a:solidFill>
          <a:ln w="9525">
            <a:solidFill>
              <a:srgbClr val="7F9DB9"/>
            </a:solidFill>
            <a:prstDash val="solid"/>
          </a:ln>
        </p:spPr>
        <p:txBody>
          <a:bodyPr/>
          <a:lstStyle/>
          <a:p>
            <a:endParaRPr lang="ko-KR" altLang="en-US"/>
          </a:p>
        </p:txBody>
      </p:sp>
      <p:sp>
        <p:nvSpPr>
          <p:cNvPr id="866" name="Text 866"/>
          <p:cNvSpPr txBox="1"/>
          <p:nvPr/>
        </p:nvSpPr>
        <p:spPr>
          <a:xfrm>
            <a:off x="5669280" y="367040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67" name="Shape 867"/>
          <p:cNvSpPr/>
          <p:nvPr/>
        </p:nvSpPr>
        <p:spPr>
          <a:xfrm>
            <a:off x="5669280" y="3882542"/>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68" name="Text 868"/>
          <p:cNvSpPr txBox="1"/>
          <p:nvPr/>
        </p:nvSpPr>
        <p:spPr>
          <a:xfrm>
            <a:off x="5669280" y="388254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69" name="Shape 869"/>
          <p:cNvSpPr/>
          <p:nvPr/>
        </p:nvSpPr>
        <p:spPr>
          <a:xfrm>
            <a:off x="5669280" y="4094683"/>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70" name="Text 870"/>
          <p:cNvSpPr txBox="1"/>
          <p:nvPr/>
        </p:nvSpPr>
        <p:spPr>
          <a:xfrm>
            <a:off x="5669280" y="4094683"/>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71" name="Shape 871"/>
          <p:cNvSpPr/>
          <p:nvPr/>
        </p:nvSpPr>
        <p:spPr>
          <a:xfrm>
            <a:off x="5669280" y="4306824"/>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72" name="Text 872"/>
          <p:cNvSpPr txBox="1"/>
          <p:nvPr/>
        </p:nvSpPr>
        <p:spPr>
          <a:xfrm>
            <a:off x="5669280" y="4306824"/>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73" name="Shape 873"/>
          <p:cNvSpPr/>
          <p:nvPr/>
        </p:nvSpPr>
        <p:spPr>
          <a:xfrm>
            <a:off x="5669280" y="4518965"/>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74" name="Text 874"/>
          <p:cNvSpPr txBox="1"/>
          <p:nvPr/>
        </p:nvSpPr>
        <p:spPr>
          <a:xfrm>
            <a:off x="5669280" y="4518965"/>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75" name="Shape 875"/>
          <p:cNvSpPr/>
          <p:nvPr/>
        </p:nvSpPr>
        <p:spPr>
          <a:xfrm>
            <a:off x="5669280" y="4731106"/>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76" name="Text 876"/>
          <p:cNvSpPr txBox="1"/>
          <p:nvPr/>
        </p:nvSpPr>
        <p:spPr>
          <a:xfrm>
            <a:off x="5669280" y="4731106"/>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77" name="Shape 877"/>
          <p:cNvSpPr/>
          <p:nvPr/>
        </p:nvSpPr>
        <p:spPr>
          <a:xfrm>
            <a:off x="5669280" y="4943246"/>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78" name="Text 878"/>
          <p:cNvSpPr txBox="1"/>
          <p:nvPr/>
        </p:nvSpPr>
        <p:spPr>
          <a:xfrm>
            <a:off x="5669280" y="4943246"/>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79" name="Shape 879"/>
          <p:cNvSpPr/>
          <p:nvPr/>
        </p:nvSpPr>
        <p:spPr>
          <a:xfrm>
            <a:off x="5669280" y="5155387"/>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880" name="Text 880"/>
          <p:cNvSpPr txBox="1"/>
          <p:nvPr/>
        </p:nvSpPr>
        <p:spPr>
          <a:xfrm>
            <a:off x="5669280" y="5155387"/>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81" name="Shape 881"/>
          <p:cNvSpPr/>
          <p:nvPr/>
        </p:nvSpPr>
        <p:spPr>
          <a:xfrm>
            <a:off x="5669280" y="5367528"/>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882" name="Text 882"/>
          <p:cNvSpPr txBox="1"/>
          <p:nvPr/>
        </p:nvSpPr>
        <p:spPr>
          <a:xfrm>
            <a:off x="5669280" y="5367528"/>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83" name="Shape 883"/>
          <p:cNvSpPr/>
          <p:nvPr/>
        </p:nvSpPr>
        <p:spPr>
          <a:xfrm>
            <a:off x="5669280" y="5579669"/>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884" name="Text 884"/>
          <p:cNvSpPr txBox="1"/>
          <p:nvPr/>
        </p:nvSpPr>
        <p:spPr>
          <a:xfrm>
            <a:off x="5669280" y="5579669"/>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85" name="Text 885"/>
          <p:cNvSpPr txBox="1"/>
          <p:nvPr/>
        </p:nvSpPr>
        <p:spPr>
          <a:xfrm>
            <a:off x="6446520" y="2898648"/>
            <a:ext cx="777240" cy="274320"/>
          </a:xfrm>
          <a:prstGeom prst="rect">
            <a:avLst/>
          </a:prstGeom>
          <a:noFill/>
          <a:ln/>
        </p:spPr>
        <p:txBody>
          <a:bodyPr wrap="square" lIns="0" tIns="0" rIns="0" bIns="0" rtlCol="0" anchor="ctr"/>
          <a:lstStyle/>
          <a:p>
            <a:pPr marL="0" indent="0" algn="ctr">
              <a:buNone/>
            </a:pPr>
            <a:r>
              <a:rPr lang="en-US" sz="1200" b="1" i="1" dirty="0">
                <a:solidFill>
                  <a:srgbClr val="262626"/>
                </a:solidFill>
                <a:latin typeface="Times New Roman" pitchFamily="34" charset="0"/>
                <a:ea typeface="Times New Roman" pitchFamily="34" charset="-122"/>
                <a:cs typeface="Times New Roman" pitchFamily="34" charset="-120"/>
              </a:rPr>
              <a:t>z</a:t>
            </a:r>
            <a:r>
              <a:rPr lang="en-US" sz="1200" b="1" i="1" baseline="-25000" dirty="0">
                <a:solidFill>
                  <a:srgbClr val="262626"/>
                </a:solidFill>
                <a:latin typeface="Times New Roman" pitchFamily="34" charset="0"/>
                <a:ea typeface="Times New Roman" pitchFamily="34" charset="-122"/>
                <a:cs typeface="Times New Roman" pitchFamily="34" charset="-120"/>
              </a:rPr>
              <a:t>0.4</a:t>
            </a:r>
            <a:endParaRPr lang="en-US" sz="1200" dirty="0"/>
          </a:p>
        </p:txBody>
      </p:sp>
      <p:sp>
        <p:nvSpPr>
          <p:cNvPr id="886" name="Shape 886"/>
          <p:cNvSpPr/>
          <p:nvPr/>
        </p:nvSpPr>
        <p:spPr>
          <a:xfrm>
            <a:off x="6492240" y="3246120"/>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87" name="Text 887"/>
          <p:cNvSpPr txBox="1"/>
          <p:nvPr/>
        </p:nvSpPr>
        <p:spPr>
          <a:xfrm>
            <a:off x="6492240" y="3246120"/>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88" name="Shape 888"/>
          <p:cNvSpPr/>
          <p:nvPr/>
        </p:nvSpPr>
        <p:spPr>
          <a:xfrm>
            <a:off x="6492240" y="3458261"/>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89" name="Text 889"/>
          <p:cNvSpPr txBox="1"/>
          <p:nvPr/>
        </p:nvSpPr>
        <p:spPr>
          <a:xfrm>
            <a:off x="6492240" y="3458261"/>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90" name="Shape 890"/>
          <p:cNvSpPr/>
          <p:nvPr/>
        </p:nvSpPr>
        <p:spPr>
          <a:xfrm>
            <a:off x="6492240" y="3670402"/>
            <a:ext cx="685800" cy="202997"/>
          </a:xfrm>
          <a:prstGeom prst="rect">
            <a:avLst/>
          </a:prstGeom>
          <a:solidFill>
            <a:srgbClr val="D9E7F4"/>
          </a:solidFill>
          <a:ln w="9525">
            <a:solidFill>
              <a:srgbClr val="7F9DB9"/>
            </a:solidFill>
            <a:prstDash val="solid"/>
          </a:ln>
        </p:spPr>
        <p:txBody>
          <a:bodyPr/>
          <a:lstStyle/>
          <a:p>
            <a:endParaRPr lang="ko-KR" altLang="en-US"/>
          </a:p>
        </p:txBody>
      </p:sp>
      <p:sp>
        <p:nvSpPr>
          <p:cNvPr id="891" name="Text 891"/>
          <p:cNvSpPr txBox="1"/>
          <p:nvPr/>
        </p:nvSpPr>
        <p:spPr>
          <a:xfrm>
            <a:off x="6492240" y="367040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92" name="Shape 892"/>
          <p:cNvSpPr/>
          <p:nvPr/>
        </p:nvSpPr>
        <p:spPr>
          <a:xfrm>
            <a:off x="6492240" y="3882542"/>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93" name="Text 893"/>
          <p:cNvSpPr txBox="1"/>
          <p:nvPr/>
        </p:nvSpPr>
        <p:spPr>
          <a:xfrm>
            <a:off x="6492240" y="388254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894" name="Shape 894"/>
          <p:cNvSpPr/>
          <p:nvPr/>
        </p:nvSpPr>
        <p:spPr>
          <a:xfrm>
            <a:off x="6492240" y="4094683"/>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95" name="Text 895"/>
          <p:cNvSpPr txBox="1"/>
          <p:nvPr/>
        </p:nvSpPr>
        <p:spPr>
          <a:xfrm>
            <a:off x="6492240" y="4094683"/>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896" name="Shape 896"/>
          <p:cNvSpPr/>
          <p:nvPr/>
        </p:nvSpPr>
        <p:spPr>
          <a:xfrm>
            <a:off x="6492240" y="4306824"/>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897" name="Text 897"/>
          <p:cNvSpPr txBox="1"/>
          <p:nvPr/>
        </p:nvSpPr>
        <p:spPr>
          <a:xfrm>
            <a:off x="6492240" y="4306824"/>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898" name="Shape 898"/>
          <p:cNvSpPr/>
          <p:nvPr/>
        </p:nvSpPr>
        <p:spPr>
          <a:xfrm>
            <a:off x="6492240" y="4518965"/>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899" name="Text 899"/>
          <p:cNvSpPr txBox="1"/>
          <p:nvPr/>
        </p:nvSpPr>
        <p:spPr>
          <a:xfrm>
            <a:off x="6492240" y="4518965"/>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900" name="Shape 900"/>
          <p:cNvSpPr/>
          <p:nvPr/>
        </p:nvSpPr>
        <p:spPr>
          <a:xfrm>
            <a:off x="6492240" y="4731106"/>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901" name="Text 901"/>
          <p:cNvSpPr txBox="1"/>
          <p:nvPr/>
        </p:nvSpPr>
        <p:spPr>
          <a:xfrm>
            <a:off x="6492240" y="4731106"/>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902" name="Shape 902"/>
          <p:cNvSpPr/>
          <p:nvPr/>
        </p:nvSpPr>
        <p:spPr>
          <a:xfrm>
            <a:off x="6492240" y="4943246"/>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903" name="Text 903"/>
          <p:cNvSpPr txBox="1"/>
          <p:nvPr/>
        </p:nvSpPr>
        <p:spPr>
          <a:xfrm>
            <a:off x="6492240" y="4943246"/>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904" name="Shape 904"/>
          <p:cNvSpPr/>
          <p:nvPr/>
        </p:nvSpPr>
        <p:spPr>
          <a:xfrm>
            <a:off x="6492240" y="5155387"/>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05" name="Text 905"/>
          <p:cNvSpPr txBox="1"/>
          <p:nvPr/>
        </p:nvSpPr>
        <p:spPr>
          <a:xfrm>
            <a:off x="6492240" y="5155387"/>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v0</a:t>
            </a:r>
            <a:endParaRPr lang="en-US" sz="850" dirty="0"/>
          </a:p>
        </p:txBody>
      </p:sp>
      <p:sp>
        <p:nvSpPr>
          <p:cNvPr id="906" name="Shape 906"/>
          <p:cNvSpPr/>
          <p:nvPr/>
        </p:nvSpPr>
        <p:spPr>
          <a:xfrm>
            <a:off x="6492240" y="5367528"/>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07" name="Text 907"/>
          <p:cNvSpPr txBox="1"/>
          <p:nvPr/>
        </p:nvSpPr>
        <p:spPr>
          <a:xfrm>
            <a:off x="6492240" y="5367528"/>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v1</a:t>
            </a:r>
            <a:endParaRPr lang="en-US" sz="850" dirty="0"/>
          </a:p>
        </p:txBody>
      </p:sp>
      <p:sp>
        <p:nvSpPr>
          <p:cNvPr id="908" name="Shape 908"/>
          <p:cNvSpPr/>
          <p:nvPr/>
        </p:nvSpPr>
        <p:spPr>
          <a:xfrm>
            <a:off x="6492240" y="5579669"/>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09" name="Text 909"/>
          <p:cNvSpPr txBox="1"/>
          <p:nvPr/>
        </p:nvSpPr>
        <p:spPr>
          <a:xfrm>
            <a:off x="6492240" y="5579669"/>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c</a:t>
            </a:r>
            <a:endParaRPr lang="en-US" sz="850" dirty="0"/>
          </a:p>
        </p:txBody>
      </p:sp>
      <p:sp>
        <p:nvSpPr>
          <p:cNvPr id="910" name="Text 910"/>
          <p:cNvSpPr txBox="1"/>
          <p:nvPr/>
        </p:nvSpPr>
        <p:spPr>
          <a:xfrm>
            <a:off x="7269480" y="2898648"/>
            <a:ext cx="777240" cy="274320"/>
          </a:xfrm>
          <a:prstGeom prst="rect">
            <a:avLst/>
          </a:prstGeom>
          <a:noFill/>
          <a:ln/>
        </p:spPr>
        <p:txBody>
          <a:bodyPr wrap="square" lIns="0" tIns="0" rIns="0" bIns="0" rtlCol="0" anchor="ctr"/>
          <a:lstStyle/>
          <a:p>
            <a:pPr marL="0" indent="0" algn="ctr">
              <a:buNone/>
            </a:pPr>
            <a:r>
              <a:rPr lang="en-US" sz="1200" b="1" i="1" dirty="0">
                <a:solidFill>
                  <a:srgbClr val="262626"/>
                </a:solidFill>
                <a:latin typeface="Times New Roman" pitchFamily="34" charset="0"/>
                <a:ea typeface="Times New Roman" pitchFamily="34" charset="-122"/>
                <a:cs typeface="Times New Roman" pitchFamily="34" charset="-120"/>
              </a:rPr>
              <a:t>z</a:t>
            </a:r>
            <a:r>
              <a:rPr lang="en-US" sz="1200" b="1" i="1" baseline="-25000" dirty="0">
                <a:solidFill>
                  <a:srgbClr val="262626"/>
                </a:solidFill>
                <a:latin typeface="Times New Roman" pitchFamily="34" charset="0"/>
                <a:ea typeface="Times New Roman" pitchFamily="34" charset="-122"/>
                <a:cs typeface="Times New Roman" pitchFamily="34" charset="-120"/>
              </a:rPr>
              <a:t>0.5</a:t>
            </a:r>
            <a:endParaRPr lang="en-US" sz="1200" dirty="0"/>
          </a:p>
        </p:txBody>
      </p:sp>
      <p:sp>
        <p:nvSpPr>
          <p:cNvPr id="911" name="Shape 911"/>
          <p:cNvSpPr/>
          <p:nvPr/>
        </p:nvSpPr>
        <p:spPr>
          <a:xfrm>
            <a:off x="7315200" y="3246120"/>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912" name="Text 912"/>
          <p:cNvSpPr txBox="1"/>
          <p:nvPr/>
        </p:nvSpPr>
        <p:spPr>
          <a:xfrm>
            <a:off x="7315200" y="3246120"/>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913" name="Shape 913"/>
          <p:cNvSpPr/>
          <p:nvPr/>
        </p:nvSpPr>
        <p:spPr>
          <a:xfrm>
            <a:off x="7315200" y="3458261"/>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914" name="Text 914"/>
          <p:cNvSpPr txBox="1"/>
          <p:nvPr/>
        </p:nvSpPr>
        <p:spPr>
          <a:xfrm>
            <a:off x="7315200" y="3458261"/>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915" name="Shape 915"/>
          <p:cNvSpPr/>
          <p:nvPr/>
        </p:nvSpPr>
        <p:spPr>
          <a:xfrm>
            <a:off x="7315200" y="3670402"/>
            <a:ext cx="685800" cy="202997"/>
          </a:xfrm>
          <a:prstGeom prst="rect">
            <a:avLst/>
          </a:prstGeom>
          <a:solidFill>
            <a:srgbClr val="B4D0EA"/>
          </a:solidFill>
          <a:ln w="9525">
            <a:solidFill>
              <a:srgbClr val="7F9DB9"/>
            </a:solidFill>
            <a:prstDash val="solid"/>
          </a:ln>
        </p:spPr>
        <p:txBody>
          <a:bodyPr/>
          <a:lstStyle/>
          <a:p>
            <a:endParaRPr lang="ko-KR" altLang="en-US"/>
          </a:p>
        </p:txBody>
      </p:sp>
      <p:sp>
        <p:nvSpPr>
          <p:cNvPr id="916" name="Text 916"/>
          <p:cNvSpPr txBox="1"/>
          <p:nvPr/>
        </p:nvSpPr>
        <p:spPr>
          <a:xfrm>
            <a:off x="7315200" y="367040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917" name="Shape 917"/>
          <p:cNvSpPr/>
          <p:nvPr/>
        </p:nvSpPr>
        <p:spPr>
          <a:xfrm>
            <a:off x="7315200" y="3882542"/>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918" name="Text 918"/>
          <p:cNvSpPr txBox="1"/>
          <p:nvPr/>
        </p:nvSpPr>
        <p:spPr>
          <a:xfrm>
            <a:off x="7315200" y="3882542"/>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v0</a:t>
            </a:r>
            <a:endParaRPr lang="en-US" sz="850" dirty="0"/>
          </a:p>
        </p:txBody>
      </p:sp>
      <p:sp>
        <p:nvSpPr>
          <p:cNvPr id="919" name="Shape 919"/>
          <p:cNvSpPr/>
          <p:nvPr/>
        </p:nvSpPr>
        <p:spPr>
          <a:xfrm>
            <a:off x="7315200" y="4094683"/>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920" name="Text 920"/>
          <p:cNvSpPr txBox="1"/>
          <p:nvPr/>
        </p:nvSpPr>
        <p:spPr>
          <a:xfrm>
            <a:off x="7315200" y="4094683"/>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v1</a:t>
            </a:r>
            <a:endParaRPr lang="en-US" sz="850" dirty="0"/>
          </a:p>
        </p:txBody>
      </p:sp>
      <p:sp>
        <p:nvSpPr>
          <p:cNvPr id="921" name="Shape 921"/>
          <p:cNvSpPr/>
          <p:nvPr/>
        </p:nvSpPr>
        <p:spPr>
          <a:xfrm>
            <a:off x="7315200" y="4306824"/>
            <a:ext cx="685800" cy="202997"/>
          </a:xfrm>
          <a:prstGeom prst="rect">
            <a:avLst/>
          </a:prstGeom>
          <a:solidFill>
            <a:srgbClr val="86B1DD"/>
          </a:solidFill>
          <a:ln w="9525">
            <a:solidFill>
              <a:srgbClr val="7F9DB9"/>
            </a:solidFill>
            <a:prstDash val="solid"/>
          </a:ln>
        </p:spPr>
        <p:txBody>
          <a:bodyPr/>
          <a:lstStyle/>
          <a:p>
            <a:endParaRPr lang="ko-KR" altLang="en-US"/>
          </a:p>
        </p:txBody>
      </p:sp>
      <p:sp>
        <p:nvSpPr>
          <p:cNvPr id="922" name="Text 922"/>
          <p:cNvSpPr txBox="1"/>
          <p:nvPr/>
        </p:nvSpPr>
        <p:spPr>
          <a:xfrm>
            <a:off x="7315200" y="4306824"/>
            <a:ext cx="685800" cy="202997"/>
          </a:xfrm>
          <a:prstGeom prst="rect">
            <a:avLst/>
          </a:prstGeom>
          <a:noFill/>
          <a:ln/>
        </p:spPr>
        <p:txBody>
          <a:bodyPr wrap="square" lIns="0" tIns="0" rIns="0" bIns="0" rtlCol="0" anchor="ctr"/>
          <a:lstStyle/>
          <a:p>
            <a:pPr marL="0" indent="0" algn="ctr">
              <a:buNone/>
            </a:pPr>
            <a:r>
              <a:rPr lang="en-US" sz="850" dirty="0">
                <a:solidFill>
                  <a:srgbClr val="262626"/>
                </a:solidFill>
                <a:latin typeface="맑은 고딕" pitchFamily="34" charset="0"/>
                <a:ea typeface="맑은 고딕" pitchFamily="34" charset="-122"/>
                <a:cs typeface="맑은 고딕" pitchFamily="34" charset="-120"/>
              </a:rPr>
              <a:t>c</a:t>
            </a:r>
            <a:endParaRPr lang="en-US" sz="850" dirty="0"/>
          </a:p>
        </p:txBody>
      </p:sp>
      <p:sp>
        <p:nvSpPr>
          <p:cNvPr id="923" name="Shape 923"/>
          <p:cNvSpPr/>
          <p:nvPr/>
        </p:nvSpPr>
        <p:spPr>
          <a:xfrm>
            <a:off x="7315200" y="4518965"/>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24" name="Text 924"/>
          <p:cNvSpPr txBox="1"/>
          <p:nvPr/>
        </p:nvSpPr>
        <p:spPr>
          <a:xfrm>
            <a:off x="7315200" y="4518965"/>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v0</a:t>
            </a:r>
            <a:endParaRPr lang="en-US" sz="850" dirty="0"/>
          </a:p>
        </p:txBody>
      </p:sp>
      <p:sp>
        <p:nvSpPr>
          <p:cNvPr id="925" name="Shape 925"/>
          <p:cNvSpPr/>
          <p:nvPr/>
        </p:nvSpPr>
        <p:spPr>
          <a:xfrm>
            <a:off x="7315200" y="4731106"/>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26" name="Text 926"/>
          <p:cNvSpPr txBox="1"/>
          <p:nvPr/>
        </p:nvSpPr>
        <p:spPr>
          <a:xfrm>
            <a:off x="7315200" y="4731106"/>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v1</a:t>
            </a:r>
            <a:endParaRPr lang="en-US" sz="850" dirty="0"/>
          </a:p>
        </p:txBody>
      </p:sp>
      <p:sp>
        <p:nvSpPr>
          <p:cNvPr id="927" name="Shape 927"/>
          <p:cNvSpPr/>
          <p:nvPr/>
        </p:nvSpPr>
        <p:spPr>
          <a:xfrm>
            <a:off x="7315200" y="4943246"/>
            <a:ext cx="685800" cy="202997"/>
          </a:xfrm>
          <a:prstGeom prst="rect">
            <a:avLst/>
          </a:prstGeom>
          <a:solidFill>
            <a:srgbClr val="4F8CC9"/>
          </a:solidFill>
          <a:ln w="9525">
            <a:solidFill>
              <a:srgbClr val="7F9DB9"/>
            </a:solidFill>
            <a:prstDash val="solid"/>
          </a:ln>
        </p:spPr>
        <p:txBody>
          <a:bodyPr/>
          <a:lstStyle/>
          <a:p>
            <a:endParaRPr lang="ko-KR" altLang="en-US"/>
          </a:p>
        </p:txBody>
      </p:sp>
      <p:sp>
        <p:nvSpPr>
          <p:cNvPr id="928" name="Text 928"/>
          <p:cNvSpPr txBox="1"/>
          <p:nvPr/>
        </p:nvSpPr>
        <p:spPr>
          <a:xfrm>
            <a:off x="7315200" y="4943246"/>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c</a:t>
            </a:r>
            <a:endParaRPr lang="en-US" sz="850" dirty="0"/>
          </a:p>
        </p:txBody>
      </p:sp>
      <p:sp>
        <p:nvSpPr>
          <p:cNvPr id="929" name="Shape 929"/>
          <p:cNvSpPr/>
          <p:nvPr/>
        </p:nvSpPr>
        <p:spPr>
          <a:xfrm>
            <a:off x="7315200" y="5155387"/>
            <a:ext cx="685800" cy="202997"/>
          </a:xfrm>
          <a:prstGeom prst="rect">
            <a:avLst/>
          </a:prstGeom>
          <a:solidFill>
            <a:srgbClr val="1F5A99"/>
          </a:solidFill>
          <a:ln w="9525">
            <a:solidFill>
              <a:srgbClr val="7F9DB9"/>
            </a:solidFill>
            <a:prstDash val="solid"/>
          </a:ln>
        </p:spPr>
        <p:txBody>
          <a:bodyPr/>
          <a:lstStyle/>
          <a:p>
            <a:endParaRPr lang="ko-KR" altLang="en-US"/>
          </a:p>
        </p:txBody>
      </p:sp>
      <p:sp>
        <p:nvSpPr>
          <p:cNvPr id="930" name="Text 930"/>
          <p:cNvSpPr txBox="1"/>
          <p:nvPr/>
        </p:nvSpPr>
        <p:spPr>
          <a:xfrm>
            <a:off x="7315200" y="5155387"/>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v0</a:t>
            </a:r>
            <a:endParaRPr lang="en-US" sz="850" dirty="0"/>
          </a:p>
        </p:txBody>
      </p:sp>
      <p:sp>
        <p:nvSpPr>
          <p:cNvPr id="931" name="Shape 931"/>
          <p:cNvSpPr/>
          <p:nvPr/>
        </p:nvSpPr>
        <p:spPr>
          <a:xfrm>
            <a:off x="7315200" y="5367528"/>
            <a:ext cx="685800" cy="202997"/>
          </a:xfrm>
          <a:prstGeom prst="rect">
            <a:avLst/>
          </a:prstGeom>
          <a:solidFill>
            <a:srgbClr val="1F5A99"/>
          </a:solidFill>
          <a:ln w="9525">
            <a:solidFill>
              <a:srgbClr val="7F9DB9"/>
            </a:solidFill>
            <a:prstDash val="solid"/>
          </a:ln>
        </p:spPr>
        <p:txBody>
          <a:bodyPr/>
          <a:lstStyle/>
          <a:p>
            <a:endParaRPr lang="ko-KR" altLang="en-US"/>
          </a:p>
        </p:txBody>
      </p:sp>
      <p:sp>
        <p:nvSpPr>
          <p:cNvPr id="932" name="Text 932"/>
          <p:cNvSpPr txBox="1"/>
          <p:nvPr/>
        </p:nvSpPr>
        <p:spPr>
          <a:xfrm>
            <a:off x="7315200" y="5367528"/>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v1</a:t>
            </a:r>
            <a:endParaRPr lang="en-US" sz="850" dirty="0"/>
          </a:p>
        </p:txBody>
      </p:sp>
      <p:sp>
        <p:nvSpPr>
          <p:cNvPr id="933" name="Shape 933"/>
          <p:cNvSpPr/>
          <p:nvPr/>
        </p:nvSpPr>
        <p:spPr>
          <a:xfrm>
            <a:off x="7315200" y="5579669"/>
            <a:ext cx="685800" cy="202997"/>
          </a:xfrm>
          <a:prstGeom prst="rect">
            <a:avLst/>
          </a:prstGeom>
          <a:solidFill>
            <a:srgbClr val="1F5A99"/>
          </a:solidFill>
          <a:ln w="9525">
            <a:solidFill>
              <a:srgbClr val="7F9DB9"/>
            </a:solidFill>
            <a:prstDash val="solid"/>
          </a:ln>
        </p:spPr>
        <p:txBody>
          <a:bodyPr/>
          <a:lstStyle/>
          <a:p>
            <a:endParaRPr lang="ko-KR" altLang="en-US"/>
          </a:p>
        </p:txBody>
      </p:sp>
      <p:sp>
        <p:nvSpPr>
          <p:cNvPr id="934" name="Text 934"/>
          <p:cNvSpPr txBox="1"/>
          <p:nvPr/>
        </p:nvSpPr>
        <p:spPr>
          <a:xfrm>
            <a:off x="7315200" y="5579669"/>
            <a:ext cx="685800" cy="202997"/>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c</a:t>
            </a:r>
            <a:endParaRPr lang="en-US" sz="850" dirty="0"/>
          </a:p>
        </p:txBody>
      </p:sp>
      <p:sp>
        <p:nvSpPr>
          <p:cNvPr id="935" name="Text 935"/>
          <p:cNvSpPr txBox="1"/>
          <p:nvPr/>
        </p:nvSpPr>
        <p:spPr>
          <a:xfrm>
            <a:off x="5074920" y="3412541"/>
            <a:ext cx="502920" cy="274320"/>
          </a:xfrm>
          <a:prstGeom prst="rect">
            <a:avLst/>
          </a:prstGeom>
          <a:noFill/>
          <a:ln/>
        </p:spPr>
        <p:txBody>
          <a:bodyPr wrap="square" lIns="0" tIns="0" rIns="0" bIns="0" rtlCol="0" anchor="ctr"/>
          <a:lstStyle/>
          <a:p>
            <a:pPr marL="0" indent="0" algn="r">
              <a:buNone/>
            </a:pPr>
            <a:r>
              <a:rPr lang="en-US" sz="1100" b="1" i="1" dirty="0">
                <a:solidFill>
                  <a:srgbClr val="262626"/>
                </a:solidFill>
                <a:latin typeface="Times New Roman" pitchFamily="34" charset="0"/>
                <a:ea typeface="Times New Roman" pitchFamily="34" charset="-122"/>
                <a:cs typeface="Times New Roman" pitchFamily="34" charset="-120"/>
              </a:rPr>
              <a:t>t</a:t>
            </a:r>
            <a:r>
              <a:rPr lang="en-US" sz="1100" b="1" dirty="0">
                <a:solidFill>
                  <a:srgbClr val="262626"/>
                </a:solidFill>
                <a:latin typeface="Times New Roman" pitchFamily="34" charset="0"/>
                <a:ea typeface="Times New Roman" pitchFamily="34" charset="-122"/>
                <a:cs typeface="Times New Roman" pitchFamily="34" charset="-120"/>
              </a:rPr>
              <a:t>−3</a:t>
            </a:r>
            <a:endParaRPr lang="en-US" sz="1100" dirty="0"/>
          </a:p>
        </p:txBody>
      </p:sp>
      <p:sp>
        <p:nvSpPr>
          <p:cNvPr id="936" name="Text 936"/>
          <p:cNvSpPr txBox="1"/>
          <p:nvPr/>
        </p:nvSpPr>
        <p:spPr>
          <a:xfrm>
            <a:off x="5074920" y="4048963"/>
            <a:ext cx="502920" cy="274320"/>
          </a:xfrm>
          <a:prstGeom prst="rect">
            <a:avLst/>
          </a:prstGeom>
          <a:noFill/>
          <a:ln/>
        </p:spPr>
        <p:txBody>
          <a:bodyPr wrap="square" lIns="0" tIns="0" rIns="0" bIns="0" rtlCol="0" anchor="ctr"/>
          <a:lstStyle/>
          <a:p>
            <a:pPr marL="0" indent="0" algn="r">
              <a:buNone/>
            </a:pPr>
            <a:r>
              <a:rPr lang="en-US" sz="1100" b="1" i="1" dirty="0">
                <a:solidFill>
                  <a:srgbClr val="262626"/>
                </a:solidFill>
                <a:latin typeface="Times New Roman" pitchFamily="34" charset="0"/>
                <a:ea typeface="Times New Roman" pitchFamily="34" charset="-122"/>
                <a:cs typeface="Times New Roman" pitchFamily="34" charset="-120"/>
              </a:rPr>
              <a:t>t</a:t>
            </a:r>
            <a:r>
              <a:rPr lang="en-US" sz="1100" b="1" dirty="0">
                <a:solidFill>
                  <a:srgbClr val="262626"/>
                </a:solidFill>
                <a:latin typeface="Times New Roman" pitchFamily="34" charset="0"/>
                <a:ea typeface="Times New Roman" pitchFamily="34" charset="-122"/>
                <a:cs typeface="Times New Roman" pitchFamily="34" charset="-120"/>
              </a:rPr>
              <a:t>−2</a:t>
            </a:r>
            <a:endParaRPr lang="en-US" sz="1100" dirty="0"/>
          </a:p>
        </p:txBody>
      </p:sp>
      <p:sp>
        <p:nvSpPr>
          <p:cNvPr id="937" name="Text 937"/>
          <p:cNvSpPr txBox="1"/>
          <p:nvPr/>
        </p:nvSpPr>
        <p:spPr>
          <a:xfrm>
            <a:off x="5074920" y="4685386"/>
            <a:ext cx="502920" cy="274320"/>
          </a:xfrm>
          <a:prstGeom prst="rect">
            <a:avLst/>
          </a:prstGeom>
          <a:noFill/>
          <a:ln/>
        </p:spPr>
        <p:txBody>
          <a:bodyPr wrap="square" lIns="0" tIns="0" rIns="0" bIns="0" rtlCol="0" anchor="ctr"/>
          <a:lstStyle/>
          <a:p>
            <a:pPr marL="0" indent="0" algn="r">
              <a:buNone/>
            </a:pPr>
            <a:r>
              <a:rPr lang="en-US" sz="1100" b="1" i="1" dirty="0">
                <a:solidFill>
                  <a:srgbClr val="262626"/>
                </a:solidFill>
                <a:latin typeface="Times New Roman" pitchFamily="34" charset="0"/>
                <a:ea typeface="Times New Roman" pitchFamily="34" charset="-122"/>
                <a:cs typeface="Times New Roman" pitchFamily="34" charset="-120"/>
              </a:rPr>
              <a:t>t</a:t>
            </a:r>
            <a:r>
              <a:rPr lang="en-US" sz="1100" b="1" dirty="0">
                <a:solidFill>
                  <a:srgbClr val="262626"/>
                </a:solidFill>
                <a:latin typeface="Times New Roman" pitchFamily="34" charset="0"/>
                <a:ea typeface="Times New Roman" pitchFamily="34" charset="-122"/>
                <a:cs typeface="Times New Roman" pitchFamily="34" charset="-120"/>
              </a:rPr>
              <a:t>−1</a:t>
            </a:r>
            <a:endParaRPr lang="en-US" sz="1100" dirty="0"/>
          </a:p>
        </p:txBody>
      </p:sp>
      <p:sp>
        <p:nvSpPr>
          <p:cNvPr id="938" name="Text 938"/>
          <p:cNvSpPr txBox="1"/>
          <p:nvPr/>
        </p:nvSpPr>
        <p:spPr>
          <a:xfrm>
            <a:off x="5074920" y="5321808"/>
            <a:ext cx="502920" cy="274320"/>
          </a:xfrm>
          <a:prstGeom prst="rect">
            <a:avLst/>
          </a:prstGeom>
          <a:noFill/>
          <a:ln/>
        </p:spPr>
        <p:txBody>
          <a:bodyPr wrap="square" lIns="0" tIns="0" rIns="0" bIns="0" rtlCol="0" anchor="ctr"/>
          <a:lstStyle/>
          <a:p>
            <a:pPr marL="0" indent="0" algn="r">
              <a:buNone/>
            </a:pPr>
            <a:r>
              <a:rPr lang="en-US" sz="1100" b="1" i="1" dirty="0">
                <a:solidFill>
                  <a:srgbClr val="262626"/>
                </a:solidFill>
                <a:latin typeface="Times New Roman" pitchFamily="34" charset="0"/>
                <a:ea typeface="Times New Roman" pitchFamily="34" charset="-122"/>
                <a:cs typeface="Times New Roman" pitchFamily="34" charset="-120"/>
              </a:rPr>
              <a:t>t</a:t>
            </a:r>
            <a:endParaRPr lang="en-US" sz="1100" dirty="0"/>
          </a:p>
        </p:txBody>
      </p:sp>
      <p:sp>
        <p:nvSpPr>
          <p:cNvPr id="939" name="Shape 939"/>
          <p:cNvSpPr/>
          <p:nvPr/>
        </p:nvSpPr>
        <p:spPr>
          <a:xfrm>
            <a:off x="7269480" y="3191256"/>
            <a:ext cx="777240" cy="2637130"/>
          </a:xfrm>
          <a:prstGeom prst="rect">
            <a:avLst/>
          </a:prstGeom>
          <a:noFill/>
          <a:ln w="19050">
            <a:solidFill>
              <a:srgbClr val="C00000"/>
            </a:solidFill>
            <a:prstDash val="solid"/>
          </a:ln>
        </p:spPr>
        <p:txBody>
          <a:bodyPr/>
          <a:lstStyle/>
          <a:p>
            <a:endParaRPr lang="ko-KR" altLang="en-US"/>
          </a:p>
        </p:txBody>
      </p:sp>
      <p:sp>
        <p:nvSpPr>
          <p:cNvPr id="940" name="Text 940"/>
          <p:cNvSpPr txBox="1"/>
          <p:nvPr/>
        </p:nvSpPr>
        <p:spPr>
          <a:xfrm>
            <a:off x="4876793" y="5901538"/>
            <a:ext cx="3657600" cy="457200"/>
          </a:xfrm>
          <a:prstGeom prst="rect">
            <a:avLst/>
          </a:prstGeom>
          <a:noFill/>
          <a:ln/>
        </p:spPr>
        <p:txBody>
          <a:bodyPr wrap="square" lIns="0" tIns="0" rIns="0" bIns="0" rtlCol="0" anchor="t"/>
          <a:lstStyle/>
          <a:p>
            <a:pPr marL="0" indent="0" algn="l">
              <a:buNone/>
            </a:pPr>
            <a:r>
              <a:rPr lang="en-US" sz="950" dirty="0">
                <a:solidFill>
                  <a:srgbClr val="404040"/>
                </a:solidFill>
                <a:latin typeface="맑은 고딕" pitchFamily="34" charset="0"/>
                <a:ea typeface="맑은 고딕" pitchFamily="34" charset="-122"/>
                <a:cs typeface="맑은 고딕" pitchFamily="34" charset="-120"/>
              </a:rPr>
              <a:t>0.1초씩 밀리며 매 시점 새 12차원 벡터 → 같은 색 = 같은 시점 값</a:t>
            </a:r>
            <a:endParaRPr lang="en-US" sz="950" dirty="0"/>
          </a:p>
        </p:txBody>
      </p:sp>
      <p:sp>
        <p:nvSpPr>
          <p:cNvPr id="119" name="Shape 117"/>
          <p:cNvSpPr/>
          <p:nvPr/>
        </p:nvSpPr>
        <p:spPr>
          <a:xfrm>
            <a:off x="8503920" y="3017520"/>
            <a:ext cx="91" cy="3246120"/>
          </a:xfrm>
          <a:prstGeom prst="line">
            <a:avLst/>
          </a:prstGeom>
          <a:noFill/>
          <a:ln w="9525">
            <a:solidFill>
              <a:srgbClr val="D9D9D9"/>
            </a:solidFill>
            <a:prstDash val="solid"/>
          </a:ln>
        </p:spPr>
        <p:txBody>
          <a:bodyPr/>
          <a:lstStyle/>
          <a:p>
            <a:endParaRPr lang="ko-KR" altLang="en-US"/>
          </a:p>
        </p:txBody>
      </p:sp>
      <p:sp>
        <p:nvSpPr>
          <p:cNvPr id="120" name="Text 118"/>
          <p:cNvSpPr txBox="1"/>
          <p:nvPr/>
        </p:nvSpPr>
        <p:spPr>
          <a:xfrm>
            <a:off x="8686800" y="3017520"/>
            <a:ext cx="2926080" cy="256032"/>
          </a:xfrm>
          <a:prstGeom prst="rect">
            <a:avLst/>
          </a:prstGeom>
          <a:noFill/>
          <a:ln/>
        </p:spPr>
        <p:txBody>
          <a:bodyPr wrap="square" lIns="0" tIns="0" rIns="0" bIns="0" rtlCol="0" anchor="ctr"/>
          <a:lstStyle/>
          <a:p>
            <a:pPr marL="0" indent="0" algn="l">
              <a:buNone/>
            </a:pPr>
            <a:r>
              <a:rPr lang="en-US" sz="1250" b="1" dirty="0">
                <a:solidFill>
                  <a:srgbClr val="262626"/>
                </a:solidFill>
                <a:latin typeface="맑은 고딕" pitchFamily="34" charset="0"/>
                <a:ea typeface="맑은 고딕" pitchFamily="34" charset="-122"/>
                <a:cs typeface="맑은 고딕" pitchFamily="34" charset="-120"/>
              </a:rPr>
              <a:t>판단 규칙</a:t>
            </a:r>
            <a:endParaRPr lang="en-US" sz="1250" dirty="0"/>
          </a:p>
        </p:txBody>
      </p:sp>
      <p:sp>
        <p:nvSpPr>
          <p:cNvPr id="121" name="Shape 119"/>
          <p:cNvSpPr/>
          <p:nvPr/>
        </p:nvSpPr>
        <p:spPr>
          <a:xfrm>
            <a:off x="8686800" y="3474720"/>
            <a:ext cx="237744" cy="237744"/>
          </a:xfrm>
          <a:prstGeom prst="rect">
            <a:avLst/>
          </a:prstGeom>
          <a:solidFill>
            <a:srgbClr val="D6E4F0"/>
          </a:solidFill>
          <a:ln w="9525">
            <a:solidFill>
              <a:srgbClr val="7F7F7F"/>
            </a:solidFill>
            <a:prstDash val="solid"/>
          </a:ln>
        </p:spPr>
        <p:txBody>
          <a:bodyPr/>
          <a:lstStyle/>
          <a:p>
            <a:endParaRPr lang="ko-KR" altLang="en-US"/>
          </a:p>
        </p:txBody>
      </p:sp>
      <p:sp>
        <p:nvSpPr>
          <p:cNvPr id="122" name="Shape 120"/>
          <p:cNvSpPr/>
          <p:nvPr/>
        </p:nvSpPr>
        <p:spPr>
          <a:xfrm>
            <a:off x="8961120" y="3474720"/>
            <a:ext cx="237744" cy="237744"/>
          </a:xfrm>
          <a:prstGeom prst="rect">
            <a:avLst/>
          </a:prstGeom>
          <a:solidFill>
            <a:srgbClr val="D6E4F0"/>
          </a:solidFill>
          <a:ln w="9525">
            <a:solidFill>
              <a:srgbClr val="7F7F7F"/>
            </a:solidFill>
            <a:prstDash val="solid"/>
          </a:ln>
        </p:spPr>
        <p:txBody>
          <a:bodyPr/>
          <a:lstStyle/>
          <a:p>
            <a:endParaRPr lang="ko-KR" altLang="en-US"/>
          </a:p>
        </p:txBody>
      </p:sp>
      <p:sp>
        <p:nvSpPr>
          <p:cNvPr id="123" name="Shape 121"/>
          <p:cNvSpPr/>
          <p:nvPr/>
        </p:nvSpPr>
        <p:spPr>
          <a:xfrm>
            <a:off x="9235440" y="3474720"/>
            <a:ext cx="237744" cy="237744"/>
          </a:xfrm>
          <a:prstGeom prst="rect">
            <a:avLst/>
          </a:prstGeom>
          <a:solidFill>
            <a:srgbClr val="FBE5E5"/>
          </a:solidFill>
          <a:ln w="9525">
            <a:solidFill>
              <a:srgbClr val="7F7F7F"/>
            </a:solidFill>
            <a:prstDash val="solid"/>
          </a:ln>
        </p:spPr>
        <p:txBody>
          <a:bodyPr/>
          <a:lstStyle/>
          <a:p>
            <a:endParaRPr lang="ko-KR" altLang="en-US"/>
          </a:p>
        </p:txBody>
      </p:sp>
      <p:sp>
        <p:nvSpPr>
          <p:cNvPr id="124" name="Shape 122"/>
          <p:cNvSpPr/>
          <p:nvPr/>
        </p:nvSpPr>
        <p:spPr>
          <a:xfrm>
            <a:off x="9509760" y="3474720"/>
            <a:ext cx="237744" cy="237744"/>
          </a:xfrm>
          <a:prstGeom prst="rect">
            <a:avLst/>
          </a:prstGeom>
          <a:ln w="9525">
            <a:solidFill>
              <a:srgbClr val="BFBFBF"/>
            </a:solidFill>
            <a:prstDash val="dash"/>
          </a:ln>
        </p:spPr>
        <p:txBody>
          <a:bodyPr/>
          <a:lstStyle/>
          <a:p>
            <a:endParaRPr lang="ko-KR" altLang="en-US"/>
          </a:p>
        </p:txBody>
      </p:sp>
      <p:sp>
        <p:nvSpPr>
          <p:cNvPr id="125" name="Shape 123"/>
          <p:cNvSpPr/>
          <p:nvPr/>
        </p:nvSpPr>
        <p:spPr>
          <a:xfrm>
            <a:off x="9555480" y="3520440"/>
            <a:ext cx="146304" cy="146304"/>
          </a:xfrm>
          <a:prstGeom prst="line">
            <a:avLst/>
          </a:prstGeom>
          <a:noFill/>
          <a:ln w="28575">
            <a:solidFill>
              <a:srgbClr val="C00000"/>
            </a:solidFill>
            <a:prstDash val="solid"/>
          </a:ln>
        </p:spPr>
        <p:txBody>
          <a:bodyPr/>
          <a:lstStyle/>
          <a:p>
            <a:endParaRPr lang="ko-KR" altLang="en-US"/>
          </a:p>
        </p:txBody>
      </p:sp>
      <p:sp>
        <p:nvSpPr>
          <p:cNvPr id="126" name="Shape 124"/>
          <p:cNvSpPr/>
          <p:nvPr/>
        </p:nvSpPr>
        <p:spPr>
          <a:xfrm flipV="1">
            <a:off x="9555480" y="3520440"/>
            <a:ext cx="146304" cy="146304"/>
          </a:xfrm>
          <a:prstGeom prst="line">
            <a:avLst/>
          </a:prstGeom>
          <a:noFill/>
          <a:ln w="28575">
            <a:solidFill>
              <a:srgbClr val="C00000"/>
            </a:solidFill>
            <a:prstDash val="solid"/>
          </a:ln>
        </p:spPr>
        <p:txBody>
          <a:bodyPr/>
          <a:lstStyle/>
          <a:p>
            <a:endParaRPr lang="ko-KR" altLang="en-US"/>
          </a:p>
        </p:txBody>
      </p:sp>
      <p:sp>
        <p:nvSpPr>
          <p:cNvPr id="127" name="Text 125"/>
          <p:cNvSpPr txBox="1"/>
          <p:nvPr/>
        </p:nvSpPr>
        <p:spPr>
          <a:xfrm>
            <a:off x="9875520" y="3456432"/>
            <a:ext cx="1828800" cy="274320"/>
          </a:xfrm>
          <a:prstGeom prst="rect">
            <a:avLst/>
          </a:prstGeom>
          <a:noFill/>
          <a:ln/>
        </p:spPr>
        <p:txBody>
          <a:bodyPr wrap="square" lIns="0" tIns="0" rIns="0" bIns="0" rtlCol="0" anchor="ctr"/>
          <a:lstStyle/>
          <a:p>
            <a:pPr marL="0" indent="0" algn="l">
              <a:buNone/>
            </a:pPr>
            <a:r>
              <a:rPr lang="en-US" sz="1150" b="1" dirty="0">
                <a:solidFill>
                  <a:srgbClr val="C00000"/>
                </a:solidFill>
                <a:latin typeface="맑은 고딕" pitchFamily="34" charset="0"/>
                <a:ea typeface="맑은 고딕" pitchFamily="34" charset="-122"/>
                <a:cs typeface="맑은 고딕" pitchFamily="34" charset="-120"/>
              </a:rPr>
              <a:t>미래 값 사용 X</a:t>
            </a:r>
            <a:endParaRPr lang="en-US" sz="1150" dirty="0"/>
          </a:p>
        </p:txBody>
      </p:sp>
      <p:sp>
        <p:nvSpPr>
          <p:cNvPr id="128" name="Text 126"/>
          <p:cNvSpPr txBox="1"/>
          <p:nvPr/>
        </p:nvSpPr>
        <p:spPr>
          <a:xfrm>
            <a:off x="8686800" y="3767328"/>
            <a:ext cx="3017520" cy="237744"/>
          </a:xfrm>
          <a:prstGeom prst="rect">
            <a:avLst/>
          </a:prstGeom>
          <a:noFill/>
          <a:ln/>
        </p:spPr>
        <p:txBody>
          <a:bodyPr wrap="square" lIns="0" tIns="0" rIns="0" bIns="0" rtlCol="0" anchor="ctr"/>
          <a:lstStyle/>
          <a:p>
            <a:pPr marL="0" indent="0" algn="l">
              <a:buNone/>
            </a:pPr>
            <a:r>
              <a:rPr lang="en-US" sz="1000" dirty="0">
                <a:solidFill>
                  <a:srgbClr val="404040"/>
                </a:solidFill>
                <a:latin typeface="맑은 고딕" pitchFamily="34" charset="0"/>
                <a:ea typeface="맑은 고딕" pitchFamily="34" charset="-122"/>
                <a:cs typeface="맑은 고딕" pitchFamily="34" charset="-120"/>
              </a:rPr>
              <a:t>현재 시점까지만 보고 판단 (실시간과 동일)</a:t>
            </a:r>
            <a:endParaRPr lang="en-US" sz="1000" dirty="0"/>
          </a:p>
        </p:txBody>
      </p:sp>
      <p:sp>
        <p:nvSpPr>
          <p:cNvPr id="129" name="Shape 127"/>
          <p:cNvSpPr/>
          <p:nvPr/>
        </p:nvSpPr>
        <p:spPr>
          <a:xfrm>
            <a:off x="8686800" y="4434840"/>
            <a:ext cx="822960" cy="237744"/>
          </a:xfrm>
          <a:prstGeom prst="rect">
            <a:avLst/>
          </a:prstGeom>
          <a:solidFill>
            <a:srgbClr val="D6E4F0"/>
          </a:solidFill>
          <a:ln w="9525">
            <a:solidFill>
              <a:srgbClr val="7F7F7F"/>
            </a:solidFill>
            <a:prstDash val="solid"/>
          </a:ln>
        </p:spPr>
        <p:txBody>
          <a:bodyPr/>
          <a:lstStyle/>
          <a:p>
            <a:endParaRPr lang="ko-KR" altLang="en-US"/>
          </a:p>
        </p:txBody>
      </p:sp>
      <p:sp>
        <p:nvSpPr>
          <p:cNvPr id="130" name="Shape 128"/>
          <p:cNvSpPr/>
          <p:nvPr/>
        </p:nvSpPr>
        <p:spPr>
          <a:xfrm>
            <a:off x="9966960" y="4434840"/>
            <a:ext cx="822960" cy="237744"/>
          </a:xfrm>
          <a:prstGeom prst="rect">
            <a:avLst/>
          </a:prstGeom>
          <a:solidFill>
            <a:srgbClr val="D6E4F0"/>
          </a:solidFill>
          <a:ln w="9525">
            <a:solidFill>
              <a:srgbClr val="7F7F7F"/>
            </a:solidFill>
            <a:prstDash val="solid"/>
          </a:ln>
        </p:spPr>
        <p:txBody>
          <a:bodyPr/>
          <a:lstStyle/>
          <a:p>
            <a:endParaRPr lang="ko-KR" altLang="en-US"/>
          </a:p>
        </p:txBody>
      </p:sp>
      <p:sp>
        <p:nvSpPr>
          <p:cNvPr id="131" name="Text 129"/>
          <p:cNvSpPr txBox="1"/>
          <p:nvPr/>
        </p:nvSpPr>
        <p:spPr>
          <a:xfrm>
            <a:off x="8686800" y="4434840"/>
            <a:ext cx="822960" cy="237744"/>
          </a:xfrm>
          <a:prstGeom prst="rect">
            <a:avLst/>
          </a:prstGeom>
          <a:noFill/>
          <a:ln/>
        </p:spPr>
        <p:txBody>
          <a:bodyPr wrap="square" lIns="0" tIns="0" rIns="0" bIns="0" rtlCol="0" anchor="ctr"/>
          <a:lstStyle/>
          <a:p>
            <a:pPr marL="0" indent="0" algn="ctr">
              <a:buNone/>
            </a:pPr>
            <a:r>
              <a:rPr lang="en-US" sz="950" dirty="0">
                <a:solidFill>
                  <a:srgbClr val="1F4E79"/>
                </a:solidFill>
                <a:latin typeface="맑은 고딕" pitchFamily="34" charset="0"/>
                <a:ea typeface="맑은 고딕" pitchFamily="34" charset="-122"/>
                <a:cs typeface="맑은 고딕" pitchFamily="34" charset="-120"/>
              </a:rPr>
              <a:t>clip A</a:t>
            </a:r>
            <a:endParaRPr lang="en-US" sz="950" dirty="0"/>
          </a:p>
        </p:txBody>
      </p:sp>
      <p:sp>
        <p:nvSpPr>
          <p:cNvPr id="132" name="Text 130"/>
          <p:cNvSpPr txBox="1"/>
          <p:nvPr/>
        </p:nvSpPr>
        <p:spPr>
          <a:xfrm>
            <a:off x="9966960" y="4434840"/>
            <a:ext cx="822960" cy="237744"/>
          </a:xfrm>
          <a:prstGeom prst="rect">
            <a:avLst/>
          </a:prstGeom>
          <a:noFill/>
          <a:ln/>
        </p:spPr>
        <p:txBody>
          <a:bodyPr wrap="square" lIns="0" tIns="0" rIns="0" bIns="0" rtlCol="0" anchor="ctr"/>
          <a:lstStyle/>
          <a:p>
            <a:pPr marL="0" indent="0" algn="ctr">
              <a:buNone/>
            </a:pPr>
            <a:r>
              <a:rPr lang="en-US" sz="950" dirty="0">
                <a:solidFill>
                  <a:srgbClr val="1F4E79"/>
                </a:solidFill>
                <a:latin typeface="맑은 고딕" pitchFamily="34" charset="0"/>
                <a:ea typeface="맑은 고딕" pitchFamily="34" charset="-122"/>
                <a:cs typeface="맑은 고딕" pitchFamily="34" charset="-120"/>
              </a:rPr>
              <a:t>clip B</a:t>
            </a:r>
            <a:endParaRPr lang="en-US" sz="950" dirty="0"/>
          </a:p>
        </p:txBody>
      </p:sp>
      <p:sp>
        <p:nvSpPr>
          <p:cNvPr id="133" name="Shape 131"/>
          <p:cNvSpPr/>
          <p:nvPr/>
        </p:nvSpPr>
        <p:spPr>
          <a:xfrm>
            <a:off x="9281160" y="4361688"/>
            <a:ext cx="914400" cy="384048"/>
          </a:xfrm>
          <a:prstGeom prst="rect">
            <a:avLst/>
          </a:prstGeom>
          <a:ln w="15875">
            <a:solidFill>
              <a:srgbClr val="C00000"/>
            </a:solidFill>
            <a:prstDash val="dash"/>
          </a:ln>
        </p:spPr>
        <p:txBody>
          <a:bodyPr/>
          <a:lstStyle/>
          <a:p>
            <a:endParaRPr lang="ko-KR" altLang="en-US"/>
          </a:p>
        </p:txBody>
      </p:sp>
      <p:sp>
        <p:nvSpPr>
          <p:cNvPr id="134" name="Shape 132"/>
          <p:cNvSpPr/>
          <p:nvPr/>
        </p:nvSpPr>
        <p:spPr>
          <a:xfrm>
            <a:off x="9665208" y="4480560"/>
            <a:ext cx="146304" cy="146304"/>
          </a:xfrm>
          <a:prstGeom prst="line">
            <a:avLst/>
          </a:prstGeom>
          <a:noFill/>
          <a:ln w="28575">
            <a:solidFill>
              <a:srgbClr val="C00000"/>
            </a:solidFill>
            <a:prstDash val="solid"/>
          </a:ln>
        </p:spPr>
        <p:txBody>
          <a:bodyPr/>
          <a:lstStyle/>
          <a:p>
            <a:endParaRPr lang="ko-KR" altLang="en-US"/>
          </a:p>
        </p:txBody>
      </p:sp>
      <p:sp>
        <p:nvSpPr>
          <p:cNvPr id="135" name="Shape 133"/>
          <p:cNvSpPr/>
          <p:nvPr/>
        </p:nvSpPr>
        <p:spPr>
          <a:xfrm flipV="1">
            <a:off x="9665208" y="4480560"/>
            <a:ext cx="146304" cy="146304"/>
          </a:xfrm>
          <a:prstGeom prst="line">
            <a:avLst/>
          </a:prstGeom>
          <a:noFill/>
          <a:ln w="28575">
            <a:solidFill>
              <a:srgbClr val="C00000"/>
            </a:solidFill>
            <a:prstDash val="solid"/>
          </a:ln>
        </p:spPr>
        <p:txBody>
          <a:bodyPr/>
          <a:lstStyle/>
          <a:p>
            <a:endParaRPr lang="ko-KR" altLang="en-US"/>
          </a:p>
        </p:txBody>
      </p:sp>
      <p:sp>
        <p:nvSpPr>
          <p:cNvPr id="136" name="Text 134"/>
          <p:cNvSpPr txBox="1"/>
          <p:nvPr/>
        </p:nvSpPr>
        <p:spPr>
          <a:xfrm>
            <a:off x="10881360" y="4416552"/>
            <a:ext cx="1097280" cy="274320"/>
          </a:xfrm>
          <a:prstGeom prst="rect">
            <a:avLst/>
          </a:prstGeom>
          <a:noFill/>
          <a:ln/>
        </p:spPr>
        <p:txBody>
          <a:bodyPr wrap="square" lIns="0" tIns="0" rIns="0" bIns="0" rtlCol="0" anchor="ctr"/>
          <a:lstStyle/>
          <a:p>
            <a:pPr marL="0" indent="0" algn="l">
              <a:buNone/>
            </a:pPr>
            <a:r>
              <a:rPr lang="en-US" sz="1150" b="1" dirty="0">
                <a:solidFill>
                  <a:srgbClr val="C00000"/>
                </a:solidFill>
                <a:latin typeface="맑은 고딕" pitchFamily="34" charset="0"/>
                <a:ea typeface="맑은 고딕" pitchFamily="34" charset="-122"/>
                <a:cs typeface="맑은 고딕" pitchFamily="34" charset="-120"/>
              </a:rPr>
              <a:t>경계 넘는 창 X</a:t>
            </a:r>
            <a:endParaRPr lang="en-US" sz="1150" dirty="0"/>
          </a:p>
        </p:txBody>
      </p:sp>
      <p:sp>
        <p:nvSpPr>
          <p:cNvPr id="137" name="Text 135"/>
          <p:cNvSpPr txBox="1"/>
          <p:nvPr/>
        </p:nvSpPr>
        <p:spPr>
          <a:xfrm>
            <a:off x="8686800" y="4764024"/>
            <a:ext cx="3017520" cy="237744"/>
          </a:xfrm>
          <a:prstGeom prst="rect">
            <a:avLst/>
          </a:prstGeom>
          <a:noFill/>
          <a:ln/>
        </p:spPr>
        <p:txBody>
          <a:bodyPr wrap="square" lIns="0" tIns="0" rIns="0" bIns="0" rtlCol="0" anchor="ctr"/>
          <a:lstStyle/>
          <a:p>
            <a:pPr marL="0" indent="0" algn="l">
              <a:buNone/>
            </a:pPr>
            <a:r>
              <a:rPr lang="en-US" sz="1000" dirty="0">
                <a:solidFill>
                  <a:srgbClr val="404040"/>
                </a:solidFill>
                <a:latin typeface="맑은 고딕" pitchFamily="34" charset="0"/>
                <a:ea typeface="맑은 고딕" pitchFamily="34" charset="-122"/>
                <a:cs typeface="맑은 고딕" pitchFamily="34" charset="-120"/>
              </a:rPr>
              <a:t>공백 사이 값을 이어 붙이거나 보간하지 않음</a:t>
            </a:r>
            <a:endParaRPr lang="en-US" sz="1000" dirty="0"/>
          </a:p>
        </p:txBody>
      </p:sp>
      <p:sp>
        <p:nvSpPr>
          <p:cNvPr id="143"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제안방법론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Gaussian Mixture Model</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GMM은</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정상을</a:t>
            </a:r>
            <a:r>
              <a:rPr lang="en-US" sz="2100" dirty="0">
                <a:solidFill>
                  <a:srgbClr val="262626"/>
                </a:solidFill>
                <a:latin typeface="맑은 고딕" pitchFamily="34" charset="0"/>
                <a:ea typeface="맑은 고딕" pitchFamily="34" charset="-122"/>
                <a:cs typeface="맑은 고딕" pitchFamily="34" charset="-120"/>
              </a:rPr>
              <a:t> 어떻게 표현할까?</a:t>
            </a:r>
            <a:endParaRPr lang="en-US" sz="2100" dirty="0"/>
          </a:p>
        </p:txBody>
      </p:sp>
      <mc:AlternateContent xmlns:mc="http://schemas.openxmlformats.org/markup-compatibility/2006" xmlns:a14="http://schemas.microsoft.com/office/drawing/2010/main">
        <mc:Choice Requires="a14">
          <p:sp>
            <p:nvSpPr>
              <p:cNvPr id="5" name="bullets"/>
              <p:cNvSpPr txBox="1"/>
              <p:nvPr/>
            </p:nvSpPr>
            <p:spPr>
              <a:xfrm>
                <a:off x="1280160" y="201168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혼합 분포: 정상 패턴 K개를 각각 종 모양 분포(산) 하나로 보고, </a:t>
                </a:r>
                <a:r>
                  <a:rPr lang="en-US" sz="1600" dirty="0" err="1">
                    <a:solidFill>
                      <a:srgbClr val="262626"/>
                    </a:solidFill>
                    <a:latin typeface="맑은 고딕" pitchFamily="34" charset="0"/>
                    <a:ea typeface="맑은 고딕" pitchFamily="34" charset="-122"/>
                    <a:cs typeface="맑은 고딕" pitchFamily="34" charset="-120"/>
                  </a:rPr>
                  <a:t>비중</a:t>
                </a:r>
                <a:r>
                  <a:rPr lang="en-US" sz="1600" dirty="0">
                    <a:solidFill>
                      <a:srgbClr val="262626"/>
                    </a:solidFill>
                    <a:latin typeface="맑은 고딕" pitchFamily="34" charset="0"/>
                    <a:ea typeface="맑은 고딕" pitchFamily="34" charset="-122"/>
                    <a:cs typeface="맑은 고딕" pitchFamily="34" charset="-120"/>
                  </a:rPr>
                  <a:t> </a:t>
                </a:r>
                <a14:m>
                  <m:oMath xmlns:m="http://schemas.openxmlformats.org/officeDocument/2006/math">
                    <m:sSub>
                      <m:sSubPr>
                        <m:ctrlPr>
                          <a:rPr lang="en-US" sz="1600" b="0" i="1" smtClean="0">
                            <a:solidFill>
                              <a:srgbClr val="262626"/>
                            </a:solidFill>
                            <a:latin typeface="Cambria Math" panose="02040503050406030204" pitchFamily="18" charset="0"/>
                            <a:ea typeface="맑은 고딕" pitchFamily="34" charset="-122"/>
                            <a:cs typeface="맑은 고딕" pitchFamily="34" charset="-120"/>
                          </a:rPr>
                        </m:ctrlPr>
                      </m:sSubPr>
                      <m:e>
                        <m:r>
                          <m:rPr>
                            <m:sty m:val="p"/>
                          </m:rPr>
                          <a:rPr lang="en-US" sz="1600" b="0" i="1" smtClean="0">
                            <a:solidFill>
                              <a:srgbClr val="262626"/>
                            </a:solidFill>
                            <a:latin typeface="Cambria Math" panose="02040503050406030204" pitchFamily="18" charset="0"/>
                            <a:ea typeface="맑은 고딕" pitchFamily="34" charset="-122"/>
                            <a:cs typeface="맑은 고딕" pitchFamily="34" charset="-120"/>
                          </a:rPr>
                          <m:t>π</m:t>
                        </m:r>
                      </m:e>
                      <m:sub>
                        <m:r>
                          <m:rPr>
                            <m:sty m:val="p"/>
                          </m:rPr>
                          <a:rPr lang="en-US" sz="1600" b="0" i="0" smtClean="0">
                            <a:solidFill>
                              <a:srgbClr val="262626"/>
                            </a:solidFill>
                            <a:latin typeface="Cambria Math" panose="02040503050406030204" pitchFamily="18" charset="0"/>
                            <a:ea typeface="맑은 고딕" pitchFamily="34" charset="-122"/>
                            <a:cs typeface="맑은 고딕" pitchFamily="34" charset="-120"/>
                          </a:rPr>
                          <m:t>k</m:t>
                        </m:r>
                      </m:sub>
                    </m:sSub>
                  </m:oMath>
                </a14:m>
                <a:r>
                  <a:rPr lang="en-US" sz="1600" dirty="0" err="1">
                    <a:solidFill>
                      <a:srgbClr val="262626"/>
                    </a:solidFill>
                    <a:latin typeface="맑은 고딕" pitchFamily="34" charset="0"/>
                    <a:ea typeface="맑은 고딕" pitchFamily="34" charset="-122"/>
                    <a:cs typeface="맑은 고딕" pitchFamily="34" charset="-120"/>
                  </a:rPr>
                  <a:t>만큼</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섞어</a:t>
                </a:r>
                <a:r>
                  <a:rPr lang="en-US" sz="1600" dirty="0">
                    <a:solidFill>
                      <a:srgbClr val="262626"/>
                    </a:solidFill>
                    <a:latin typeface="맑은 고딕" pitchFamily="34" charset="0"/>
                    <a:ea typeface="맑은 고딕" pitchFamily="34" charset="-122"/>
                    <a:cs typeface="맑은 고딕" pitchFamily="34" charset="-120"/>
                  </a:rPr>
                  <a:t> </a:t>
                </a:r>
                <a14:m>
                  <m:oMath xmlns:m="http://schemas.openxmlformats.org/officeDocument/2006/math">
                    <m:r>
                      <a:rPr lang="en-US" altLang="ko-KR" sz="1600" i="1">
                        <a:solidFill>
                          <a:srgbClr val="262626"/>
                        </a:solidFill>
                        <a:latin typeface="Cambria Math" panose="02040503050406030204" pitchFamily="18" charset="0"/>
                        <a:ea typeface="맑은 고딕" pitchFamily="34" charset="-122"/>
                        <a:cs typeface="맑은 고딕" pitchFamily="34" charset="-120"/>
                      </a:rPr>
                      <m:t>𝑝</m:t>
                    </m:r>
                    <m:r>
                      <a:rPr lang="en-US" altLang="ko-KR" sz="1600" i="1">
                        <a:solidFill>
                          <a:srgbClr val="262626"/>
                        </a:solidFill>
                        <a:latin typeface="Cambria Math" panose="02040503050406030204" pitchFamily="18" charset="0"/>
                        <a:ea typeface="맑은 고딕" pitchFamily="34" charset="-122"/>
                        <a:cs typeface="맑은 고딕" pitchFamily="34" charset="-120"/>
                      </a:rPr>
                      <m:t>(</m:t>
                    </m:r>
                    <m:r>
                      <a:rPr lang="en-US" altLang="ko-KR" sz="1600" i="1">
                        <a:solidFill>
                          <a:srgbClr val="262626"/>
                        </a:solidFill>
                        <a:latin typeface="Cambria Math" panose="02040503050406030204" pitchFamily="18" charset="0"/>
                        <a:ea typeface="맑은 고딕" pitchFamily="34" charset="-122"/>
                        <a:cs typeface="맑은 고딕" pitchFamily="34" charset="-120"/>
                      </a:rPr>
                      <m:t>𝑧</m:t>
                    </m:r>
                    <m:r>
                      <a:rPr lang="en-US" altLang="ko-KR" sz="1600" i="1">
                        <a:solidFill>
                          <a:srgbClr val="262626"/>
                        </a:solidFill>
                        <a:latin typeface="Cambria Math" panose="02040503050406030204" pitchFamily="18" charset="0"/>
                        <a:ea typeface="맑은 고딕" pitchFamily="34" charset="-122"/>
                        <a:cs typeface="맑은 고딕" pitchFamily="34" charset="-120"/>
                      </a:rPr>
                      <m:t>) </m:t>
                    </m:r>
                  </m:oMath>
                </a14:m>
                <a:r>
                  <a:rPr lang="en-US" sz="1600" dirty="0" err="1">
                    <a:solidFill>
                      <a:srgbClr val="262626"/>
                    </a:solidFill>
                    <a:latin typeface="맑은 고딕" pitchFamily="34" charset="0"/>
                    <a:ea typeface="맑은 고딕" pitchFamily="34" charset="-122"/>
                    <a:cs typeface="맑은 고딕" pitchFamily="34" charset="-120"/>
                  </a:rPr>
                  <a:t>표현</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EM(Expectation–Maximization) 학습: E-step(소속 확률 γ 계산) ↔ M-step(γ 가중평균으로 산 갱신) 반복</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아래는 1차원 · K = 2 예시 (실제 모델: 12차원 창, K = 4, full covariance)</a:t>
                </a:r>
                <a:endParaRPr lang="en-US" sz="1600" dirty="0"/>
              </a:p>
            </p:txBody>
          </p:sp>
        </mc:Choice>
        <mc:Fallback xmlns="">
          <p:sp>
            <p:nvSpPr>
              <p:cNvPr id="5" name="bullets"/>
              <p:cNvSpPr txBox="1">
                <a:spLocks noRot="1" noChangeAspect="1" noMove="1" noResize="1" noEditPoints="1" noAdjustHandles="1" noChangeArrowheads="1" noChangeShapeType="1" noTextEdit="1"/>
              </p:cNvSpPr>
              <p:nvPr/>
            </p:nvSpPr>
            <p:spPr>
              <a:xfrm>
                <a:off x="1280160" y="2011680"/>
                <a:ext cx="10332720" cy="1188720"/>
              </a:xfrm>
              <a:prstGeom prst="rect">
                <a:avLst/>
              </a:prstGeom>
              <a:blipFill>
                <a:blip r:embed="rId3"/>
                <a:stretch>
                  <a:fillRect l="-1298" t="-7179"/>
                </a:stretch>
              </a:blipFill>
              <a:ln/>
            </p:spPr>
            <p:txBody>
              <a:bodyPr/>
              <a:lstStyle/>
              <a:p>
                <a:r>
                  <a:rPr lang="ko-KR" altLang="en-US">
                    <a:noFill/>
                  </a:rPr>
                  <a:t> </a:t>
                </a:r>
              </a:p>
            </p:txBody>
          </p:sp>
        </mc:Fallback>
      </mc:AlternateContent>
      <p:sp>
        <p:nvSpPr>
          <p:cNvPr id="6" name="Shape 4"/>
          <p:cNvSpPr/>
          <p:nvPr/>
        </p:nvSpPr>
        <p:spPr>
          <a:xfrm>
            <a:off x="3310128" y="4114800"/>
            <a:ext cx="237744" cy="91"/>
          </a:xfrm>
          <a:prstGeom prst="line">
            <a:avLst/>
          </a:prstGeom>
          <a:noFill/>
          <a:ln w="22225">
            <a:solidFill>
              <a:srgbClr val="000000"/>
            </a:solidFill>
            <a:prstDash val="solid"/>
            <a:tailEnd type="triangle"/>
          </a:ln>
        </p:spPr>
        <p:txBody>
          <a:bodyPr/>
          <a:lstStyle/>
          <a:p>
            <a:endParaRPr lang="ko-KR" altLang="en-US"/>
          </a:p>
        </p:txBody>
      </p:sp>
      <p:sp>
        <p:nvSpPr>
          <p:cNvPr id="7" name="Shape 5"/>
          <p:cNvSpPr/>
          <p:nvPr/>
        </p:nvSpPr>
        <p:spPr>
          <a:xfrm>
            <a:off x="6190488" y="4114800"/>
            <a:ext cx="237744" cy="91"/>
          </a:xfrm>
          <a:prstGeom prst="line">
            <a:avLst/>
          </a:prstGeom>
          <a:noFill/>
          <a:ln w="22225">
            <a:solidFill>
              <a:srgbClr val="000000"/>
            </a:solidFill>
            <a:prstDash val="solid"/>
            <a:tailEnd type="triangle"/>
          </a:ln>
        </p:spPr>
        <p:txBody>
          <a:bodyPr/>
          <a:lstStyle/>
          <a:p>
            <a:endParaRPr lang="ko-KR" altLang="en-US"/>
          </a:p>
        </p:txBody>
      </p:sp>
      <p:sp>
        <p:nvSpPr>
          <p:cNvPr id="8" name="Shape 6"/>
          <p:cNvSpPr/>
          <p:nvPr/>
        </p:nvSpPr>
        <p:spPr>
          <a:xfrm>
            <a:off x="9070848" y="4114800"/>
            <a:ext cx="237744" cy="91"/>
          </a:xfrm>
          <a:prstGeom prst="line">
            <a:avLst/>
          </a:prstGeom>
          <a:noFill/>
          <a:ln w="22225">
            <a:solidFill>
              <a:srgbClr val="000000"/>
            </a:solidFill>
            <a:prstDash val="solid"/>
            <a:tailEnd type="triangle"/>
          </a:ln>
        </p:spPr>
        <p:txBody>
          <a:bodyPr/>
          <a:lstStyle/>
          <a:p>
            <a:endParaRPr lang="ko-KR" altLang="en-US"/>
          </a:p>
        </p:txBody>
      </p:sp>
      <p:sp>
        <p:nvSpPr>
          <p:cNvPr id="9" name="Text 7"/>
          <p:cNvSpPr txBox="1"/>
          <p:nvPr/>
        </p:nvSpPr>
        <p:spPr>
          <a:xfrm>
            <a:off x="731520" y="3246120"/>
            <a:ext cx="2514600" cy="274320"/>
          </a:xfrm>
          <a:prstGeom prst="rect">
            <a:avLst/>
          </a:prstGeom>
          <a:noFill/>
          <a:ln/>
        </p:spPr>
        <p:txBody>
          <a:bodyPr wrap="square" lIns="0" tIns="0" rIns="0" bIns="0" rtlCol="0" anchor="ctr"/>
          <a:lstStyle/>
          <a:p>
            <a:pPr marL="0" indent="0" algn="l">
              <a:buNone/>
            </a:pPr>
            <a:r>
              <a:rPr lang="en-US" sz="1350" b="1" dirty="0">
                <a:solidFill>
                  <a:srgbClr val="1F4E79"/>
                </a:solidFill>
                <a:latin typeface="맑은 고딕" pitchFamily="34" charset="0"/>
                <a:ea typeface="맑은 고딕" pitchFamily="34" charset="-122"/>
                <a:cs typeface="맑은 고딕" pitchFamily="34" charset="-120"/>
              </a:rPr>
              <a:t>① 초기값: </a:t>
            </a:r>
            <a:r>
              <a:rPr lang="ko-KR" altLang="en-US" sz="1350" b="1" dirty="0">
                <a:solidFill>
                  <a:srgbClr val="1F4E79"/>
                </a:solidFill>
                <a:latin typeface="맑은 고딕" pitchFamily="34" charset="0"/>
                <a:ea typeface="맑은 고딕" pitchFamily="34" charset="-122"/>
                <a:cs typeface="맑은 고딕" pitchFamily="34" charset="-120"/>
              </a:rPr>
              <a:t>분포</a:t>
            </a:r>
            <a:r>
              <a:rPr lang="en-US" sz="1350" b="1" dirty="0">
                <a:solidFill>
                  <a:srgbClr val="1F4E79"/>
                </a:solidFill>
                <a:latin typeface="맑은 고딕" pitchFamily="34" charset="0"/>
                <a:ea typeface="맑은 고딕" pitchFamily="34" charset="-122"/>
                <a:cs typeface="맑은 고딕" pitchFamily="34" charset="-120"/>
              </a:rPr>
              <a:t> 2개 배치</a:t>
            </a:r>
            <a:endParaRPr lang="en-US" sz="1350" dirty="0"/>
          </a:p>
        </p:txBody>
      </p:sp>
      <p:sp>
        <p:nvSpPr>
          <p:cNvPr id="10" name="Shape 8"/>
          <p:cNvSpPr/>
          <p:nvPr/>
        </p:nvSpPr>
        <p:spPr>
          <a:xfrm>
            <a:off x="731520" y="4572000"/>
            <a:ext cx="2514600" cy="91"/>
          </a:xfrm>
          <a:prstGeom prst="line">
            <a:avLst/>
          </a:prstGeom>
          <a:noFill/>
          <a:ln w="12700">
            <a:solidFill>
              <a:srgbClr val="000000"/>
            </a:solidFill>
            <a:prstDash val="solid"/>
          </a:ln>
        </p:spPr>
        <p:txBody>
          <a:bodyPr/>
          <a:lstStyle/>
          <a:p>
            <a:endParaRPr lang="ko-KR" altLang="en-US"/>
          </a:p>
        </p:txBody>
      </p:sp>
      <p:sp>
        <p:nvSpPr>
          <p:cNvPr id="11" name="Shape 9"/>
          <p:cNvSpPr/>
          <p:nvPr/>
        </p:nvSpPr>
        <p:spPr>
          <a:xfrm>
            <a:off x="731520" y="3703320"/>
            <a:ext cx="2514600" cy="868680"/>
          </a:xfrm>
          <a:custGeom>
            <a:avLst/>
            <a:gdLst/>
            <a:ahLst/>
            <a:cxnLst/>
            <a:rect l="l" t="t" r="r" b="b"/>
            <a:pathLst>
              <a:path w="2514600" h="868680">
                <a:moveTo>
                  <a:pt x="0" y="779556"/>
                </a:moveTo>
                <a:lnTo>
                  <a:pt x="31433" y="758641"/>
                </a:lnTo>
                <a:lnTo>
                  <a:pt x="62865" y="734405"/>
                </a:lnTo>
                <a:lnTo>
                  <a:pt x="94298" y="706741"/>
                </a:lnTo>
                <a:lnTo>
                  <a:pt x="125730" y="675657"/>
                </a:lnTo>
                <a:lnTo>
                  <a:pt x="157163" y="641291"/>
                </a:lnTo>
                <a:lnTo>
                  <a:pt x="188595" y="603931"/>
                </a:lnTo>
                <a:lnTo>
                  <a:pt x="220027" y="564030"/>
                </a:lnTo>
                <a:lnTo>
                  <a:pt x="251460" y="522205"/>
                </a:lnTo>
                <a:lnTo>
                  <a:pt x="282892" y="479236"/>
                </a:lnTo>
                <a:lnTo>
                  <a:pt x="314325" y="436045"/>
                </a:lnTo>
                <a:lnTo>
                  <a:pt x="345758" y="393672"/>
                </a:lnTo>
                <a:lnTo>
                  <a:pt x="377190" y="353234"/>
                </a:lnTo>
                <a:lnTo>
                  <a:pt x="408622" y="315879"/>
                </a:lnTo>
                <a:lnTo>
                  <a:pt x="440055" y="282735"/>
                </a:lnTo>
                <a:lnTo>
                  <a:pt x="471488" y="254849"/>
                </a:lnTo>
                <a:lnTo>
                  <a:pt x="502920" y="233139"/>
                </a:lnTo>
                <a:lnTo>
                  <a:pt x="534353" y="218339"/>
                </a:lnTo>
                <a:lnTo>
                  <a:pt x="565785" y="210958"/>
                </a:lnTo>
                <a:lnTo>
                  <a:pt x="597218" y="211255"/>
                </a:lnTo>
                <a:lnTo>
                  <a:pt x="628650" y="219219"/>
                </a:lnTo>
                <a:lnTo>
                  <a:pt x="660083" y="234572"/>
                </a:lnTo>
                <a:lnTo>
                  <a:pt x="691515" y="256785"/>
                </a:lnTo>
                <a:lnTo>
                  <a:pt x="722947" y="285110"/>
                </a:lnTo>
                <a:lnTo>
                  <a:pt x="754380" y="318617"/>
                </a:lnTo>
                <a:lnTo>
                  <a:pt x="785813" y="356250"/>
                </a:lnTo>
                <a:lnTo>
                  <a:pt x="817245" y="396878"/>
                </a:lnTo>
                <a:lnTo>
                  <a:pt x="848678" y="439353"/>
                </a:lnTo>
                <a:lnTo>
                  <a:pt x="880110" y="482562"/>
                </a:lnTo>
                <a:lnTo>
                  <a:pt x="911543" y="525474"/>
                </a:lnTo>
                <a:lnTo>
                  <a:pt x="942975" y="567176"/>
                </a:lnTo>
                <a:lnTo>
                  <a:pt x="974407" y="606902"/>
                </a:lnTo>
                <a:lnTo>
                  <a:pt x="1005840" y="644045"/>
                </a:lnTo>
                <a:lnTo>
                  <a:pt x="1037272" y="678167"/>
                </a:lnTo>
                <a:lnTo>
                  <a:pt x="1068705" y="708991"/>
                </a:lnTo>
                <a:lnTo>
                  <a:pt x="1100138" y="736390"/>
                </a:lnTo>
                <a:lnTo>
                  <a:pt x="1131570" y="760366"/>
                </a:lnTo>
                <a:lnTo>
                  <a:pt x="1163003" y="781032"/>
                </a:lnTo>
                <a:lnTo>
                  <a:pt x="1194435" y="798582"/>
                </a:lnTo>
                <a:lnTo>
                  <a:pt x="1225868" y="813272"/>
                </a:lnTo>
                <a:lnTo>
                  <a:pt x="1257300" y="825395"/>
                </a:lnTo>
                <a:lnTo>
                  <a:pt x="1288732" y="835260"/>
                </a:lnTo>
                <a:lnTo>
                  <a:pt x="1320165" y="843177"/>
                </a:lnTo>
                <a:lnTo>
                  <a:pt x="1351598" y="849446"/>
                </a:lnTo>
                <a:lnTo>
                  <a:pt x="1383030" y="854343"/>
                </a:lnTo>
                <a:lnTo>
                  <a:pt x="1414463" y="858118"/>
                </a:lnTo>
                <a:lnTo>
                  <a:pt x="1445895" y="860990"/>
                </a:lnTo>
                <a:lnTo>
                  <a:pt x="1477328" y="863146"/>
                </a:lnTo>
                <a:lnTo>
                  <a:pt x="1508760" y="864745"/>
                </a:lnTo>
                <a:lnTo>
                  <a:pt x="1540193" y="865914"/>
                </a:lnTo>
                <a:lnTo>
                  <a:pt x="1571625" y="866758"/>
                </a:lnTo>
                <a:lnTo>
                  <a:pt x="1603057" y="867361"/>
                </a:lnTo>
                <a:lnTo>
                  <a:pt x="1634490" y="867785"/>
                </a:lnTo>
                <a:lnTo>
                  <a:pt x="1665923" y="868080"/>
                </a:lnTo>
                <a:lnTo>
                  <a:pt x="1697355" y="868282"/>
                </a:lnTo>
                <a:lnTo>
                  <a:pt x="1728788" y="868419"/>
                </a:lnTo>
                <a:lnTo>
                  <a:pt x="1760220" y="868511"/>
                </a:lnTo>
                <a:lnTo>
                  <a:pt x="1791652" y="868572"/>
                </a:lnTo>
                <a:lnTo>
                  <a:pt x="1823085" y="868612"/>
                </a:lnTo>
                <a:lnTo>
                  <a:pt x="1854518" y="868637"/>
                </a:lnTo>
                <a:lnTo>
                  <a:pt x="1885950" y="868654"/>
                </a:lnTo>
                <a:lnTo>
                  <a:pt x="1917382" y="868664"/>
                </a:lnTo>
                <a:lnTo>
                  <a:pt x="1948815" y="868670"/>
                </a:lnTo>
                <a:lnTo>
                  <a:pt x="1980248" y="868674"/>
                </a:lnTo>
                <a:lnTo>
                  <a:pt x="2011680" y="868677"/>
                </a:lnTo>
                <a:lnTo>
                  <a:pt x="2043113" y="868678"/>
                </a:lnTo>
                <a:lnTo>
                  <a:pt x="2074545" y="868679"/>
                </a:lnTo>
                <a:lnTo>
                  <a:pt x="2105977" y="868679"/>
                </a:lnTo>
                <a:lnTo>
                  <a:pt x="2137410" y="868680"/>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22225">
            <a:solidFill>
              <a:srgbClr val="1F4E79"/>
            </a:solidFill>
            <a:prstDash val="dash"/>
          </a:ln>
        </p:spPr>
        <p:txBody>
          <a:bodyPr/>
          <a:lstStyle/>
          <a:p>
            <a:endParaRPr lang="ko-KR" altLang="en-US"/>
          </a:p>
        </p:txBody>
      </p:sp>
      <p:sp>
        <p:nvSpPr>
          <p:cNvPr id="12" name="Shape 10"/>
          <p:cNvSpPr/>
          <p:nvPr/>
        </p:nvSpPr>
        <p:spPr>
          <a:xfrm>
            <a:off x="731520" y="3703320"/>
            <a:ext cx="2514600" cy="868680"/>
          </a:xfrm>
          <a:custGeom>
            <a:avLst/>
            <a:gdLst/>
            <a:ahLst/>
            <a:cxnLst/>
            <a:rect l="l" t="t" r="r" b="b"/>
            <a:pathLst>
              <a:path w="2514600" h="868680">
                <a:moveTo>
                  <a:pt x="0" y="868668"/>
                </a:moveTo>
                <a:lnTo>
                  <a:pt x="31433" y="868660"/>
                </a:lnTo>
                <a:lnTo>
                  <a:pt x="62865" y="868647"/>
                </a:lnTo>
                <a:lnTo>
                  <a:pt x="94298" y="868627"/>
                </a:lnTo>
                <a:lnTo>
                  <a:pt x="125730" y="868595"/>
                </a:lnTo>
                <a:lnTo>
                  <a:pt x="157163" y="868547"/>
                </a:lnTo>
                <a:lnTo>
                  <a:pt x="188595" y="868473"/>
                </a:lnTo>
                <a:lnTo>
                  <a:pt x="220027" y="868363"/>
                </a:lnTo>
                <a:lnTo>
                  <a:pt x="251460" y="868198"/>
                </a:lnTo>
                <a:lnTo>
                  <a:pt x="282892" y="867957"/>
                </a:lnTo>
                <a:lnTo>
                  <a:pt x="314325" y="867608"/>
                </a:lnTo>
                <a:lnTo>
                  <a:pt x="345758" y="867108"/>
                </a:lnTo>
                <a:lnTo>
                  <a:pt x="377190" y="866403"/>
                </a:lnTo>
                <a:lnTo>
                  <a:pt x="408622" y="865420"/>
                </a:lnTo>
                <a:lnTo>
                  <a:pt x="440055" y="864067"/>
                </a:lnTo>
                <a:lnTo>
                  <a:pt x="471488" y="862229"/>
                </a:lnTo>
                <a:lnTo>
                  <a:pt x="502920" y="859764"/>
                </a:lnTo>
                <a:lnTo>
                  <a:pt x="534353" y="856501"/>
                </a:lnTo>
                <a:lnTo>
                  <a:pt x="565785" y="852237"/>
                </a:lnTo>
                <a:lnTo>
                  <a:pt x="597218" y="846740"/>
                </a:lnTo>
                <a:lnTo>
                  <a:pt x="628650" y="839746"/>
                </a:lnTo>
                <a:lnTo>
                  <a:pt x="660083" y="830967"/>
                </a:lnTo>
                <a:lnTo>
                  <a:pt x="691515" y="820099"/>
                </a:lnTo>
                <a:lnTo>
                  <a:pt x="722947" y="806830"/>
                </a:lnTo>
                <a:lnTo>
                  <a:pt x="754380" y="790854"/>
                </a:lnTo>
                <a:lnTo>
                  <a:pt x="785813" y="771894"/>
                </a:lnTo>
                <a:lnTo>
                  <a:pt x="817245" y="749721"/>
                </a:lnTo>
                <a:lnTo>
                  <a:pt x="848678" y="724173"/>
                </a:lnTo>
                <a:lnTo>
                  <a:pt x="880110" y="695186"/>
                </a:lnTo>
                <a:lnTo>
                  <a:pt x="911543" y="662815"/>
                </a:lnTo>
                <a:lnTo>
                  <a:pt x="942975" y="627255"/>
                </a:lnTo>
                <a:lnTo>
                  <a:pt x="974407" y="588855"/>
                </a:lnTo>
                <a:lnTo>
                  <a:pt x="1005840" y="548132"/>
                </a:lnTo>
                <a:lnTo>
                  <a:pt x="1037272" y="505767"/>
                </a:lnTo>
                <a:lnTo>
                  <a:pt x="1068705" y="462596"/>
                </a:lnTo>
                <a:lnTo>
                  <a:pt x="1100138" y="419592"/>
                </a:lnTo>
                <a:lnTo>
                  <a:pt x="1131570" y="377828"/>
                </a:lnTo>
                <a:lnTo>
                  <a:pt x="1163003" y="338439"/>
                </a:lnTo>
                <a:lnTo>
                  <a:pt x="1194435" y="302573"/>
                </a:lnTo>
                <a:lnTo>
                  <a:pt x="1225868" y="271333"/>
                </a:lnTo>
                <a:lnTo>
                  <a:pt x="1257300" y="245723"/>
                </a:lnTo>
                <a:lnTo>
                  <a:pt x="1288732" y="226596"/>
                </a:lnTo>
                <a:lnTo>
                  <a:pt x="1320165" y="214602"/>
                </a:lnTo>
                <a:lnTo>
                  <a:pt x="1351598" y="210158"/>
                </a:lnTo>
                <a:lnTo>
                  <a:pt x="1383030" y="213420"/>
                </a:lnTo>
                <a:lnTo>
                  <a:pt x="1414463" y="224273"/>
                </a:lnTo>
                <a:lnTo>
                  <a:pt x="1445895" y="242340"/>
                </a:lnTo>
                <a:lnTo>
                  <a:pt x="1477328" y="267004"/>
                </a:lnTo>
                <a:lnTo>
                  <a:pt x="1508760" y="297440"/>
                </a:lnTo>
                <a:lnTo>
                  <a:pt x="1540193" y="332664"/>
                </a:lnTo>
                <a:lnTo>
                  <a:pt x="1571625" y="371584"/>
                </a:lnTo>
                <a:lnTo>
                  <a:pt x="1603057" y="413058"/>
                </a:lnTo>
                <a:lnTo>
                  <a:pt x="1634490" y="455943"/>
                </a:lnTo>
                <a:lnTo>
                  <a:pt x="1665923" y="499154"/>
                </a:lnTo>
                <a:lnTo>
                  <a:pt x="1697355" y="541702"/>
                </a:lnTo>
                <a:lnTo>
                  <a:pt x="1728788" y="582726"/>
                </a:lnTo>
                <a:lnTo>
                  <a:pt x="1760220" y="621521"/>
                </a:lnTo>
                <a:lnTo>
                  <a:pt x="1791652" y="657545"/>
                </a:lnTo>
                <a:lnTo>
                  <a:pt x="1823085" y="690423"/>
                </a:lnTo>
                <a:lnTo>
                  <a:pt x="1854518" y="719937"/>
                </a:lnTo>
                <a:lnTo>
                  <a:pt x="1885950" y="746013"/>
                </a:lnTo>
                <a:lnTo>
                  <a:pt x="1917382" y="768697"/>
                </a:lnTo>
                <a:lnTo>
                  <a:pt x="1948815" y="788138"/>
                </a:lnTo>
                <a:lnTo>
                  <a:pt x="1980248" y="804555"/>
                </a:lnTo>
                <a:lnTo>
                  <a:pt x="2011680" y="818222"/>
                </a:lnTo>
                <a:lnTo>
                  <a:pt x="2043113" y="829439"/>
                </a:lnTo>
                <a:lnTo>
                  <a:pt x="2074545" y="838519"/>
                </a:lnTo>
                <a:lnTo>
                  <a:pt x="2105977" y="845768"/>
                </a:lnTo>
                <a:lnTo>
                  <a:pt x="2137410" y="851478"/>
                </a:lnTo>
                <a:lnTo>
                  <a:pt x="2168843" y="855916"/>
                </a:lnTo>
                <a:lnTo>
                  <a:pt x="2200275" y="859319"/>
                </a:lnTo>
                <a:lnTo>
                  <a:pt x="2231708" y="861895"/>
                </a:lnTo>
                <a:lnTo>
                  <a:pt x="2263140" y="863819"/>
                </a:lnTo>
                <a:lnTo>
                  <a:pt x="2294573" y="865239"/>
                </a:lnTo>
                <a:lnTo>
                  <a:pt x="2326005" y="866272"/>
                </a:lnTo>
                <a:lnTo>
                  <a:pt x="2357438" y="867015"/>
                </a:lnTo>
                <a:lnTo>
                  <a:pt x="2388870" y="867542"/>
                </a:lnTo>
                <a:lnTo>
                  <a:pt x="2420302" y="867911"/>
                </a:lnTo>
                <a:lnTo>
                  <a:pt x="2451735" y="868167"/>
                </a:lnTo>
                <a:lnTo>
                  <a:pt x="2483168" y="868341"/>
                </a:lnTo>
                <a:lnTo>
                  <a:pt x="2514600" y="868459"/>
                </a:lnTo>
              </a:path>
            </a:pathLst>
          </a:custGeom>
          <a:ln w="22225">
            <a:solidFill>
              <a:srgbClr val="C55A11"/>
            </a:solidFill>
            <a:prstDash val="dash"/>
          </a:ln>
        </p:spPr>
        <p:txBody>
          <a:bodyPr/>
          <a:lstStyle/>
          <a:p>
            <a:endParaRPr lang="ko-KR" altLang="en-US"/>
          </a:p>
        </p:txBody>
      </p:sp>
      <p:sp>
        <p:nvSpPr>
          <p:cNvPr id="13" name="Shape 11"/>
          <p:cNvSpPr/>
          <p:nvPr/>
        </p:nvSpPr>
        <p:spPr>
          <a:xfrm>
            <a:off x="883803"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4" name="Shape 12"/>
          <p:cNvSpPr/>
          <p:nvPr/>
        </p:nvSpPr>
        <p:spPr>
          <a:xfrm>
            <a:off x="107723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5" name="Shape 13"/>
          <p:cNvSpPr/>
          <p:nvPr/>
        </p:nvSpPr>
        <p:spPr>
          <a:xfrm>
            <a:off x="127066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6" name="Shape 14"/>
          <p:cNvSpPr/>
          <p:nvPr/>
        </p:nvSpPr>
        <p:spPr>
          <a:xfrm>
            <a:off x="1657526"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7" name="Shape 15"/>
          <p:cNvSpPr/>
          <p:nvPr/>
        </p:nvSpPr>
        <p:spPr>
          <a:xfrm>
            <a:off x="2237818"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8" name="Shape 16"/>
          <p:cNvSpPr/>
          <p:nvPr/>
        </p:nvSpPr>
        <p:spPr>
          <a:xfrm>
            <a:off x="2431249"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19" name="Text 17"/>
          <p:cNvSpPr txBox="1"/>
          <p:nvPr/>
        </p:nvSpPr>
        <p:spPr>
          <a:xfrm>
            <a:off x="731520" y="4754880"/>
            <a:ext cx="2514600" cy="228600"/>
          </a:xfrm>
          <a:prstGeom prst="rect">
            <a:avLst/>
          </a:prstGeom>
          <a:noFill/>
          <a:ln/>
        </p:spPr>
        <p:txBody>
          <a:bodyPr wrap="square" lIns="0" tIns="0" rIns="0" bIns="0" rtlCol="0" anchor="t"/>
          <a:lstStyle/>
          <a:p>
            <a:pPr marL="0" indent="0" algn="l">
              <a:buNone/>
            </a:pPr>
            <a:r>
              <a:rPr lang="en-US" sz="1100" dirty="0">
                <a:solidFill>
                  <a:srgbClr val="262626"/>
                </a:solidFill>
                <a:latin typeface="맑은 고딕" pitchFamily="34" charset="0"/>
                <a:ea typeface="맑은 고딕" pitchFamily="34" charset="-122"/>
                <a:cs typeface="맑은 고딕" pitchFamily="34" charset="-120"/>
              </a:rPr>
              <a:t>정상 데이터 z = 1, 2, 3, 5, 8, 9</a:t>
            </a:r>
            <a:endParaRPr lang="en-US" sz="1100" dirty="0"/>
          </a:p>
        </p:txBody>
      </p:sp>
      <p:sp>
        <p:nvSpPr>
          <p:cNvPr id="20" name="Text 18"/>
          <p:cNvSpPr txBox="1"/>
          <p:nvPr/>
        </p:nvSpPr>
        <p:spPr>
          <a:xfrm>
            <a:off x="731520" y="5029200"/>
            <a:ext cx="2514600" cy="228600"/>
          </a:xfrm>
          <a:prstGeom prst="rect">
            <a:avLst/>
          </a:prstGeom>
          <a:noFill/>
          <a:ln/>
        </p:spPr>
        <p:txBody>
          <a:bodyPr wrap="square" lIns="0" tIns="0" rIns="0" bIns="0" rtlCol="0" anchor="t"/>
          <a:lstStyle/>
          <a:p>
            <a:pPr marL="0" indent="0" algn="l">
              <a:buNone/>
            </a:pPr>
            <a:r>
              <a:rPr lang="ko-KR" altLang="en-US" sz="1100" b="1" dirty="0">
                <a:solidFill>
                  <a:srgbClr val="1F4E79"/>
                </a:solidFill>
                <a:latin typeface="맑은 고딕" pitchFamily="34" charset="0"/>
                <a:ea typeface="맑은 고딕" pitchFamily="34" charset="-122"/>
                <a:cs typeface="맑은 고딕" pitchFamily="34" charset="-120"/>
              </a:rPr>
              <a:t>분포</a:t>
            </a:r>
            <a:r>
              <a:rPr lang="en-US" sz="1100" b="1" dirty="0">
                <a:solidFill>
                  <a:srgbClr val="1F4E79"/>
                </a:solidFill>
                <a:latin typeface="맑은 고딕" pitchFamily="34" charset="0"/>
                <a:ea typeface="맑은 고딕" pitchFamily="34" charset="-122"/>
                <a:cs typeface="맑은 고딕" pitchFamily="34" charset="-120"/>
              </a:rPr>
              <a:t>1  μ = 3,  σ = 1.5,  π = 0.5</a:t>
            </a:r>
            <a:endParaRPr lang="en-US" sz="1100" dirty="0"/>
          </a:p>
        </p:txBody>
      </p:sp>
      <p:sp>
        <p:nvSpPr>
          <p:cNvPr id="21" name="Text 19"/>
          <p:cNvSpPr txBox="1"/>
          <p:nvPr/>
        </p:nvSpPr>
        <p:spPr>
          <a:xfrm>
            <a:off x="731520" y="5285232"/>
            <a:ext cx="2514600" cy="228600"/>
          </a:xfrm>
          <a:prstGeom prst="rect">
            <a:avLst/>
          </a:prstGeom>
          <a:noFill/>
          <a:ln/>
        </p:spPr>
        <p:txBody>
          <a:bodyPr wrap="square" lIns="0" tIns="0" rIns="0" bIns="0" rtlCol="0" anchor="t"/>
          <a:lstStyle/>
          <a:p>
            <a:pPr marL="0" indent="0" algn="l">
              <a:buNone/>
            </a:pPr>
            <a:r>
              <a:rPr lang="ko-KR" altLang="en-US" sz="1100" b="1" dirty="0">
                <a:solidFill>
                  <a:srgbClr val="C55A11"/>
                </a:solidFill>
                <a:latin typeface="맑은 고딕" pitchFamily="34" charset="0"/>
                <a:ea typeface="맑은 고딕" pitchFamily="34" charset="-122"/>
                <a:cs typeface="맑은 고딕" pitchFamily="34" charset="-120"/>
              </a:rPr>
              <a:t>분포</a:t>
            </a:r>
            <a:r>
              <a:rPr lang="en-US" sz="1100" b="1" dirty="0">
                <a:solidFill>
                  <a:srgbClr val="C55A11"/>
                </a:solidFill>
                <a:latin typeface="맑은 고딕" pitchFamily="34" charset="0"/>
                <a:ea typeface="맑은 고딕" pitchFamily="34" charset="-122"/>
                <a:cs typeface="맑은 고딕" pitchFamily="34" charset="-120"/>
              </a:rPr>
              <a:t>2  μ = 7,  σ = 1.5,  π = 0.5</a:t>
            </a:r>
            <a:endParaRPr lang="en-US" sz="1100" dirty="0"/>
          </a:p>
        </p:txBody>
      </p:sp>
      <p:sp>
        <p:nvSpPr>
          <p:cNvPr id="22" name="Text 20"/>
          <p:cNvSpPr txBox="1"/>
          <p:nvPr/>
        </p:nvSpPr>
        <p:spPr>
          <a:xfrm>
            <a:off x="731520" y="5623560"/>
            <a:ext cx="2514600" cy="228600"/>
          </a:xfrm>
          <a:prstGeom prst="rect">
            <a:avLst/>
          </a:prstGeom>
          <a:noFill/>
          <a:ln/>
        </p:spPr>
        <p:txBody>
          <a:bodyPr wrap="square" lIns="0" tIns="0" rIns="0" bIns="0" rtlCol="0" anchor="t"/>
          <a:lstStyle/>
          <a:p>
            <a:pPr marL="0" indent="0" algn="l">
              <a:buNone/>
            </a:pPr>
            <a:r>
              <a:rPr lang="en-US" sz="1100" dirty="0" err="1">
                <a:solidFill>
                  <a:srgbClr val="595959"/>
                </a:solidFill>
                <a:latin typeface="맑은 고딕" pitchFamily="34" charset="0"/>
                <a:ea typeface="맑은 고딕" pitchFamily="34" charset="-122"/>
                <a:cs typeface="맑은 고딕" pitchFamily="34" charset="-120"/>
              </a:rPr>
              <a:t>처음엔</a:t>
            </a:r>
            <a:r>
              <a:rPr lang="en-US" sz="1100" dirty="0">
                <a:solidFill>
                  <a:srgbClr val="595959"/>
                </a:solidFill>
                <a:latin typeface="맑은 고딕" pitchFamily="34" charset="0"/>
                <a:ea typeface="맑은 고딕" pitchFamily="34" charset="-122"/>
                <a:cs typeface="맑은 고딕" pitchFamily="34" charset="-120"/>
              </a:rPr>
              <a:t> </a:t>
            </a:r>
            <a:r>
              <a:rPr lang="ko-KR" altLang="en-US" sz="1100" dirty="0">
                <a:solidFill>
                  <a:srgbClr val="595959"/>
                </a:solidFill>
                <a:latin typeface="맑은 고딕" pitchFamily="34" charset="0"/>
                <a:ea typeface="맑은 고딕" pitchFamily="34" charset="-122"/>
                <a:cs typeface="맑은 고딕" pitchFamily="34" charset="-120"/>
              </a:rPr>
              <a:t>임의의 두 분포로 시작</a:t>
            </a:r>
            <a:endParaRPr lang="en-US" sz="1100" dirty="0"/>
          </a:p>
        </p:txBody>
      </p:sp>
      <p:sp>
        <p:nvSpPr>
          <p:cNvPr id="23" name="Text 21"/>
          <p:cNvSpPr txBox="1"/>
          <p:nvPr/>
        </p:nvSpPr>
        <p:spPr>
          <a:xfrm>
            <a:off x="3611880" y="3246120"/>
            <a:ext cx="2514600" cy="274320"/>
          </a:xfrm>
          <a:prstGeom prst="rect">
            <a:avLst/>
          </a:prstGeom>
          <a:noFill/>
          <a:ln/>
        </p:spPr>
        <p:txBody>
          <a:bodyPr wrap="square" lIns="0" tIns="0" rIns="0" bIns="0" rtlCol="0" anchor="ctr"/>
          <a:lstStyle/>
          <a:p>
            <a:pPr marL="0" indent="0" algn="l">
              <a:buNone/>
            </a:pPr>
            <a:r>
              <a:rPr lang="en-US" sz="1350" b="1" dirty="0">
                <a:solidFill>
                  <a:srgbClr val="1F4E79"/>
                </a:solidFill>
                <a:latin typeface="맑은 고딕" pitchFamily="34" charset="0"/>
                <a:ea typeface="맑은 고딕" pitchFamily="34" charset="-122"/>
                <a:cs typeface="맑은 고딕" pitchFamily="34" charset="-120"/>
              </a:rPr>
              <a:t>② E-step: 소속 확률 γ</a:t>
            </a:r>
            <a:endParaRPr lang="en-US" sz="1350" dirty="0"/>
          </a:p>
        </p:txBody>
      </p:sp>
      <p:sp>
        <p:nvSpPr>
          <p:cNvPr id="24" name="Shape 22"/>
          <p:cNvSpPr/>
          <p:nvPr/>
        </p:nvSpPr>
        <p:spPr>
          <a:xfrm>
            <a:off x="3611880" y="4572000"/>
            <a:ext cx="2514600" cy="91"/>
          </a:xfrm>
          <a:prstGeom prst="line">
            <a:avLst/>
          </a:prstGeom>
          <a:noFill/>
          <a:ln w="12700">
            <a:solidFill>
              <a:srgbClr val="000000"/>
            </a:solidFill>
            <a:prstDash val="solid"/>
          </a:ln>
        </p:spPr>
        <p:txBody>
          <a:bodyPr/>
          <a:lstStyle/>
          <a:p>
            <a:endParaRPr lang="ko-KR" altLang="en-US"/>
          </a:p>
        </p:txBody>
      </p:sp>
      <p:sp>
        <p:nvSpPr>
          <p:cNvPr id="25" name="Shape 23"/>
          <p:cNvSpPr/>
          <p:nvPr/>
        </p:nvSpPr>
        <p:spPr>
          <a:xfrm>
            <a:off x="3611880" y="3703320"/>
            <a:ext cx="2514600" cy="868680"/>
          </a:xfrm>
          <a:custGeom>
            <a:avLst/>
            <a:gdLst/>
            <a:ahLst/>
            <a:cxnLst/>
            <a:rect l="l" t="t" r="r" b="b"/>
            <a:pathLst>
              <a:path w="2514600" h="868680">
                <a:moveTo>
                  <a:pt x="0" y="779556"/>
                </a:moveTo>
                <a:lnTo>
                  <a:pt x="31433" y="758641"/>
                </a:lnTo>
                <a:lnTo>
                  <a:pt x="62865" y="734405"/>
                </a:lnTo>
                <a:lnTo>
                  <a:pt x="94298" y="706741"/>
                </a:lnTo>
                <a:lnTo>
                  <a:pt x="125730" y="675657"/>
                </a:lnTo>
                <a:lnTo>
                  <a:pt x="157163" y="641291"/>
                </a:lnTo>
                <a:lnTo>
                  <a:pt x="188595" y="603931"/>
                </a:lnTo>
                <a:lnTo>
                  <a:pt x="220027" y="564030"/>
                </a:lnTo>
                <a:lnTo>
                  <a:pt x="251460" y="522205"/>
                </a:lnTo>
                <a:lnTo>
                  <a:pt x="282892" y="479236"/>
                </a:lnTo>
                <a:lnTo>
                  <a:pt x="314325" y="436045"/>
                </a:lnTo>
                <a:lnTo>
                  <a:pt x="345758" y="393672"/>
                </a:lnTo>
                <a:lnTo>
                  <a:pt x="377190" y="353234"/>
                </a:lnTo>
                <a:lnTo>
                  <a:pt x="408622" y="315879"/>
                </a:lnTo>
                <a:lnTo>
                  <a:pt x="440055" y="282735"/>
                </a:lnTo>
                <a:lnTo>
                  <a:pt x="471488" y="254849"/>
                </a:lnTo>
                <a:lnTo>
                  <a:pt x="502920" y="233139"/>
                </a:lnTo>
                <a:lnTo>
                  <a:pt x="534353" y="218339"/>
                </a:lnTo>
                <a:lnTo>
                  <a:pt x="565785" y="210958"/>
                </a:lnTo>
                <a:lnTo>
                  <a:pt x="597218" y="211255"/>
                </a:lnTo>
                <a:lnTo>
                  <a:pt x="628650" y="219219"/>
                </a:lnTo>
                <a:lnTo>
                  <a:pt x="660083" y="234572"/>
                </a:lnTo>
                <a:lnTo>
                  <a:pt x="691515" y="256785"/>
                </a:lnTo>
                <a:lnTo>
                  <a:pt x="722947" y="285110"/>
                </a:lnTo>
                <a:lnTo>
                  <a:pt x="754380" y="318617"/>
                </a:lnTo>
                <a:lnTo>
                  <a:pt x="785813" y="356250"/>
                </a:lnTo>
                <a:lnTo>
                  <a:pt x="817245" y="396878"/>
                </a:lnTo>
                <a:lnTo>
                  <a:pt x="848678" y="439353"/>
                </a:lnTo>
                <a:lnTo>
                  <a:pt x="880110" y="482562"/>
                </a:lnTo>
                <a:lnTo>
                  <a:pt x="911543" y="525474"/>
                </a:lnTo>
                <a:lnTo>
                  <a:pt x="942975" y="567176"/>
                </a:lnTo>
                <a:lnTo>
                  <a:pt x="974407" y="606902"/>
                </a:lnTo>
                <a:lnTo>
                  <a:pt x="1005840" y="644045"/>
                </a:lnTo>
                <a:lnTo>
                  <a:pt x="1037272" y="678167"/>
                </a:lnTo>
                <a:lnTo>
                  <a:pt x="1068705" y="708991"/>
                </a:lnTo>
                <a:lnTo>
                  <a:pt x="1100138" y="736390"/>
                </a:lnTo>
                <a:lnTo>
                  <a:pt x="1131570" y="760366"/>
                </a:lnTo>
                <a:lnTo>
                  <a:pt x="1163003" y="781032"/>
                </a:lnTo>
                <a:lnTo>
                  <a:pt x="1194435" y="798582"/>
                </a:lnTo>
                <a:lnTo>
                  <a:pt x="1225868" y="813272"/>
                </a:lnTo>
                <a:lnTo>
                  <a:pt x="1257300" y="825395"/>
                </a:lnTo>
                <a:lnTo>
                  <a:pt x="1288732" y="835260"/>
                </a:lnTo>
                <a:lnTo>
                  <a:pt x="1320165" y="843177"/>
                </a:lnTo>
                <a:lnTo>
                  <a:pt x="1351598" y="849446"/>
                </a:lnTo>
                <a:lnTo>
                  <a:pt x="1383030" y="854343"/>
                </a:lnTo>
                <a:lnTo>
                  <a:pt x="1414463" y="858118"/>
                </a:lnTo>
                <a:lnTo>
                  <a:pt x="1445895" y="860990"/>
                </a:lnTo>
                <a:lnTo>
                  <a:pt x="1477328" y="863146"/>
                </a:lnTo>
                <a:lnTo>
                  <a:pt x="1508760" y="864745"/>
                </a:lnTo>
                <a:lnTo>
                  <a:pt x="1540193" y="865914"/>
                </a:lnTo>
                <a:lnTo>
                  <a:pt x="1571625" y="866758"/>
                </a:lnTo>
                <a:lnTo>
                  <a:pt x="1603057" y="867361"/>
                </a:lnTo>
                <a:lnTo>
                  <a:pt x="1634490" y="867785"/>
                </a:lnTo>
                <a:lnTo>
                  <a:pt x="1665923" y="868080"/>
                </a:lnTo>
                <a:lnTo>
                  <a:pt x="1697355" y="868282"/>
                </a:lnTo>
                <a:lnTo>
                  <a:pt x="1728788" y="868419"/>
                </a:lnTo>
                <a:lnTo>
                  <a:pt x="1760220" y="868511"/>
                </a:lnTo>
                <a:lnTo>
                  <a:pt x="1791652" y="868572"/>
                </a:lnTo>
                <a:lnTo>
                  <a:pt x="1823085" y="868612"/>
                </a:lnTo>
                <a:lnTo>
                  <a:pt x="1854518" y="868637"/>
                </a:lnTo>
                <a:lnTo>
                  <a:pt x="1885950" y="868654"/>
                </a:lnTo>
                <a:lnTo>
                  <a:pt x="1917382" y="868664"/>
                </a:lnTo>
                <a:lnTo>
                  <a:pt x="1948815" y="868670"/>
                </a:lnTo>
                <a:lnTo>
                  <a:pt x="1980248" y="868674"/>
                </a:lnTo>
                <a:lnTo>
                  <a:pt x="2011680" y="868677"/>
                </a:lnTo>
                <a:lnTo>
                  <a:pt x="2043113" y="868678"/>
                </a:lnTo>
                <a:lnTo>
                  <a:pt x="2074545" y="868679"/>
                </a:lnTo>
                <a:lnTo>
                  <a:pt x="2105977" y="868679"/>
                </a:lnTo>
                <a:lnTo>
                  <a:pt x="2137410" y="868680"/>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15875">
            <a:solidFill>
              <a:srgbClr val="1F4E79"/>
            </a:solidFill>
            <a:prstDash val="dash"/>
          </a:ln>
        </p:spPr>
        <p:txBody>
          <a:bodyPr/>
          <a:lstStyle/>
          <a:p>
            <a:endParaRPr lang="ko-KR" altLang="en-US"/>
          </a:p>
        </p:txBody>
      </p:sp>
      <p:sp>
        <p:nvSpPr>
          <p:cNvPr id="26" name="Shape 24"/>
          <p:cNvSpPr/>
          <p:nvPr/>
        </p:nvSpPr>
        <p:spPr>
          <a:xfrm>
            <a:off x="3611880" y="3703320"/>
            <a:ext cx="2514600" cy="868680"/>
          </a:xfrm>
          <a:custGeom>
            <a:avLst/>
            <a:gdLst/>
            <a:ahLst/>
            <a:cxnLst/>
            <a:rect l="l" t="t" r="r" b="b"/>
            <a:pathLst>
              <a:path w="2514600" h="868680">
                <a:moveTo>
                  <a:pt x="0" y="868668"/>
                </a:moveTo>
                <a:lnTo>
                  <a:pt x="31433" y="868660"/>
                </a:lnTo>
                <a:lnTo>
                  <a:pt x="62865" y="868647"/>
                </a:lnTo>
                <a:lnTo>
                  <a:pt x="94298" y="868627"/>
                </a:lnTo>
                <a:lnTo>
                  <a:pt x="125730" y="868595"/>
                </a:lnTo>
                <a:lnTo>
                  <a:pt x="157163" y="868547"/>
                </a:lnTo>
                <a:lnTo>
                  <a:pt x="188595" y="868473"/>
                </a:lnTo>
                <a:lnTo>
                  <a:pt x="220027" y="868363"/>
                </a:lnTo>
                <a:lnTo>
                  <a:pt x="251460" y="868198"/>
                </a:lnTo>
                <a:lnTo>
                  <a:pt x="282892" y="867957"/>
                </a:lnTo>
                <a:lnTo>
                  <a:pt x="314325" y="867608"/>
                </a:lnTo>
                <a:lnTo>
                  <a:pt x="345758" y="867108"/>
                </a:lnTo>
                <a:lnTo>
                  <a:pt x="377190" y="866403"/>
                </a:lnTo>
                <a:lnTo>
                  <a:pt x="408622" y="865420"/>
                </a:lnTo>
                <a:lnTo>
                  <a:pt x="440055" y="864067"/>
                </a:lnTo>
                <a:lnTo>
                  <a:pt x="471488" y="862229"/>
                </a:lnTo>
                <a:lnTo>
                  <a:pt x="502920" y="859764"/>
                </a:lnTo>
                <a:lnTo>
                  <a:pt x="534353" y="856501"/>
                </a:lnTo>
                <a:lnTo>
                  <a:pt x="565785" y="852237"/>
                </a:lnTo>
                <a:lnTo>
                  <a:pt x="597218" y="846740"/>
                </a:lnTo>
                <a:lnTo>
                  <a:pt x="628650" y="839746"/>
                </a:lnTo>
                <a:lnTo>
                  <a:pt x="660083" y="830967"/>
                </a:lnTo>
                <a:lnTo>
                  <a:pt x="691515" y="820099"/>
                </a:lnTo>
                <a:lnTo>
                  <a:pt x="722947" y="806830"/>
                </a:lnTo>
                <a:lnTo>
                  <a:pt x="754380" y="790854"/>
                </a:lnTo>
                <a:lnTo>
                  <a:pt x="785813" y="771894"/>
                </a:lnTo>
                <a:lnTo>
                  <a:pt x="817245" y="749721"/>
                </a:lnTo>
                <a:lnTo>
                  <a:pt x="848678" y="724173"/>
                </a:lnTo>
                <a:lnTo>
                  <a:pt x="880110" y="695186"/>
                </a:lnTo>
                <a:lnTo>
                  <a:pt x="911543" y="662815"/>
                </a:lnTo>
                <a:lnTo>
                  <a:pt x="942975" y="627255"/>
                </a:lnTo>
                <a:lnTo>
                  <a:pt x="974407" y="588855"/>
                </a:lnTo>
                <a:lnTo>
                  <a:pt x="1005840" y="548132"/>
                </a:lnTo>
                <a:lnTo>
                  <a:pt x="1037272" y="505767"/>
                </a:lnTo>
                <a:lnTo>
                  <a:pt x="1068705" y="462596"/>
                </a:lnTo>
                <a:lnTo>
                  <a:pt x="1100138" y="419592"/>
                </a:lnTo>
                <a:lnTo>
                  <a:pt x="1131570" y="377828"/>
                </a:lnTo>
                <a:lnTo>
                  <a:pt x="1163003" y="338439"/>
                </a:lnTo>
                <a:lnTo>
                  <a:pt x="1194435" y="302573"/>
                </a:lnTo>
                <a:lnTo>
                  <a:pt x="1225868" y="271333"/>
                </a:lnTo>
                <a:lnTo>
                  <a:pt x="1257300" y="245723"/>
                </a:lnTo>
                <a:lnTo>
                  <a:pt x="1288732" y="226596"/>
                </a:lnTo>
                <a:lnTo>
                  <a:pt x="1320165" y="214602"/>
                </a:lnTo>
                <a:lnTo>
                  <a:pt x="1351598" y="210158"/>
                </a:lnTo>
                <a:lnTo>
                  <a:pt x="1383030" y="213420"/>
                </a:lnTo>
                <a:lnTo>
                  <a:pt x="1414463" y="224273"/>
                </a:lnTo>
                <a:lnTo>
                  <a:pt x="1445895" y="242340"/>
                </a:lnTo>
                <a:lnTo>
                  <a:pt x="1477328" y="267004"/>
                </a:lnTo>
                <a:lnTo>
                  <a:pt x="1508760" y="297440"/>
                </a:lnTo>
                <a:lnTo>
                  <a:pt x="1540193" y="332664"/>
                </a:lnTo>
                <a:lnTo>
                  <a:pt x="1571625" y="371584"/>
                </a:lnTo>
                <a:lnTo>
                  <a:pt x="1603057" y="413058"/>
                </a:lnTo>
                <a:lnTo>
                  <a:pt x="1634490" y="455943"/>
                </a:lnTo>
                <a:lnTo>
                  <a:pt x="1665923" y="499154"/>
                </a:lnTo>
                <a:lnTo>
                  <a:pt x="1697355" y="541702"/>
                </a:lnTo>
                <a:lnTo>
                  <a:pt x="1728788" y="582726"/>
                </a:lnTo>
                <a:lnTo>
                  <a:pt x="1760220" y="621521"/>
                </a:lnTo>
                <a:lnTo>
                  <a:pt x="1791652" y="657545"/>
                </a:lnTo>
                <a:lnTo>
                  <a:pt x="1823085" y="690423"/>
                </a:lnTo>
                <a:lnTo>
                  <a:pt x="1854518" y="719937"/>
                </a:lnTo>
                <a:lnTo>
                  <a:pt x="1885950" y="746013"/>
                </a:lnTo>
                <a:lnTo>
                  <a:pt x="1917382" y="768697"/>
                </a:lnTo>
                <a:lnTo>
                  <a:pt x="1948815" y="788138"/>
                </a:lnTo>
                <a:lnTo>
                  <a:pt x="1980248" y="804555"/>
                </a:lnTo>
                <a:lnTo>
                  <a:pt x="2011680" y="818222"/>
                </a:lnTo>
                <a:lnTo>
                  <a:pt x="2043113" y="829439"/>
                </a:lnTo>
                <a:lnTo>
                  <a:pt x="2074545" y="838519"/>
                </a:lnTo>
                <a:lnTo>
                  <a:pt x="2105977" y="845768"/>
                </a:lnTo>
                <a:lnTo>
                  <a:pt x="2137410" y="851478"/>
                </a:lnTo>
                <a:lnTo>
                  <a:pt x="2168843" y="855916"/>
                </a:lnTo>
                <a:lnTo>
                  <a:pt x="2200275" y="859319"/>
                </a:lnTo>
                <a:lnTo>
                  <a:pt x="2231708" y="861895"/>
                </a:lnTo>
                <a:lnTo>
                  <a:pt x="2263140" y="863819"/>
                </a:lnTo>
                <a:lnTo>
                  <a:pt x="2294573" y="865239"/>
                </a:lnTo>
                <a:lnTo>
                  <a:pt x="2326005" y="866272"/>
                </a:lnTo>
                <a:lnTo>
                  <a:pt x="2357438" y="867015"/>
                </a:lnTo>
                <a:lnTo>
                  <a:pt x="2388870" y="867542"/>
                </a:lnTo>
                <a:lnTo>
                  <a:pt x="2420302" y="867911"/>
                </a:lnTo>
                <a:lnTo>
                  <a:pt x="2451735" y="868167"/>
                </a:lnTo>
                <a:lnTo>
                  <a:pt x="2483168" y="868341"/>
                </a:lnTo>
                <a:lnTo>
                  <a:pt x="2514600" y="868459"/>
                </a:lnTo>
              </a:path>
            </a:pathLst>
          </a:custGeom>
          <a:ln w="15875">
            <a:solidFill>
              <a:srgbClr val="C55A11"/>
            </a:solidFill>
            <a:prstDash val="dash"/>
          </a:ln>
        </p:spPr>
        <p:txBody>
          <a:bodyPr/>
          <a:lstStyle/>
          <a:p>
            <a:endParaRPr lang="ko-KR" altLang="en-US"/>
          </a:p>
        </p:txBody>
      </p:sp>
      <p:sp>
        <p:nvSpPr>
          <p:cNvPr id="27" name="Shape 25"/>
          <p:cNvSpPr/>
          <p:nvPr/>
        </p:nvSpPr>
        <p:spPr>
          <a:xfrm>
            <a:off x="3750447" y="4645152"/>
            <a:ext cx="109728" cy="384048"/>
          </a:xfrm>
          <a:prstGeom prst="rect">
            <a:avLst/>
          </a:prstGeom>
          <a:solidFill>
            <a:srgbClr val="1F4E79"/>
          </a:solidFill>
          <a:ln w="6350">
            <a:solidFill>
              <a:srgbClr val="1F4E79"/>
            </a:solidFill>
            <a:prstDash val="solid"/>
          </a:ln>
        </p:spPr>
        <p:txBody>
          <a:bodyPr/>
          <a:lstStyle/>
          <a:p>
            <a:endParaRPr lang="ko-KR" altLang="en-US"/>
          </a:p>
        </p:txBody>
      </p:sp>
      <p:sp>
        <p:nvSpPr>
          <p:cNvPr id="28" name="Shape 26"/>
          <p:cNvSpPr/>
          <p:nvPr/>
        </p:nvSpPr>
        <p:spPr>
          <a:xfrm>
            <a:off x="3750447" y="5029200"/>
            <a:ext cx="109728" cy="914"/>
          </a:xfrm>
          <a:prstGeom prst="rect">
            <a:avLst/>
          </a:prstGeom>
          <a:solidFill>
            <a:srgbClr val="C55A11"/>
          </a:solidFill>
          <a:ln w="6350">
            <a:solidFill>
              <a:srgbClr val="C55A11"/>
            </a:solidFill>
            <a:prstDash val="solid"/>
          </a:ln>
        </p:spPr>
        <p:txBody>
          <a:bodyPr/>
          <a:lstStyle/>
          <a:p>
            <a:endParaRPr lang="ko-KR" altLang="en-US"/>
          </a:p>
        </p:txBody>
      </p:sp>
      <p:sp>
        <p:nvSpPr>
          <p:cNvPr id="29" name="Shape 27"/>
          <p:cNvSpPr/>
          <p:nvPr/>
        </p:nvSpPr>
        <p:spPr>
          <a:xfrm>
            <a:off x="3764163"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30" name="Shape 28"/>
          <p:cNvSpPr/>
          <p:nvPr/>
        </p:nvSpPr>
        <p:spPr>
          <a:xfrm>
            <a:off x="3943878" y="4645152"/>
            <a:ext cx="109728" cy="384048"/>
          </a:xfrm>
          <a:prstGeom prst="rect">
            <a:avLst/>
          </a:prstGeom>
          <a:solidFill>
            <a:srgbClr val="1F4E79"/>
          </a:solidFill>
          <a:ln w="6350">
            <a:solidFill>
              <a:srgbClr val="1F4E79"/>
            </a:solidFill>
            <a:prstDash val="solid"/>
          </a:ln>
        </p:spPr>
        <p:txBody>
          <a:bodyPr/>
          <a:lstStyle/>
          <a:p>
            <a:endParaRPr lang="ko-KR" altLang="en-US"/>
          </a:p>
        </p:txBody>
      </p:sp>
      <p:sp>
        <p:nvSpPr>
          <p:cNvPr id="31" name="Shape 29"/>
          <p:cNvSpPr/>
          <p:nvPr/>
        </p:nvSpPr>
        <p:spPr>
          <a:xfrm>
            <a:off x="3943878" y="5029200"/>
            <a:ext cx="109728" cy="914"/>
          </a:xfrm>
          <a:prstGeom prst="rect">
            <a:avLst/>
          </a:prstGeom>
          <a:solidFill>
            <a:srgbClr val="C55A11"/>
          </a:solidFill>
          <a:ln w="6350">
            <a:solidFill>
              <a:srgbClr val="C55A11"/>
            </a:solidFill>
            <a:prstDash val="solid"/>
          </a:ln>
        </p:spPr>
        <p:txBody>
          <a:bodyPr/>
          <a:lstStyle/>
          <a:p>
            <a:endParaRPr lang="ko-KR" altLang="en-US"/>
          </a:p>
        </p:txBody>
      </p:sp>
      <p:sp>
        <p:nvSpPr>
          <p:cNvPr id="32" name="Shape 30"/>
          <p:cNvSpPr/>
          <p:nvPr/>
        </p:nvSpPr>
        <p:spPr>
          <a:xfrm>
            <a:off x="395759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33" name="Shape 31"/>
          <p:cNvSpPr/>
          <p:nvPr/>
        </p:nvSpPr>
        <p:spPr>
          <a:xfrm>
            <a:off x="4137308" y="4645152"/>
            <a:ext cx="109728" cy="372527"/>
          </a:xfrm>
          <a:prstGeom prst="rect">
            <a:avLst/>
          </a:prstGeom>
          <a:solidFill>
            <a:srgbClr val="1F4E79"/>
          </a:solidFill>
          <a:ln w="6350">
            <a:solidFill>
              <a:srgbClr val="1F4E79"/>
            </a:solidFill>
            <a:prstDash val="solid"/>
          </a:ln>
        </p:spPr>
        <p:txBody>
          <a:bodyPr/>
          <a:lstStyle/>
          <a:p>
            <a:endParaRPr lang="ko-KR" altLang="en-US"/>
          </a:p>
        </p:txBody>
      </p:sp>
      <p:sp>
        <p:nvSpPr>
          <p:cNvPr id="34" name="Shape 32"/>
          <p:cNvSpPr/>
          <p:nvPr/>
        </p:nvSpPr>
        <p:spPr>
          <a:xfrm>
            <a:off x="4137308" y="5017679"/>
            <a:ext cx="109728" cy="11521"/>
          </a:xfrm>
          <a:prstGeom prst="rect">
            <a:avLst/>
          </a:prstGeom>
          <a:solidFill>
            <a:srgbClr val="C55A11"/>
          </a:solidFill>
          <a:ln w="6350">
            <a:solidFill>
              <a:srgbClr val="C55A11"/>
            </a:solidFill>
            <a:prstDash val="solid"/>
          </a:ln>
        </p:spPr>
        <p:txBody>
          <a:bodyPr/>
          <a:lstStyle/>
          <a:p>
            <a:endParaRPr lang="ko-KR" altLang="en-US"/>
          </a:p>
        </p:txBody>
      </p:sp>
      <p:sp>
        <p:nvSpPr>
          <p:cNvPr id="35" name="Shape 33"/>
          <p:cNvSpPr/>
          <p:nvPr/>
        </p:nvSpPr>
        <p:spPr>
          <a:xfrm>
            <a:off x="415102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36" name="Shape 34"/>
          <p:cNvSpPr/>
          <p:nvPr/>
        </p:nvSpPr>
        <p:spPr>
          <a:xfrm>
            <a:off x="4524170" y="4645152"/>
            <a:ext cx="109728" cy="192024"/>
          </a:xfrm>
          <a:prstGeom prst="rect">
            <a:avLst/>
          </a:prstGeom>
          <a:solidFill>
            <a:srgbClr val="1F4E79"/>
          </a:solidFill>
          <a:ln w="6350">
            <a:solidFill>
              <a:srgbClr val="1F4E79"/>
            </a:solidFill>
            <a:prstDash val="solid"/>
          </a:ln>
        </p:spPr>
        <p:txBody>
          <a:bodyPr/>
          <a:lstStyle/>
          <a:p>
            <a:endParaRPr lang="ko-KR" altLang="en-US"/>
          </a:p>
        </p:txBody>
      </p:sp>
      <p:sp>
        <p:nvSpPr>
          <p:cNvPr id="37" name="Shape 35"/>
          <p:cNvSpPr/>
          <p:nvPr/>
        </p:nvSpPr>
        <p:spPr>
          <a:xfrm>
            <a:off x="4524170" y="4837176"/>
            <a:ext cx="109728" cy="192024"/>
          </a:xfrm>
          <a:prstGeom prst="rect">
            <a:avLst/>
          </a:prstGeom>
          <a:solidFill>
            <a:srgbClr val="C55A11"/>
          </a:solidFill>
          <a:ln w="6350">
            <a:solidFill>
              <a:srgbClr val="C55A11"/>
            </a:solidFill>
            <a:prstDash val="solid"/>
          </a:ln>
        </p:spPr>
        <p:txBody>
          <a:bodyPr/>
          <a:lstStyle/>
          <a:p>
            <a:endParaRPr lang="ko-KR" altLang="en-US"/>
          </a:p>
        </p:txBody>
      </p:sp>
      <p:sp>
        <p:nvSpPr>
          <p:cNvPr id="38" name="Shape 36"/>
          <p:cNvSpPr/>
          <p:nvPr/>
        </p:nvSpPr>
        <p:spPr>
          <a:xfrm>
            <a:off x="4537886"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39" name="Shape 37"/>
          <p:cNvSpPr/>
          <p:nvPr/>
        </p:nvSpPr>
        <p:spPr>
          <a:xfrm>
            <a:off x="5104462" y="4645152"/>
            <a:ext cx="109728" cy="914"/>
          </a:xfrm>
          <a:prstGeom prst="rect">
            <a:avLst/>
          </a:prstGeom>
          <a:solidFill>
            <a:srgbClr val="1F4E79"/>
          </a:solidFill>
          <a:ln w="6350">
            <a:solidFill>
              <a:srgbClr val="1F4E79"/>
            </a:solidFill>
            <a:prstDash val="solid"/>
          </a:ln>
        </p:spPr>
        <p:txBody>
          <a:bodyPr/>
          <a:lstStyle/>
          <a:p>
            <a:endParaRPr lang="ko-KR" altLang="en-US"/>
          </a:p>
        </p:txBody>
      </p:sp>
      <p:sp>
        <p:nvSpPr>
          <p:cNvPr id="40" name="Shape 38"/>
          <p:cNvSpPr/>
          <p:nvPr/>
        </p:nvSpPr>
        <p:spPr>
          <a:xfrm>
            <a:off x="5104462" y="4645152"/>
            <a:ext cx="109728" cy="384048"/>
          </a:xfrm>
          <a:prstGeom prst="rect">
            <a:avLst/>
          </a:prstGeom>
          <a:solidFill>
            <a:srgbClr val="C55A11"/>
          </a:solidFill>
          <a:ln w="6350">
            <a:solidFill>
              <a:srgbClr val="C55A11"/>
            </a:solidFill>
            <a:prstDash val="solid"/>
          </a:ln>
        </p:spPr>
        <p:txBody>
          <a:bodyPr/>
          <a:lstStyle/>
          <a:p>
            <a:endParaRPr lang="ko-KR" altLang="en-US"/>
          </a:p>
        </p:txBody>
      </p:sp>
      <p:sp>
        <p:nvSpPr>
          <p:cNvPr id="41" name="Shape 39"/>
          <p:cNvSpPr/>
          <p:nvPr/>
        </p:nvSpPr>
        <p:spPr>
          <a:xfrm>
            <a:off x="5118178"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42" name="Shape 40"/>
          <p:cNvSpPr/>
          <p:nvPr/>
        </p:nvSpPr>
        <p:spPr>
          <a:xfrm>
            <a:off x="5297893" y="4645152"/>
            <a:ext cx="109728" cy="914"/>
          </a:xfrm>
          <a:prstGeom prst="rect">
            <a:avLst/>
          </a:prstGeom>
          <a:solidFill>
            <a:srgbClr val="1F4E79"/>
          </a:solidFill>
          <a:ln w="6350">
            <a:solidFill>
              <a:srgbClr val="1F4E79"/>
            </a:solidFill>
            <a:prstDash val="solid"/>
          </a:ln>
        </p:spPr>
        <p:txBody>
          <a:bodyPr/>
          <a:lstStyle/>
          <a:p>
            <a:endParaRPr lang="ko-KR" altLang="en-US"/>
          </a:p>
        </p:txBody>
      </p:sp>
      <p:sp>
        <p:nvSpPr>
          <p:cNvPr id="43" name="Shape 41"/>
          <p:cNvSpPr/>
          <p:nvPr/>
        </p:nvSpPr>
        <p:spPr>
          <a:xfrm>
            <a:off x="5297893" y="4645152"/>
            <a:ext cx="109728" cy="384048"/>
          </a:xfrm>
          <a:prstGeom prst="rect">
            <a:avLst/>
          </a:prstGeom>
          <a:solidFill>
            <a:srgbClr val="C55A11"/>
          </a:solidFill>
          <a:ln w="6350">
            <a:solidFill>
              <a:srgbClr val="C55A11"/>
            </a:solidFill>
            <a:prstDash val="solid"/>
          </a:ln>
        </p:spPr>
        <p:txBody>
          <a:bodyPr/>
          <a:lstStyle/>
          <a:p>
            <a:endParaRPr lang="ko-KR" altLang="en-US"/>
          </a:p>
        </p:txBody>
      </p:sp>
      <p:sp>
        <p:nvSpPr>
          <p:cNvPr id="44" name="Shape 42"/>
          <p:cNvSpPr/>
          <p:nvPr/>
        </p:nvSpPr>
        <p:spPr>
          <a:xfrm>
            <a:off x="5311609"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45" name="Text 43"/>
          <p:cNvSpPr txBox="1"/>
          <p:nvPr/>
        </p:nvSpPr>
        <p:spPr>
          <a:xfrm>
            <a:off x="3611880" y="5120640"/>
            <a:ext cx="2697480" cy="228600"/>
          </a:xfrm>
          <a:prstGeom prst="rect">
            <a:avLst/>
          </a:prstGeom>
          <a:noFill/>
          <a:ln/>
        </p:spPr>
        <p:txBody>
          <a:bodyPr wrap="square" lIns="0" tIns="0" rIns="0" bIns="0" rtlCol="0" anchor="t"/>
          <a:lstStyle/>
          <a:p>
            <a:pPr marL="0" indent="0" algn="l">
              <a:buNone/>
            </a:pPr>
            <a:r>
              <a:rPr lang="en-US" sz="1050" dirty="0">
                <a:solidFill>
                  <a:srgbClr val="595959"/>
                </a:solidFill>
                <a:latin typeface="맑은 고딕" pitchFamily="34" charset="0"/>
                <a:ea typeface="맑은 고딕" pitchFamily="34" charset="-122"/>
                <a:cs typeface="맑은 고딕" pitchFamily="34" charset="-120"/>
              </a:rPr>
              <a:t>막대 = </a:t>
            </a:r>
            <a:r>
              <a:rPr lang="ko-KR" altLang="en-US" sz="1050" dirty="0">
                <a:solidFill>
                  <a:srgbClr val="595959"/>
                </a:solidFill>
                <a:latin typeface="맑은 고딕" pitchFamily="34" charset="0"/>
                <a:ea typeface="맑은 고딕" pitchFamily="34" charset="-122"/>
                <a:cs typeface="맑은 고딕" pitchFamily="34" charset="-120"/>
              </a:rPr>
              <a:t>분포</a:t>
            </a:r>
            <a:r>
              <a:rPr lang="en-US" sz="1050" dirty="0">
                <a:solidFill>
                  <a:srgbClr val="595959"/>
                </a:solidFill>
                <a:latin typeface="맑은 고딕" pitchFamily="34" charset="0"/>
                <a:ea typeface="맑은 고딕" pitchFamily="34" charset="-122"/>
                <a:cs typeface="맑은 고딕" pitchFamily="34" charset="-120"/>
              </a:rPr>
              <a:t>1(파랑) : </a:t>
            </a:r>
            <a:r>
              <a:rPr lang="ko-KR" altLang="en-US" sz="1050" dirty="0">
                <a:solidFill>
                  <a:srgbClr val="595959"/>
                </a:solidFill>
                <a:latin typeface="맑은 고딕" pitchFamily="34" charset="0"/>
                <a:ea typeface="맑은 고딕" pitchFamily="34" charset="-122"/>
                <a:cs typeface="맑은 고딕" pitchFamily="34" charset="-120"/>
              </a:rPr>
              <a:t>분포</a:t>
            </a:r>
            <a:r>
              <a:rPr lang="en-US" sz="1050" dirty="0">
                <a:solidFill>
                  <a:srgbClr val="595959"/>
                </a:solidFill>
                <a:latin typeface="맑은 고딕" pitchFamily="34" charset="0"/>
                <a:ea typeface="맑은 고딕" pitchFamily="34" charset="-122"/>
                <a:cs typeface="맑은 고딕" pitchFamily="34" charset="-120"/>
              </a:rPr>
              <a:t>2(주황) 소속 비율</a:t>
            </a:r>
            <a:endParaRPr lang="en-US" sz="1050" dirty="0"/>
          </a:p>
        </p:txBody>
      </p:sp>
      <p:sp>
        <p:nvSpPr>
          <p:cNvPr id="46" name="Text 44"/>
          <p:cNvSpPr txBox="1"/>
          <p:nvPr/>
        </p:nvSpPr>
        <p:spPr>
          <a:xfrm>
            <a:off x="3611880" y="5394960"/>
            <a:ext cx="2743200" cy="228600"/>
          </a:xfrm>
          <a:prstGeom prst="rect">
            <a:avLst/>
          </a:prstGeom>
          <a:noFill/>
          <a:ln/>
        </p:spPr>
        <p:txBody>
          <a:bodyPr wrap="square" lIns="0" tIns="0" rIns="0" bIns="0" rtlCol="0" anchor="t"/>
          <a:lstStyle/>
          <a:p>
            <a:pPr marL="0" indent="0" algn="l">
              <a:buNone/>
            </a:pPr>
            <a:r>
              <a:rPr lang="en-US" sz="1050" dirty="0">
                <a:solidFill>
                  <a:srgbClr val="262626"/>
                </a:solidFill>
                <a:latin typeface="맑은 고딕" pitchFamily="34" charset="0"/>
                <a:ea typeface="맑은 고딕" pitchFamily="34" charset="-122"/>
                <a:cs typeface="맑은 고딕" pitchFamily="34" charset="-120"/>
              </a:rPr>
              <a:t>z = 3 → γ</a:t>
            </a:r>
            <a:r>
              <a:rPr lang="en-US" sz="1050" baseline="-40000" dirty="0">
                <a:solidFill>
                  <a:srgbClr val="262626"/>
                </a:solidFill>
                <a:latin typeface="맑은 고딕" pitchFamily="34" charset="0"/>
                <a:ea typeface="맑은 고딕" pitchFamily="34" charset="-122"/>
                <a:cs typeface="맑은 고딕" pitchFamily="34" charset="-120"/>
              </a:rPr>
              <a:t>1</a:t>
            </a:r>
            <a:r>
              <a:rPr lang="en-US" sz="1050" dirty="0">
                <a:solidFill>
                  <a:srgbClr val="262626"/>
                </a:solidFill>
                <a:latin typeface="맑은 고딕" pitchFamily="34" charset="0"/>
                <a:ea typeface="맑은 고딕" pitchFamily="34" charset="-122"/>
                <a:cs typeface="맑은 고딕" pitchFamily="34" charset="-120"/>
              </a:rPr>
              <a:t> = .133 / (.133 + .004) = </a:t>
            </a:r>
            <a:r>
              <a:rPr lang="en-US" sz="1050" b="1" dirty="0">
                <a:solidFill>
                  <a:srgbClr val="262626"/>
                </a:solidFill>
                <a:latin typeface="맑은 고딕" pitchFamily="34" charset="0"/>
                <a:ea typeface="맑은 고딕" pitchFamily="34" charset="-122"/>
                <a:cs typeface="맑은 고딕" pitchFamily="34" charset="-120"/>
              </a:rPr>
              <a:t>0.97</a:t>
            </a:r>
            <a:endParaRPr lang="en-US" sz="1050" dirty="0"/>
          </a:p>
        </p:txBody>
      </p:sp>
      <p:sp>
        <p:nvSpPr>
          <p:cNvPr id="47" name="Text 45"/>
          <p:cNvSpPr txBox="1"/>
          <p:nvPr/>
        </p:nvSpPr>
        <p:spPr>
          <a:xfrm>
            <a:off x="3611880" y="5650992"/>
            <a:ext cx="2743200" cy="228600"/>
          </a:xfrm>
          <a:prstGeom prst="rect">
            <a:avLst/>
          </a:prstGeom>
          <a:noFill/>
          <a:ln/>
        </p:spPr>
        <p:txBody>
          <a:bodyPr wrap="square" lIns="0" tIns="0" rIns="0" bIns="0" rtlCol="0" anchor="t"/>
          <a:lstStyle/>
          <a:p>
            <a:pPr marL="0" indent="0" algn="l">
              <a:buNone/>
            </a:pPr>
            <a:r>
              <a:rPr lang="en-US" sz="1050" dirty="0">
                <a:solidFill>
                  <a:srgbClr val="262626"/>
                </a:solidFill>
                <a:latin typeface="맑은 고딕" pitchFamily="34" charset="0"/>
                <a:ea typeface="맑은 고딕" pitchFamily="34" charset="-122"/>
                <a:cs typeface="맑은 고딕" pitchFamily="34" charset="-120"/>
              </a:rPr>
              <a:t>z = 5 → 두 </a:t>
            </a:r>
            <a:r>
              <a:rPr lang="ko-KR" altLang="en-US" sz="1050" dirty="0">
                <a:solidFill>
                  <a:srgbClr val="262626"/>
                </a:solidFill>
                <a:latin typeface="맑은 고딕" pitchFamily="34" charset="0"/>
                <a:ea typeface="맑은 고딕" pitchFamily="34" charset="-122"/>
                <a:cs typeface="맑은 고딕" pitchFamily="34" charset="-120"/>
              </a:rPr>
              <a:t>분포</a:t>
            </a:r>
            <a:r>
              <a:rPr lang="en-US" sz="1050" dirty="0">
                <a:solidFill>
                  <a:srgbClr val="262626"/>
                </a:solidFill>
                <a:latin typeface="맑은 고딕" pitchFamily="34" charset="0"/>
                <a:ea typeface="맑은 고딕" pitchFamily="34" charset="-122"/>
                <a:cs typeface="맑은 고딕" pitchFamily="34" charset="-120"/>
              </a:rPr>
              <a:t> 높이 같음 → </a:t>
            </a:r>
            <a:r>
              <a:rPr lang="en-US" sz="1050" b="1" dirty="0">
                <a:solidFill>
                  <a:srgbClr val="262626"/>
                </a:solidFill>
                <a:latin typeface="맑은 고딕" pitchFamily="34" charset="0"/>
                <a:ea typeface="맑은 고딕" pitchFamily="34" charset="-122"/>
                <a:cs typeface="맑은 고딕" pitchFamily="34" charset="-120"/>
              </a:rPr>
              <a:t>0.5 : 0.5</a:t>
            </a:r>
            <a:endParaRPr lang="en-US" sz="1050" dirty="0"/>
          </a:p>
        </p:txBody>
      </p:sp>
      <p:sp>
        <p:nvSpPr>
          <p:cNvPr id="48" name="Text 46"/>
          <p:cNvSpPr txBox="1"/>
          <p:nvPr/>
        </p:nvSpPr>
        <p:spPr>
          <a:xfrm>
            <a:off x="3611880" y="5907024"/>
            <a:ext cx="2697480" cy="228600"/>
          </a:xfrm>
          <a:prstGeom prst="rect">
            <a:avLst/>
          </a:prstGeom>
          <a:noFill/>
          <a:ln/>
        </p:spPr>
        <p:txBody>
          <a:bodyPr wrap="square" lIns="0" tIns="0" rIns="0" bIns="0" rtlCol="0" anchor="t"/>
          <a:lstStyle/>
          <a:p>
            <a:pPr marL="0" indent="0" algn="l">
              <a:buNone/>
            </a:pPr>
            <a:r>
              <a:rPr lang="ko-KR" altLang="en-US" sz="1050" dirty="0">
                <a:solidFill>
                  <a:srgbClr val="595959"/>
                </a:solidFill>
                <a:latin typeface="맑은 고딕" pitchFamily="34" charset="0"/>
                <a:ea typeface="맑은 고딕" pitchFamily="34" charset="-122"/>
                <a:cs typeface="맑은 고딕" pitchFamily="34" charset="-120"/>
              </a:rPr>
              <a:t>분포</a:t>
            </a:r>
            <a:r>
              <a:rPr lang="en-US" sz="1050" dirty="0">
                <a:solidFill>
                  <a:srgbClr val="595959"/>
                </a:solidFill>
                <a:latin typeface="맑은 고딕" pitchFamily="34" charset="0"/>
                <a:ea typeface="맑은 고딕" pitchFamily="34" charset="-122"/>
                <a:cs typeface="맑은 고딕" pitchFamily="34" charset="-120"/>
              </a:rPr>
              <a:t> 높이 = π · N(z | μ, σ) </a:t>
            </a:r>
            <a:endParaRPr lang="en-US" sz="1050" dirty="0"/>
          </a:p>
        </p:txBody>
      </p:sp>
      <p:sp>
        <p:nvSpPr>
          <p:cNvPr id="49" name="Text 47"/>
          <p:cNvSpPr txBox="1"/>
          <p:nvPr/>
        </p:nvSpPr>
        <p:spPr>
          <a:xfrm>
            <a:off x="6492240" y="3246120"/>
            <a:ext cx="2514600" cy="274320"/>
          </a:xfrm>
          <a:prstGeom prst="rect">
            <a:avLst/>
          </a:prstGeom>
          <a:noFill/>
          <a:ln/>
        </p:spPr>
        <p:txBody>
          <a:bodyPr wrap="square" lIns="0" tIns="0" rIns="0" bIns="0" rtlCol="0" anchor="ctr"/>
          <a:lstStyle/>
          <a:p>
            <a:pPr marL="0" indent="0" algn="l">
              <a:buNone/>
            </a:pPr>
            <a:r>
              <a:rPr lang="en-US" sz="1350" b="1" dirty="0">
                <a:solidFill>
                  <a:srgbClr val="1F4E79"/>
                </a:solidFill>
                <a:latin typeface="맑은 고딕" pitchFamily="34" charset="0"/>
                <a:ea typeface="맑은 고딕" pitchFamily="34" charset="-122"/>
                <a:cs typeface="맑은 고딕" pitchFamily="34" charset="-120"/>
              </a:rPr>
              <a:t>③ M-step: 가중평균으로 갱신</a:t>
            </a:r>
            <a:endParaRPr lang="en-US" sz="1350" dirty="0"/>
          </a:p>
        </p:txBody>
      </p:sp>
      <p:sp>
        <p:nvSpPr>
          <p:cNvPr id="50" name="Shape 48"/>
          <p:cNvSpPr/>
          <p:nvPr/>
        </p:nvSpPr>
        <p:spPr>
          <a:xfrm>
            <a:off x="6492240" y="4572000"/>
            <a:ext cx="2514600" cy="91"/>
          </a:xfrm>
          <a:prstGeom prst="line">
            <a:avLst/>
          </a:prstGeom>
          <a:noFill/>
          <a:ln w="12700">
            <a:solidFill>
              <a:srgbClr val="000000"/>
            </a:solidFill>
            <a:prstDash val="solid"/>
          </a:ln>
        </p:spPr>
        <p:txBody>
          <a:bodyPr/>
          <a:lstStyle/>
          <a:p>
            <a:endParaRPr lang="ko-KR" altLang="en-US"/>
          </a:p>
        </p:txBody>
      </p:sp>
      <p:sp>
        <p:nvSpPr>
          <p:cNvPr id="51" name="Shape 49"/>
          <p:cNvSpPr/>
          <p:nvPr/>
        </p:nvSpPr>
        <p:spPr>
          <a:xfrm>
            <a:off x="6492240" y="3703320"/>
            <a:ext cx="2514600" cy="868680"/>
          </a:xfrm>
          <a:custGeom>
            <a:avLst/>
            <a:gdLst/>
            <a:ahLst/>
            <a:cxnLst/>
            <a:rect l="l" t="t" r="r" b="b"/>
            <a:pathLst>
              <a:path w="2514600" h="868680">
                <a:moveTo>
                  <a:pt x="0" y="779556"/>
                </a:moveTo>
                <a:lnTo>
                  <a:pt x="31433" y="758641"/>
                </a:lnTo>
                <a:lnTo>
                  <a:pt x="62865" y="734405"/>
                </a:lnTo>
                <a:lnTo>
                  <a:pt x="94298" y="706741"/>
                </a:lnTo>
                <a:lnTo>
                  <a:pt x="125730" y="675657"/>
                </a:lnTo>
                <a:lnTo>
                  <a:pt x="157163" y="641291"/>
                </a:lnTo>
                <a:lnTo>
                  <a:pt x="188595" y="603931"/>
                </a:lnTo>
                <a:lnTo>
                  <a:pt x="220027" y="564030"/>
                </a:lnTo>
                <a:lnTo>
                  <a:pt x="251460" y="522205"/>
                </a:lnTo>
                <a:lnTo>
                  <a:pt x="282892" y="479236"/>
                </a:lnTo>
                <a:lnTo>
                  <a:pt x="314325" y="436045"/>
                </a:lnTo>
                <a:lnTo>
                  <a:pt x="345758" y="393672"/>
                </a:lnTo>
                <a:lnTo>
                  <a:pt x="377190" y="353234"/>
                </a:lnTo>
                <a:lnTo>
                  <a:pt x="408622" y="315879"/>
                </a:lnTo>
                <a:lnTo>
                  <a:pt x="440055" y="282735"/>
                </a:lnTo>
                <a:lnTo>
                  <a:pt x="471488" y="254849"/>
                </a:lnTo>
                <a:lnTo>
                  <a:pt x="502920" y="233139"/>
                </a:lnTo>
                <a:lnTo>
                  <a:pt x="534353" y="218339"/>
                </a:lnTo>
                <a:lnTo>
                  <a:pt x="565785" y="210958"/>
                </a:lnTo>
                <a:lnTo>
                  <a:pt x="597218" y="211255"/>
                </a:lnTo>
                <a:lnTo>
                  <a:pt x="628650" y="219219"/>
                </a:lnTo>
                <a:lnTo>
                  <a:pt x="660083" y="234572"/>
                </a:lnTo>
                <a:lnTo>
                  <a:pt x="691515" y="256785"/>
                </a:lnTo>
                <a:lnTo>
                  <a:pt x="722947" y="285110"/>
                </a:lnTo>
                <a:lnTo>
                  <a:pt x="754380" y="318617"/>
                </a:lnTo>
                <a:lnTo>
                  <a:pt x="785813" y="356250"/>
                </a:lnTo>
                <a:lnTo>
                  <a:pt x="817245" y="396878"/>
                </a:lnTo>
                <a:lnTo>
                  <a:pt x="848678" y="439353"/>
                </a:lnTo>
                <a:lnTo>
                  <a:pt x="880110" y="482562"/>
                </a:lnTo>
                <a:lnTo>
                  <a:pt x="911543" y="525474"/>
                </a:lnTo>
                <a:lnTo>
                  <a:pt x="942975" y="567176"/>
                </a:lnTo>
                <a:lnTo>
                  <a:pt x="974407" y="606902"/>
                </a:lnTo>
                <a:lnTo>
                  <a:pt x="1005840" y="644045"/>
                </a:lnTo>
                <a:lnTo>
                  <a:pt x="1037272" y="678167"/>
                </a:lnTo>
                <a:lnTo>
                  <a:pt x="1068705" y="708991"/>
                </a:lnTo>
                <a:lnTo>
                  <a:pt x="1100138" y="736390"/>
                </a:lnTo>
                <a:lnTo>
                  <a:pt x="1131570" y="760366"/>
                </a:lnTo>
                <a:lnTo>
                  <a:pt x="1163003" y="781032"/>
                </a:lnTo>
                <a:lnTo>
                  <a:pt x="1194435" y="798582"/>
                </a:lnTo>
                <a:lnTo>
                  <a:pt x="1225868" y="813272"/>
                </a:lnTo>
                <a:lnTo>
                  <a:pt x="1257300" y="825395"/>
                </a:lnTo>
                <a:lnTo>
                  <a:pt x="1288732" y="835260"/>
                </a:lnTo>
                <a:lnTo>
                  <a:pt x="1320165" y="843177"/>
                </a:lnTo>
                <a:lnTo>
                  <a:pt x="1351598" y="849446"/>
                </a:lnTo>
                <a:lnTo>
                  <a:pt x="1383030" y="854343"/>
                </a:lnTo>
                <a:lnTo>
                  <a:pt x="1414463" y="858118"/>
                </a:lnTo>
                <a:lnTo>
                  <a:pt x="1445895" y="860990"/>
                </a:lnTo>
                <a:lnTo>
                  <a:pt x="1477328" y="863146"/>
                </a:lnTo>
                <a:lnTo>
                  <a:pt x="1508760" y="864745"/>
                </a:lnTo>
                <a:lnTo>
                  <a:pt x="1540193" y="865914"/>
                </a:lnTo>
                <a:lnTo>
                  <a:pt x="1571625" y="866758"/>
                </a:lnTo>
                <a:lnTo>
                  <a:pt x="1603057" y="867361"/>
                </a:lnTo>
                <a:lnTo>
                  <a:pt x="1634490" y="867785"/>
                </a:lnTo>
                <a:lnTo>
                  <a:pt x="1665923" y="868080"/>
                </a:lnTo>
                <a:lnTo>
                  <a:pt x="1697355" y="868282"/>
                </a:lnTo>
                <a:lnTo>
                  <a:pt x="1728788" y="868419"/>
                </a:lnTo>
                <a:lnTo>
                  <a:pt x="1760220" y="868511"/>
                </a:lnTo>
                <a:lnTo>
                  <a:pt x="1791652" y="868572"/>
                </a:lnTo>
                <a:lnTo>
                  <a:pt x="1823085" y="868612"/>
                </a:lnTo>
                <a:lnTo>
                  <a:pt x="1854518" y="868637"/>
                </a:lnTo>
                <a:lnTo>
                  <a:pt x="1885950" y="868654"/>
                </a:lnTo>
                <a:lnTo>
                  <a:pt x="1917382" y="868664"/>
                </a:lnTo>
                <a:lnTo>
                  <a:pt x="1948815" y="868670"/>
                </a:lnTo>
                <a:lnTo>
                  <a:pt x="1980248" y="868674"/>
                </a:lnTo>
                <a:lnTo>
                  <a:pt x="2011680" y="868677"/>
                </a:lnTo>
                <a:lnTo>
                  <a:pt x="2043113" y="868678"/>
                </a:lnTo>
                <a:lnTo>
                  <a:pt x="2074545" y="868679"/>
                </a:lnTo>
                <a:lnTo>
                  <a:pt x="2105977" y="868679"/>
                </a:lnTo>
                <a:lnTo>
                  <a:pt x="2137410" y="868680"/>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12700">
            <a:solidFill>
              <a:srgbClr val="BFBFBF"/>
            </a:solidFill>
            <a:prstDash val="dash"/>
          </a:ln>
        </p:spPr>
        <p:txBody>
          <a:bodyPr/>
          <a:lstStyle/>
          <a:p>
            <a:endParaRPr lang="ko-KR" altLang="en-US"/>
          </a:p>
        </p:txBody>
      </p:sp>
      <p:sp>
        <p:nvSpPr>
          <p:cNvPr id="52" name="Shape 50"/>
          <p:cNvSpPr/>
          <p:nvPr/>
        </p:nvSpPr>
        <p:spPr>
          <a:xfrm>
            <a:off x="6492240" y="3703320"/>
            <a:ext cx="2514600" cy="868680"/>
          </a:xfrm>
          <a:custGeom>
            <a:avLst/>
            <a:gdLst/>
            <a:ahLst/>
            <a:cxnLst/>
            <a:rect l="l" t="t" r="r" b="b"/>
            <a:pathLst>
              <a:path w="2514600" h="868680">
                <a:moveTo>
                  <a:pt x="0" y="868668"/>
                </a:moveTo>
                <a:lnTo>
                  <a:pt x="31433" y="868660"/>
                </a:lnTo>
                <a:lnTo>
                  <a:pt x="62865" y="868647"/>
                </a:lnTo>
                <a:lnTo>
                  <a:pt x="94298" y="868627"/>
                </a:lnTo>
                <a:lnTo>
                  <a:pt x="125730" y="868595"/>
                </a:lnTo>
                <a:lnTo>
                  <a:pt x="157163" y="868547"/>
                </a:lnTo>
                <a:lnTo>
                  <a:pt x="188595" y="868473"/>
                </a:lnTo>
                <a:lnTo>
                  <a:pt x="220027" y="868363"/>
                </a:lnTo>
                <a:lnTo>
                  <a:pt x="251460" y="868198"/>
                </a:lnTo>
                <a:lnTo>
                  <a:pt x="282892" y="867957"/>
                </a:lnTo>
                <a:lnTo>
                  <a:pt x="314325" y="867608"/>
                </a:lnTo>
                <a:lnTo>
                  <a:pt x="345758" y="867108"/>
                </a:lnTo>
                <a:lnTo>
                  <a:pt x="377190" y="866403"/>
                </a:lnTo>
                <a:lnTo>
                  <a:pt x="408622" y="865420"/>
                </a:lnTo>
                <a:lnTo>
                  <a:pt x="440055" y="864067"/>
                </a:lnTo>
                <a:lnTo>
                  <a:pt x="471488" y="862229"/>
                </a:lnTo>
                <a:lnTo>
                  <a:pt x="502920" y="859764"/>
                </a:lnTo>
                <a:lnTo>
                  <a:pt x="534353" y="856501"/>
                </a:lnTo>
                <a:lnTo>
                  <a:pt x="565785" y="852237"/>
                </a:lnTo>
                <a:lnTo>
                  <a:pt x="597218" y="846740"/>
                </a:lnTo>
                <a:lnTo>
                  <a:pt x="628650" y="839746"/>
                </a:lnTo>
                <a:lnTo>
                  <a:pt x="660083" y="830967"/>
                </a:lnTo>
                <a:lnTo>
                  <a:pt x="691515" y="820099"/>
                </a:lnTo>
                <a:lnTo>
                  <a:pt x="722947" y="806830"/>
                </a:lnTo>
                <a:lnTo>
                  <a:pt x="754380" y="790854"/>
                </a:lnTo>
                <a:lnTo>
                  <a:pt x="785813" y="771894"/>
                </a:lnTo>
                <a:lnTo>
                  <a:pt x="817245" y="749721"/>
                </a:lnTo>
                <a:lnTo>
                  <a:pt x="848678" y="724173"/>
                </a:lnTo>
                <a:lnTo>
                  <a:pt x="880110" y="695186"/>
                </a:lnTo>
                <a:lnTo>
                  <a:pt x="911543" y="662815"/>
                </a:lnTo>
                <a:lnTo>
                  <a:pt x="942975" y="627255"/>
                </a:lnTo>
                <a:lnTo>
                  <a:pt x="974407" y="588855"/>
                </a:lnTo>
                <a:lnTo>
                  <a:pt x="1005840" y="548132"/>
                </a:lnTo>
                <a:lnTo>
                  <a:pt x="1037272" y="505767"/>
                </a:lnTo>
                <a:lnTo>
                  <a:pt x="1068705" y="462596"/>
                </a:lnTo>
                <a:lnTo>
                  <a:pt x="1100138" y="419592"/>
                </a:lnTo>
                <a:lnTo>
                  <a:pt x="1131570" y="377828"/>
                </a:lnTo>
                <a:lnTo>
                  <a:pt x="1163003" y="338439"/>
                </a:lnTo>
                <a:lnTo>
                  <a:pt x="1194435" y="302573"/>
                </a:lnTo>
                <a:lnTo>
                  <a:pt x="1225868" y="271333"/>
                </a:lnTo>
                <a:lnTo>
                  <a:pt x="1257300" y="245723"/>
                </a:lnTo>
                <a:lnTo>
                  <a:pt x="1288732" y="226596"/>
                </a:lnTo>
                <a:lnTo>
                  <a:pt x="1320165" y="214602"/>
                </a:lnTo>
                <a:lnTo>
                  <a:pt x="1351598" y="210158"/>
                </a:lnTo>
                <a:lnTo>
                  <a:pt x="1383030" y="213420"/>
                </a:lnTo>
                <a:lnTo>
                  <a:pt x="1414463" y="224273"/>
                </a:lnTo>
                <a:lnTo>
                  <a:pt x="1445895" y="242340"/>
                </a:lnTo>
                <a:lnTo>
                  <a:pt x="1477328" y="267004"/>
                </a:lnTo>
                <a:lnTo>
                  <a:pt x="1508760" y="297440"/>
                </a:lnTo>
                <a:lnTo>
                  <a:pt x="1540193" y="332664"/>
                </a:lnTo>
                <a:lnTo>
                  <a:pt x="1571625" y="371584"/>
                </a:lnTo>
                <a:lnTo>
                  <a:pt x="1603057" y="413058"/>
                </a:lnTo>
                <a:lnTo>
                  <a:pt x="1634490" y="455943"/>
                </a:lnTo>
                <a:lnTo>
                  <a:pt x="1665923" y="499154"/>
                </a:lnTo>
                <a:lnTo>
                  <a:pt x="1697355" y="541702"/>
                </a:lnTo>
                <a:lnTo>
                  <a:pt x="1728788" y="582726"/>
                </a:lnTo>
                <a:lnTo>
                  <a:pt x="1760220" y="621521"/>
                </a:lnTo>
                <a:lnTo>
                  <a:pt x="1791652" y="657545"/>
                </a:lnTo>
                <a:lnTo>
                  <a:pt x="1823085" y="690423"/>
                </a:lnTo>
                <a:lnTo>
                  <a:pt x="1854518" y="719937"/>
                </a:lnTo>
                <a:lnTo>
                  <a:pt x="1885950" y="746013"/>
                </a:lnTo>
                <a:lnTo>
                  <a:pt x="1917382" y="768697"/>
                </a:lnTo>
                <a:lnTo>
                  <a:pt x="1948815" y="788138"/>
                </a:lnTo>
                <a:lnTo>
                  <a:pt x="1980248" y="804555"/>
                </a:lnTo>
                <a:lnTo>
                  <a:pt x="2011680" y="818222"/>
                </a:lnTo>
                <a:lnTo>
                  <a:pt x="2043113" y="829439"/>
                </a:lnTo>
                <a:lnTo>
                  <a:pt x="2074545" y="838519"/>
                </a:lnTo>
                <a:lnTo>
                  <a:pt x="2105977" y="845768"/>
                </a:lnTo>
                <a:lnTo>
                  <a:pt x="2137410" y="851478"/>
                </a:lnTo>
                <a:lnTo>
                  <a:pt x="2168843" y="855916"/>
                </a:lnTo>
                <a:lnTo>
                  <a:pt x="2200275" y="859319"/>
                </a:lnTo>
                <a:lnTo>
                  <a:pt x="2231708" y="861895"/>
                </a:lnTo>
                <a:lnTo>
                  <a:pt x="2263140" y="863819"/>
                </a:lnTo>
                <a:lnTo>
                  <a:pt x="2294573" y="865239"/>
                </a:lnTo>
                <a:lnTo>
                  <a:pt x="2326005" y="866272"/>
                </a:lnTo>
                <a:lnTo>
                  <a:pt x="2357438" y="867015"/>
                </a:lnTo>
                <a:lnTo>
                  <a:pt x="2388870" y="867542"/>
                </a:lnTo>
                <a:lnTo>
                  <a:pt x="2420302" y="867911"/>
                </a:lnTo>
                <a:lnTo>
                  <a:pt x="2451735" y="868167"/>
                </a:lnTo>
                <a:lnTo>
                  <a:pt x="2483168" y="868341"/>
                </a:lnTo>
                <a:lnTo>
                  <a:pt x="2514600" y="868459"/>
                </a:lnTo>
              </a:path>
            </a:pathLst>
          </a:custGeom>
          <a:ln w="12700">
            <a:solidFill>
              <a:srgbClr val="BFBFBF"/>
            </a:solidFill>
            <a:prstDash val="dash"/>
          </a:ln>
        </p:spPr>
        <p:txBody>
          <a:bodyPr/>
          <a:lstStyle/>
          <a:p>
            <a:endParaRPr lang="ko-KR" altLang="en-US"/>
          </a:p>
        </p:txBody>
      </p:sp>
      <p:sp>
        <p:nvSpPr>
          <p:cNvPr id="53" name="Shape 51"/>
          <p:cNvSpPr/>
          <p:nvPr/>
        </p:nvSpPr>
        <p:spPr>
          <a:xfrm>
            <a:off x="6492240" y="3703320"/>
            <a:ext cx="2514600" cy="868680"/>
          </a:xfrm>
          <a:custGeom>
            <a:avLst/>
            <a:gdLst/>
            <a:ahLst/>
            <a:cxnLst/>
            <a:rect l="l" t="t" r="r" b="b"/>
            <a:pathLst>
              <a:path w="2514600" h="868680">
                <a:moveTo>
                  <a:pt x="0" y="709479"/>
                </a:moveTo>
                <a:lnTo>
                  <a:pt x="31433" y="670433"/>
                </a:lnTo>
                <a:lnTo>
                  <a:pt x="62865" y="625527"/>
                </a:lnTo>
                <a:lnTo>
                  <a:pt x="94298" y="574941"/>
                </a:lnTo>
                <a:lnTo>
                  <a:pt x="125730" y="519176"/>
                </a:lnTo>
                <a:lnTo>
                  <a:pt x="157163" y="459088"/>
                </a:lnTo>
                <a:lnTo>
                  <a:pt x="188595" y="395898"/>
                </a:lnTo>
                <a:lnTo>
                  <a:pt x="220027" y="331179"/>
                </a:lnTo>
                <a:lnTo>
                  <a:pt x="251460" y="266805"/>
                </a:lnTo>
                <a:lnTo>
                  <a:pt x="282892" y="204872"/>
                </a:lnTo>
                <a:lnTo>
                  <a:pt x="314325" y="147592"/>
                </a:lnTo>
                <a:lnTo>
                  <a:pt x="345758" y="97168"/>
                </a:lnTo>
                <a:lnTo>
                  <a:pt x="377190" y="55650"/>
                </a:lnTo>
                <a:lnTo>
                  <a:pt x="408622" y="24802"/>
                </a:lnTo>
                <a:lnTo>
                  <a:pt x="440055" y="5976"/>
                </a:lnTo>
                <a:lnTo>
                  <a:pt x="471488" y="14"/>
                </a:lnTo>
                <a:lnTo>
                  <a:pt x="502920" y="7184"/>
                </a:lnTo>
                <a:lnTo>
                  <a:pt x="534353" y="27163"/>
                </a:lnTo>
                <a:lnTo>
                  <a:pt x="565785" y="59060"/>
                </a:lnTo>
                <a:lnTo>
                  <a:pt x="597218" y="101479"/>
                </a:lnTo>
                <a:lnTo>
                  <a:pt x="628650" y="152625"/>
                </a:lnTo>
                <a:lnTo>
                  <a:pt x="660083" y="210428"/>
                </a:lnTo>
                <a:lnTo>
                  <a:pt x="691515" y="272678"/>
                </a:lnTo>
                <a:lnTo>
                  <a:pt x="722947" y="337169"/>
                </a:lnTo>
                <a:lnTo>
                  <a:pt x="754380" y="401821"/>
                </a:lnTo>
                <a:lnTo>
                  <a:pt x="785813" y="464785"/>
                </a:lnTo>
                <a:lnTo>
                  <a:pt x="817245" y="524520"/>
                </a:lnTo>
                <a:lnTo>
                  <a:pt x="848678" y="579838"/>
                </a:lnTo>
                <a:lnTo>
                  <a:pt x="880110" y="629915"/>
                </a:lnTo>
                <a:lnTo>
                  <a:pt x="911543" y="674283"/>
                </a:lnTo>
                <a:lnTo>
                  <a:pt x="942975" y="712790"/>
                </a:lnTo>
                <a:lnTo>
                  <a:pt x="974407" y="745552"/>
                </a:lnTo>
                <a:lnTo>
                  <a:pt x="1005840" y="772894"/>
                </a:lnTo>
                <a:lnTo>
                  <a:pt x="1037272" y="795286"/>
                </a:lnTo>
                <a:lnTo>
                  <a:pt x="1068705" y="813291"/>
                </a:lnTo>
                <a:lnTo>
                  <a:pt x="1100138" y="827508"/>
                </a:lnTo>
                <a:lnTo>
                  <a:pt x="1131570" y="838537"/>
                </a:lnTo>
                <a:lnTo>
                  <a:pt x="1163003" y="846944"/>
                </a:lnTo>
                <a:lnTo>
                  <a:pt x="1194435" y="853243"/>
                </a:lnTo>
                <a:lnTo>
                  <a:pt x="1225868" y="857881"/>
                </a:lnTo>
                <a:lnTo>
                  <a:pt x="1257300" y="861239"/>
                </a:lnTo>
                <a:lnTo>
                  <a:pt x="1288732" y="863631"/>
                </a:lnTo>
                <a:lnTo>
                  <a:pt x="1320165" y="865305"/>
                </a:lnTo>
                <a:lnTo>
                  <a:pt x="1351598" y="866458"/>
                </a:lnTo>
                <a:lnTo>
                  <a:pt x="1383030" y="867239"/>
                </a:lnTo>
                <a:lnTo>
                  <a:pt x="1414463" y="867760"/>
                </a:lnTo>
                <a:lnTo>
                  <a:pt x="1445895" y="868101"/>
                </a:lnTo>
                <a:lnTo>
                  <a:pt x="1477328" y="868321"/>
                </a:lnTo>
                <a:lnTo>
                  <a:pt x="1508760" y="868461"/>
                </a:lnTo>
                <a:lnTo>
                  <a:pt x="1540193" y="868548"/>
                </a:lnTo>
                <a:lnTo>
                  <a:pt x="1571625" y="868602"/>
                </a:lnTo>
                <a:lnTo>
                  <a:pt x="1603057" y="868635"/>
                </a:lnTo>
                <a:lnTo>
                  <a:pt x="1634490" y="868654"/>
                </a:lnTo>
                <a:lnTo>
                  <a:pt x="1665923" y="868665"/>
                </a:lnTo>
                <a:lnTo>
                  <a:pt x="1697355" y="868672"/>
                </a:lnTo>
                <a:lnTo>
                  <a:pt x="1728788" y="868675"/>
                </a:lnTo>
                <a:lnTo>
                  <a:pt x="1760220" y="868678"/>
                </a:lnTo>
                <a:lnTo>
                  <a:pt x="1791652" y="868679"/>
                </a:lnTo>
                <a:lnTo>
                  <a:pt x="1823085" y="868679"/>
                </a:lnTo>
                <a:lnTo>
                  <a:pt x="1854518" y="868680"/>
                </a:lnTo>
                <a:lnTo>
                  <a:pt x="1885950" y="868680"/>
                </a:lnTo>
                <a:lnTo>
                  <a:pt x="1917382" y="868680"/>
                </a:lnTo>
                <a:lnTo>
                  <a:pt x="1948815" y="868680"/>
                </a:lnTo>
                <a:lnTo>
                  <a:pt x="1980248" y="868680"/>
                </a:lnTo>
                <a:lnTo>
                  <a:pt x="2011680" y="868680"/>
                </a:lnTo>
                <a:lnTo>
                  <a:pt x="2043113" y="868680"/>
                </a:lnTo>
                <a:lnTo>
                  <a:pt x="2074545" y="868680"/>
                </a:lnTo>
                <a:lnTo>
                  <a:pt x="2105977" y="868680"/>
                </a:lnTo>
                <a:lnTo>
                  <a:pt x="2137410" y="868680"/>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22225">
            <a:solidFill>
              <a:srgbClr val="1F4E79"/>
            </a:solidFill>
            <a:prstDash val="solid"/>
          </a:ln>
        </p:spPr>
        <p:txBody>
          <a:bodyPr/>
          <a:lstStyle/>
          <a:p>
            <a:endParaRPr lang="ko-KR" altLang="en-US"/>
          </a:p>
        </p:txBody>
      </p:sp>
      <p:sp>
        <p:nvSpPr>
          <p:cNvPr id="54" name="Shape 52"/>
          <p:cNvSpPr/>
          <p:nvPr/>
        </p:nvSpPr>
        <p:spPr>
          <a:xfrm>
            <a:off x="6492240" y="3703320"/>
            <a:ext cx="2514600" cy="868680"/>
          </a:xfrm>
          <a:custGeom>
            <a:avLst/>
            <a:gdLst/>
            <a:ahLst/>
            <a:cxnLst/>
            <a:rect l="l" t="t" r="r" b="b"/>
            <a:pathLst>
              <a:path w="2514600" h="868680">
                <a:moveTo>
                  <a:pt x="0" y="868677"/>
                </a:moveTo>
                <a:lnTo>
                  <a:pt x="31433" y="868675"/>
                </a:lnTo>
                <a:lnTo>
                  <a:pt x="62865" y="868672"/>
                </a:lnTo>
                <a:lnTo>
                  <a:pt x="94298" y="868668"/>
                </a:lnTo>
                <a:lnTo>
                  <a:pt x="125730" y="868660"/>
                </a:lnTo>
                <a:lnTo>
                  <a:pt x="157163" y="868648"/>
                </a:lnTo>
                <a:lnTo>
                  <a:pt x="188595" y="868630"/>
                </a:lnTo>
                <a:lnTo>
                  <a:pt x="220027" y="868603"/>
                </a:lnTo>
                <a:lnTo>
                  <a:pt x="251460" y="868561"/>
                </a:lnTo>
                <a:lnTo>
                  <a:pt x="282892" y="868500"/>
                </a:lnTo>
                <a:lnTo>
                  <a:pt x="314325" y="868409"/>
                </a:lnTo>
                <a:lnTo>
                  <a:pt x="345758" y="868276"/>
                </a:lnTo>
                <a:lnTo>
                  <a:pt x="377190" y="868085"/>
                </a:lnTo>
                <a:lnTo>
                  <a:pt x="408622" y="867813"/>
                </a:lnTo>
                <a:lnTo>
                  <a:pt x="440055" y="867430"/>
                </a:lnTo>
                <a:lnTo>
                  <a:pt x="471488" y="866898"/>
                </a:lnTo>
                <a:lnTo>
                  <a:pt x="502920" y="866165"/>
                </a:lnTo>
                <a:lnTo>
                  <a:pt x="534353" y="865170"/>
                </a:lnTo>
                <a:lnTo>
                  <a:pt x="565785" y="863833"/>
                </a:lnTo>
                <a:lnTo>
                  <a:pt x="597218" y="862058"/>
                </a:lnTo>
                <a:lnTo>
                  <a:pt x="628650" y="859729"/>
                </a:lnTo>
                <a:lnTo>
                  <a:pt x="660083" y="856711"/>
                </a:lnTo>
                <a:lnTo>
                  <a:pt x="691515" y="852847"/>
                </a:lnTo>
                <a:lnTo>
                  <a:pt x="722947" y="847958"/>
                </a:lnTo>
                <a:lnTo>
                  <a:pt x="754380" y="841848"/>
                </a:lnTo>
                <a:lnTo>
                  <a:pt x="785813" y="834309"/>
                </a:lnTo>
                <a:lnTo>
                  <a:pt x="817245" y="825121"/>
                </a:lnTo>
                <a:lnTo>
                  <a:pt x="848678" y="814067"/>
                </a:lnTo>
                <a:lnTo>
                  <a:pt x="880110" y="800939"/>
                </a:lnTo>
                <a:lnTo>
                  <a:pt x="911543" y="785551"/>
                </a:lnTo>
                <a:lnTo>
                  <a:pt x="942975" y="767758"/>
                </a:lnTo>
                <a:lnTo>
                  <a:pt x="974407" y="747464"/>
                </a:lnTo>
                <a:lnTo>
                  <a:pt x="1005840" y="724643"/>
                </a:lnTo>
                <a:lnTo>
                  <a:pt x="1037272" y="699354"/>
                </a:lnTo>
                <a:lnTo>
                  <a:pt x="1068705" y="671750"/>
                </a:lnTo>
                <a:lnTo>
                  <a:pt x="1100138" y="642092"/>
                </a:lnTo>
                <a:lnTo>
                  <a:pt x="1131570" y="610750"/>
                </a:lnTo>
                <a:lnTo>
                  <a:pt x="1163003" y="578207"/>
                </a:lnTo>
                <a:lnTo>
                  <a:pt x="1194435" y="545052"/>
                </a:lnTo>
                <a:lnTo>
                  <a:pt x="1225868" y="511962"/>
                </a:lnTo>
                <a:lnTo>
                  <a:pt x="1257300" y="479686"/>
                </a:lnTo>
                <a:lnTo>
                  <a:pt x="1288732" y="449019"/>
                </a:lnTo>
                <a:lnTo>
                  <a:pt x="1320165" y="420769"/>
                </a:lnTo>
                <a:lnTo>
                  <a:pt x="1351598" y="395721"/>
                </a:lnTo>
                <a:lnTo>
                  <a:pt x="1383030" y="374604"/>
                </a:lnTo>
                <a:lnTo>
                  <a:pt x="1414463" y="358055"/>
                </a:lnTo>
                <a:lnTo>
                  <a:pt x="1445895" y="346586"/>
                </a:lnTo>
                <a:lnTo>
                  <a:pt x="1477328" y="340560"/>
                </a:lnTo>
                <a:lnTo>
                  <a:pt x="1508760" y="340167"/>
                </a:lnTo>
                <a:lnTo>
                  <a:pt x="1540193" y="345421"/>
                </a:lnTo>
                <a:lnTo>
                  <a:pt x="1571625" y="356154"/>
                </a:lnTo>
                <a:lnTo>
                  <a:pt x="1603057" y="372027"/>
                </a:lnTo>
                <a:lnTo>
                  <a:pt x="1634490" y="392547"/>
                </a:lnTo>
                <a:lnTo>
                  <a:pt x="1665923" y="417092"/>
                </a:lnTo>
                <a:lnTo>
                  <a:pt x="1697355" y="444946"/>
                </a:lnTo>
                <a:lnTo>
                  <a:pt x="1728788" y="475326"/>
                </a:lnTo>
                <a:lnTo>
                  <a:pt x="1760220" y="507427"/>
                </a:lnTo>
                <a:lnTo>
                  <a:pt x="1791652" y="540450"/>
                </a:lnTo>
                <a:lnTo>
                  <a:pt x="1823085" y="573639"/>
                </a:lnTo>
                <a:lnTo>
                  <a:pt x="1854518" y="606303"/>
                </a:lnTo>
                <a:lnTo>
                  <a:pt x="1885950" y="637843"/>
                </a:lnTo>
                <a:lnTo>
                  <a:pt x="1917382" y="667759"/>
                </a:lnTo>
                <a:lnTo>
                  <a:pt x="1948815" y="695666"/>
                </a:lnTo>
                <a:lnTo>
                  <a:pt x="1980248" y="721287"/>
                </a:lnTo>
                <a:lnTo>
                  <a:pt x="2011680" y="744454"/>
                </a:lnTo>
                <a:lnTo>
                  <a:pt x="2043113" y="765098"/>
                </a:lnTo>
                <a:lnTo>
                  <a:pt x="2074545" y="783234"/>
                </a:lnTo>
                <a:lnTo>
                  <a:pt x="2105977" y="798947"/>
                </a:lnTo>
                <a:lnTo>
                  <a:pt x="2137410" y="812378"/>
                </a:lnTo>
                <a:lnTo>
                  <a:pt x="2168843" y="823707"/>
                </a:lnTo>
                <a:lnTo>
                  <a:pt x="2200275" y="833140"/>
                </a:lnTo>
                <a:lnTo>
                  <a:pt x="2231708" y="840895"/>
                </a:lnTo>
                <a:lnTo>
                  <a:pt x="2263140" y="847189"/>
                </a:lnTo>
                <a:lnTo>
                  <a:pt x="2294573" y="852235"/>
                </a:lnTo>
                <a:lnTo>
                  <a:pt x="2326005" y="856231"/>
                </a:lnTo>
                <a:lnTo>
                  <a:pt x="2357438" y="859356"/>
                </a:lnTo>
                <a:lnTo>
                  <a:pt x="2388870" y="861771"/>
                </a:lnTo>
                <a:lnTo>
                  <a:pt x="2420302" y="863616"/>
                </a:lnTo>
                <a:lnTo>
                  <a:pt x="2451735" y="865007"/>
                </a:lnTo>
                <a:lnTo>
                  <a:pt x="2483168" y="866045"/>
                </a:lnTo>
                <a:lnTo>
                  <a:pt x="2514600" y="866810"/>
                </a:lnTo>
              </a:path>
            </a:pathLst>
          </a:custGeom>
          <a:ln w="22225">
            <a:solidFill>
              <a:srgbClr val="C55A11"/>
            </a:solidFill>
            <a:prstDash val="solid"/>
          </a:ln>
        </p:spPr>
        <p:txBody>
          <a:bodyPr/>
          <a:lstStyle/>
          <a:p>
            <a:endParaRPr lang="ko-KR" altLang="en-US"/>
          </a:p>
        </p:txBody>
      </p:sp>
      <p:sp>
        <p:nvSpPr>
          <p:cNvPr id="55" name="Shape 53"/>
          <p:cNvSpPr/>
          <p:nvPr/>
        </p:nvSpPr>
        <p:spPr>
          <a:xfrm>
            <a:off x="6644523"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56" name="Shape 54"/>
          <p:cNvSpPr/>
          <p:nvPr/>
        </p:nvSpPr>
        <p:spPr>
          <a:xfrm>
            <a:off x="683795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57" name="Shape 55"/>
          <p:cNvSpPr/>
          <p:nvPr/>
        </p:nvSpPr>
        <p:spPr>
          <a:xfrm>
            <a:off x="703138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58" name="Shape 56"/>
          <p:cNvSpPr/>
          <p:nvPr/>
        </p:nvSpPr>
        <p:spPr>
          <a:xfrm>
            <a:off x="7418246"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59" name="Shape 57"/>
          <p:cNvSpPr/>
          <p:nvPr/>
        </p:nvSpPr>
        <p:spPr>
          <a:xfrm>
            <a:off x="7998538"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60" name="Shape 58"/>
          <p:cNvSpPr/>
          <p:nvPr/>
        </p:nvSpPr>
        <p:spPr>
          <a:xfrm>
            <a:off x="8191969"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61" name="Shape 59"/>
          <p:cNvSpPr/>
          <p:nvPr/>
        </p:nvSpPr>
        <p:spPr>
          <a:xfrm flipH="1">
            <a:off x="6962277" y="3639312"/>
            <a:ext cx="110256" cy="91"/>
          </a:xfrm>
          <a:prstGeom prst="line">
            <a:avLst/>
          </a:prstGeom>
          <a:noFill/>
          <a:ln w="15875">
            <a:solidFill>
              <a:srgbClr val="1F4E79"/>
            </a:solidFill>
            <a:prstDash val="solid"/>
            <a:tailEnd type="triangle"/>
          </a:ln>
        </p:spPr>
        <p:txBody>
          <a:bodyPr/>
          <a:lstStyle/>
          <a:p>
            <a:endParaRPr lang="ko-KR" altLang="en-US"/>
          </a:p>
        </p:txBody>
      </p:sp>
      <p:sp>
        <p:nvSpPr>
          <p:cNvPr id="62" name="Shape 60"/>
          <p:cNvSpPr/>
          <p:nvPr/>
        </p:nvSpPr>
        <p:spPr>
          <a:xfrm>
            <a:off x="7846255" y="3840480"/>
            <a:ext cx="141204" cy="91"/>
          </a:xfrm>
          <a:prstGeom prst="line">
            <a:avLst/>
          </a:prstGeom>
          <a:noFill/>
          <a:ln w="15875">
            <a:solidFill>
              <a:srgbClr val="C55A11"/>
            </a:solidFill>
            <a:prstDash val="solid"/>
            <a:tailEnd type="triangle"/>
          </a:ln>
        </p:spPr>
        <p:txBody>
          <a:bodyPr/>
          <a:lstStyle/>
          <a:p>
            <a:endParaRPr lang="ko-KR" altLang="en-US"/>
          </a:p>
        </p:txBody>
      </p:sp>
      <p:sp>
        <p:nvSpPr>
          <p:cNvPr id="63" name="Text 61"/>
          <p:cNvSpPr txBox="1"/>
          <p:nvPr/>
        </p:nvSpPr>
        <p:spPr>
          <a:xfrm>
            <a:off x="6492240" y="4754880"/>
            <a:ext cx="2697480" cy="228600"/>
          </a:xfrm>
          <a:prstGeom prst="rect">
            <a:avLst/>
          </a:prstGeom>
          <a:noFill/>
          <a:ln/>
        </p:spPr>
        <p:txBody>
          <a:bodyPr wrap="square" lIns="0" tIns="0" rIns="0" bIns="0" rtlCol="0" anchor="t"/>
          <a:lstStyle/>
          <a:p>
            <a:pPr marL="0" indent="0" algn="l">
              <a:buNone/>
            </a:pPr>
            <a:r>
              <a:rPr lang="en-US" sz="1100" dirty="0">
                <a:solidFill>
                  <a:srgbClr val="1F4E79"/>
                </a:solidFill>
                <a:latin typeface="맑은 고딕" pitchFamily="34" charset="0"/>
                <a:ea typeface="맑은 고딕" pitchFamily="34" charset="-122"/>
                <a:cs typeface="맑은 고딕" pitchFamily="34" charset="-120"/>
              </a:rPr>
              <a:t>μ</a:t>
            </a:r>
            <a:r>
              <a:rPr lang="en-US" sz="1100" baseline="-40000" dirty="0">
                <a:solidFill>
                  <a:srgbClr val="1F4E79"/>
                </a:solidFill>
                <a:latin typeface="맑은 고딕" pitchFamily="34" charset="0"/>
                <a:ea typeface="맑은 고딕" pitchFamily="34" charset="-122"/>
                <a:cs typeface="맑은 고딕" pitchFamily="34" charset="-120"/>
              </a:rPr>
              <a:t>1</a:t>
            </a:r>
            <a:r>
              <a:rPr lang="en-US" sz="1100" dirty="0">
                <a:solidFill>
                  <a:srgbClr val="1F4E79"/>
                </a:solidFill>
                <a:latin typeface="맑은 고딕" pitchFamily="34" charset="0"/>
                <a:ea typeface="맑은 고딕" pitchFamily="34" charset="-122"/>
                <a:cs typeface="맑은 고딕" pitchFamily="34" charset="-120"/>
              </a:rPr>
              <a:t> = </a:t>
            </a:r>
            <a:r>
              <a:rPr lang="en-US" sz="1100" dirty="0" err="1">
                <a:solidFill>
                  <a:srgbClr val="1F4E79"/>
                </a:solidFill>
                <a:latin typeface="맑은 고딕" pitchFamily="34" charset="0"/>
                <a:ea typeface="맑은 고딕" pitchFamily="34" charset="-122"/>
                <a:cs typeface="맑은 고딕" pitchFamily="34" charset="-120"/>
              </a:rPr>
              <a:t>Σγz</a:t>
            </a:r>
            <a:r>
              <a:rPr lang="en-US" sz="1100" dirty="0">
                <a:solidFill>
                  <a:srgbClr val="1F4E79"/>
                </a:solidFill>
                <a:latin typeface="맑은 고딕" pitchFamily="34" charset="0"/>
                <a:ea typeface="맑은 고딕" pitchFamily="34" charset="-122"/>
                <a:cs typeface="맑은 고딕" pitchFamily="34" charset="-120"/>
              </a:rPr>
              <a:t> / Σγ = 8.45 / 3.47 = </a:t>
            </a:r>
            <a:r>
              <a:rPr lang="en-US" sz="1100" b="1" dirty="0">
                <a:solidFill>
                  <a:srgbClr val="1F4E79"/>
                </a:solidFill>
                <a:latin typeface="맑은 고딕" pitchFamily="34" charset="0"/>
                <a:ea typeface="맑은 고딕" pitchFamily="34" charset="-122"/>
                <a:cs typeface="맑은 고딕" pitchFamily="34" charset="-120"/>
              </a:rPr>
              <a:t>2.43</a:t>
            </a:r>
            <a:endParaRPr lang="en-US" sz="1100" dirty="0"/>
          </a:p>
        </p:txBody>
      </p:sp>
      <p:sp>
        <p:nvSpPr>
          <p:cNvPr id="64" name="Text 62"/>
          <p:cNvSpPr txBox="1"/>
          <p:nvPr/>
        </p:nvSpPr>
        <p:spPr>
          <a:xfrm>
            <a:off x="6492240" y="5010912"/>
            <a:ext cx="2697480" cy="228600"/>
          </a:xfrm>
          <a:prstGeom prst="rect">
            <a:avLst/>
          </a:prstGeom>
          <a:noFill/>
          <a:ln/>
        </p:spPr>
        <p:txBody>
          <a:bodyPr wrap="square" lIns="0" tIns="0" rIns="0" bIns="0" rtlCol="0" anchor="t"/>
          <a:lstStyle/>
          <a:p>
            <a:pPr marL="0" indent="0" algn="l">
              <a:buNone/>
            </a:pPr>
            <a:r>
              <a:rPr lang="en-US" sz="1100" dirty="0">
                <a:solidFill>
                  <a:srgbClr val="C55A11"/>
                </a:solidFill>
                <a:latin typeface="맑은 고딕" pitchFamily="34" charset="0"/>
                <a:ea typeface="맑은 고딕" pitchFamily="34" charset="-122"/>
                <a:cs typeface="맑은 고딕" pitchFamily="34" charset="-120"/>
              </a:rPr>
              <a:t>μ</a:t>
            </a:r>
            <a:r>
              <a:rPr lang="en-US" sz="1100" baseline="-40000" dirty="0">
                <a:solidFill>
                  <a:srgbClr val="C55A11"/>
                </a:solidFill>
                <a:latin typeface="맑은 고딕" pitchFamily="34" charset="0"/>
                <a:ea typeface="맑은 고딕" pitchFamily="34" charset="-122"/>
                <a:cs typeface="맑은 고딕" pitchFamily="34" charset="-120"/>
              </a:rPr>
              <a:t>2</a:t>
            </a:r>
            <a:r>
              <a:rPr lang="en-US" sz="1100" dirty="0">
                <a:solidFill>
                  <a:srgbClr val="C55A11"/>
                </a:solidFill>
                <a:latin typeface="맑은 고딕" pitchFamily="34" charset="0"/>
                <a:ea typeface="맑은 고딕" pitchFamily="34" charset="-122"/>
                <a:cs typeface="맑은 고딕" pitchFamily="34" charset="-120"/>
              </a:rPr>
              <a:t> = 19.55 / 2.53 = </a:t>
            </a:r>
            <a:r>
              <a:rPr lang="en-US" sz="1100" b="1" dirty="0">
                <a:solidFill>
                  <a:srgbClr val="C55A11"/>
                </a:solidFill>
                <a:latin typeface="맑은 고딕" pitchFamily="34" charset="0"/>
                <a:ea typeface="맑은 고딕" pitchFamily="34" charset="-122"/>
                <a:cs typeface="맑은 고딕" pitchFamily="34" charset="-120"/>
              </a:rPr>
              <a:t>7.73</a:t>
            </a:r>
            <a:endParaRPr lang="en-US" sz="1100" dirty="0"/>
          </a:p>
        </p:txBody>
      </p:sp>
      <p:sp>
        <p:nvSpPr>
          <p:cNvPr id="65" name="Text 63"/>
          <p:cNvSpPr txBox="1"/>
          <p:nvPr/>
        </p:nvSpPr>
        <p:spPr>
          <a:xfrm>
            <a:off x="6492240" y="5266944"/>
            <a:ext cx="2697480" cy="228600"/>
          </a:xfrm>
          <a:prstGeom prst="rect">
            <a:avLst/>
          </a:prstGeom>
          <a:noFill/>
          <a:ln/>
        </p:spPr>
        <p:txBody>
          <a:bodyPr wrap="square" lIns="0" tIns="0" rIns="0" bIns="0" rtlCol="0" anchor="t"/>
          <a:lstStyle/>
          <a:p>
            <a:pPr marL="0" indent="0" algn="l">
              <a:buNone/>
            </a:pPr>
            <a:r>
              <a:rPr lang="en-US" sz="1100" dirty="0">
                <a:solidFill>
                  <a:srgbClr val="262626"/>
                </a:solidFill>
                <a:latin typeface="맑은 고딕" pitchFamily="34" charset="0"/>
                <a:ea typeface="맑은 고딕" pitchFamily="34" charset="-122"/>
                <a:cs typeface="맑은 고딕" pitchFamily="34" charset="-120"/>
              </a:rPr>
              <a:t>π</a:t>
            </a:r>
            <a:r>
              <a:rPr lang="en-US" sz="1100" baseline="-40000" dirty="0">
                <a:solidFill>
                  <a:srgbClr val="262626"/>
                </a:solidFill>
                <a:latin typeface="맑은 고딕" pitchFamily="34" charset="0"/>
                <a:ea typeface="맑은 고딕" pitchFamily="34" charset="-122"/>
                <a:cs typeface="맑은 고딕" pitchFamily="34" charset="-120"/>
              </a:rPr>
              <a:t>1</a:t>
            </a:r>
            <a:r>
              <a:rPr lang="en-US" sz="1100" dirty="0">
                <a:solidFill>
                  <a:srgbClr val="262626"/>
                </a:solidFill>
                <a:latin typeface="맑은 고딕" pitchFamily="34" charset="0"/>
                <a:ea typeface="맑은 고딕" pitchFamily="34" charset="-122"/>
                <a:cs typeface="맑은 고딕" pitchFamily="34" charset="-120"/>
              </a:rPr>
              <a:t> = 3.47 / 6 = </a:t>
            </a:r>
            <a:r>
              <a:rPr lang="en-US" sz="1100" b="1" dirty="0">
                <a:solidFill>
                  <a:srgbClr val="262626"/>
                </a:solidFill>
                <a:latin typeface="맑은 고딕" pitchFamily="34" charset="0"/>
                <a:ea typeface="맑은 고딕" pitchFamily="34" charset="-122"/>
                <a:cs typeface="맑은 고딕" pitchFamily="34" charset="-120"/>
              </a:rPr>
              <a:t>0.58</a:t>
            </a:r>
            <a:r>
              <a:rPr lang="en-US" sz="1100" dirty="0">
                <a:solidFill>
                  <a:srgbClr val="262626"/>
                </a:solidFill>
                <a:latin typeface="맑은 고딕" pitchFamily="34" charset="0"/>
                <a:ea typeface="맑은 고딕" pitchFamily="34" charset="-122"/>
                <a:cs typeface="맑은 고딕" pitchFamily="34" charset="-120"/>
              </a:rPr>
              <a:t>,  π</a:t>
            </a:r>
            <a:r>
              <a:rPr lang="en-US" sz="1100" baseline="-40000" dirty="0">
                <a:solidFill>
                  <a:srgbClr val="262626"/>
                </a:solidFill>
                <a:latin typeface="맑은 고딕" pitchFamily="34" charset="0"/>
                <a:ea typeface="맑은 고딕" pitchFamily="34" charset="-122"/>
                <a:cs typeface="맑은 고딕" pitchFamily="34" charset="-120"/>
              </a:rPr>
              <a:t>2</a:t>
            </a:r>
            <a:r>
              <a:rPr lang="en-US" sz="1100" dirty="0">
                <a:solidFill>
                  <a:srgbClr val="262626"/>
                </a:solidFill>
                <a:latin typeface="맑은 고딕" pitchFamily="34" charset="0"/>
                <a:ea typeface="맑은 고딕" pitchFamily="34" charset="-122"/>
                <a:cs typeface="맑은 고딕" pitchFamily="34" charset="-120"/>
              </a:rPr>
              <a:t> = </a:t>
            </a:r>
            <a:r>
              <a:rPr lang="en-US" sz="1100" b="1" dirty="0">
                <a:solidFill>
                  <a:srgbClr val="262626"/>
                </a:solidFill>
                <a:latin typeface="맑은 고딕" pitchFamily="34" charset="0"/>
                <a:ea typeface="맑은 고딕" pitchFamily="34" charset="-122"/>
                <a:cs typeface="맑은 고딕" pitchFamily="34" charset="-120"/>
              </a:rPr>
              <a:t>0.42</a:t>
            </a:r>
            <a:endParaRPr lang="en-US" sz="1100" dirty="0"/>
          </a:p>
        </p:txBody>
      </p:sp>
      <p:sp>
        <p:nvSpPr>
          <p:cNvPr id="66" name="Text 64"/>
          <p:cNvSpPr txBox="1"/>
          <p:nvPr/>
        </p:nvSpPr>
        <p:spPr>
          <a:xfrm>
            <a:off x="6492240" y="5522976"/>
            <a:ext cx="2697480" cy="228600"/>
          </a:xfrm>
          <a:prstGeom prst="rect">
            <a:avLst/>
          </a:prstGeom>
          <a:noFill/>
          <a:ln/>
        </p:spPr>
        <p:txBody>
          <a:bodyPr wrap="square" lIns="0" tIns="0" rIns="0" bIns="0" rtlCol="0" anchor="t"/>
          <a:lstStyle/>
          <a:p>
            <a:pPr marL="0" indent="0" algn="l">
              <a:buNone/>
            </a:pPr>
            <a:r>
              <a:rPr lang="en-US" sz="1100" dirty="0">
                <a:solidFill>
                  <a:srgbClr val="262626"/>
                </a:solidFill>
                <a:latin typeface="맑은 고딕" pitchFamily="34" charset="0"/>
                <a:ea typeface="맑은 고딕" pitchFamily="34" charset="-122"/>
                <a:cs typeface="맑은 고딕" pitchFamily="34" charset="-120"/>
              </a:rPr>
              <a:t>σ</a:t>
            </a:r>
            <a:r>
              <a:rPr lang="en-US" sz="1100" baseline="-40000" dirty="0">
                <a:solidFill>
                  <a:srgbClr val="262626"/>
                </a:solidFill>
                <a:latin typeface="맑은 고딕" pitchFamily="34" charset="0"/>
                <a:ea typeface="맑은 고딕" pitchFamily="34" charset="-122"/>
                <a:cs typeface="맑은 고딕" pitchFamily="34" charset="-120"/>
              </a:rPr>
              <a:t>1</a:t>
            </a:r>
            <a:r>
              <a:rPr lang="en-US" sz="1100" baseline="30000" dirty="0">
                <a:solidFill>
                  <a:srgbClr val="262626"/>
                </a:solidFill>
                <a:latin typeface="맑은 고딕" pitchFamily="34" charset="0"/>
                <a:ea typeface="맑은 고딕" pitchFamily="34" charset="-122"/>
                <a:cs typeface="맑은 고딕" pitchFamily="34" charset="-120"/>
              </a:rPr>
              <a:t>2</a:t>
            </a:r>
            <a:r>
              <a:rPr lang="en-US" sz="1100" dirty="0">
                <a:solidFill>
                  <a:srgbClr val="262626"/>
                </a:solidFill>
                <a:latin typeface="맑은 고딕" pitchFamily="34" charset="0"/>
                <a:ea typeface="맑은 고딕" pitchFamily="34" charset="-122"/>
                <a:cs typeface="맑은 고딕" pitchFamily="34" charset="-120"/>
              </a:rPr>
              <a:t> = </a:t>
            </a:r>
            <a:r>
              <a:rPr lang="en-US" sz="1100" b="1" dirty="0">
                <a:solidFill>
                  <a:srgbClr val="262626"/>
                </a:solidFill>
                <a:latin typeface="맑은 고딕" pitchFamily="34" charset="0"/>
                <a:ea typeface="맑은 고딕" pitchFamily="34" charset="-122"/>
                <a:cs typeface="맑은 고딕" pitchFamily="34" charset="-120"/>
              </a:rPr>
              <a:t>1.74</a:t>
            </a:r>
            <a:r>
              <a:rPr lang="en-US" sz="1100" dirty="0">
                <a:solidFill>
                  <a:srgbClr val="262626"/>
                </a:solidFill>
                <a:latin typeface="맑은 고딕" pitchFamily="34" charset="0"/>
                <a:ea typeface="맑은 고딕" pitchFamily="34" charset="-122"/>
                <a:cs typeface="맑은 고딕" pitchFamily="34" charset="-120"/>
              </a:rPr>
              <a:t>,  σ</a:t>
            </a:r>
            <a:r>
              <a:rPr lang="en-US" sz="1100" baseline="-40000" dirty="0">
                <a:solidFill>
                  <a:srgbClr val="262626"/>
                </a:solidFill>
                <a:latin typeface="맑은 고딕" pitchFamily="34" charset="0"/>
                <a:ea typeface="맑은 고딕" pitchFamily="34" charset="-122"/>
                <a:cs typeface="맑은 고딕" pitchFamily="34" charset="-120"/>
              </a:rPr>
              <a:t>2</a:t>
            </a:r>
            <a:r>
              <a:rPr lang="en-US" sz="1100" baseline="30000" dirty="0">
                <a:solidFill>
                  <a:srgbClr val="262626"/>
                </a:solidFill>
                <a:latin typeface="맑은 고딕" pitchFamily="34" charset="0"/>
                <a:ea typeface="맑은 고딕" pitchFamily="34" charset="-122"/>
                <a:cs typeface="맑은 고딕" pitchFamily="34" charset="-120"/>
              </a:rPr>
              <a:t>2</a:t>
            </a:r>
            <a:r>
              <a:rPr lang="en-US" sz="1100" dirty="0">
                <a:solidFill>
                  <a:srgbClr val="262626"/>
                </a:solidFill>
                <a:latin typeface="맑은 고딕" pitchFamily="34" charset="0"/>
                <a:ea typeface="맑은 고딕" pitchFamily="34" charset="-122"/>
                <a:cs typeface="맑은 고딕" pitchFamily="34" charset="-120"/>
              </a:rPr>
              <a:t> = </a:t>
            </a:r>
            <a:r>
              <a:rPr lang="en-US" sz="1100" b="1" dirty="0">
                <a:solidFill>
                  <a:srgbClr val="262626"/>
                </a:solidFill>
                <a:latin typeface="맑은 고딕" pitchFamily="34" charset="0"/>
                <a:ea typeface="맑은 고딕" pitchFamily="34" charset="-122"/>
                <a:cs typeface="맑은 고딕" pitchFamily="34" charset="-120"/>
              </a:rPr>
              <a:t>2.46</a:t>
            </a:r>
            <a:r>
              <a:rPr lang="en-US" sz="1100" dirty="0">
                <a:solidFill>
                  <a:srgbClr val="262626"/>
                </a:solidFill>
                <a:latin typeface="맑은 고딕" pitchFamily="34" charset="0"/>
                <a:ea typeface="맑은 고딕" pitchFamily="34" charset="-122"/>
                <a:cs typeface="맑은 고딕" pitchFamily="34" charset="-120"/>
              </a:rPr>
              <a:t> (γ 가중 분산)</a:t>
            </a:r>
            <a:endParaRPr lang="en-US" sz="1100" dirty="0"/>
          </a:p>
        </p:txBody>
      </p:sp>
      <p:sp>
        <p:nvSpPr>
          <p:cNvPr id="67" name="Text 65"/>
          <p:cNvSpPr txBox="1"/>
          <p:nvPr/>
        </p:nvSpPr>
        <p:spPr>
          <a:xfrm>
            <a:off x="6492240" y="5815584"/>
            <a:ext cx="2697480" cy="228600"/>
          </a:xfrm>
          <a:prstGeom prst="rect">
            <a:avLst/>
          </a:prstGeom>
          <a:noFill/>
          <a:ln/>
        </p:spPr>
        <p:txBody>
          <a:bodyPr wrap="square" lIns="0" tIns="0" rIns="0" bIns="0" rtlCol="0" anchor="t"/>
          <a:lstStyle/>
          <a:p>
            <a:pPr marL="0" indent="0" algn="l">
              <a:buNone/>
            </a:pPr>
            <a:r>
              <a:rPr lang="en-US" sz="1050" dirty="0">
                <a:solidFill>
                  <a:srgbClr val="595959"/>
                </a:solidFill>
                <a:latin typeface="맑은 고딕" pitchFamily="34" charset="0"/>
                <a:ea typeface="맑은 고딕" pitchFamily="34" charset="-122"/>
                <a:cs typeface="맑은 고딕" pitchFamily="34" charset="-120"/>
              </a:rPr>
              <a:t>z = 5는 두 </a:t>
            </a:r>
            <a:r>
              <a:rPr lang="ko-KR" altLang="en-US" sz="1050" dirty="0">
                <a:solidFill>
                  <a:srgbClr val="595959"/>
                </a:solidFill>
                <a:latin typeface="맑은 고딕" pitchFamily="34" charset="0"/>
                <a:ea typeface="맑은 고딕" pitchFamily="34" charset="-122"/>
                <a:cs typeface="맑은 고딕" pitchFamily="34" charset="-120"/>
              </a:rPr>
              <a:t>분포</a:t>
            </a:r>
            <a:r>
              <a:rPr lang="en-US" sz="1050" dirty="0">
                <a:solidFill>
                  <a:srgbClr val="595959"/>
                </a:solidFill>
                <a:latin typeface="맑은 고딕" pitchFamily="34" charset="0"/>
                <a:ea typeface="맑은 고딕" pitchFamily="34" charset="-122"/>
                <a:cs typeface="맑은 고딕" pitchFamily="34" charset="-120"/>
              </a:rPr>
              <a:t>에 절반씩 기여</a:t>
            </a:r>
            <a:endParaRPr lang="en-US" sz="1050" dirty="0"/>
          </a:p>
        </p:txBody>
      </p:sp>
      <p:sp>
        <p:nvSpPr>
          <p:cNvPr id="68" name="Text 66"/>
          <p:cNvSpPr txBox="1"/>
          <p:nvPr/>
        </p:nvSpPr>
        <p:spPr>
          <a:xfrm>
            <a:off x="9372600" y="3246120"/>
            <a:ext cx="2514600" cy="274320"/>
          </a:xfrm>
          <a:prstGeom prst="rect">
            <a:avLst/>
          </a:prstGeom>
          <a:noFill/>
          <a:ln/>
        </p:spPr>
        <p:txBody>
          <a:bodyPr wrap="square" lIns="0" tIns="0" rIns="0" bIns="0" rtlCol="0" anchor="ctr"/>
          <a:lstStyle/>
          <a:p>
            <a:pPr marL="0" indent="0" algn="l">
              <a:buNone/>
            </a:pPr>
            <a:r>
              <a:rPr lang="en-US" sz="1350" b="1" dirty="0">
                <a:solidFill>
                  <a:srgbClr val="C00000"/>
                </a:solidFill>
                <a:latin typeface="맑은 고딕" pitchFamily="34" charset="0"/>
                <a:ea typeface="맑은 고딕" pitchFamily="34" charset="-122"/>
                <a:cs typeface="맑은 고딕" pitchFamily="34" charset="-120"/>
              </a:rPr>
              <a:t>④ 반복 → </a:t>
            </a:r>
            <a:r>
              <a:rPr lang="ko-KR" altLang="en-US" sz="1350" b="1" dirty="0">
                <a:solidFill>
                  <a:srgbClr val="C00000"/>
                </a:solidFill>
                <a:latin typeface="맑은 고딕" pitchFamily="34" charset="0"/>
                <a:ea typeface="맑은 고딕" pitchFamily="34" charset="-122"/>
                <a:cs typeface="맑은 고딕" pitchFamily="34" charset="-120"/>
              </a:rPr>
              <a:t>정상과 이상 분리</a:t>
            </a:r>
            <a:endParaRPr lang="en-US" sz="1350" dirty="0"/>
          </a:p>
        </p:txBody>
      </p:sp>
      <p:sp>
        <p:nvSpPr>
          <p:cNvPr id="69" name="Shape 67"/>
          <p:cNvSpPr/>
          <p:nvPr/>
        </p:nvSpPr>
        <p:spPr>
          <a:xfrm>
            <a:off x="9372600" y="4572000"/>
            <a:ext cx="2514600" cy="91"/>
          </a:xfrm>
          <a:prstGeom prst="line">
            <a:avLst/>
          </a:prstGeom>
          <a:noFill/>
          <a:ln w="12700">
            <a:solidFill>
              <a:srgbClr val="000000"/>
            </a:solidFill>
            <a:prstDash val="solid"/>
          </a:ln>
        </p:spPr>
        <p:txBody>
          <a:bodyPr/>
          <a:lstStyle/>
          <a:p>
            <a:endParaRPr lang="ko-KR" altLang="en-US"/>
          </a:p>
        </p:txBody>
      </p:sp>
      <p:sp>
        <p:nvSpPr>
          <p:cNvPr id="70" name="Shape 68"/>
          <p:cNvSpPr/>
          <p:nvPr/>
        </p:nvSpPr>
        <p:spPr>
          <a:xfrm>
            <a:off x="9372600" y="3703320"/>
            <a:ext cx="2514600" cy="868680"/>
          </a:xfrm>
          <a:custGeom>
            <a:avLst/>
            <a:gdLst/>
            <a:ahLst/>
            <a:cxnLst/>
            <a:rect l="l" t="t" r="r" b="b"/>
            <a:pathLst>
              <a:path w="2514600" h="868680">
                <a:moveTo>
                  <a:pt x="0" y="762654"/>
                </a:moveTo>
                <a:lnTo>
                  <a:pt x="31433" y="739439"/>
                </a:lnTo>
                <a:lnTo>
                  <a:pt x="62865" y="713030"/>
                </a:lnTo>
                <a:lnTo>
                  <a:pt x="94298" y="683471"/>
                </a:lnTo>
                <a:lnTo>
                  <a:pt x="125730" y="650939"/>
                </a:lnTo>
                <a:lnTo>
                  <a:pt x="157163" y="615761"/>
                </a:lnTo>
                <a:lnTo>
                  <a:pt x="188595" y="578419"/>
                </a:lnTo>
                <a:lnTo>
                  <a:pt x="220027" y="539556"/>
                </a:lnTo>
                <a:lnTo>
                  <a:pt x="251460" y="499961"/>
                </a:lnTo>
                <a:lnTo>
                  <a:pt x="282892" y="460553"/>
                </a:lnTo>
                <a:lnTo>
                  <a:pt x="314325" y="422346"/>
                </a:lnTo>
                <a:lnTo>
                  <a:pt x="345758" y="386412"/>
                </a:lnTo>
                <a:lnTo>
                  <a:pt x="377190" y="353828"/>
                </a:lnTo>
                <a:lnTo>
                  <a:pt x="408622" y="325630"/>
                </a:lnTo>
                <a:lnTo>
                  <a:pt x="440055" y="302752"/>
                </a:lnTo>
                <a:lnTo>
                  <a:pt x="471488" y="285976"/>
                </a:lnTo>
                <a:lnTo>
                  <a:pt x="502920" y="275893"/>
                </a:lnTo>
                <a:lnTo>
                  <a:pt x="534353" y="272862"/>
                </a:lnTo>
                <a:lnTo>
                  <a:pt x="565785" y="276992"/>
                </a:lnTo>
                <a:lnTo>
                  <a:pt x="597218" y="288134"/>
                </a:lnTo>
                <a:lnTo>
                  <a:pt x="628650" y="305892"/>
                </a:lnTo>
                <a:lnTo>
                  <a:pt x="660083" y="329644"/>
                </a:lnTo>
                <a:lnTo>
                  <a:pt x="691515" y="358581"/>
                </a:lnTo>
                <a:lnTo>
                  <a:pt x="722947" y="391749"/>
                </a:lnTo>
                <a:lnTo>
                  <a:pt x="754380" y="428103"/>
                </a:lnTo>
                <a:lnTo>
                  <a:pt x="785813" y="466563"/>
                </a:lnTo>
                <a:lnTo>
                  <a:pt x="817245" y="506064"/>
                </a:lnTo>
                <a:lnTo>
                  <a:pt x="848678" y="545603"/>
                </a:lnTo>
                <a:lnTo>
                  <a:pt x="880110" y="584281"/>
                </a:lnTo>
                <a:lnTo>
                  <a:pt x="911543" y="621327"/>
                </a:lnTo>
                <a:lnTo>
                  <a:pt x="942975" y="656126"/>
                </a:lnTo>
                <a:lnTo>
                  <a:pt x="974407" y="688218"/>
                </a:lnTo>
                <a:lnTo>
                  <a:pt x="1005840" y="717301"/>
                </a:lnTo>
                <a:lnTo>
                  <a:pt x="1037272" y="743218"/>
                </a:lnTo>
                <a:lnTo>
                  <a:pt x="1068705" y="765944"/>
                </a:lnTo>
                <a:lnTo>
                  <a:pt x="1100138" y="785562"/>
                </a:lnTo>
                <a:lnTo>
                  <a:pt x="1131570" y="802239"/>
                </a:lnTo>
                <a:lnTo>
                  <a:pt x="1163003" y="816207"/>
                </a:lnTo>
                <a:lnTo>
                  <a:pt x="1194435" y="827735"/>
                </a:lnTo>
                <a:lnTo>
                  <a:pt x="1225868" y="837113"/>
                </a:lnTo>
                <a:lnTo>
                  <a:pt x="1257300" y="844635"/>
                </a:lnTo>
                <a:lnTo>
                  <a:pt x="1288732" y="850584"/>
                </a:lnTo>
                <a:lnTo>
                  <a:pt x="1320165" y="855224"/>
                </a:lnTo>
                <a:lnTo>
                  <a:pt x="1351598" y="858794"/>
                </a:lnTo>
                <a:lnTo>
                  <a:pt x="1383030" y="861504"/>
                </a:lnTo>
                <a:lnTo>
                  <a:pt x="1414463" y="863534"/>
                </a:lnTo>
                <a:lnTo>
                  <a:pt x="1445895" y="865034"/>
                </a:lnTo>
                <a:lnTo>
                  <a:pt x="1477328" y="866127"/>
                </a:lnTo>
                <a:lnTo>
                  <a:pt x="1508760" y="866914"/>
                </a:lnTo>
                <a:lnTo>
                  <a:pt x="1540193" y="867473"/>
                </a:lnTo>
                <a:lnTo>
                  <a:pt x="1571625" y="867865"/>
                </a:lnTo>
                <a:lnTo>
                  <a:pt x="1603057" y="868136"/>
                </a:lnTo>
                <a:lnTo>
                  <a:pt x="1634490" y="868322"/>
                </a:lnTo>
                <a:lnTo>
                  <a:pt x="1665923" y="868447"/>
                </a:lnTo>
                <a:lnTo>
                  <a:pt x="1697355" y="868530"/>
                </a:lnTo>
                <a:lnTo>
                  <a:pt x="1728788" y="868585"/>
                </a:lnTo>
                <a:lnTo>
                  <a:pt x="1760220" y="868620"/>
                </a:lnTo>
                <a:lnTo>
                  <a:pt x="1791652" y="868643"/>
                </a:lnTo>
                <a:lnTo>
                  <a:pt x="1823085" y="868657"/>
                </a:lnTo>
                <a:lnTo>
                  <a:pt x="1854518" y="868666"/>
                </a:lnTo>
                <a:lnTo>
                  <a:pt x="1885950" y="868672"/>
                </a:lnTo>
                <a:lnTo>
                  <a:pt x="1917382" y="868675"/>
                </a:lnTo>
                <a:lnTo>
                  <a:pt x="1948815" y="868677"/>
                </a:lnTo>
                <a:lnTo>
                  <a:pt x="1980248" y="868678"/>
                </a:lnTo>
                <a:lnTo>
                  <a:pt x="2011680" y="868679"/>
                </a:lnTo>
                <a:lnTo>
                  <a:pt x="2043113" y="868679"/>
                </a:lnTo>
                <a:lnTo>
                  <a:pt x="2074545" y="868680"/>
                </a:lnTo>
                <a:lnTo>
                  <a:pt x="2105977" y="868680"/>
                </a:lnTo>
                <a:lnTo>
                  <a:pt x="2137410" y="868680"/>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22225">
            <a:solidFill>
              <a:srgbClr val="1F4E79"/>
            </a:solidFill>
            <a:prstDash val="solid"/>
          </a:ln>
        </p:spPr>
        <p:txBody>
          <a:bodyPr/>
          <a:lstStyle/>
          <a:p>
            <a:endParaRPr lang="ko-KR" altLang="en-US"/>
          </a:p>
        </p:txBody>
      </p:sp>
      <p:sp>
        <p:nvSpPr>
          <p:cNvPr id="71" name="Shape 69"/>
          <p:cNvSpPr/>
          <p:nvPr/>
        </p:nvSpPr>
        <p:spPr>
          <a:xfrm>
            <a:off x="9372600" y="3703320"/>
            <a:ext cx="2514600" cy="868680"/>
          </a:xfrm>
          <a:custGeom>
            <a:avLst/>
            <a:gdLst/>
            <a:ahLst/>
            <a:cxnLst/>
            <a:rect l="l" t="t" r="r" b="b"/>
            <a:pathLst>
              <a:path w="2514600" h="868680">
                <a:moveTo>
                  <a:pt x="0" y="868680"/>
                </a:moveTo>
                <a:lnTo>
                  <a:pt x="31433" y="868680"/>
                </a:lnTo>
                <a:lnTo>
                  <a:pt x="62865" y="868680"/>
                </a:lnTo>
                <a:lnTo>
                  <a:pt x="94298" y="868680"/>
                </a:lnTo>
                <a:lnTo>
                  <a:pt x="125730" y="868680"/>
                </a:lnTo>
                <a:lnTo>
                  <a:pt x="157163" y="868680"/>
                </a:lnTo>
                <a:lnTo>
                  <a:pt x="188595" y="868680"/>
                </a:lnTo>
                <a:lnTo>
                  <a:pt x="220027" y="868680"/>
                </a:lnTo>
                <a:lnTo>
                  <a:pt x="251460" y="868680"/>
                </a:lnTo>
                <a:lnTo>
                  <a:pt x="282892" y="868680"/>
                </a:lnTo>
                <a:lnTo>
                  <a:pt x="314325" y="868680"/>
                </a:lnTo>
                <a:lnTo>
                  <a:pt x="345758" y="868680"/>
                </a:lnTo>
                <a:lnTo>
                  <a:pt x="377190" y="868680"/>
                </a:lnTo>
                <a:lnTo>
                  <a:pt x="408622" y="868680"/>
                </a:lnTo>
                <a:lnTo>
                  <a:pt x="440055" y="868680"/>
                </a:lnTo>
                <a:lnTo>
                  <a:pt x="471488" y="868680"/>
                </a:lnTo>
                <a:lnTo>
                  <a:pt x="502920" y="868680"/>
                </a:lnTo>
                <a:lnTo>
                  <a:pt x="534353" y="868680"/>
                </a:lnTo>
                <a:lnTo>
                  <a:pt x="565785" y="868680"/>
                </a:lnTo>
                <a:lnTo>
                  <a:pt x="597218" y="868680"/>
                </a:lnTo>
                <a:lnTo>
                  <a:pt x="628650" y="868680"/>
                </a:lnTo>
                <a:lnTo>
                  <a:pt x="660083" y="868680"/>
                </a:lnTo>
                <a:lnTo>
                  <a:pt x="691515" y="868680"/>
                </a:lnTo>
                <a:lnTo>
                  <a:pt x="722947" y="868680"/>
                </a:lnTo>
                <a:lnTo>
                  <a:pt x="754380" y="868680"/>
                </a:lnTo>
                <a:lnTo>
                  <a:pt x="785813" y="868680"/>
                </a:lnTo>
                <a:lnTo>
                  <a:pt x="817245" y="868680"/>
                </a:lnTo>
                <a:lnTo>
                  <a:pt x="848678" y="868680"/>
                </a:lnTo>
                <a:lnTo>
                  <a:pt x="880110" y="868680"/>
                </a:lnTo>
                <a:lnTo>
                  <a:pt x="911543" y="868680"/>
                </a:lnTo>
                <a:lnTo>
                  <a:pt x="942975" y="868680"/>
                </a:lnTo>
                <a:lnTo>
                  <a:pt x="974407" y="868680"/>
                </a:lnTo>
                <a:lnTo>
                  <a:pt x="1005840" y="868680"/>
                </a:lnTo>
                <a:lnTo>
                  <a:pt x="1037272" y="868680"/>
                </a:lnTo>
                <a:lnTo>
                  <a:pt x="1068705" y="868680"/>
                </a:lnTo>
                <a:lnTo>
                  <a:pt x="1100138" y="868680"/>
                </a:lnTo>
                <a:lnTo>
                  <a:pt x="1131570" y="868679"/>
                </a:lnTo>
                <a:lnTo>
                  <a:pt x="1163003" y="868676"/>
                </a:lnTo>
                <a:lnTo>
                  <a:pt x="1194435" y="868662"/>
                </a:lnTo>
                <a:lnTo>
                  <a:pt x="1225868" y="868605"/>
                </a:lnTo>
                <a:lnTo>
                  <a:pt x="1257300" y="868389"/>
                </a:lnTo>
                <a:lnTo>
                  <a:pt x="1288732" y="867666"/>
                </a:lnTo>
                <a:lnTo>
                  <a:pt x="1320165" y="865504"/>
                </a:lnTo>
                <a:lnTo>
                  <a:pt x="1351598" y="859730"/>
                </a:lnTo>
                <a:lnTo>
                  <a:pt x="1383030" y="845989"/>
                </a:lnTo>
                <a:lnTo>
                  <a:pt x="1414463" y="816918"/>
                </a:lnTo>
                <a:lnTo>
                  <a:pt x="1445895" y="762437"/>
                </a:lnTo>
                <a:lnTo>
                  <a:pt x="1477328" y="672475"/>
                </a:lnTo>
                <a:lnTo>
                  <a:pt x="1508760" y="542655"/>
                </a:lnTo>
                <a:lnTo>
                  <a:pt x="1540193" y="381242"/>
                </a:lnTo>
                <a:lnTo>
                  <a:pt x="1571625" y="212966"/>
                </a:lnTo>
                <a:lnTo>
                  <a:pt x="1603057" y="75014"/>
                </a:lnTo>
                <a:lnTo>
                  <a:pt x="1634490" y="4333"/>
                </a:lnTo>
                <a:lnTo>
                  <a:pt x="1665923" y="21713"/>
                </a:lnTo>
                <a:lnTo>
                  <a:pt x="1697355" y="121934"/>
                </a:lnTo>
                <a:lnTo>
                  <a:pt x="1728788" y="276292"/>
                </a:lnTo>
                <a:lnTo>
                  <a:pt x="1760220" y="445848"/>
                </a:lnTo>
                <a:lnTo>
                  <a:pt x="1791652" y="597126"/>
                </a:lnTo>
                <a:lnTo>
                  <a:pt x="1823085" y="711762"/>
                </a:lnTo>
                <a:lnTo>
                  <a:pt x="1854518" y="787094"/>
                </a:lnTo>
                <a:lnTo>
                  <a:pt x="1885950" y="830513"/>
                </a:lnTo>
                <a:lnTo>
                  <a:pt x="1917382" y="852615"/>
                </a:lnTo>
                <a:lnTo>
                  <a:pt x="1948815" y="862596"/>
                </a:lnTo>
                <a:lnTo>
                  <a:pt x="1980248" y="866607"/>
                </a:lnTo>
                <a:lnTo>
                  <a:pt x="2011680" y="868044"/>
                </a:lnTo>
                <a:lnTo>
                  <a:pt x="2043113" y="868505"/>
                </a:lnTo>
                <a:lnTo>
                  <a:pt x="2074545" y="868636"/>
                </a:lnTo>
                <a:lnTo>
                  <a:pt x="2105977" y="868670"/>
                </a:lnTo>
                <a:lnTo>
                  <a:pt x="2137410" y="868678"/>
                </a:lnTo>
                <a:lnTo>
                  <a:pt x="2168843" y="868680"/>
                </a:lnTo>
                <a:lnTo>
                  <a:pt x="2200275" y="868680"/>
                </a:lnTo>
                <a:lnTo>
                  <a:pt x="2231708" y="868680"/>
                </a:lnTo>
                <a:lnTo>
                  <a:pt x="2263140" y="868680"/>
                </a:lnTo>
                <a:lnTo>
                  <a:pt x="2294573" y="868680"/>
                </a:lnTo>
                <a:lnTo>
                  <a:pt x="2326005" y="868680"/>
                </a:lnTo>
                <a:lnTo>
                  <a:pt x="2357438" y="868680"/>
                </a:lnTo>
                <a:lnTo>
                  <a:pt x="2388870" y="868680"/>
                </a:lnTo>
                <a:lnTo>
                  <a:pt x="2420302" y="868680"/>
                </a:lnTo>
                <a:lnTo>
                  <a:pt x="2451735" y="868680"/>
                </a:lnTo>
                <a:lnTo>
                  <a:pt x="2483168" y="868680"/>
                </a:lnTo>
                <a:lnTo>
                  <a:pt x="2514600" y="868680"/>
                </a:lnTo>
              </a:path>
            </a:pathLst>
          </a:custGeom>
          <a:ln w="22225">
            <a:solidFill>
              <a:srgbClr val="C55A11"/>
            </a:solidFill>
            <a:prstDash val="solid"/>
          </a:ln>
        </p:spPr>
        <p:txBody>
          <a:bodyPr/>
          <a:lstStyle/>
          <a:p>
            <a:endParaRPr lang="ko-KR" altLang="en-US"/>
          </a:p>
        </p:txBody>
      </p:sp>
      <p:sp>
        <p:nvSpPr>
          <p:cNvPr id="72" name="Shape 70"/>
          <p:cNvSpPr/>
          <p:nvPr/>
        </p:nvSpPr>
        <p:spPr>
          <a:xfrm>
            <a:off x="9524883"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3" name="Shape 71"/>
          <p:cNvSpPr/>
          <p:nvPr/>
        </p:nvSpPr>
        <p:spPr>
          <a:xfrm>
            <a:off x="971831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4" name="Shape 72"/>
          <p:cNvSpPr/>
          <p:nvPr/>
        </p:nvSpPr>
        <p:spPr>
          <a:xfrm>
            <a:off x="9911744"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5" name="Shape 73"/>
          <p:cNvSpPr/>
          <p:nvPr/>
        </p:nvSpPr>
        <p:spPr>
          <a:xfrm>
            <a:off x="10298606"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6" name="Shape 74"/>
          <p:cNvSpPr/>
          <p:nvPr/>
        </p:nvSpPr>
        <p:spPr>
          <a:xfrm>
            <a:off x="10878898"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7" name="Shape 75"/>
          <p:cNvSpPr/>
          <p:nvPr/>
        </p:nvSpPr>
        <p:spPr>
          <a:xfrm>
            <a:off x="11072329" y="4530852"/>
            <a:ext cx="82296" cy="82296"/>
          </a:xfrm>
          <a:prstGeom prst="ellipse">
            <a:avLst/>
          </a:prstGeom>
          <a:solidFill>
            <a:srgbClr val="000000"/>
          </a:solidFill>
          <a:ln w="12700">
            <a:solidFill>
              <a:srgbClr val="000000"/>
            </a:solidFill>
            <a:prstDash val="solid"/>
          </a:ln>
        </p:spPr>
        <p:txBody>
          <a:bodyPr/>
          <a:lstStyle/>
          <a:p>
            <a:endParaRPr lang="ko-KR" altLang="en-US"/>
          </a:p>
        </p:txBody>
      </p:sp>
      <p:sp>
        <p:nvSpPr>
          <p:cNvPr id="78" name="Shape 76"/>
          <p:cNvSpPr/>
          <p:nvPr/>
        </p:nvSpPr>
        <p:spPr>
          <a:xfrm>
            <a:off x="9704598" y="4352544"/>
            <a:ext cx="109728" cy="109728"/>
          </a:xfrm>
          <a:prstGeom prst="ellipse">
            <a:avLst/>
          </a:prstGeom>
          <a:solidFill>
            <a:srgbClr val="1F4E79"/>
          </a:solidFill>
          <a:ln w="12700">
            <a:solidFill>
              <a:srgbClr val="FFFFFF"/>
            </a:solidFill>
            <a:prstDash val="solid"/>
          </a:ln>
        </p:spPr>
        <p:txBody>
          <a:bodyPr/>
          <a:lstStyle/>
          <a:p>
            <a:endParaRPr lang="ko-KR" altLang="en-US"/>
          </a:p>
        </p:txBody>
      </p:sp>
      <p:sp>
        <p:nvSpPr>
          <p:cNvPr id="79" name="Shape 77"/>
          <p:cNvSpPr/>
          <p:nvPr/>
        </p:nvSpPr>
        <p:spPr>
          <a:xfrm>
            <a:off x="11629761" y="4343400"/>
            <a:ext cx="128016" cy="128016"/>
          </a:xfrm>
          <a:prstGeom prst="line">
            <a:avLst/>
          </a:prstGeom>
          <a:noFill/>
          <a:ln w="28575">
            <a:solidFill>
              <a:srgbClr val="C00000"/>
            </a:solidFill>
            <a:prstDash val="solid"/>
          </a:ln>
        </p:spPr>
        <p:txBody>
          <a:bodyPr/>
          <a:lstStyle/>
          <a:p>
            <a:endParaRPr lang="ko-KR" altLang="en-US"/>
          </a:p>
        </p:txBody>
      </p:sp>
      <p:sp>
        <p:nvSpPr>
          <p:cNvPr id="80" name="Shape 78"/>
          <p:cNvSpPr/>
          <p:nvPr/>
        </p:nvSpPr>
        <p:spPr>
          <a:xfrm flipV="1">
            <a:off x="11629761" y="4343400"/>
            <a:ext cx="128016" cy="128016"/>
          </a:xfrm>
          <a:prstGeom prst="line">
            <a:avLst/>
          </a:prstGeom>
          <a:noFill/>
          <a:ln w="28575">
            <a:solidFill>
              <a:srgbClr val="C00000"/>
            </a:solidFill>
            <a:prstDash val="solid"/>
          </a:ln>
        </p:spPr>
        <p:txBody>
          <a:bodyPr/>
          <a:lstStyle/>
          <a:p>
            <a:endParaRPr lang="ko-KR" altLang="en-US"/>
          </a:p>
        </p:txBody>
      </p:sp>
      <p:sp>
        <p:nvSpPr>
          <p:cNvPr id="81" name="Text 79"/>
          <p:cNvSpPr txBox="1"/>
          <p:nvPr/>
        </p:nvSpPr>
        <p:spPr>
          <a:xfrm>
            <a:off x="9372600" y="4754880"/>
            <a:ext cx="2697480" cy="228600"/>
          </a:xfrm>
          <a:prstGeom prst="rect">
            <a:avLst/>
          </a:prstGeom>
          <a:noFill/>
          <a:ln/>
        </p:spPr>
        <p:txBody>
          <a:bodyPr wrap="square" lIns="0" tIns="0" rIns="0" bIns="0" rtlCol="0" anchor="t"/>
          <a:lstStyle/>
          <a:p>
            <a:pPr marL="0" indent="0" algn="l">
              <a:buNone/>
            </a:pPr>
            <a:r>
              <a:rPr lang="en-US" sz="1100" b="1" dirty="0">
                <a:solidFill>
                  <a:srgbClr val="262626"/>
                </a:solidFill>
                <a:latin typeface="맑은 고딕" pitchFamily="34" charset="0"/>
                <a:ea typeface="맑은 고딕" pitchFamily="34" charset="-122"/>
                <a:cs typeface="맑은 고딕" pitchFamily="34" charset="-120"/>
              </a:rPr>
              <a:t>μ = (2.75, 8.5),  π = (.67, .33)</a:t>
            </a:r>
            <a:endParaRPr lang="en-US" sz="1100" dirty="0"/>
          </a:p>
        </p:txBody>
      </p:sp>
      <p:sp>
        <p:nvSpPr>
          <p:cNvPr id="82" name="Text 80"/>
          <p:cNvSpPr txBox="1"/>
          <p:nvPr/>
        </p:nvSpPr>
        <p:spPr>
          <a:xfrm>
            <a:off x="9372600" y="5010912"/>
            <a:ext cx="2606040" cy="228600"/>
          </a:xfrm>
          <a:prstGeom prst="rect">
            <a:avLst/>
          </a:prstGeom>
          <a:noFill/>
          <a:ln/>
        </p:spPr>
        <p:txBody>
          <a:bodyPr wrap="square" lIns="0" tIns="0" rIns="0" bIns="0" rtlCol="0" anchor="t"/>
          <a:lstStyle/>
          <a:p>
            <a:pPr marL="0" indent="0" algn="l">
              <a:buNone/>
            </a:pPr>
            <a:r>
              <a:rPr lang="en-US" sz="1100" dirty="0">
                <a:solidFill>
                  <a:srgbClr val="262626"/>
                </a:solidFill>
                <a:latin typeface="맑은 고딕" pitchFamily="34" charset="0"/>
                <a:ea typeface="맑은 고딕" pitchFamily="34" charset="-122"/>
                <a:cs typeface="맑은 고딕" pitchFamily="34" charset="-120"/>
              </a:rPr>
              <a:t>→ 정상 분포 p(z) 완성</a:t>
            </a:r>
            <a:endParaRPr lang="en-US" sz="1100" dirty="0"/>
          </a:p>
        </p:txBody>
      </p:sp>
      <p:sp>
        <p:nvSpPr>
          <p:cNvPr id="83" name="Text 81"/>
          <p:cNvSpPr txBox="1"/>
          <p:nvPr/>
        </p:nvSpPr>
        <p:spPr>
          <a:xfrm>
            <a:off x="9372600" y="5349240"/>
            <a:ext cx="2606040" cy="228600"/>
          </a:xfrm>
          <a:prstGeom prst="rect">
            <a:avLst/>
          </a:prstGeom>
          <a:noFill/>
          <a:ln/>
        </p:spPr>
        <p:txBody>
          <a:bodyPr wrap="square" lIns="0" tIns="0" rIns="0" bIns="0" rtlCol="0" anchor="t"/>
          <a:lstStyle/>
          <a:p>
            <a:pPr marL="0" indent="0" algn="l">
              <a:buNone/>
            </a:pPr>
            <a:r>
              <a:rPr lang="en-US" sz="1100" b="1" dirty="0">
                <a:solidFill>
                  <a:srgbClr val="262626"/>
                </a:solidFill>
                <a:latin typeface="맑은 고딕" pitchFamily="34" charset="0"/>
                <a:ea typeface="맑은 고딕" pitchFamily="34" charset="-122"/>
                <a:cs typeface="맑은 고딕" pitchFamily="34" charset="-120"/>
              </a:rPr>
              <a:t>새 값의 점수 −log p(z)</a:t>
            </a:r>
            <a:endParaRPr lang="en-US" sz="1100" dirty="0"/>
          </a:p>
        </p:txBody>
      </p:sp>
      <p:sp>
        <p:nvSpPr>
          <p:cNvPr id="84" name="Text 82"/>
          <p:cNvSpPr txBox="1"/>
          <p:nvPr/>
        </p:nvSpPr>
        <p:spPr>
          <a:xfrm>
            <a:off x="9372600" y="5605272"/>
            <a:ext cx="2606040" cy="228600"/>
          </a:xfrm>
          <a:prstGeom prst="rect">
            <a:avLst/>
          </a:prstGeom>
          <a:noFill/>
          <a:ln/>
        </p:spPr>
        <p:txBody>
          <a:bodyPr wrap="square" lIns="0" tIns="0" rIns="0" bIns="0" rtlCol="0" anchor="t"/>
          <a:lstStyle/>
          <a:p>
            <a:pPr marL="0" indent="0" algn="l">
              <a:buNone/>
            </a:pPr>
            <a:r>
              <a:rPr lang="en-US" sz="1100" dirty="0">
                <a:solidFill>
                  <a:srgbClr val="1F4E79"/>
                </a:solidFill>
                <a:latin typeface="맑은 고딕" pitchFamily="34" charset="0"/>
                <a:ea typeface="맑은 고딕" pitchFamily="34" charset="-122"/>
                <a:cs typeface="맑은 고딕" pitchFamily="34" charset="-120"/>
              </a:rPr>
              <a:t>z = 2  → </a:t>
            </a:r>
            <a:r>
              <a:rPr lang="en-US" sz="1100" b="1" dirty="0">
                <a:solidFill>
                  <a:srgbClr val="1F4E79"/>
                </a:solidFill>
                <a:latin typeface="맑은 고딕" pitchFamily="34" charset="0"/>
                <a:ea typeface="맑은 고딕" pitchFamily="34" charset="-122"/>
                <a:cs typeface="맑은 고딕" pitchFamily="34" charset="-120"/>
              </a:rPr>
              <a:t>1.9</a:t>
            </a:r>
            <a:r>
              <a:rPr lang="en-US" sz="1100" dirty="0">
                <a:solidFill>
                  <a:srgbClr val="1F4E79"/>
                </a:solidFill>
                <a:latin typeface="맑은 고딕" pitchFamily="34" charset="0"/>
                <a:ea typeface="맑은 고딕" pitchFamily="34" charset="-122"/>
                <a:cs typeface="맑은 고딕" pitchFamily="34" charset="-120"/>
              </a:rPr>
              <a:t> (흔함)</a:t>
            </a:r>
            <a:endParaRPr lang="en-US" sz="1100" dirty="0"/>
          </a:p>
        </p:txBody>
      </p:sp>
      <p:sp>
        <p:nvSpPr>
          <p:cNvPr id="85" name="Text 83"/>
          <p:cNvSpPr txBox="1"/>
          <p:nvPr/>
        </p:nvSpPr>
        <p:spPr>
          <a:xfrm>
            <a:off x="9372600" y="5861304"/>
            <a:ext cx="2606040" cy="228600"/>
          </a:xfrm>
          <a:prstGeom prst="rect">
            <a:avLst/>
          </a:prstGeom>
          <a:noFill/>
          <a:ln/>
        </p:spPr>
        <p:txBody>
          <a:bodyPr wrap="square" lIns="0" tIns="0" rIns="0" bIns="0" rtlCol="0" anchor="t"/>
          <a:lstStyle/>
          <a:p>
            <a:pPr marL="0" indent="0" algn="l">
              <a:buNone/>
            </a:pPr>
            <a:r>
              <a:rPr lang="en-US" sz="1100" dirty="0">
                <a:solidFill>
                  <a:srgbClr val="C00000"/>
                </a:solidFill>
                <a:latin typeface="맑은 고딕" pitchFamily="34" charset="0"/>
                <a:ea typeface="맑은 고딕" pitchFamily="34" charset="-122"/>
                <a:cs typeface="맑은 고딕" pitchFamily="34" charset="-120"/>
              </a:rPr>
              <a:t>z = 12 → </a:t>
            </a:r>
            <a:r>
              <a:rPr lang="en-US" sz="1100" b="1" dirty="0">
                <a:solidFill>
                  <a:srgbClr val="C00000"/>
                </a:solidFill>
                <a:latin typeface="맑은 고딕" pitchFamily="34" charset="0"/>
                <a:ea typeface="맑은 고딕" pitchFamily="34" charset="-122"/>
                <a:cs typeface="맑은 고딕" pitchFamily="34" charset="-120"/>
              </a:rPr>
              <a:t>21.1</a:t>
            </a:r>
            <a:r>
              <a:rPr lang="en-US" sz="1100" dirty="0">
                <a:solidFill>
                  <a:srgbClr val="C00000"/>
                </a:solidFill>
                <a:latin typeface="맑은 고딕" pitchFamily="34" charset="0"/>
                <a:ea typeface="맑은 고딕" pitchFamily="34" charset="-122"/>
                <a:cs typeface="맑은 고딕" pitchFamily="34" charset="-120"/>
              </a:rPr>
              <a:t> (드묾 = 이상)</a:t>
            </a:r>
            <a:endParaRPr lang="en-US" sz="1100" dirty="0"/>
          </a:p>
        </p:txBody>
      </p:sp>
      <p:sp>
        <p:nvSpPr>
          <p:cNvPr id="87"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제안방법론</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Anomaly Score and Alarm Threshold</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언제</a:t>
            </a:r>
            <a:r>
              <a:rPr lang="en-US" sz="2100" dirty="0">
                <a:solidFill>
                  <a:srgbClr val="262626"/>
                </a:solidFill>
                <a:latin typeface="맑은 고딕" pitchFamily="34" charset="0"/>
                <a:ea typeface="맑은 고딕" pitchFamily="34" charset="-122"/>
                <a:cs typeface="맑은 고딕" pitchFamily="34" charset="-120"/>
              </a:rPr>
              <a:t> 경보를 울릴까?</a:t>
            </a:r>
            <a:endParaRPr lang="en-US" sz="2100" dirty="0"/>
          </a:p>
        </p:txBody>
      </p:sp>
      <mc:AlternateContent xmlns:mc="http://schemas.openxmlformats.org/markup-compatibility/2006" xmlns:a14="http://schemas.microsoft.com/office/drawing/2010/main">
        <mc:Choice Requires="a14">
          <p:sp>
            <p:nvSpPr>
              <p:cNvPr id="5" name="bullets"/>
              <p:cNvSpPr txBox="1"/>
              <p:nvPr/>
            </p:nvSpPr>
            <p:spPr>
              <a:xfrm>
                <a:off x="1280160" y="2011680"/>
                <a:ext cx="10332720" cy="77724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이상 점수: </a:t>
                </a:r>
                <a14:m>
                  <m:oMath xmlns:m="http://schemas.openxmlformats.org/officeDocument/2006/math">
                    <m:sSub>
                      <m:sSubPr>
                        <m:ctrlPr>
                          <a:rPr lang="en-US" altLang="ko-KR" sz="1600" i="1">
                            <a:solidFill>
                              <a:srgbClr val="262626"/>
                            </a:solidFill>
                            <a:latin typeface="Cambria Math" panose="02040503050406030204" pitchFamily="18" charset="0"/>
                            <a:ea typeface="맑은 고딕" pitchFamily="34" charset="-122"/>
                            <a:cs typeface="맑은 고딕" pitchFamily="34" charset="-120"/>
                          </a:rPr>
                        </m:ctrlPr>
                      </m:sSubPr>
                      <m:e>
                        <m:r>
                          <a:rPr lang="en-US" altLang="ko-KR" sz="1600" i="1">
                            <a:solidFill>
                              <a:srgbClr val="262626"/>
                            </a:solidFill>
                            <a:latin typeface="Cambria Math" panose="02040503050406030204" pitchFamily="18" charset="0"/>
                            <a:ea typeface="맑은 고딕" pitchFamily="34" charset="-122"/>
                            <a:cs typeface="맑은 고딕" pitchFamily="34" charset="-120"/>
                          </a:rPr>
                          <m:t>𝑠</m:t>
                        </m:r>
                      </m:e>
                      <m:sub>
                        <m:r>
                          <a:rPr lang="en-US" altLang="ko-KR" sz="1600" i="1">
                            <a:solidFill>
                              <a:srgbClr val="262626"/>
                            </a:solidFill>
                            <a:latin typeface="Cambria Math" panose="02040503050406030204" pitchFamily="18" charset="0"/>
                            <a:ea typeface="맑은 고딕" pitchFamily="34" charset="-122"/>
                            <a:cs typeface="맑은 고딕" pitchFamily="34" charset="-120"/>
                          </a:rPr>
                          <m:t>𝑡</m:t>
                        </m:r>
                      </m:sub>
                    </m:sSub>
                    <m:r>
                      <a:rPr lang="en-US" altLang="ko-KR" sz="1600" i="1">
                        <a:solidFill>
                          <a:srgbClr val="262626"/>
                        </a:solidFill>
                        <a:latin typeface="Cambria Math" panose="02040503050406030204" pitchFamily="18" charset="0"/>
                        <a:ea typeface="맑은 고딕" pitchFamily="34" charset="-122"/>
                        <a:cs typeface="맑은 고딕" pitchFamily="34" charset="-120"/>
                      </a:rPr>
                      <m:t>=−</m:t>
                    </m:r>
                    <m:func>
                      <m:funcPr>
                        <m:ctrlPr>
                          <a:rPr lang="en-US" altLang="ko-KR" sz="1600">
                            <a:solidFill>
                              <a:srgbClr val="262626"/>
                            </a:solidFill>
                            <a:latin typeface="Cambria Math" panose="02040503050406030204" pitchFamily="18" charset="0"/>
                            <a:ea typeface="맑은 고딕" pitchFamily="34" charset="-122"/>
                            <a:cs typeface="맑은 고딕" pitchFamily="34" charset="-120"/>
                          </a:rPr>
                        </m:ctrlPr>
                      </m:funcPr>
                      <m:fName>
                        <m:r>
                          <m:rPr>
                            <m:sty m:val="p"/>
                          </m:rPr>
                          <a:rPr lang="en-US" altLang="ko-KR" sz="1600">
                            <a:solidFill>
                              <a:srgbClr val="262626"/>
                            </a:solidFill>
                            <a:latin typeface="Cambria Math" panose="02040503050406030204" pitchFamily="18" charset="0"/>
                            <a:ea typeface="맑은 고딕" pitchFamily="34" charset="-122"/>
                            <a:cs typeface="맑은 고딕" pitchFamily="34" charset="-120"/>
                          </a:rPr>
                          <m:t>log</m:t>
                        </m:r>
                      </m:fName>
                      <m:e>
                        <m:r>
                          <a:rPr lang="en-US" altLang="ko-KR" sz="1600" i="1">
                            <a:solidFill>
                              <a:srgbClr val="262626"/>
                            </a:solidFill>
                            <a:latin typeface="Cambria Math" panose="02040503050406030204" pitchFamily="18" charset="0"/>
                            <a:ea typeface="맑은 고딕" pitchFamily="34" charset="-122"/>
                            <a:cs typeface="맑은 고딕" pitchFamily="34" charset="-120"/>
                          </a:rPr>
                          <m:t>𝑝</m:t>
                        </m:r>
                        <m:r>
                          <a:rPr lang="en-US" altLang="ko-KR" sz="1600" i="1">
                            <a:solidFill>
                              <a:srgbClr val="262626"/>
                            </a:solidFill>
                            <a:latin typeface="Cambria Math" panose="02040503050406030204" pitchFamily="18" charset="0"/>
                            <a:ea typeface="맑은 고딕" pitchFamily="34" charset="-122"/>
                            <a:cs typeface="맑은 고딕" pitchFamily="34" charset="-120"/>
                          </a:rPr>
                          <m:t>(</m:t>
                        </m:r>
                        <m:sSub>
                          <m:sSubPr>
                            <m:ctrlPr>
                              <a:rPr lang="en-US" altLang="ko-KR" sz="1600" i="1">
                                <a:solidFill>
                                  <a:srgbClr val="262626"/>
                                </a:solidFill>
                                <a:latin typeface="Cambria Math" panose="02040503050406030204" pitchFamily="18" charset="0"/>
                                <a:ea typeface="맑은 고딕" pitchFamily="34" charset="-122"/>
                                <a:cs typeface="맑은 고딕" pitchFamily="34" charset="-120"/>
                              </a:rPr>
                            </m:ctrlPr>
                          </m:sSubPr>
                          <m:e>
                            <m:r>
                              <a:rPr lang="en-US" altLang="ko-KR" sz="1600" i="1">
                                <a:solidFill>
                                  <a:srgbClr val="262626"/>
                                </a:solidFill>
                                <a:latin typeface="Cambria Math" panose="02040503050406030204" pitchFamily="18" charset="0"/>
                                <a:ea typeface="맑은 고딕" pitchFamily="34" charset="-122"/>
                                <a:cs typeface="맑은 고딕" pitchFamily="34" charset="-120"/>
                              </a:rPr>
                              <m:t>𝑧</m:t>
                            </m:r>
                          </m:e>
                          <m:sub>
                            <m:r>
                              <a:rPr lang="en-US" altLang="ko-KR" sz="1600" i="1">
                                <a:solidFill>
                                  <a:srgbClr val="262626"/>
                                </a:solidFill>
                                <a:latin typeface="Cambria Math" panose="02040503050406030204" pitchFamily="18" charset="0"/>
                                <a:ea typeface="맑은 고딕" pitchFamily="34" charset="-122"/>
                                <a:cs typeface="맑은 고딕" pitchFamily="34" charset="-120"/>
                              </a:rPr>
                              <m:t>𝑡</m:t>
                            </m:r>
                          </m:sub>
                        </m:sSub>
                        <m:r>
                          <a:rPr lang="en-US" altLang="ko-KR" sz="1600" i="1">
                            <a:solidFill>
                              <a:srgbClr val="262626"/>
                            </a:solidFill>
                            <a:latin typeface="Cambria Math" panose="02040503050406030204" pitchFamily="18" charset="0"/>
                            <a:ea typeface="맑은 고딕" pitchFamily="34" charset="-122"/>
                            <a:cs typeface="맑은 고딕" pitchFamily="34" charset="-120"/>
                          </a:rPr>
                          <m:t>)</m:t>
                        </m:r>
                      </m:e>
                    </m:func>
                    <m:r>
                      <a:rPr lang="en-US" altLang="ko-KR" sz="1600" i="1">
                        <a:solidFill>
                          <a:srgbClr val="262626"/>
                        </a:solidFill>
                        <a:latin typeface="Cambria Math" panose="02040503050406030204" pitchFamily="18" charset="0"/>
                        <a:ea typeface="맑은 고딕" pitchFamily="34" charset="-122"/>
                        <a:cs typeface="맑은 고딕" pitchFamily="34" charset="-120"/>
                      </a:rPr>
                      <m:t> </m:t>
                    </m:r>
                  </m:oMath>
                </a14:m>
                <a:r>
                  <a:rPr lang="en-US" sz="1600" dirty="0">
                    <a:solidFill>
                      <a:srgbClr val="262626"/>
                    </a:solidFill>
                    <a:latin typeface="맑은 고딕" pitchFamily="34" charset="0"/>
                    <a:ea typeface="맑은 고딕" pitchFamily="34" charset="-122"/>
                    <a:cs typeface="맑은 고딕" pitchFamily="34" charset="-120"/>
                  </a:rPr>
                  <a:t>→ 학습한 정상 분포에서 드문 조합일수록 큰 값</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경보 규칙: </a:t>
                </a:r>
                <a14:m>
                  <m:oMath xmlns:m="http://schemas.openxmlformats.org/officeDocument/2006/math">
                    <m:r>
                      <m:rPr>
                        <m:sty m:val="p"/>
                      </m:rPr>
                      <a:rPr lang="en-US" altLang="ko-KR" sz="1600" i="1">
                        <a:solidFill>
                          <a:srgbClr val="262626"/>
                        </a:solidFill>
                        <a:latin typeface="Cambria Math" panose="02040503050406030204" pitchFamily="18" charset="0"/>
                        <a:ea typeface="맑은 고딕" pitchFamily="34" charset="-122"/>
                        <a:cs typeface="맑은 고딕" pitchFamily="34" charset="-120"/>
                      </a:rPr>
                      <m:t>θ</m:t>
                    </m:r>
                  </m:oMath>
                </a14:m>
                <a:r>
                  <a:rPr lang="en-US" sz="1600" dirty="0">
                    <a:solidFill>
                      <a:srgbClr val="262626"/>
                    </a:solidFill>
                    <a:latin typeface="맑은 고딕" pitchFamily="34" charset="0"/>
                    <a:ea typeface="맑은 고딕" pitchFamily="34" charset="-122"/>
                    <a:cs typeface="맑은 고딕" pitchFamily="34" charset="-120"/>
                  </a:rPr>
                  <a:t> = 정상 보정 점수의 99 백분위, </a:t>
                </a:r>
                <a14:m>
                  <m:oMath xmlns:m="http://schemas.openxmlformats.org/officeDocument/2006/math">
                    <m:sSub>
                      <m:sSubPr>
                        <m:ctrlPr>
                          <a:rPr lang="en-US" altLang="ko-KR" sz="1600" i="1">
                            <a:solidFill>
                              <a:srgbClr val="262626"/>
                            </a:solidFill>
                            <a:latin typeface="Cambria Math" panose="02040503050406030204" pitchFamily="18" charset="0"/>
                            <a:ea typeface="맑은 고딕" pitchFamily="34" charset="-122"/>
                            <a:cs typeface="맑은 고딕" pitchFamily="34" charset="-120"/>
                          </a:rPr>
                        </m:ctrlPr>
                      </m:sSubPr>
                      <m:e>
                        <m:r>
                          <a:rPr lang="en-US" altLang="ko-KR" sz="1600" i="1">
                            <a:solidFill>
                              <a:srgbClr val="262626"/>
                            </a:solidFill>
                            <a:latin typeface="Cambria Math" panose="02040503050406030204" pitchFamily="18" charset="0"/>
                            <a:ea typeface="맑은 고딕" pitchFamily="34" charset="-122"/>
                            <a:cs typeface="맑은 고딕" pitchFamily="34" charset="-120"/>
                          </a:rPr>
                          <m:t>𝑠</m:t>
                        </m:r>
                      </m:e>
                      <m:sub>
                        <m:r>
                          <a:rPr lang="en-US" altLang="ko-KR" sz="1600" i="1">
                            <a:solidFill>
                              <a:srgbClr val="262626"/>
                            </a:solidFill>
                            <a:latin typeface="Cambria Math" panose="02040503050406030204" pitchFamily="18" charset="0"/>
                            <a:ea typeface="맑은 고딕" pitchFamily="34" charset="-122"/>
                            <a:cs typeface="맑은 고딕" pitchFamily="34" charset="-120"/>
                          </a:rPr>
                          <m:t>𝑡</m:t>
                        </m:r>
                      </m:sub>
                    </m:sSub>
                    <m:r>
                      <a:rPr lang="en-US" altLang="ko-KR" sz="1600" i="1">
                        <a:solidFill>
                          <a:srgbClr val="262626"/>
                        </a:solidFill>
                        <a:latin typeface="Cambria Math" panose="02040503050406030204" pitchFamily="18" charset="0"/>
                        <a:ea typeface="맑은 고딕" pitchFamily="34" charset="-122"/>
                        <a:cs typeface="맑은 고딕" pitchFamily="34" charset="-120"/>
                      </a:rPr>
                      <m:t> </m:t>
                    </m:r>
                  </m:oMath>
                </a14:m>
                <a:r>
                  <a:rPr lang="en-US" sz="1600" dirty="0">
                    <a:solidFill>
                      <a:srgbClr val="262626"/>
                    </a:solidFill>
                    <a:latin typeface="맑은 고딕" pitchFamily="34" charset="0"/>
                    <a:ea typeface="맑은 고딕" pitchFamily="34" charset="-122"/>
                    <a:cs typeface="맑은 고딕" pitchFamily="34" charset="-120"/>
                  </a:rPr>
                  <a:t>&gt; </a:t>
                </a:r>
                <a14:m>
                  <m:oMath xmlns:m="http://schemas.openxmlformats.org/officeDocument/2006/math">
                    <m:r>
                      <m:rPr>
                        <m:sty m:val="p"/>
                      </m:rPr>
                      <a:rPr lang="en-US" altLang="ko-KR" sz="1600" i="1">
                        <a:solidFill>
                          <a:srgbClr val="262626"/>
                        </a:solidFill>
                        <a:latin typeface="Cambria Math" panose="02040503050406030204" pitchFamily="18" charset="0"/>
                        <a:ea typeface="맑은 고딕" pitchFamily="34" charset="-122"/>
                        <a:cs typeface="맑은 고딕" pitchFamily="34" charset="-120"/>
                      </a:rPr>
                      <m:t>θ</m:t>
                    </m:r>
                    <m:r>
                      <a:rPr lang="en-US" altLang="ko-KR" sz="1600" i="1">
                        <a:solidFill>
                          <a:srgbClr val="262626"/>
                        </a:solidFill>
                        <a:latin typeface="Cambria Math" panose="02040503050406030204" pitchFamily="18" charset="0"/>
                        <a:ea typeface="맑은 고딕" pitchFamily="34" charset="-122"/>
                        <a:cs typeface="맑은 고딕" pitchFamily="34" charset="-120"/>
                      </a:rPr>
                      <m:t> </m:t>
                    </m:r>
                  </m:oMath>
                </a14:m>
                <a:r>
                  <a:rPr lang="en-US" sz="1600" dirty="0">
                    <a:solidFill>
                      <a:srgbClr val="262626"/>
                    </a:solidFill>
                    <a:latin typeface="맑은 고딕" pitchFamily="34" charset="0"/>
                    <a:ea typeface="맑은 고딕" pitchFamily="34" charset="-122"/>
                    <a:cs typeface="맑은 고딕" pitchFamily="34" charset="-120"/>
                  </a:rPr>
                  <a:t>인 시점만 경보 → 매 시점 재판단, </a:t>
                </a:r>
                <a:r>
                  <a:rPr lang="en-US" sz="1600" dirty="0" err="1">
                    <a:solidFill>
                      <a:srgbClr val="262626"/>
                    </a:solidFill>
                    <a:latin typeface="맑은 고딕" pitchFamily="34" charset="0"/>
                    <a:ea typeface="맑은 고딕" pitchFamily="34" charset="-122"/>
                    <a:cs typeface="맑은 고딕" pitchFamily="34" charset="-120"/>
                  </a:rPr>
                  <a:t>경보</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유지</a:t>
                </a:r>
                <a:r>
                  <a:rPr lang="en-US" sz="1600" dirty="0">
                    <a:solidFill>
                      <a:srgbClr val="262626"/>
                    </a:solidFill>
                    <a:latin typeface="맑은 고딕" pitchFamily="34" charset="0"/>
                    <a:ea typeface="맑은 고딕" pitchFamily="34" charset="-122"/>
                    <a:cs typeface="맑은 고딕" pitchFamily="34" charset="-120"/>
                  </a:rPr>
                  <a:t> 없음</a:t>
                </a:r>
                <a:endParaRPr lang="en-US" sz="1600" dirty="0"/>
              </a:p>
            </p:txBody>
          </p:sp>
        </mc:Choice>
        <mc:Fallback xmlns="">
          <p:sp>
            <p:nvSpPr>
              <p:cNvPr id="5" name="bullets"/>
              <p:cNvSpPr txBox="1">
                <a:spLocks noRot="1" noChangeAspect="1" noMove="1" noResize="1" noEditPoints="1" noAdjustHandles="1" noChangeArrowheads="1" noChangeShapeType="1" noTextEdit="1"/>
              </p:cNvSpPr>
              <p:nvPr/>
            </p:nvSpPr>
            <p:spPr>
              <a:xfrm>
                <a:off x="1280160" y="2011680"/>
                <a:ext cx="10332720" cy="777240"/>
              </a:xfrm>
              <a:prstGeom prst="rect">
                <a:avLst/>
              </a:prstGeom>
              <a:blipFill>
                <a:blip r:embed="rId3"/>
                <a:stretch>
                  <a:fillRect l="-1298" t="-10938"/>
                </a:stretch>
              </a:blipFill>
              <a:ln/>
            </p:spPr>
            <p:txBody>
              <a:bodyPr/>
              <a:lstStyle/>
              <a:p>
                <a:r>
                  <a:rPr lang="ko-KR" altLang="en-US">
                    <a:noFill/>
                  </a:rPr>
                  <a:t> </a:t>
                </a:r>
              </a:p>
            </p:txBody>
          </p:sp>
        </mc:Fallback>
      </mc:AlternateContent>
      <p:sp>
        <p:nvSpPr>
          <p:cNvPr id="6" name="Shape 4"/>
          <p:cNvSpPr/>
          <p:nvPr/>
        </p:nvSpPr>
        <p:spPr>
          <a:xfrm>
            <a:off x="5340096" y="3154680"/>
            <a:ext cx="6135624" cy="2331720"/>
          </a:xfrm>
          <a:prstGeom prst="rect">
            <a:avLst/>
          </a:prstGeom>
          <a:solidFill>
            <a:srgbClr val="FBE5E5"/>
          </a:solidFill>
          <a:ln w="12700">
            <a:solidFill>
              <a:srgbClr val="FBE5E5"/>
            </a:solidFill>
            <a:prstDash val="solid"/>
          </a:ln>
        </p:spPr>
        <p:txBody>
          <a:bodyPr/>
          <a:lstStyle/>
          <a:p>
            <a:endParaRPr lang="ko-KR" altLang="en-US"/>
          </a:p>
        </p:txBody>
      </p:sp>
      <p:sp>
        <p:nvSpPr>
          <p:cNvPr id="8" name="Shape 6"/>
          <p:cNvSpPr/>
          <p:nvPr/>
        </p:nvSpPr>
        <p:spPr>
          <a:xfrm>
            <a:off x="1417320" y="5486400"/>
            <a:ext cx="10149840" cy="91"/>
          </a:xfrm>
          <a:prstGeom prst="line">
            <a:avLst/>
          </a:prstGeom>
          <a:noFill/>
          <a:ln w="12700">
            <a:solidFill>
              <a:srgbClr val="000000"/>
            </a:solidFill>
            <a:prstDash val="solid"/>
          </a:ln>
        </p:spPr>
        <p:txBody>
          <a:bodyPr/>
          <a:lstStyle/>
          <a:p>
            <a:endParaRPr lang="ko-KR" altLang="en-US"/>
          </a:p>
        </p:txBody>
      </p:sp>
      <p:sp>
        <p:nvSpPr>
          <p:cNvPr id="9" name="Shape 7"/>
          <p:cNvSpPr/>
          <p:nvPr/>
        </p:nvSpPr>
        <p:spPr>
          <a:xfrm flipV="1">
            <a:off x="1417320" y="3108960"/>
            <a:ext cx="91" cy="2377440"/>
          </a:xfrm>
          <a:prstGeom prst="line">
            <a:avLst/>
          </a:prstGeom>
          <a:noFill/>
          <a:ln w="12700">
            <a:solidFill>
              <a:srgbClr val="000000"/>
            </a:solidFill>
            <a:prstDash val="solid"/>
          </a:ln>
        </p:spPr>
        <p:txBody>
          <a:bodyPr/>
          <a:lstStyle/>
          <a:p>
            <a:endParaRPr lang="ko-KR" altLang="en-US"/>
          </a:p>
        </p:txBody>
      </p:sp>
      <p:sp>
        <p:nvSpPr>
          <p:cNvPr id="10" name="Shape 8"/>
          <p:cNvSpPr/>
          <p:nvPr/>
        </p:nvSpPr>
        <p:spPr>
          <a:xfrm>
            <a:off x="1362456" y="5320645"/>
            <a:ext cx="54864" cy="91"/>
          </a:xfrm>
          <a:prstGeom prst="line">
            <a:avLst/>
          </a:prstGeom>
          <a:noFill/>
          <a:ln w="9525">
            <a:solidFill>
              <a:srgbClr val="000000"/>
            </a:solidFill>
            <a:prstDash val="solid"/>
          </a:ln>
        </p:spPr>
        <p:txBody>
          <a:bodyPr/>
          <a:lstStyle/>
          <a:p>
            <a:endParaRPr lang="ko-KR" altLang="en-US"/>
          </a:p>
        </p:txBody>
      </p:sp>
      <p:sp>
        <p:nvSpPr>
          <p:cNvPr id="11" name="Text 9"/>
          <p:cNvSpPr txBox="1"/>
          <p:nvPr/>
        </p:nvSpPr>
        <p:spPr>
          <a:xfrm>
            <a:off x="914400" y="5220061"/>
            <a:ext cx="411480" cy="201168"/>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3</a:t>
            </a:r>
            <a:endParaRPr lang="en-US" sz="950" dirty="0"/>
          </a:p>
        </p:txBody>
      </p:sp>
      <p:sp>
        <p:nvSpPr>
          <p:cNvPr id="12" name="Shape 10"/>
          <p:cNvSpPr/>
          <p:nvPr/>
        </p:nvSpPr>
        <p:spPr>
          <a:xfrm>
            <a:off x="1362456" y="4828458"/>
            <a:ext cx="54864" cy="91"/>
          </a:xfrm>
          <a:prstGeom prst="line">
            <a:avLst/>
          </a:prstGeom>
          <a:noFill/>
          <a:ln w="9525">
            <a:solidFill>
              <a:srgbClr val="000000"/>
            </a:solidFill>
            <a:prstDash val="solid"/>
          </a:ln>
        </p:spPr>
        <p:txBody>
          <a:bodyPr/>
          <a:lstStyle/>
          <a:p>
            <a:endParaRPr lang="ko-KR" altLang="en-US"/>
          </a:p>
        </p:txBody>
      </p:sp>
      <p:sp>
        <p:nvSpPr>
          <p:cNvPr id="13" name="Text 11"/>
          <p:cNvSpPr txBox="1"/>
          <p:nvPr/>
        </p:nvSpPr>
        <p:spPr>
          <a:xfrm>
            <a:off x="914400" y="4727874"/>
            <a:ext cx="411480" cy="201168"/>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10</a:t>
            </a:r>
            <a:endParaRPr lang="en-US" sz="950" dirty="0"/>
          </a:p>
        </p:txBody>
      </p:sp>
      <p:sp>
        <p:nvSpPr>
          <p:cNvPr id="14" name="Shape 12"/>
          <p:cNvSpPr/>
          <p:nvPr/>
        </p:nvSpPr>
        <p:spPr>
          <a:xfrm>
            <a:off x="1362456" y="4379343"/>
            <a:ext cx="54864" cy="91"/>
          </a:xfrm>
          <a:prstGeom prst="line">
            <a:avLst/>
          </a:prstGeom>
          <a:noFill/>
          <a:ln w="9525">
            <a:solidFill>
              <a:srgbClr val="000000"/>
            </a:solidFill>
            <a:prstDash val="solid"/>
          </a:ln>
        </p:spPr>
        <p:txBody>
          <a:bodyPr/>
          <a:lstStyle/>
          <a:p>
            <a:endParaRPr lang="ko-KR" altLang="en-US"/>
          </a:p>
        </p:txBody>
      </p:sp>
      <p:sp>
        <p:nvSpPr>
          <p:cNvPr id="15" name="Text 13"/>
          <p:cNvSpPr txBox="1"/>
          <p:nvPr/>
        </p:nvSpPr>
        <p:spPr>
          <a:xfrm>
            <a:off x="914400" y="4278759"/>
            <a:ext cx="411480" cy="201168"/>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30</a:t>
            </a:r>
            <a:endParaRPr lang="en-US" sz="950" dirty="0"/>
          </a:p>
        </p:txBody>
      </p:sp>
      <p:sp>
        <p:nvSpPr>
          <p:cNvPr id="16" name="Shape 14"/>
          <p:cNvSpPr/>
          <p:nvPr/>
        </p:nvSpPr>
        <p:spPr>
          <a:xfrm>
            <a:off x="1362456" y="3887156"/>
            <a:ext cx="54864" cy="91"/>
          </a:xfrm>
          <a:prstGeom prst="line">
            <a:avLst/>
          </a:prstGeom>
          <a:noFill/>
          <a:ln w="9525">
            <a:solidFill>
              <a:srgbClr val="000000"/>
            </a:solidFill>
            <a:prstDash val="solid"/>
          </a:ln>
        </p:spPr>
        <p:txBody>
          <a:bodyPr/>
          <a:lstStyle/>
          <a:p>
            <a:endParaRPr lang="ko-KR" altLang="en-US"/>
          </a:p>
        </p:txBody>
      </p:sp>
      <p:sp>
        <p:nvSpPr>
          <p:cNvPr id="17" name="Text 15"/>
          <p:cNvSpPr txBox="1"/>
          <p:nvPr/>
        </p:nvSpPr>
        <p:spPr>
          <a:xfrm>
            <a:off x="914400" y="3786572"/>
            <a:ext cx="411480" cy="201168"/>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100</a:t>
            </a:r>
            <a:endParaRPr lang="en-US" sz="950" dirty="0"/>
          </a:p>
        </p:txBody>
      </p:sp>
      <p:sp>
        <p:nvSpPr>
          <p:cNvPr id="18" name="Shape 16"/>
          <p:cNvSpPr/>
          <p:nvPr/>
        </p:nvSpPr>
        <p:spPr>
          <a:xfrm>
            <a:off x="1362456" y="3438040"/>
            <a:ext cx="54864" cy="91"/>
          </a:xfrm>
          <a:prstGeom prst="line">
            <a:avLst/>
          </a:prstGeom>
          <a:noFill/>
          <a:ln w="9525">
            <a:solidFill>
              <a:srgbClr val="000000"/>
            </a:solidFill>
            <a:prstDash val="solid"/>
          </a:ln>
        </p:spPr>
        <p:txBody>
          <a:bodyPr/>
          <a:lstStyle/>
          <a:p>
            <a:endParaRPr lang="ko-KR" altLang="en-US"/>
          </a:p>
        </p:txBody>
      </p:sp>
      <p:sp>
        <p:nvSpPr>
          <p:cNvPr id="19" name="Text 17"/>
          <p:cNvSpPr txBox="1"/>
          <p:nvPr/>
        </p:nvSpPr>
        <p:spPr>
          <a:xfrm>
            <a:off x="914400" y="3337456"/>
            <a:ext cx="411480" cy="201168"/>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300</a:t>
            </a:r>
            <a:endParaRPr lang="en-US" sz="950" dirty="0"/>
          </a:p>
        </p:txBody>
      </p:sp>
      <p:sp>
        <p:nvSpPr>
          <p:cNvPr id="20" name="Shape 18"/>
          <p:cNvSpPr/>
          <p:nvPr/>
        </p:nvSpPr>
        <p:spPr>
          <a:xfrm>
            <a:off x="1417320" y="5486400"/>
            <a:ext cx="91" cy="54864"/>
          </a:xfrm>
          <a:prstGeom prst="line">
            <a:avLst/>
          </a:prstGeom>
          <a:noFill/>
          <a:ln w="9525">
            <a:solidFill>
              <a:srgbClr val="000000"/>
            </a:solidFill>
            <a:prstDash val="solid"/>
          </a:ln>
        </p:spPr>
        <p:txBody>
          <a:bodyPr/>
          <a:lstStyle/>
          <a:p>
            <a:endParaRPr lang="ko-KR" altLang="en-US"/>
          </a:p>
        </p:txBody>
      </p:sp>
      <p:sp>
        <p:nvSpPr>
          <p:cNvPr id="21" name="Text 19"/>
          <p:cNvSpPr txBox="1"/>
          <p:nvPr/>
        </p:nvSpPr>
        <p:spPr>
          <a:xfrm>
            <a:off x="118872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0.0</a:t>
            </a:r>
            <a:endParaRPr lang="en-US" sz="950" dirty="0"/>
          </a:p>
        </p:txBody>
      </p:sp>
      <p:sp>
        <p:nvSpPr>
          <p:cNvPr id="22" name="Shape 20"/>
          <p:cNvSpPr/>
          <p:nvPr/>
        </p:nvSpPr>
        <p:spPr>
          <a:xfrm>
            <a:off x="2423160" y="5486400"/>
            <a:ext cx="91" cy="54864"/>
          </a:xfrm>
          <a:prstGeom prst="line">
            <a:avLst/>
          </a:prstGeom>
          <a:noFill/>
          <a:ln w="9525">
            <a:solidFill>
              <a:srgbClr val="000000"/>
            </a:solidFill>
            <a:prstDash val="solid"/>
          </a:ln>
        </p:spPr>
        <p:txBody>
          <a:bodyPr/>
          <a:lstStyle/>
          <a:p>
            <a:endParaRPr lang="ko-KR" altLang="en-US"/>
          </a:p>
        </p:txBody>
      </p:sp>
      <p:sp>
        <p:nvSpPr>
          <p:cNvPr id="23" name="Text 21"/>
          <p:cNvSpPr txBox="1"/>
          <p:nvPr/>
        </p:nvSpPr>
        <p:spPr>
          <a:xfrm>
            <a:off x="219456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0.5</a:t>
            </a:r>
            <a:endParaRPr lang="en-US" sz="950" dirty="0"/>
          </a:p>
        </p:txBody>
      </p:sp>
      <p:sp>
        <p:nvSpPr>
          <p:cNvPr id="24" name="Shape 22"/>
          <p:cNvSpPr/>
          <p:nvPr/>
        </p:nvSpPr>
        <p:spPr>
          <a:xfrm>
            <a:off x="3429000" y="5486400"/>
            <a:ext cx="91" cy="54864"/>
          </a:xfrm>
          <a:prstGeom prst="line">
            <a:avLst/>
          </a:prstGeom>
          <a:noFill/>
          <a:ln w="9525">
            <a:solidFill>
              <a:srgbClr val="000000"/>
            </a:solidFill>
            <a:prstDash val="solid"/>
          </a:ln>
        </p:spPr>
        <p:txBody>
          <a:bodyPr/>
          <a:lstStyle/>
          <a:p>
            <a:endParaRPr lang="ko-KR" altLang="en-US"/>
          </a:p>
        </p:txBody>
      </p:sp>
      <p:sp>
        <p:nvSpPr>
          <p:cNvPr id="25" name="Text 23"/>
          <p:cNvSpPr txBox="1"/>
          <p:nvPr/>
        </p:nvSpPr>
        <p:spPr>
          <a:xfrm>
            <a:off x="320040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1.0</a:t>
            </a:r>
            <a:endParaRPr lang="en-US" sz="950" dirty="0"/>
          </a:p>
        </p:txBody>
      </p:sp>
      <p:sp>
        <p:nvSpPr>
          <p:cNvPr id="26" name="Shape 24"/>
          <p:cNvSpPr/>
          <p:nvPr/>
        </p:nvSpPr>
        <p:spPr>
          <a:xfrm>
            <a:off x="4434840" y="5486400"/>
            <a:ext cx="91" cy="54864"/>
          </a:xfrm>
          <a:prstGeom prst="line">
            <a:avLst/>
          </a:prstGeom>
          <a:noFill/>
          <a:ln w="9525">
            <a:solidFill>
              <a:srgbClr val="000000"/>
            </a:solidFill>
            <a:prstDash val="solid"/>
          </a:ln>
        </p:spPr>
        <p:txBody>
          <a:bodyPr/>
          <a:lstStyle/>
          <a:p>
            <a:endParaRPr lang="ko-KR" altLang="en-US"/>
          </a:p>
        </p:txBody>
      </p:sp>
      <p:sp>
        <p:nvSpPr>
          <p:cNvPr id="27" name="Text 25"/>
          <p:cNvSpPr txBox="1"/>
          <p:nvPr/>
        </p:nvSpPr>
        <p:spPr>
          <a:xfrm>
            <a:off x="420624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1.5</a:t>
            </a:r>
            <a:endParaRPr lang="en-US" sz="950" dirty="0"/>
          </a:p>
        </p:txBody>
      </p:sp>
      <p:sp>
        <p:nvSpPr>
          <p:cNvPr id="28" name="Shape 26"/>
          <p:cNvSpPr/>
          <p:nvPr/>
        </p:nvSpPr>
        <p:spPr>
          <a:xfrm>
            <a:off x="5440680" y="5486400"/>
            <a:ext cx="91" cy="54864"/>
          </a:xfrm>
          <a:prstGeom prst="line">
            <a:avLst/>
          </a:prstGeom>
          <a:noFill/>
          <a:ln w="9525">
            <a:solidFill>
              <a:srgbClr val="000000"/>
            </a:solidFill>
            <a:prstDash val="solid"/>
          </a:ln>
        </p:spPr>
        <p:txBody>
          <a:bodyPr/>
          <a:lstStyle/>
          <a:p>
            <a:endParaRPr lang="ko-KR" altLang="en-US"/>
          </a:p>
        </p:txBody>
      </p:sp>
      <p:sp>
        <p:nvSpPr>
          <p:cNvPr id="29" name="Text 27"/>
          <p:cNvSpPr txBox="1"/>
          <p:nvPr/>
        </p:nvSpPr>
        <p:spPr>
          <a:xfrm>
            <a:off x="521208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2.0</a:t>
            </a:r>
            <a:endParaRPr lang="en-US" sz="950" dirty="0"/>
          </a:p>
        </p:txBody>
      </p:sp>
      <p:sp>
        <p:nvSpPr>
          <p:cNvPr id="30" name="Shape 28"/>
          <p:cNvSpPr/>
          <p:nvPr/>
        </p:nvSpPr>
        <p:spPr>
          <a:xfrm>
            <a:off x="6446520" y="5486400"/>
            <a:ext cx="91" cy="54864"/>
          </a:xfrm>
          <a:prstGeom prst="line">
            <a:avLst/>
          </a:prstGeom>
          <a:noFill/>
          <a:ln w="9525">
            <a:solidFill>
              <a:srgbClr val="000000"/>
            </a:solidFill>
            <a:prstDash val="solid"/>
          </a:ln>
        </p:spPr>
        <p:txBody>
          <a:bodyPr/>
          <a:lstStyle/>
          <a:p>
            <a:endParaRPr lang="ko-KR" altLang="en-US"/>
          </a:p>
        </p:txBody>
      </p:sp>
      <p:sp>
        <p:nvSpPr>
          <p:cNvPr id="31" name="Text 29"/>
          <p:cNvSpPr txBox="1"/>
          <p:nvPr/>
        </p:nvSpPr>
        <p:spPr>
          <a:xfrm>
            <a:off x="621792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2.5</a:t>
            </a:r>
            <a:endParaRPr lang="en-US" sz="950" dirty="0"/>
          </a:p>
        </p:txBody>
      </p:sp>
      <p:sp>
        <p:nvSpPr>
          <p:cNvPr id="32" name="Shape 30"/>
          <p:cNvSpPr/>
          <p:nvPr/>
        </p:nvSpPr>
        <p:spPr>
          <a:xfrm>
            <a:off x="7452360" y="5486400"/>
            <a:ext cx="91" cy="54864"/>
          </a:xfrm>
          <a:prstGeom prst="line">
            <a:avLst/>
          </a:prstGeom>
          <a:noFill/>
          <a:ln w="9525">
            <a:solidFill>
              <a:srgbClr val="000000"/>
            </a:solidFill>
            <a:prstDash val="solid"/>
          </a:ln>
        </p:spPr>
        <p:txBody>
          <a:bodyPr/>
          <a:lstStyle/>
          <a:p>
            <a:endParaRPr lang="ko-KR" altLang="en-US"/>
          </a:p>
        </p:txBody>
      </p:sp>
      <p:sp>
        <p:nvSpPr>
          <p:cNvPr id="33" name="Text 31"/>
          <p:cNvSpPr txBox="1"/>
          <p:nvPr/>
        </p:nvSpPr>
        <p:spPr>
          <a:xfrm>
            <a:off x="722376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3.0</a:t>
            </a:r>
            <a:endParaRPr lang="en-US" sz="950" dirty="0"/>
          </a:p>
        </p:txBody>
      </p:sp>
      <p:sp>
        <p:nvSpPr>
          <p:cNvPr id="34" name="Shape 32"/>
          <p:cNvSpPr/>
          <p:nvPr/>
        </p:nvSpPr>
        <p:spPr>
          <a:xfrm>
            <a:off x="8458200" y="5486400"/>
            <a:ext cx="91" cy="54864"/>
          </a:xfrm>
          <a:prstGeom prst="line">
            <a:avLst/>
          </a:prstGeom>
          <a:noFill/>
          <a:ln w="9525">
            <a:solidFill>
              <a:srgbClr val="000000"/>
            </a:solidFill>
            <a:prstDash val="solid"/>
          </a:ln>
        </p:spPr>
        <p:txBody>
          <a:bodyPr/>
          <a:lstStyle/>
          <a:p>
            <a:endParaRPr lang="ko-KR" altLang="en-US"/>
          </a:p>
        </p:txBody>
      </p:sp>
      <p:sp>
        <p:nvSpPr>
          <p:cNvPr id="35" name="Text 33"/>
          <p:cNvSpPr txBox="1"/>
          <p:nvPr/>
        </p:nvSpPr>
        <p:spPr>
          <a:xfrm>
            <a:off x="822960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3.5</a:t>
            </a:r>
            <a:endParaRPr lang="en-US" sz="950" dirty="0"/>
          </a:p>
        </p:txBody>
      </p:sp>
      <p:sp>
        <p:nvSpPr>
          <p:cNvPr id="36" name="Shape 34"/>
          <p:cNvSpPr/>
          <p:nvPr/>
        </p:nvSpPr>
        <p:spPr>
          <a:xfrm>
            <a:off x="9464040" y="5486400"/>
            <a:ext cx="91" cy="54864"/>
          </a:xfrm>
          <a:prstGeom prst="line">
            <a:avLst/>
          </a:prstGeom>
          <a:noFill/>
          <a:ln w="9525">
            <a:solidFill>
              <a:srgbClr val="000000"/>
            </a:solidFill>
            <a:prstDash val="solid"/>
          </a:ln>
        </p:spPr>
        <p:txBody>
          <a:bodyPr/>
          <a:lstStyle/>
          <a:p>
            <a:endParaRPr lang="ko-KR" altLang="en-US"/>
          </a:p>
        </p:txBody>
      </p:sp>
      <p:sp>
        <p:nvSpPr>
          <p:cNvPr id="37" name="Text 35"/>
          <p:cNvSpPr txBox="1"/>
          <p:nvPr/>
        </p:nvSpPr>
        <p:spPr>
          <a:xfrm>
            <a:off x="923544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4.0</a:t>
            </a:r>
            <a:endParaRPr lang="en-US" sz="950" dirty="0"/>
          </a:p>
        </p:txBody>
      </p:sp>
      <p:sp>
        <p:nvSpPr>
          <p:cNvPr id="38" name="Shape 36"/>
          <p:cNvSpPr/>
          <p:nvPr/>
        </p:nvSpPr>
        <p:spPr>
          <a:xfrm>
            <a:off x="10469880" y="5486400"/>
            <a:ext cx="91" cy="54864"/>
          </a:xfrm>
          <a:prstGeom prst="line">
            <a:avLst/>
          </a:prstGeom>
          <a:noFill/>
          <a:ln w="9525">
            <a:solidFill>
              <a:srgbClr val="000000"/>
            </a:solidFill>
            <a:prstDash val="solid"/>
          </a:ln>
        </p:spPr>
        <p:txBody>
          <a:bodyPr/>
          <a:lstStyle/>
          <a:p>
            <a:endParaRPr lang="ko-KR" altLang="en-US"/>
          </a:p>
        </p:txBody>
      </p:sp>
      <p:sp>
        <p:nvSpPr>
          <p:cNvPr id="39" name="Text 37"/>
          <p:cNvSpPr txBox="1"/>
          <p:nvPr/>
        </p:nvSpPr>
        <p:spPr>
          <a:xfrm>
            <a:off x="1024128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4.5</a:t>
            </a:r>
            <a:endParaRPr lang="en-US" sz="950" dirty="0"/>
          </a:p>
        </p:txBody>
      </p:sp>
      <p:sp>
        <p:nvSpPr>
          <p:cNvPr id="40" name="Shape 38"/>
          <p:cNvSpPr/>
          <p:nvPr/>
        </p:nvSpPr>
        <p:spPr>
          <a:xfrm>
            <a:off x="11475720" y="5486400"/>
            <a:ext cx="91" cy="54864"/>
          </a:xfrm>
          <a:prstGeom prst="line">
            <a:avLst/>
          </a:prstGeom>
          <a:noFill/>
          <a:ln w="9525">
            <a:solidFill>
              <a:srgbClr val="000000"/>
            </a:solidFill>
            <a:prstDash val="solid"/>
          </a:ln>
        </p:spPr>
        <p:txBody>
          <a:bodyPr/>
          <a:lstStyle/>
          <a:p>
            <a:endParaRPr lang="ko-KR" altLang="en-US"/>
          </a:p>
        </p:txBody>
      </p:sp>
      <p:sp>
        <p:nvSpPr>
          <p:cNvPr id="41" name="Text 39"/>
          <p:cNvSpPr txBox="1"/>
          <p:nvPr/>
        </p:nvSpPr>
        <p:spPr>
          <a:xfrm>
            <a:off x="11247120" y="5559552"/>
            <a:ext cx="457200" cy="182880"/>
          </a:xfrm>
          <a:prstGeom prst="rect">
            <a:avLst/>
          </a:prstGeom>
          <a:noFill/>
          <a:ln/>
        </p:spPr>
        <p:txBody>
          <a:bodyPr wrap="square" lIns="0" tIns="0" rIns="0" bIns="0" rtlCol="0" anchor="ctr"/>
          <a:lstStyle/>
          <a:p>
            <a:pPr marL="0" indent="0" algn="ctr">
              <a:buNone/>
            </a:pPr>
            <a:r>
              <a:rPr lang="en-US" sz="950" dirty="0">
                <a:solidFill>
                  <a:srgbClr val="595959"/>
                </a:solidFill>
                <a:latin typeface="맑은 고딕" pitchFamily="34" charset="0"/>
                <a:ea typeface="맑은 고딕" pitchFamily="34" charset="-122"/>
                <a:cs typeface="맑은 고딕" pitchFamily="34" charset="-120"/>
              </a:rPr>
              <a:t>5.0</a:t>
            </a:r>
            <a:endParaRPr lang="en-US" sz="950" dirty="0"/>
          </a:p>
        </p:txBody>
      </p:sp>
      <p:sp>
        <p:nvSpPr>
          <p:cNvPr id="42" name="Text 40"/>
          <p:cNvSpPr txBox="1"/>
          <p:nvPr/>
        </p:nvSpPr>
        <p:spPr>
          <a:xfrm>
            <a:off x="457200" y="2852928"/>
            <a:ext cx="1463040" cy="219456"/>
          </a:xfrm>
          <a:prstGeom prst="rect">
            <a:avLst/>
          </a:prstGeom>
          <a:noFill/>
          <a:ln/>
        </p:spPr>
        <p:txBody>
          <a:bodyPr wrap="square" lIns="0" tIns="0" rIns="0" bIns="0" rtlCol="0" anchor="ctr"/>
          <a:lstStyle/>
          <a:p>
            <a:pPr marL="0" indent="0" algn="l">
              <a:buNone/>
            </a:pPr>
            <a:r>
              <a:rPr lang="en-US" sz="1000" dirty="0">
                <a:solidFill>
                  <a:srgbClr val="595959"/>
                </a:solidFill>
                <a:latin typeface="맑은 고딕" pitchFamily="34" charset="0"/>
                <a:ea typeface="맑은 고딕" pitchFamily="34" charset="-122"/>
                <a:cs typeface="맑은 고딕" pitchFamily="34" charset="-120"/>
              </a:rPr>
              <a:t>이상 점수 (log)</a:t>
            </a:r>
            <a:endParaRPr lang="en-US" sz="1000" dirty="0"/>
          </a:p>
        </p:txBody>
      </p:sp>
      <p:sp>
        <p:nvSpPr>
          <p:cNvPr id="43" name="Shape 41"/>
          <p:cNvSpPr/>
          <p:nvPr/>
        </p:nvSpPr>
        <p:spPr>
          <a:xfrm>
            <a:off x="1417320" y="4693250"/>
            <a:ext cx="10058400" cy="91"/>
          </a:xfrm>
          <a:prstGeom prst="line">
            <a:avLst/>
          </a:prstGeom>
          <a:noFill/>
          <a:ln w="19050">
            <a:solidFill>
              <a:srgbClr val="1F4E79"/>
            </a:solidFill>
            <a:prstDash val="dash"/>
          </a:ln>
        </p:spPr>
        <p:txBody>
          <a:bodyPr/>
          <a:lstStyle/>
          <a:p>
            <a:endParaRPr lang="ko-KR" altLang="en-US"/>
          </a:p>
        </p:txBody>
      </p:sp>
      <mc:AlternateContent xmlns:mc="http://schemas.openxmlformats.org/markup-compatibility/2006">
        <mc:Choice xmlns:a14="http://schemas.microsoft.com/office/drawing/2010/main" Requires="a14">
          <p:sp>
            <p:nvSpPr>
              <p:cNvPr id="44" name="Text 42"/>
              <p:cNvSpPr txBox="1"/>
              <p:nvPr/>
            </p:nvSpPr>
            <p:spPr>
              <a:xfrm>
                <a:off x="10561320" y="4446362"/>
                <a:ext cx="914400" cy="219456"/>
              </a:xfrm>
              <a:prstGeom prst="rect">
                <a:avLst/>
              </a:prstGeom>
              <a:noFill/>
              <a:ln/>
            </p:spPr>
            <p:txBody>
              <a:bodyPr wrap="square" lIns="0" tIns="0" rIns="0" bIns="0" rtlCol="0" anchor="ctr"/>
              <a:lstStyle/>
              <a:p>
                <a:pPr algn="r"/>
                <a14:m>
                  <m:oMath xmlns:m="http://schemas.openxmlformats.org/officeDocument/2006/math">
                    <m:r>
                      <m:rPr>
                        <m:sty m:val="p"/>
                      </m:rPr>
                      <a:rPr lang="en-US" altLang="ko-KR" sz="1100" b="1">
                        <a:solidFill>
                          <a:srgbClr val="1F4E79"/>
                        </a:solidFill>
                        <a:latin typeface="맑은 고딕" pitchFamily="34" charset="0"/>
                        <a:ea typeface="맑은 고딕" pitchFamily="34" charset="-122"/>
                        <a:cs typeface="맑은 고딕" pitchFamily="34" charset="-120"/>
                      </a:rPr>
                      <m:t>θ</m:t>
                    </m:r>
                  </m:oMath>
                </a14:m>
                <a:r>
                  <a:rPr lang="en-US" sz="1100" b="1" dirty="0">
                    <a:solidFill>
                      <a:srgbClr val="1F4E79"/>
                    </a:solidFill>
                    <a:latin typeface="맑은 고딕" pitchFamily="34" charset="0"/>
                    <a:ea typeface="맑은 고딕" pitchFamily="34" charset="-122"/>
                    <a:cs typeface="맑은 고딕" pitchFamily="34" charset="-120"/>
                  </a:rPr>
                  <a:t> = 13.92</a:t>
                </a:r>
              </a:p>
            </p:txBody>
          </p:sp>
        </mc:Choice>
        <mc:Fallback>
          <p:sp>
            <p:nvSpPr>
              <p:cNvPr id="44" name="Text 42"/>
              <p:cNvSpPr txBox="1">
                <a:spLocks noRot="1" noChangeAspect="1" noMove="1" noResize="1" noEditPoints="1" noAdjustHandles="1" noChangeArrowheads="1" noChangeShapeType="1" noTextEdit="1"/>
              </p:cNvSpPr>
              <p:nvPr/>
            </p:nvSpPr>
            <p:spPr>
              <a:xfrm>
                <a:off x="10561320" y="4446362"/>
                <a:ext cx="914400" cy="219456"/>
              </a:xfrm>
              <a:prstGeom prst="rect">
                <a:avLst/>
              </a:prstGeom>
              <a:blipFill>
                <a:blip r:embed="rId4"/>
                <a:stretch>
                  <a:fillRect t="-11111" r="-9333" b="-27778"/>
                </a:stretch>
              </a:blipFill>
              <a:ln/>
            </p:spPr>
            <p:txBody>
              <a:bodyPr/>
              <a:lstStyle/>
              <a:p>
                <a:r>
                  <a:rPr lang="ko-KR" altLang="en-US">
                    <a:noFill/>
                  </a:rPr>
                  <a:t> </a:t>
                </a:r>
              </a:p>
            </p:txBody>
          </p:sp>
        </mc:Fallback>
      </mc:AlternateContent>
      <p:sp>
        <p:nvSpPr>
          <p:cNvPr id="45" name="Shape 43"/>
          <p:cNvSpPr/>
          <p:nvPr/>
        </p:nvSpPr>
        <p:spPr>
          <a:xfrm>
            <a:off x="1819656" y="3154680"/>
            <a:ext cx="9454896" cy="2331720"/>
          </a:xfrm>
          <a:custGeom>
            <a:avLst/>
            <a:gdLst/>
            <a:ahLst/>
            <a:cxnLst/>
            <a:rect l="l" t="t" r="r" b="b"/>
            <a:pathLst>
              <a:path w="9454896" h="2331720">
                <a:moveTo>
                  <a:pt x="0" y="2033310"/>
                </a:moveTo>
                <a:lnTo>
                  <a:pt x="201168" y="2031345"/>
                </a:lnTo>
                <a:lnTo>
                  <a:pt x="402336" y="2037270"/>
                </a:lnTo>
                <a:lnTo>
                  <a:pt x="603504" y="2018795"/>
                </a:lnTo>
                <a:lnTo>
                  <a:pt x="804672" y="1993900"/>
                </a:lnTo>
                <a:lnTo>
                  <a:pt x="1005840" y="2001119"/>
                </a:lnTo>
                <a:lnTo>
                  <a:pt x="1207008" y="2006619"/>
                </a:lnTo>
                <a:lnTo>
                  <a:pt x="1408176" y="2024539"/>
                </a:lnTo>
                <a:lnTo>
                  <a:pt x="1609344" y="1966232"/>
                </a:lnTo>
                <a:lnTo>
                  <a:pt x="1810512" y="1987685"/>
                </a:lnTo>
                <a:lnTo>
                  <a:pt x="2011680" y="1938753"/>
                </a:lnTo>
                <a:lnTo>
                  <a:pt x="2212848" y="1790294"/>
                </a:lnTo>
                <a:lnTo>
                  <a:pt x="2414016" y="1763469"/>
                </a:lnTo>
                <a:lnTo>
                  <a:pt x="2615184" y="1727899"/>
                </a:lnTo>
                <a:lnTo>
                  <a:pt x="2816352" y="1727433"/>
                </a:lnTo>
                <a:lnTo>
                  <a:pt x="3017520" y="1774826"/>
                </a:lnTo>
                <a:lnTo>
                  <a:pt x="3218688" y="1625628"/>
                </a:lnTo>
                <a:lnTo>
                  <a:pt x="3419856" y="1588154"/>
                </a:lnTo>
                <a:lnTo>
                  <a:pt x="3621024" y="1437369"/>
                </a:lnTo>
                <a:lnTo>
                  <a:pt x="3822192" y="1310470"/>
                </a:lnTo>
                <a:lnTo>
                  <a:pt x="4023360" y="1366983"/>
                </a:lnTo>
                <a:lnTo>
                  <a:pt x="4224528" y="1367369"/>
                </a:lnTo>
                <a:lnTo>
                  <a:pt x="4425696" y="1446410"/>
                </a:lnTo>
                <a:lnTo>
                  <a:pt x="4626864" y="1519352"/>
                </a:lnTo>
                <a:lnTo>
                  <a:pt x="4828032" y="1454458"/>
                </a:lnTo>
                <a:lnTo>
                  <a:pt x="5029200" y="1480364"/>
                </a:lnTo>
                <a:lnTo>
                  <a:pt x="5230368" y="1473043"/>
                </a:lnTo>
                <a:lnTo>
                  <a:pt x="5431536" y="1589150"/>
                </a:lnTo>
                <a:lnTo>
                  <a:pt x="5632704" y="1454458"/>
                </a:lnTo>
                <a:lnTo>
                  <a:pt x="5833872" y="1658138"/>
                </a:lnTo>
                <a:lnTo>
                  <a:pt x="6035040" y="1752420"/>
                </a:lnTo>
                <a:lnTo>
                  <a:pt x="6236208" y="1099163"/>
                </a:lnTo>
                <a:lnTo>
                  <a:pt x="6437376" y="459528"/>
                </a:lnTo>
                <a:lnTo>
                  <a:pt x="6638544" y="170132"/>
                </a:lnTo>
                <a:lnTo>
                  <a:pt x="6839712" y="183830"/>
                </a:lnTo>
                <a:lnTo>
                  <a:pt x="7040880" y="229258"/>
                </a:lnTo>
                <a:lnTo>
                  <a:pt x="7242048" y="602113"/>
                </a:lnTo>
                <a:lnTo>
                  <a:pt x="7443216" y="737659"/>
                </a:lnTo>
                <a:lnTo>
                  <a:pt x="7644384" y="577266"/>
                </a:lnTo>
                <a:lnTo>
                  <a:pt x="7845552" y="505670"/>
                </a:lnTo>
                <a:lnTo>
                  <a:pt x="8046720" y="525829"/>
                </a:lnTo>
                <a:lnTo>
                  <a:pt x="8247888" y="611917"/>
                </a:lnTo>
                <a:lnTo>
                  <a:pt x="8449056" y="464146"/>
                </a:lnTo>
                <a:lnTo>
                  <a:pt x="8650224" y="324800"/>
                </a:lnTo>
                <a:lnTo>
                  <a:pt x="8851392" y="285341"/>
                </a:lnTo>
                <a:lnTo>
                  <a:pt x="9052560" y="432866"/>
                </a:lnTo>
                <a:lnTo>
                  <a:pt x="9253728" y="756728"/>
                </a:lnTo>
                <a:lnTo>
                  <a:pt x="9454896" y="621340"/>
                </a:lnTo>
              </a:path>
            </a:pathLst>
          </a:custGeom>
          <a:ln w="19050">
            <a:solidFill>
              <a:srgbClr val="404040"/>
            </a:solidFill>
            <a:prstDash val="solid"/>
          </a:ln>
        </p:spPr>
        <p:txBody>
          <a:bodyPr/>
          <a:lstStyle/>
          <a:p>
            <a:endParaRPr lang="ko-KR" altLang="en-US"/>
          </a:p>
        </p:txBody>
      </p:sp>
      <p:sp>
        <p:nvSpPr>
          <p:cNvPr id="46" name="Shape 44"/>
          <p:cNvSpPr/>
          <p:nvPr/>
        </p:nvSpPr>
        <p:spPr>
          <a:xfrm>
            <a:off x="1787652" y="515598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7" name="Shape 45"/>
          <p:cNvSpPr/>
          <p:nvPr/>
        </p:nvSpPr>
        <p:spPr>
          <a:xfrm>
            <a:off x="1988820" y="515402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8" name="Shape 46"/>
          <p:cNvSpPr/>
          <p:nvPr/>
        </p:nvSpPr>
        <p:spPr>
          <a:xfrm>
            <a:off x="2189988" y="515994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49" name="Shape 47"/>
          <p:cNvSpPr/>
          <p:nvPr/>
        </p:nvSpPr>
        <p:spPr>
          <a:xfrm>
            <a:off x="2391156" y="514147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0" name="Shape 48"/>
          <p:cNvSpPr/>
          <p:nvPr/>
        </p:nvSpPr>
        <p:spPr>
          <a:xfrm>
            <a:off x="2592324" y="511657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1" name="Shape 49"/>
          <p:cNvSpPr/>
          <p:nvPr/>
        </p:nvSpPr>
        <p:spPr>
          <a:xfrm>
            <a:off x="2793492" y="512379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2" name="Shape 50"/>
          <p:cNvSpPr/>
          <p:nvPr/>
        </p:nvSpPr>
        <p:spPr>
          <a:xfrm>
            <a:off x="2994660" y="512929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3" name="Shape 51"/>
          <p:cNvSpPr/>
          <p:nvPr/>
        </p:nvSpPr>
        <p:spPr>
          <a:xfrm>
            <a:off x="3195828" y="514721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4" name="Shape 52"/>
          <p:cNvSpPr/>
          <p:nvPr/>
        </p:nvSpPr>
        <p:spPr>
          <a:xfrm>
            <a:off x="3396996" y="5088908"/>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5" name="Shape 53"/>
          <p:cNvSpPr/>
          <p:nvPr/>
        </p:nvSpPr>
        <p:spPr>
          <a:xfrm>
            <a:off x="3598164" y="5110361"/>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6" name="Shape 54"/>
          <p:cNvSpPr/>
          <p:nvPr/>
        </p:nvSpPr>
        <p:spPr>
          <a:xfrm>
            <a:off x="3799332" y="506142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7" name="Shape 55"/>
          <p:cNvSpPr/>
          <p:nvPr/>
        </p:nvSpPr>
        <p:spPr>
          <a:xfrm>
            <a:off x="4000500" y="491297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8" name="Shape 56"/>
          <p:cNvSpPr/>
          <p:nvPr/>
        </p:nvSpPr>
        <p:spPr>
          <a:xfrm>
            <a:off x="4201668" y="488614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59" name="Shape 57"/>
          <p:cNvSpPr/>
          <p:nvPr/>
        </p:nvSpPr>
        <p:spPr>
          <a:xfrm>
            <a:off x="4402836" y="4850575"/>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0" name="Shape 58"/>
          <p:cNvSpPr/>
          <p:nvPr/>
        </p:nvSpPr>
        <p:spPr>
          <a:xfrm>
            <a:off x="4604004" y="485010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1" name="Shape 59"/>
          <p:cNvSpPr/>
          <p:nvPr/>
        </p:nvSpPr>
        <p:spPr>
          <a:xfrm>
            <a:off x="4805172" y="4897502"/>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2" name="Shape 60"/>
          <p:cNvSpPr/>
          <p:nvPr/>
        </p:nvSpPr>
        <p:spPr>
          <a:xfrm>
            <a:off x="5006340" y="4748304"/>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3" name="Shape 61"/>
          <p:cNvSpPr/>
          <p:nvPr/>
        </p:nvSpPr>
        <p:spPr>
          <a:xfrm>
            <a:off x="5207508" y="4710830"/>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64" name="Shape 62"/>
          <p:cNvSpPr/>
          <p:nvPr/>
        </p:nvSpPr>
        <p:spPr>
          <a:xfrm>
            <a:off x="5408676" y="4560045"/>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65" name="Shape 63"/>
          <p:cNvSpPr/>
          <p:nvPr/>
        </p:nvSpPr>
        <p:spPr>
          <a:xfrm>
            <a:off x="5609844" y="443314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66" name="Shape 64"/>
          <p:cNvSpPr/>
          <p:nvPr/>
        </p:nvSpPr>
        <p:spPr>
          <a:xfrm>
            <a:off x="5811012" y="4489659"/>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67" name="Shape 65"/>
          <p:cNvSpPr/>
          <p:nvPr/>
        </p:nvSpPr>
        <p:spPr>
          <a:xfrm>
            <a:off x="6012180" y="4490045"/>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68" name="Shape 66"/>
          <p:cNvSpPr/>
          <p:nvPr/>
        </p:nvSpPr>
        <p:spPr>
          <a:xfrm>
            <a:off x="6213348" y="456908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69" name="Shape 67"/>
          <p:cNvSpPr/>
          <p:nvPr/>
        </p:nvSpPr>
        <p:spPr>
          <a:xfrm>
            <a:off x="6414516" y="4642028"/>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0" name="Shape 68"/>
          <p:cNvSpPr/>
          <p:nvPr/>
        </p:nvSpPr>
        <p:spPr>
          <a:xfrm>
            <a:off x="6615684" y="457713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1" name="Shape 69"/>
          <p:cNvSpPr/>
          <p:nvPr/>
        </p:nvSpPr>
        <p:spPr>
          <a:xfrm>
            <a:off x="6816852" y="4603040"/>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2" name="Shape 70"/>
          <p:cNvSpPr/>
          <p:nvPr/>
        </p:nvSpPr>
        <p:spPr>
          <a:xfrm>
            <a:off x="7018020" y="4595719"/>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3" name="Shape 71"/>
          <p:cNvSpPr/>
          <p:nvPr/>
        </p:nvSpPr>
        <p:spPr>
          <a:xfrm>
            <a:off x="7219188" y="471182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74" name="Shape 72"/>
          <p:cNvSpPr/>
          <p:nvPr/>
        </p:nvSpPr>
        <p:spPr>
          <a:xfrm>
            <a:off x="7420356" y="457713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5" name="Shape 73"/>
          <p:cNvSpPr/>
          <p:nvPr/>
        </p:nvSpPr>
        <p:spPr>
          <a:xfrm>
            <a:off x="7621524" y="4780814"/>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76" name="Shape 74"/>
          <p:cNvSpPr/>
          <p:nvPr/>
        </p:nvSpPr>
        <p:spPr>
          <a:xfrm>
            <a:off x="7822692" y="4875096"/>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77" name="Shape 75"/>
          <p:cNvSpPr/>
          <p:nvPr/>
        </p:nvSpPr>
        <p:spPr>
          <a:xfrm>
            <a:off x="8023860" y="4221839"/>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8" name="Shape 76"/>
          <p:cNvSpPr/>
          <p:nvPr/>
        </p:nvSpPr>
        <p:spPr>
          <a:xfrm>
            <a:off x="8225028" y="358220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79" name="Shape 77"/>
          <p:cNvSpPr/>
          <p:nvPr/>
        </p:nvSpPr>
        <p:spPr>
          <a:xfrm>
            <a:off x="8426196" y="3292808"/>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0" name="Shape 78"/>
          <p:cNvSpPr/>
          <p:nvPr/>
        </p:nvSpPr>
        <p:spPr>
          <a:xfrm>
            <a:off x="8627364" y="330650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1" name="Shape 79"/>
          <p:cNvSpPr/>
          <p:nvPr/>
        </p:nvSpPr>
        <p:spPr>
          <a:xfrm>
            <a:off x="8828532" y="335193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2" name="Shape 80"/>
          <p:cNvSpPr/>
          <p:nvPr/>
        </p:nvSpPr>
        <p:spPr>
          <a:xfrm>
            <a:off x="9029700" y="3724789"/>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3" name="Shape 81"/>
          <p:cNvSpPr/>
          <p:nvPr/>
        </p:nvSpPr>
        <p:spPr>
          <a:xfrm>
            <a:off x="9230868" y="3860335"/>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4" name="Shape 82"/>
          <p:cNvSpPr/>
          <p:nvPr/>
        </p:nvSpPr>
        <p:spPr>
          <a:xfrm>
            <a:off x="9432036" y="369994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5" name="Shape 83"/>
          <p:cNvSpPr/>
          <p:nvPr/>
        </p:nvSpPr>
        <p:spPr>
          <a:xfrm>
            <a:off x="9633204" y="362834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6" name="Shape 84"/>
          <p:cNvSpPr/>
          <p:nvPr/>
        </p:nvSpPr>
        <p:spPr>
          <a:xfrm>
            <a:off x="9834372" y="3648505"/>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7" name="Shape 85"/>
          <p:cNvSpPr/>
          <p:nvPr/>
        </p:nvSpPr>
        <p:spPr>
          <a:xfrm>
            <a:off x="10035540" y="3734593"/>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8" name="Shape 86"/>
          <p:cNvSpPr/>
          <p:nvPr/>
        </p:nvSpPr>
        <p:spPr>
          <a:xfrm>
            <a:off x="10236708" y="358682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89" name="Shape 87"/>
          <p:cNvSpPr/>
          <p:nvPr/>
        </p:nvSpPr>
        <p:spPr>
          <a:xfrm>
            <a:off x="10437876" y="344747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90" name="Shape 88"/>
          <p:cNvSpPr/>
          <p:nvPr/>
        </p:nvSpPr>
        <p:spPr>
          <a:xfrm>
            <a:off x="10639044" y="3408017"/>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91" name="Shape 89"/>
          <p:cNvSpPr/>
          <p:nvPr/>
        </p:nvSpPr>
        <p:spPr>
          <a:xfrm>
            <a:off x="10840212" y="3555542"/>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92" name="Shape 90"/>
          <p:cNvSpPr/>
          <p:nvPr/>
        </p:nvSpPr>
        <p:spPr>
          <a:xfrm>
            <a:off x="11041380" y="3879404"/>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93" name="Shape 91"/>
          <p:cNvSpPr/>
          <p:nvPr/>
        </p:nvSpPr>
        <p:spPr>
          <a:xfrm>
            <a:off x="11242548" y="3744016"/>
            <a:ext cx="64008" cy="64008"/>
          </a:xfrm>
          <a:prstGeom prst="ellipse">
            <a:avLst/>
          </a:prstGeom>
          <a:solidFill>
            <a:srgbClr val="C00000"/>
          </a:solidFill>
          <a:ln w="12700">
            <a:solidFill>
              <a:srgbClr val="C00000"/>
            </a:solidFill>
            <a:prstDash val="solid"/>
          </a:ln>
        </p:spPr>
        <p:txBody>
          <a:bodyPr/>
          <a:lstStyle/>
          <a:p>
            <a:endParaRPr lang="ko-KR" altLang="en-US"/>
          </a:p>
        </p:txBody>
      </p:sp>
      <p:sp>
        <p:nvSpPr>
          <p:cNvPr id="94" name="Shape 92"/>
          <p:cNvSpPr/>
          <p:nvPr/>
        </p:nvSpPr>
        <p:spPr>
          <a:xfrm>
            <a:off x="5340096" y="4491465"/>
            <a:ext cx="201168" cy="201168"/>
          </a:xfrm>
          <a:prstGeom prst="ellipse">
            <a:avLst/>
          </a:prstGeom>
          <a:ln w="25400">
            <a:solidFill>
              <a:srgbClr val="C00000"/>
            </a:solidFill>
            <a:prstDash val="solid"/>
          </a:ln>
        </p:spPr>
        <p:txBody>
          <a:bodyPr/>
          <a:lstStyle/>
          <a:p>
            <a:endParaRPr lang="ko-KR" altLang="en-US"/>
          </a:p>
        </p:txBody>
      </p:sp>
      <p:sp>
        <p:nvSpPr>
          <p:cNvPr id="95" name="Shape 93"/>
          <p:cNvSpPr/>
          <p:nvPr/>
        </p:nvSpPr>
        <p:spPr>
          <a:xfrm flipV="1">
            <a:off x="5440680" y="3474720"/>
            <a:ext cx="91" cy="998457"/>
          </a:xfrm>
          <a:prstGeom prst="line">
            <a:avLst/>
          </a:prstGeom>
          <a:noFill/>
          <a:ln w="12700">
            <a:solidFill>
              <a:srgbClr val="C00000"/>
            </a:solidFill>
            <a:prstDash val="solid"/>
          </a:ln>
        </p:spPr>
        <p:txBody>
          <a:bodyPr/>
          <a:lstStyle/>
          <a:p>
            <a:endParaRPr lang="ko-KR" altLang="en-US"/>
          </a:p>
        </p:txBody>
      </p:sp>
      <mc:AlternateContent xmlns:mc="http://schemas.openxmlformats.org/markup-compatibility/2006">
        <mc:Choice xmlns:a14="http://schemas.microsoft.com/office/drawing/2010/main" Requires="a14">
          <p:sp>
            <p:nvSpPr>
              <p:cNvPr id="96" name="Text 94"/>
              <p:cNvSpPr txBox="1"/>
              <p:nvPr/>
            </p:nvSpPr>
            <p:spPr>
              <a:xfrm>
                <a:off x="5486400" y="3200400"/>
                <a:ext cx="2560320" cy="256032"/>
              </a:xfrm>
              <a:prstGeom prst="rect">
                <a:avLst/>
              </a:prstGeom>
              <a:noFill/>
              <a:ln/>
            </p:spPr>
            <p:txBody>
              <a:bodyPr wrap="square" lIns="0" tIns="0" rIns="0" bIns="0" rtlCol="0" anchor="ctr"/>
              <a:lstStyle/>
              <a:p>
                <a:r>
                  <a:rPr lang="en-US" sz="1200" b="1" dirty="0">
                    <a:solidFill>
                      <a:srgbClr val="C00000"/>
                    </a:solidFill>
                    <a:latin typeface="맑은 고딕" pitchFamily="34" charset="0"/>
                    <a:ea typeface="맑은 고딕" pitchFamily="34" charset="-122"/>
                    <a:cs typeface="맑은 고딕" pitchFamily="34" charset="-120"/>
                  </a:rPr>
                  <a:t>첫 경보 (2.0 </a:t>
                </a:r>
                <a14:m>
                  <m:oMath xmlns:m="http://schemas.openxmlformats.org/officeDocument/2006/math">
                    <m:r>
                      <a:rPr lang="en-US" sz="1200" b="1" i="1" smtClean="0">
                        <a:solidFill>
                          <a:srgbClr val="C00000"/>
                        </a:solidFill>
                        <a:latin typeface="Cambria Math" panose="02040503050406030204" pitchFamily="18" charset="0"/>
                        <a:ea typeface="맑은 고딕" pitchFamily="34" charset="-122"/>
                        <a:cs typeface="맑은 고딕" pitchFamily="34" charset="-120"/>
                      </a:rPr>
                      <m:t>𝒔</m:t>
                    </m:r>
                  </m:oMath>
                </a14:m>
                <a:r>
                  <a:rPr lang="en-US" sz="1200" b="1" dirty="0">
                    <a:solidFill>
                      <a:srgbClr val="C00000"/>
                    </a:solidFill>
                    <a:latin typeface="맑은 고딕" pitchFamily="34" charset="0"/>
                    <a:ea typeface="맑은 고딕" pitchFamily="34" charset="-122"/>
                    <a:cs typeface="맑은 고딕" pitchFamily="34" charset="-120"/>
                  </a:rPr>
                  <a:t>, </a:t>
                </a:r>
                <a14:m>
                  <m:oMath xmlns:m="http://schemas.openxmlformats.org/officeDocument/2006/math">
                    <m:r>
                      <a:rPr lang="en-US" altLang="ko-KR" sz="1200" b="1" i="1">
                        <a:solidFill>
                          <a:srgbClr val="C00000"/>
                        </a:solidFill>
                        <a:latin typeface="Cambria Math" panose="02040503050406030204" pitchFamily="18" charset="0"/>
                        <a:ea typeface="맑은 고딕" pitchFamily="34" charset="-122"/>
                        <a:cs typeface="맑은 고딕" pitchFamily="34" charset="-120"/>
                      </a:rPr>
                      <m:t>𝒔</m:t>
                    </m:r>
                  </m:oMath>
                </a14:m>
                <a:r>
                  <a:rPr lang="en-US" sz="1200" b="1" dirty="0">
                    <a:solidFill>
                      <a:srgbClr val="C00000"/>
                    </a:solidFill>
                    <a:latin typeface="맑은 고딕" pitchFamily="34" charset="0"/>
                    <a:ea typeface="맑은 고딕" pitchFamily="34" charset="-122"/>
                    <a:cs typeface="맑은 고딕" pitchFamily="34" charset="-120"/>
                  </a:rPr>
                  <a:t> = 17.8 &gt; </a:t>
                </a:r>
                <a14:m>
                  <m:oMath xmlns:m="http://schemas.openxmlformats.org/officeDocument/2006/math">
                    <m:r>
                      <m:rPr>
                        <m:sty m:val="p"/>
                      </m:rPr>
                      <a:rPr lang="en-US" altLang="ko-KR" sz="1200" i="1">
                        <a:solidFill>
                          <a:srgbClr val="262626"/>
                        </a:solidFill>
                        <a:latin typeface="Cambria Math" panose="02040503050406030204" pitchFamily="18" charset="0"/>
                        <a:ea typeface="맑은 고딕" pitchFamily="34" charset="-122"/>
                        <a:cs typeface="맑은 고딕" pitchFamily="34" charset="-120"/>
                      </a:rPr>
                      <m:t>θ</m:t>
                    </m:r>
                  </m:oMath>
                </a14:m>
                <a:r>
                  <a:rPr lang="en-US" sz="1200" b="1" dirty="0">
                    <a:solidFill>
                      <a:srgbClr val="C00000"/>
                    </a:solidFill>
                    <a:latin typeface="맑은 고딕" pitchFamily="34" charset="0"/>
                    <a:ea typeface="맑은 고딕" pitchFamily="34" charset="-122"/>
                    <a:cs typeface="맑은 고딕" pitchFamily="34" charset="-120"/>
                  </a:rPr>
                  <a:t>)</a:t>
                </a:r>
                <a:endParaRPr lang="en-US" sz="1200" dirty="0"/>
              </a:p>
            </p:txBody>
          </p:sp>
        </mc:Choice>
        <mc:Fallback>
          <p:sp>
            <p:nvSpPr>
              <p:cNvPr id="96" name="Text 94"/>
              <p:cNvSpPr txBox="1">
                <a:spLocks noRot="1" noChangeAspect="1" noMove="1" noResize="1" noEditPoints="1" noAdjustHandles="1" noChangeArrowheads="1" noChangeShapeType="1" noTextEdit="1"/>
              </p:cNvSpPr>
              <p:nvPr/>
            </p:nvSpPr>
            <p:spPr>
              <a:xfrm>
                <a:off x="5486400" y="3200400"/>
                <a:ext cx="2560320" cy="256032"/>
              </a:xfrm>
              <a:prstGeom prst="rect">
                <a:avLst/>
              </a:prstGeom>
              <a:blipFill>
                <a:blip r:embed="rId5"/>
                <a:stretch>
                  <a:fillRect l="-3571" t="-7143" b="-19048"/>
                </a:stretch>
              </a:blipFill>
              <a:ln/>
            </p:spPr>
            <p:txBody>
              <a:bodyPr/>
              <a:lstStyle/>
              <a:p>
                <a:r>
                  <a:rPr lang="ko-KR" altLang="en-US">
                    <a:noFill/>
                  </a:rPr>
                  <a:t> </a:t>
                </a:r>
              </a:p>
            </p:txBody>
          </p:sp>
        </mc:Fallback>
      </mc:AlternateContent>
      <p:sp>
        <p:nvSpPr>
          <p:cNvPr id="97" name="Text 95"/>
          <p:cNvSpPr txBox="1"/>
          <p:nvPr/>
        </p:nvSpPr>
        <p:spPr>
          <a:xfrm>
            <a:off x="1920240" y="4799046"/>
            <a:ext cx="1645920" cy="219456"/>
          </a:xfrm>
          <a:prstGeom prst="rect">
            <a:avLst/>
          </a:prstGeom>
          <a:noFill/>
          <a:ln/>
        </p:spPr>
        <p:txBody>
          <a:bodyPr wrap="square" lIns="0" tIns="0" rIns="0" bIns="0" rtlCol="0" anchor="ctr"/>
          <a:lstStyle/>
          <a:p>
            <a:pPr marL="0" indent="0" algn="l">
              <a:buNone/>
            </a:pPr>
            <a:r>
              <a:rPr lang="en-US" sz="1100" b="1" dirty="0">
                <a:solidFill>
                  <a:srgbClr val="1F4E79"/>
                </a:solidFill>
                <a:latin typeface="맑은 고딕" pitchFamily="34" charset="0"/>
                <a:ea typeface="맑은 고딕" pitchFamily="34" charset="-122"/>
                <a:cs typeface="맑은 고딕" pitchFamily="34" charset="-120"/>
              </a:rPr>
              <a:t>① 정상 범위 유지</a:t>
            </a:r>
            <a:endParaRPr lang="en-US" sz="1100" dirty="0"/>
          </a:p>
        </p:txBody>
      </p:sp>
      <p:sp>
        <p:nvSpPr>
          <p:cNvPr id="98" name="Text 96"/>
          <p:cNvSpPr txBox="1"/>
          <p:nvPr/>
        </p:nvSpPr>
        <p:spPr>
          <a:xfrm>
            <a:off x="3529584" y="4691298"/>
            <a:ext cx="1645920" cy="219456"/>
          </a:xfrm>
          <a:prstGeom prst="rect">
            <a:avLst/>
          </a:prstGeom>
          <a:noFill/>
          <a:ln/>
        </p:spPr>
        <p:txBody>
          <a:bodyPr wrap="square" lIns="0" tIns="0" rIns="0" bIns="0" rtlCol="0" anchor="ctr"/>
          <a:lstStyle/>
          <a:p>
            <a:pPr marL="0" indent="0" algn="l">
              <a:buNone/>
            </a:pPr>
            <a:r>
              <a:rPr lang="en-US" sz="1100" b="1" dirty="0">
                <a:solidFill>
                  <a:srgbClr val="1F4E79"/>
                </a:solidFill>
                <a:latin typeface="맑은 고딕" pitchFamily="34" charset="0"/>
                <a:ea typeface="맑은 고딕" pitchFamily="34" charset="-122"/>
                <a:cs typeface="맑은 고딕" pitchFamily="34" charset="-120"/>
              </a:rPr>
              <a:t>② 점수 서서히 상승</a:t>
            </a:r>
            <a:endParaRPr lang="en-US" sz="1100" dirty="0"/>
          </a:p>
        </p:txBody>
      </p:sp>
      <mc:AlternateContent xmlns:mc="http://schemas.openxmlformats.org/markup-compatibility/2006">
        <mc:Choice xmlns:a14="http://schemas.microsoft.com/office/drawing/2010/main" Requires="a14">
          <p:sp>
            <p:nvSpPr>
              <p:cNvPr id="99" name="Text 97"/>
              <p:cNvSpPr txBox="1"/>
              <p:nvPr/>
            </p:nvSpPr>
            <p:spPr>
              <a:xfrm>
                <a:off x="5742432" y="4857842"/>
                <a:ext cx="1645920" cy="219456"/>
              </a:xfrm>
              <a:prstGeom prst="rect">
                <a:avLst/>
              </a:prstGeom>
              <a:noFill/>
              <a:ln/>
            </p:spPr>
            <p:txBody>
              <a:bodyPr wrap="square" lIns="0" tIns="0" rIns="0" bIns="0" rtlCol="0" anchor="ctr"/>
              <a:lstStyle/>
              <a:p>
                <a:r>
                  <a:rPr lang="en-US" sz="1100" b="1" dirty="0">
                    <a:solidFill>
                      <a:srgbClr val="C00000"/>
                    </a:solidFill>
                    <a:latin typeface="맑은 고딕" pitchFamily="34" charset="0"/>
                    <a:ea typeface="맑은 고딕" pitchFamily="34" charset="-122"/>
                    <a:cs typeface="맑은 고딕" pitchFamily="34" charset="-120"/>
                  </a:rPr>
                  <a:t>③ </a:t>
                </a:r>
                <a14:m>
                  <m:oMath xmlns:m="http://schemas.openxmlformats.org/officeDocument/2006/math">
                    <m:r>
                      <m:rPr>
                        <m:sty m:val="p"/>
                      </m:rPr>
                      <a:rPr lang="en-US" altLang="ko-KR" sz="1100" b="1">
                        <a:solidFill>
                          <a:srgbClr val="C00000"/>
                        </a:solidFill>
                        <a:latin typeface="맑은 고딕" pitchFamily="34" charset="0"/>
                        <a:ea typeface="맑은 고딕" pitchFamily="34" charset="-122"/>
                        <a:cs typeface="맑은 고딕" pitchFamily="34" charset="-120"/>
                      </a:rPr>
                      <m:t>θ</m:t>
                    </m:r>
                  </m:oMath>
                </a14:m>
                <a:r>
                  <a:rPr lang="en-US" sz="1100" b="1" dirty="0">
                    <a:solidFill>
                      <a:srgbClr val="C00000"/>
                    </a:solidFill>
                    <a:latin typeface="맑은 고딕" pitchFamily="34" charset="0"/>
                    <a:ea typeface="맑은 고딕" pitchFamily="34" charset="-122"/>
                    <a:cs typeface="맑은 고딕" pitchFamily="34" charset="-120"/>
                  </a:rPr>
                  <a:t> 근처 오르내림</a:t>
                </a:r>
              </a:p>
            </p:txBody>
          </p:sp>
        </mc:Choice>
        <mc:Fallback>
          <p:sp>
            <p:nvSpPr>
              <p:cNvPr id="99" name="Text 97"/>
              <p:cNvSpPr txBox="1">
                <a:spLocks noRot="1" noChangeAspect="1" noMove="1" noResize="1" noEditPoints="1" noAdjustHandles="1" noChangeArrowheads="1" noChangeShapeType="1" noTextEdit="1"/>
              </p:cNvSpPr>
              <p:nvPr/>
            </p:nvSpPr>
            <p:spPr>
              <a:xfrm>
                <a:off x="5742432" y="4857842"/>
                <a:ext cx="1645920" cy="219456"/>
              </a:xfrm>
              <a:prstGeom prst="rect">
                <a:avLst/>
              </a:prstGeom>
              <a:blipFill>
                <a:blip r:embed="rId6"/>
                <a:stretch>
                  <a:fillRect l="-5185" t="-11111" b="-27778"/>
                </a:stretch>
              </a:blipFill>
              <a:ln/>
            </p:spPr>
            <p:txBody>
              <a:bodyPr/>
              <a:lstStyle/>
              <a:p>
                <a:r>
                  <a:rPr lang="ko-KR" altLang="en-US">
                    <a:noFill/>
                  </a:rPr>
                  <a:t> </a:t>
                </a:r>
              </a:p>
            </p:txBody>
          </p:sp>
        </mc:Fallback>
      </mc:AlternateContent>
      <p:sp>
        <p:nvSpPr>
          <p:cNvPr id="100" name="Text 98"/>
          <p:cNvSpPr txBox="1"/>
          <p:nvPr/>
        </p:nvSpPr>
        <p:spPr>
          <a:xfrm>
            <a:off x="6547104" y="3721400"/>
            <a:ext cx="1371600" cy="219456"/>
          </a:xfrm>
          <a:prstGeom prst="rect">
            <a:avLst/>
          </a:prstGeom>
          <a:noFill/>
          <a:ln/>
        </p:spPr>
        <p:txBody>
          <a:bodyPr wrap="square" lIns="0" tIns="0" rIns="0" bIns="0" rtlCol="0" anchor="ctr"/>
          <a:lstStyle/>
          <a:p>
            <a:pPr marL="0" indent="0" algn="l">
              <a:buNone/>
            </a:pPr>
            <a:r>
              <a:rPr lang="en-US" sz="1100" b="1" dirty="0">
                <a:solidFill>
                  <a:srgbClr val="C00000"/>
                </a:solidFill>
                <a:latin typeface="맑은 고딕" pitchFamily="34" charset="0"/>
                <a:ea typeface="맑은 고딕" pitchFamily="34" charset="-122"/>
                <a:cs typeface="맑은 고딕" pitchFamily="34" charset="-120"/>
              </a:rPr>
              <a:t>④ 급격한 악화</a:t>
            </a:r>
            <a:endParaRPr lang="en-US" sz="1100" dirty="0"/>
          </a:p>
        </p:txBody>
      </p:sp>
      <p:sp>
        <p:nvSpPr>
          <p:cNvPr id="102" name="Text 100"/>
          <p:cNvSpPr txBox="1"/>
          <p:nvPr/>
        </p:nvSpPr>
        <p:spPr>
          <a:xfrm>
            <a:off x="457200" y="5916168"/>
            <a:ext cx="822960" cy="237744"/>
          </a:xfrm>
          <a:prstGeom prst="rect">
            <a:avLst/>
          </a:prstGeom>
          <a:noFill/>
          <a:ln/>
        </p:spPr>
        <p:txBody>
          <a:bodyPr wrap="square" lIns="0" tIns="0" rIns="0" bIns="0" rtlCol="0" anchor="ctr"/>
          <a:lstStyle/>
          <a:p>
            <a:pPr marL="0" indent="0" algn="r">
              <a:buNone/>
            </a:pPr>
            <a:r>
              <a:rPr lang="en-US" sz="1150" b="1" dirty="0">
                <a:solidFill>
                  <a:srgbClr val="262626"/>
                </a:solidFill>
                <a:latin typeface="맑은 고딕" pitchFamily="34" charset="0"/>
                <a:ea typeface="맑은 고딕" pitchFamily="34" charset="-122"/>
                <a:cs typeface="맑은 고딕" pitchFamily="34" charset="-120"/>
              </a:rPr>
              <a:t>경보</a:t>
            </a:r>
            <a:endParaRPr lang="en-US" sz="1150" dirty="0"/>
          </a:p>
        </p:txBody>
      </p:sp>
      <p:sp>
        <p:nvSpPr>
          <p:cNvPr id="105" name="Shape 103"/>
          <p:cNvSpPr/>
          <p:nvPr/>
        </p:nvSpPr>
        <p:spPr>
          <a:xfrm>
            <a:off x="1737360"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06" name="Shape 104"/>
          <p:cNvSpPr/>
          <p:nvPr/>
        </p:nvSpPr>
        <p:spPr>
          <a:xfrm>
            <a:off x="1938528"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07" name="Shape 105"/>
          <p:cNvSpPr/>
          <p:nvPr/>
        </p:nvSpPr>
        <p:spPr>
          <a:xfrm>
            <a:off x="2139696"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08" name="Shape 106"/>
          <p:cNvSpPr/>
          <p:nvPr/>
        </p:nvSpPr>
        <p:spPr>
          <a:xfrm>
            <a:off x="2340864"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09" name="Shape 107"/>
          <p:cNvSpPr/>
          <p:nvPr/>
        </p:nvSpPr>
        <p:spPr>
          <a:xfrm>
            <a:off x="2542032"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0" name="Shape 108"/>
          <p:cNvSpPr/>
          <p:nvPr/>
        </p:nvSpPr>
        <p:spPr>
          <a:xfrm>
            <a:off x="2743200"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1" name="Shape 109"/>
          <p:cNvSpPr/>
          <p:nvPr/>
        </p:nvSpPr>
        <p:spPr>
          <a:xfrm>
            <a:off x="2944368"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2" name="Shape 110"/>
          <p:cNvSpPr/>
          <p:nvPr/>
        </p:nvSpPr>
        <p:spPr>
          <a:xfrm>
            <a:off x="3145536"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3" name="Shape 111"/>
          <p:cNvSpPr/>
          <p:nvPr/>
        </p:nvSpPr>
        <p:spPr>
          <a:xfrm>
            <a:off x="3346704"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4" name="Shape 112"/>
          <p:cNvSpPr/>
          <p:nvPr/>
        </p:nvSpPr>
        <p:spPr>
          <a:xfrm>
            <a:off x="3547872"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5" name="Shape 113"/>
          <p:cNvSpPr/>
          <p:nvPr/>
        </p:nvSpPr>
        <p:spPr>
          <a:xfrm>
            <a:off x="3749040"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6" name="Shape 114"/>
          <p:cNvSpPr/>
          <p:nvPr/>
        </p:nvSpPr>
        <p:spPr>
          <a:xfrm>
            <a:off x="3950208"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7" name="Shape 115"/>
          <p:cNvSpPr/>
          <p:nvPr/>
        </p:nvSpPr>
        <p:spPr>
          <a:xfrm>
            <a:off x="4151376"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8" name="Shape 116"/>
          <p:cNvSpPr/>
          <p:nvPr/>
        </p:nvSpPr>
        <p:spPr>
          <a:xfrm>
            <a:off x="4352544"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19" name="Shape 117"/>
          <p:cNvSpPr/>
          <p:nvPr/>
        </p:nvSpPr>
        <p:spPr>
          <a:xfrm>
            <a:off x="4553712"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20" name="Shape 118"/>
          <p:cNvSpPr/>
          <p:nvPr/>
        </p:nvSpPr>
        <p:spPr>
          <a:xfrm>
            <a:off x="4754880"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21" name="Shape 119"/>
          <p:cNvSpPr/>
          <p:nvPr/>
        </p:nvSpPr>
        <p:spPr>
          <a:xfrm>
            <a:off x="4956048"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22" name="Shape 120"/>
          <p:cNvSpPr/>
          <p:nvPr/>
        </p:nvSpPr>
        <p:spPr>
          <a:xfrm>
            <a:off x="5157216"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23" name="Shape 121"/>
          <p:cNvSpPr/>
          <p:nvPr/>
        </p:nvSpPr>
        <p:spPr>
          <a:xfrm>
            <a:off x="535838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4" name="Shape 122"/>
          <p:cNvSpPr/>
          <p:nvPr/>
        </p:nvSpPr>
        <p:spPr>
          <a:xfrm>
            <a:off x="5559552"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5" name="Shape 123"/>
          <p:cNvSpPr/>
          <p:nvPr/>
        </p:nvSpPr>
        <p:spPr>
          <a:xfrm>
            <a:off x="5760720"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6" name="Shape 124"/>
          <p:cNvSpPr/>
          <p:nvPr/>
        </p:nvSpPr>
        <p:spPr>
          <a:xfrm>
            <a:off x="596188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7" name="Shape 125"/>
          <p:cNvSpPr/>
          <p:nvPr/>
        </p:nvSpPr>
        <p:spPr>
          <a:xfrm>
            <a:off x="6163056"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8" name="Shape 126"/>
          <p:cNvSpPr/>
          <p:nvPr/>
        </p:nvSpPr>
        <p:spPr>
          <a:xfrm>
            <a:off x="636422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29" name="Shape 127"/>
          <p:cNvSpPr/>
          <p:nvPr/>
        </p:nvSpPr>
        <p:spPr>
          <a:xfrm>
            <a:off x="6565392"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0" name="Shape 128"/>
          <p:cNvSpPr/>
          <p:nvPr/>
        </p:nvSpPr>
        <p:spPr>
          <a:xfrm>
            <a:off x="6766560"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1" name="Shape 129"/>
          <p:cNvSpPr/>
          <p:nvPr/>
        </p:nvSpPr>
        <p:spPr>
          <a:xfrm>
            <a:off x="696772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2" name="Shape 130"/>
          <p:cNvSpPr/>
          <p:nvPr/>
        </p:nvSpPr>
        <p:spPr>
          <a:xfrm>
            <a:off x="7168896"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33" name="Shape 131"/>
          <p:cNvSpPr/>
          <p:nvPr/>
        </p:nvSpPr>
        <p:spPr>
          <a:xfrm>
            <a:off x="737006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4" name="Shape 132"/>
          <p:cNvSpPr/>
          <p:nvPr/>
        </p:nvSpPr>
        <p:spPr>
          <a:xfrm>
            <a:off x="7571232"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35" name="Shape 133"/>
          <p:cNvSpPr/>
          <p:nvPr/>
        </p:nvSpPr>
        <p:spPr>
          <a:xfrm>
            <a:off x="7772400"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36" name="Shape 134"/>
          <p:cNvSpPr/>
          <p:nvPr/>
        </p:nvSpPr>
        <p:spPr>
          <a:xfrm>
            <a:off x="797356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7" name="Shape 135"/>
          <p:cNvSpPr/>
          <p:nvPr/>
        </p:nvSpPr>
        <p:spPr>
          <a:xfrm>
            <a:off x="8174736"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8" name="Shape 136"/>
          <p:cNvSpPr/>
          <p:nvPr/>
        </p:nvSpPr>
        <p:spPr>
          <a:xfrm>
            <a:off x="837590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39" name="Shape 137"/>
          <p:cNvSpPr/>
          <p:nvPr/>
        </p:nvSpPr>
        <p:spPr>
          <a:xfrm>
            <a:off x="8577072"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0" name="Shape 138"/>
          <p:cNvSpPr/>
          <p:nvPr/>
        </p:nvSpPr>
        <p:spPr>
          <a:xfrm>
            <a:off x="8778240"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1" name="Shape 139"/>
          <p:cNvSpPr/>
          <p:nvPr/>
        </p:nvSpPr>
        <p:spPr>
          <a:xfrm>
            <a:off x="897940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2" name="Shape 140"/>
          <p:cNvSpPr/>
          <p:nvPr/>
        </p:nvSpPr>
        <p:spPr>
          <a:xfrm>
            <a:off x="9180576"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3" name="Shape 141"/>
          <p:cNvSpPr/>
          <p:nvPr/>
        </p:nvSpPr>
        <p:spPr>
          <a:xfrm>
            <a:off x="938174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4" name="Shape 142"/>
          <p:cNvSpPr/>
          <p:nvPr/>
        </p:nvSpPr>
        <p:spPr>
          <a:xfrm>
            <a:off x="9582912"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5" name="Shape 143"/>
          <p:cNvSpPr/>
          <p:nvPr/>
        </p:nvSpPr>
        <p:spPr>
          <a:xfrm>
            <a:off x="9784080"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6" name="Shape 144"/>
          <p:cNvSpPr/>
          <p:nvPr/>
        </p:nvSpPr>
        <p:spPr>
          <a:xfrm>
            <a:off x="998524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7" name="Shape 145"/>
          <p:cNvSpPr/>
          <p:nvPr/>
        </p:nvSpPr>
        <p:spPr>
          <a:xfrm>
            <a:off x="10186416"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8" name="Shape 146"/>
          <p:cNvSpPr/>
          <p:nvPr/>
        </p:nvSpPr>
        <p:spPr>
          <a:xfrm>
            <a:off x="10387584"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49" name="Shape 147"/>
          <p:cNvSpPr/>
          <p:nvPr/>
        </p:nvSpPr>
        <p:spPr>
          <a:xfrm>
            <a:off x="10588752"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50" name="Shape 148"/>
          <p:cNvSpPr/>
          <p:nvPr/>
        </p:nvSpPr>
        <p:spPr>
          <a:xfrm>
            <a:off x="10789920"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51" name="Shape 149"/>
          <p:cNvSpPr/>
          <p:nvPr/>
        </p:nvSpPr>
        <p:spPr>
          <a:xfrm>
            <a:off x="10991088"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52" name="Shape 150"/>
          <p:cNvSpPr/>
          <p:nvPr/>
        </p:nvSpPr>
        <p:spPr>
          <a:xfrm>
            <a:off x="11192256" y="5943600"/>
            <a:ext cx="164592" cy="182880"/>
          </a:xfrm>
          <a:prstGeom prst="rect">
            <a:avLst/>
          </a:prstGeom>
          <a:solidFill>
            <a:srgbClr val="C00000"/>
          </a:solidFill>
          <a:ln w="6350">
            <a:solidFill>
              <a:srgbClr val="C00000"/>
            </a:solidFill>
            <a:prstDash val="solid"/>
          </a:ln>
        </p:spPr>
        <p:txBody>
          <a:bodyPr/>
          <a:lstStyle/>
          <a:p>
            <a:endParaRPr lang="ko-KR" altLang="en-US"/>
          </a:p>
        </p:txBody>
      </p:sp>
      <p:sp>
        <p:nvSpPr>
          <p:cNvPr id="153" name="Text 151"/>
          <p:cNvSpPr txBox="1"/>
          <p:nvPr/>
        </p:nvSpPr>
        <p:spPr>
          <a:xfrm>
            <a:off x="10927080" y="5733288"/>
            <a:ext cx="731520" cy="182880"/>
          </a:xfrm>
          <a:prstGeom prst="rect">
            <a:avLst/>
          </a:prstGeom>
          <a:noFill/>
          <a:ln/>
        </p:spPr>
        <p:txBody>
          <a:bodyPr wrap="square" lIns="0" tIns="0" rIns="0" bIns="0" rtlCol="0" anchor="ctr"/>
          <a:lstStyle/>
          <a:p>
            <a:pPr marL="0" indent="0" algn="l">
              <a:buNone/>
            </a:pPr>
            <a:r>
              <a:rPr lang="en-US" sz="950" i="1" dirty="0">
                <a:solidFill>
                  <a:srgbClr val="595959"/>
                </a:solidFill>
                <a:latin typeface="Times New Roman" pitchFamily="34" charset="0"/>
                <a:ea typeface="Times New Roman" pitchFamily="34" charset="-122"/>
                <a:cs typeface="Times New Roman" pitchFamily="34" charset="-120"/>
              </a:rPr>
              <a:t>time (s)</a:t>
            </a:r>
            <a:endParaRPr lang="en-US" sz="950" dirty="0"/>
          </a:p>
        </p:txBody>
      </p:sp>
      <p:sp>
        <p:nvSpPr>
          <p:cNvPr id="15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13</a:t>
            </a:fld>
            <a:endParaRPr lang="en-US"/>
          </a:p>
        </p:txBody>
      </p:sp>
      <p:sp>
        <p:nvSpPr>
          <p:cNvPr id="157" name="Shape 103">
            <a:extLst>
              <a:ext uri="{FF2B5EF4-FFF2-40B4-BE49-F238E27FC236}">
                <a16:creationId xmlns:a16="http://schemas.microsoft.com/office/drawing/2014/main" id="{0F9F4C46-AE98-5AEE-4142-D6587A8FB1A2}"/>
              </a:ext>
            </a:extLst>
          </p:cNvPr>
          <p:cNvSpPr/>
          <p:nvPr/>
        </p:nvSpPr>
        <p:spPr>
          <a:xfrm>
            <a:off x="1547366" y="5942568"/>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58" name="Shape 103">
            <a:extLst>
              <a:ext uri="{FF2B5EF4-FFF2-40B4-BE49-F238E27FC236}">
                <a16:creationId xmlns:a16="http://schemas.microsoft.com/office/drawing/2014/main" id="{90A60452-CFAD-0CBD-1196-86F5E72F2FA0}"/>
              </a:ext>
            </a:extLst>
          </p:cNvPr>
          <p:cNvSpPr/>
          <p:nvPr/>
        </p:nvSpPr>
        <p:spPr>
          <a:xfrm>
            <a:off x="1349922" y="5943600"/>
            <a:ext cx="164592" cy="182880"/>
          </a:xfrm>
          <a:prstGeom prst="rect">
            <a:avLst/>
          </a:prstGeom>
          <a:solidFill>
            <a:srgbClr val="FFFFFF"/>
          </a:solidFill>
          <a:ln w="6350">
            <a:solidFill>
              <a:srgbClr val="A6A6A6"/>
            </a:solidFill>
            <a:prstDash val="solid"/>
          </a:ln>
        </p:spPr>
        <p:txBody>
          <a:bodyPr/>
          <a:lstStyle/>
          <a:p>
            <a:endParaRPr lang="ko-KR" altLang="en-US"/>
          </a:p>
        </p:txBody>
      </p:sp>
      <p:sp>
        <p:nvSpPr>
          <p:cNvPr id="159" name="Shape 44">
            <a:extLst>
              <a:ext uri="{FF2B5EF4-FFF2-40B4-BE49-F238E27FC236}">
                <a16:creationId xmlns:a16="http://schemas.microsoft.com/office/drawing/2014/main" id="{4E1AC445-2882-0B15-96D3-0DC9D4BE0009}"/>
              </a:ext>
            </a:extLst>
          </p:cNvPr>
          <p:cNvSpPr/>
          <p:nvPr/>
        </p:nvSpPr>
        <p:spPr>
          <a:xfrm>
            <a:off x="1641817" y="5162269"/>
            <a:ext cx="64008" cy="64008"/>
          </a:xfrm>
          <a:prstGeom prst="ellipse">
            <a:avLst/>
          </a:prstGeom>
          <a:solidFill>
            <a:srgbClr val="1F4E79"/>
          </a:solidFill>
          <a:ln w="12700">
            <a:solidFill>
              <a:srgbClr val="1F4E79"/>
            </a:solidFill>
            <a:prstDash val="solid"/>
          </a:ln>
        </p:spPr>
        <p:txBody>
          <a:bodyPr/>
          <a:lstStyle/>
          <a:p>
            <a:endParaRPr lang="ko-KR" altLang="en-US"/>
          </a:p>
        </p:txBody>
      </p:sp>
      <p:sp>
        <p:nvSpPr>
          <p:cNvPr id="160" name="Shape 44">
            <a:extLst>
              <a:ext uri="{FF2B5EF4-FFF2-40B4-BE49-F238E27FC236}">
                <a16:creationId xmlns:a16="http://schemas.microsoft.com/office/drawing/2014/main" id="{8B2C6C51-D45E-9F08-249D-C26A390805BD}"/>
              </a:ext>
            </a:extLst>
          </p:cNvPr>
          <p:cNvSpPr/>
          <p:nvPr/>
        </p:nvSpPr>
        <p:spPr>
          <a:xfrm>
            <a:off x="1482510" y="5155986"/>
            <a:ext cx="64008" cy="64008"/>
          </a:xfrm>
          <a:prstGeom prst="ellipse">
            <a:avLst/>
          </a:prstGeom>
          <a:solidFill>
            <a:srgbClr val="1F4E79"/>
          </a:solidFill>
          <a:ln w="12700">
            <a:solidFill>
              <a:srgbClr val="1F4E79"/>
            </a:solidFill>
            <a:prstDash val="solid"/>
          </a:ln>
        </p:spPr>
        <p:txBody>
          <a:bodyPr/>
          <a:lstStyle/>
          <a:p>
            <a:endParaRPr lang="ko-KR" altLang="en-US"/>
          </a:p>
        </p:txBody>
      </p:sp>
      <p:cxnSp>
        <p:nvCxnSpPr>
          <p:cNvPr id="162" name="직선 연결선 161">
            <a:extLst>
              <a:ext uri="{FF2B5EF4-FFF2-40B4-BE49-F238E27FC236}">
                <a16:creationId xmlns:a16="http://schemas.microsoft.com/office/drawing/2014/main" id="{899079DC-2020-BAD2-BD09-7D4ED2D7EAB5}"/>
              </a:ext>
            </a:extLst>
          </p:cNvPr>
          <p:cNvCxnSpPr>
            <a:cxnSpLocks/>
            <a:stCxn id="160" idx="6"/>
            <a:endCxn id="159" idx="2"/>
          </p:cNvCxnSpPr>
          <p:nvPr/>
        </p:nvCxnSpPr>
        <p:spPr>
          <a:xfrm>
            <a:off x="1546518" y="5187990"/>
            <a:ext cx="95299" cy="6283"/>
          </a:xfrm>
          <a:prstGeom prst="line">
            <a:avLst/>
          </a:prstGeom>
          <a:ln w="19050">
            <a:solidFill>
              <a:schemeClr val="tx1">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4" name="직선 연결선 163">
            <a:extLst>
              <a:ext uri="{FF2B5EF4-FFF2-40B4-BE49-F238E27FC236}">
                <a16:creationId xmlns:a16="http://schemas.microsoft.com/office/drawing/2014/main" id="{30844296-DE98-3E48-EDF6-3181273EA53B}"/>
              </a:ext>
            </a:extLst>
          </p:cNvPr>
          <p:cNvCxnSpPr>
            <a:cxnSpLocks/>
            <a:stCxn id="159" idx="6"/>
            <a:endCxn id="46" idx="2"/>
          </p:cNvCxnSpPr>
          <p:nvPr/>
        </p:nvCxnSpPr>
        <p:spPr>
          <a:xfrm flipV="1">
            <a:off x="1705825" y="5187990"/>
            <a:ext cx="81827" cy="6283"/>
          </a:xfrm>
          <a:prstGeom prst="line">
            <a:avLst/>
          </a:prstGeom>
          <a:ln w="19050">
            <a:solidFill>
              <a:schemeClr val="tx1">
                <a:lumMod val="75000"/>
                <a:lumOff val="25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Evaluation Metric</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성능은 무엇으로 평가할까?</a:t>
            </a:r>
            <a:endParaRPr lang="en-US" sz="2100" dirty="0"/>
          </a:p>
        </p:txBody>
      </p:sp>
      <p:sp>
        <p:nvSpPr>
          <p:cNvPr id="5" name="bullets"/>
          <p:cNvSpPr txBox="1"/>
          <p:nvPr/>
        </p:nvSpPr>
        <p:spPr>
          <a:xfrm>
            <a:off x="1280160" y="2012400"/>
            <a:ext cx="10332720" cy="1069848"/>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시점 단위: 테스트 4,690시점(정상 4,090 + 이상 600) 전체의 F1 · FAR(False Alarm Rate) · Miss rate</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clip 단위 조기경보: 0.2·0.5초 이내 첫 경보 clip </a:t>
            </a:r>
            <a:r>
              <a:rPr lang="en-US" sz="1600" dirty="0" err="1">
                <a:solidFill>
                  <a:srgbClr val="262626"/>
                </a:solidFill>
                <a:latin typeface="맑은 고딕" pitchFamily="34" charset="0"/>
                <a:ea typeface="맑은 고딕" pitchFamily="34" charset="-122"/>
                <a:cs typeface="맑은 고딕" pitchFamily="34" charset="-120"/>
              </a:rPr>
              <a:t>비율</a:t>
            </a:r>
            <a:r>
              <a:rPr lang="en-US" sz="1600" dirty="0">
                <a:solidFill>
                  <a:srgbClr val="262626"/>
                </a:solidFill>
                <a:latin typeface="맑은 고딕" pitchFamily="34" charset="0"/>
                <a:ea typeface="맑은 고딕" pitchFamily="34" charset="-122"/>
                <a:cs typeface="맑은 고딕" pitchFamily="34" charset="-120"/>
              </a:rPr>
              <a:t>, 정상 120 clip 중 경보 clip 비율</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기본 17종은 같은 대기 규칙 적용. 최종 GMM은 초기 주변분포 판정을 추가</a:t>
            </a:r>
            <a:endParaRPr lang="en-US" sz="1600" dirty="0"/>
          </a:p>
        </p:txBody>
      </p:sp>
      <p:sp>
        <p:nvSpPr>
          <p:cNvPr id="7" name="Text 5"/>
          <p:cNvSpPr txBox="1"/>
          <p:nvPr/>
        </p:nvSpPr>
        <p:spPr>
          <a:xfrm>
            <a:off x="838200" y="3538728"/>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F1</a:t>
            </a:r>
            <a:endParaRPr lang="en-US" sz="1700" dirty="0"/>
          </a:p>
        </p:txBody>
      </p:sp>
      <mc:AlternateContent xmlns:mc="http://schemas.openxmlformats.org/markup-compatibility/2006" xmlns:a14="http://schemas.microsoft.com/office/drawing/2010/main">
        <mc:Choice Requires="a14">
          <p:sp>
            <p:nvSpPr>
              <p:cNvPr id="8" name="Text 6"/>
              <p:cNvSpPr txBox="1"/>
              <p:nvPr/>
            </p:nvSpPr>
            <p:spPr>
              <a:xfrm>
                <a:off x="838200" y="4023360"/>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500" i="1" dirty="0">
                              <a:solidFill>
                                <a:srgbClr val="262626"/>
                              </a:solidFill>
                              <a:latin typeface="Cambria Math" panose="02040503050406030204" pitchFamily="18" charset="0"/>
                              <a:ea typeface="Times New Roman" pitchFamily="34" charset="-122"/>
                              <a:cs typeface="Times New Roman" pitchFamily="34" charset="-120"/>
                            </a:rPr>
                          </m:ctrlPr>
                        </m:fPr>
                        <m:num>
                          <m:r>
                            <a:rPr lang="en-US" altLang="ko-KR" sz="1500" i="1" dirty="0">
                              <a:solidFill>
                                <a:srgbClr val="262626"/>
                              </a:solidFill>
                              <a:latin typeface="Cambria Math" panose="02040503050406030204" pitchFamily="18" charset="0"/>
                              <a:ea typeface="Times New Roman" pitchFamily="34" charset="-122"/>
                              <a:cs typeface="Times New Roman" pitchFamily="34" charset="-120"/>
                            </a:rPr>
                            <m:t>2</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𝑇𝑃</m:t>
                          </m:r>
                        </m:num>
                        <m:den>
                          <m:r>
                            <a:rPr lang="en-US" altLang="ko-KR" sz="1500" i="1" dirty="0">
                              <a:solidFill>
                                <a:srgbClr val="262626"/>
                              </a:solidFill>
                              <a:latin typeface="Cambria Math" panose="02040503050406030204" pitchFamily="18" charset="0"/>
                              <a:ea typeface="Times New Roman" pitchFamily="34" charset="-122"/>
                              <a:cs typeface="Times New Roman" pitchFamily="34" charset="-120"/>
                            </a:rPr>
                            <m:t>2𝑇𝑃</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 + </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𝐹𝑃</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 + </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𝐹𝑁</m:t>
                          </m:r>
                        </m:den>
                      </m:f>
                    </m:oMath>
                  </m:oMathPara>
                </a14:m>
                <a:endParaRPr lang="en-US" sz="1500" dirty="0"/>
              </a:p>
            </p:txBody>
          </p:sp>
        </mc:Choice>
        <mc:Fallback xmlns="">
          <p:sp>
            <p:nvSpPr>
              <p:cNvPr id="8" name="Text 6"/>
              <p:cNvSpPr txBox="1">
                <a:spLocks noRot="1" noChangeAspect="1" noMove="1" noResize="1" noEditPoints="1" noAdjustHandles="1" noChangeArrowheads="1" noChangeShapeType="1" noTextEdit="1"/>
              </p:cNvSpPr>
              <p:nvPr/>
            </p:nvSpPr>
            <p:spPr>
              <a:xfrm>
                <a:off x="838200" y="4023360"/>
                <a:ext cx="1841297" cy="548640"/>
              </a:xfrm>
              <a:prstGeom prst="rect">
                <a:avLst/>
              </a:prstGeom>
              <a:blipFill>
                <a:blip r:embed="rId3"/>
                <a:stretch>
                  <a:fillRect b="-1111"/>
                </a:stretch>
              </a:blipFill>
              <a:ln/>
            </p:spPr>
            <p:txBody>
              <a:bodyPr/>
              <a:lstStyle/>
              <a:p>
                <a:r>
                  <a:rPr lang="ko-KR" altLang="en-US">
                    <a:noFill/>
                  </a:rPr>
                  <a:t> </a:t>
                </a:r>
              </a:p>
            </p:txBody>
          </p:sp>
        </mc:Fallback>
      </mc:AlternateContent>
      <p:sp>
        <p:nvSpPr>
          <p:cNvPr id="9" name="Text 7"/>
          <p:cNvSpPr txBox="1"/>
          <p:nvPr/>
        </p:nvSpPr>
        <p:spPr>
          <a:xfrm>
            <a:off x="838200" y="4663440"/>
            <a:ext cx="1841297" cy="411480"/>
          </a:xfrm>
          <a:prstGeom prst="rect">
            <a:avLst/>
          </a:prstGeom>
          <a:noFill/>
          <a:ln/>
        </p:spPr>
        <p:txBody>
          <a:bodyPr wrap="square" lIns="0" tIns="0" rIns="0" bIns="0" rtlCol="0" anchor="ctr"/>
          <a:lstStyle/>
          <a:p>
            <a:pPr marL="0" indent="0" algn="ctr">
              <a:buNone/>
            </a:pPr>
            <a:r>
              <a:rPr lang="en-US" sz="1250" dirty="0">
                <a:solidFill>
                  <a:srgbClr val="404040"/>
                </a:solidFill>
                <a:latin typeface="맑은 고딕" pitchFamily="34" charset="0"/>
                <a:ea typeface="맑은 고딕" pitchFamily="34" charset="-122"/>
                <a:cs typeface="맑은 고딕" pitchFamily="34" charset="-120"/>
              </a:rPr>
              <a:t>탐지와 오경보의 균형</a:t>
            </a:r>
            <a:endParaRPr lang="en-US" sz="1250" dirty="0"/>
          </a:p>
        </p:txBody>
      </p:sp>
      <p:sp>
        <p:nvSpPr>
          <p:cNvPr id="11" name="Text 9"/>
          <p:cNvSpPr txBox="1"/>
          <p:nvPr/>
        </p:nvSpPr>
        <p:spPr>
          <a:xfrm>
            <a:off x="3535680" y="3538728"/>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FAR</a:t>
            </a:r>
            <a:endParaRPr lang="en-US" sz="1700" dirty="0"/>
          </a:p>
        </p:txBody>
      </p:sp>
      <mc:AlternateContent xmlns:mc="http://schemas.openxmlformats.org/markup-compatibility/2006" xmlns:a14="http://schemas.microsoft.com/office/drawing/2010/main">
        <mc:Choice Requires="a14">
          <p:sp>
            <p:nvSpPr>
              <p:cNvPr id="12" name="Text 10"/>
              <p:cNvSpPr txBox="1"/>
              <p:nvPr/>
            </p:nvSpPr>
            <p:spPr>
              <a:xfrm>
                <a:off x="3535680" y="4023360"/>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500" i="1" dirty="0">
                              <a:solidFill>
                                <a:srgbClr val="262626"/>
                              </a:solidFill>
                              <a:latin typeface="Times New Roman" pitchFamily="34" charset="0"/>
                              <a:ea typeface="Times New Roman" pitchFamily="34" charset="-122"/>
                              <a:cs typeface="Times New Roman" pitchFamily="34" charset="-120"/>
                            </a:rPr>
                          </m:ctrlPr>
                        </m:fPr>
                        <m:num>
                          <m:r>
                            <m:rPr>
                              <m:nor/>
                            </m:rPr>
                            <a:rPr lang="en-US" altLang="ko-KR" sz="1500" i="1" dirty="0">
                              <a:solidFill>
                                <a:srgbClr val="262626"/>
                              </a:solidFill>
                              <a:latin typeface="Times New Roman" pitchFamily="34" charset="0"/>
                              <a:ea typeface="Times New Roman" pitchFamily="34" charset="-122"/>
                              <a:cs typeface="Times New Roman" pitchFamily="34" charset="-120"/>
                            </a:rPr>
                            <m:t>FP</m:t>
                          </m:r>
                        </m:num>
                        <m:den>
                          <m:r>
                            <m:rPr>
                              <m:nor/>
                            </m:rPr>
                            <a:rPr lang="en-US" altLang="ko-KR" sz="1500" i="1" dirty="0">
                              <a:solidFill>
                                <a:srgbClr val="262626"/>
                              </a:solidFill>
                              <a:latin typeface="Times New Roman" pitchFamily="34" charset="0"/>
                              <a:ea typeface="Times New Roman" pitchFamily="34" charset="-122"/>
                              <a:cs typeface="Times New Roman" pitchFamily="34" charset="-120"/>
                            </a:rPr>
                            <m:t>FP + TN</m:t>
                          </m:r>
                        </m:den>
                      </m:f>
                    </m:oMath>
                  </m:oMathPara>
                </a14:m>
                <a:endParaRPr lang="en-US" sz="1500" dirty="0"/>
              </a:p>
            </p:txBody>
          </p:sp>
        </mc:Choice>
        <mc:Fallback xmlns="">
          <p:sp>
            <p:nvSpPr>
              <p:cNvPr id="12" name="Text 10"/>
              <p:cNvSpPr txBox="1">
                <a:spLocks noRot="1" noChangeAspect="1" noMove="1" noResize="1" noEditPoints="1" noAdjustHandles="1" noChangeArrowheads="1" noChangeShapeType="1" noTextEdit="1"/>
              </p:cNvSpPr>
              <p:nvPr/>
            </p:nvSpPr>
            <p:spPr>
              <a:xfrm>
                <a:off x="3535680" y="4023360"/>
                <a:ext cx="1841297" cy="548640"/>
              </a:xfrm>
              <a:prstGeom prst="rect">
                <a:avLst/>
              </a:prstGeom>
              <a:blipFill>
                <a:blip r:embed="rId4"/>
                <a:stretch>
                  <a:fillRect b="-1111"/>
                </a:stretch>
              </a:blipFill>
              <a:ln/>
            </p:spPr>
            <p:txBody>
              <a:bodyPr/>
              <a:lstStyle/>
              <a:p>
                <a:r>
                  <a:rPr lang="ko-KR" altLang="en-US">
                    <a:noFill/>
                  </a:rPr>
                  <a:t> </a:t>
                </a:r>
              </a:p>
            </p:txBody>
          </p:sp>
        </mc:Fallback>
      </mc:AlternateContent>
      <p:sp>
        <p:nvSpPr>
          <p:cNvPr id="13" name="Text 11"/>
          <p:cNvSpPr txBox="1"/>
          <p:nvPr/>
        </p:nvSpPr>
        <p:spPr>
          <a:xfrm>
            <a:off x="3535680" y="4663440"/>
            <a:ext cx="1841297" cy="411480"/>
          </a:xfrm>
          <a:prstGeom prst="rect">
            <a:avLst/>
          </a:prstGeom>
          <a:noFill/>
          <a:ln/>
        </p:spPr>
        <p:txBody>
          <a:bodyPr wrap="square" lIns="0" tIns="0" rIns="0" bIns="0" rtlCol="0" anchor="ctr"/>
          <a:lstStyle/>
          <a:p>
            <a:pPr marL="0" indent="0" algn="ctr">
              <a:buNone/>
            </a:pPr>
            <a:r>
              <a:rPr lang="ko-KR" altLang="en-US" sz="1250" dirty="0">
                <a:solidFill>
                  <a:srgbClr val="404040"/>
                </a:solidFill>
                <a:latin typeface="맑은 고딕" pitchFamily="34" charset="0"/>
                <a:ea typeface="맑은 고딕" pitchFamily="34" charset="-122"/>
                <a:cs typeface="맑은 고딕" pitchFamily="34" charset="-120"/>
              </a:rPr>
              <a:t>오경보의</a:t>
            </a:r>
            <a:r>
              <a:rPr lang="en-US" sz="1250" dirty="0">
                <a:solidFill>
                  <a:srgbClr val="404040"/>
                </a:solidFill>
                <a:latin typeface="맑은 고딕" pitchFamily="34" charset="0"/>
                <a:ea typeface="맑은 고딕" pitchFamily="34" charset="-122"/>
                <a:cs typeface="맑은 고딕" pitchFamily="34" charset="-120"/>
              </a:rPr>
              <a:t> 비율</a:t>
            </a:r>
            <a:endParaRPr lang="en-US" sz="1250" dirty="0"/>
          </a:p>
        </p:txBody>
      </p:sp>
      <p:sp>
        <p:nvSpPr>
          <p:cNvPr id="15" name="Text 13"/>
          <p:cNvSpPr txBox="1"/>
          <p:nvPr/>
        </p:nvSpPr>
        <p:spPr>
          <a:xfrm>
            <a:off x="6233160" y="3538728"/>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Miss rate</a:t>
            </a:r>
            <a:endParaRPr lang="en-US" sz="1700" dirty="0"/>
          </a:p>
        </p:txBody>
      </p:sp>
      <mc:AlternateContent xmlns:mc="http://schemas.openxmlformats.org/markup-compatibility/2006" xmlns:a14="http://schemas.microsoft.com/office/drawing/2010/main">
        <mc:Choice Requires="a14">
          <p:sp>
            <p:nvSpPr>
              <p:cNvPr id="16" name="Text 14"/>
              <p:cNvSpPr txBox="1"/>
              <p:nvPr/>
            </p:nvSpPr>
            <p:spPr>
              <a:xfrm>
                <a:off x="6233160" y="4023360"/>
                <a:ext cx="1841297" cy="548640"/>
              </a:xfrm>
              <a:prstGeom prst="rect">
                <a:avLst/>
              </a:prstGeom>
              <a:noFill/>
              <a:ln/>
            </p:spPr>
            <p:txBody>
              <a:bodyPr wrap="square" lIns="0" tIns="0" rIns="0" bIns="0" rtlCol="0" anchor="ctr"/>
              <a:lstStyle/>
              <a:p>
                <a:pPr marL="0" indent="0" algn="ctr">
                  <a:buNone/>
                </a:pPr>
                <a14:m>
                  <m:oMathPara xmlns:m="http://schemas.openxmlformats.org/officeDocument/2006/math">
                    <m:oMath>
                      <m:f>
                        <m:fPr>
                          <m:ctrlPr>
                            <a:rPr lang="en-US" altLang="ko-KR" sz="1500" i="1">
                              <a:solidFill>
                                <a:srgbClr val="262626"/>
                              </a:solidFill>
                              <a:latin typeface="Cambria Math" panose="02040503050406030204" pitchFamily="18" charset="0"/>
                              <a:ea typeface="Times New Roman" pitchFamily="34" charset="-122"/>
                              <a:cs typeface="Times New Roman" pitchFamily="34" charset="-120"/>
                            </a:rPr>
                          </m:ctrlPr>
                        </m:fPr>
                        <m:num>
                          <m:r>
                            <a:rPr lang="en-US" altLang="ko-KR" sz="1500" i="1">
                              <a:solidFill>
                                <a:srgbClr val="262626"/>
                              </a:solidFill>
                              <a:latin typeface="Cambria Math" panose="02040503050406030204" pitchFamily="18" charset="0"/>
                              <a:ea typeface="Times New Roman" pitchFamily="34" charset="-122"/>
                              <a:cs typeface="Times New Roman" pitchFamily="34" charset="-120"/>
                            </a:rPr>
                            <m:t>𝐹𝑁</m:t>
                          </m:r>
                        </m:num>
                        <m:den>
                          <m:r>
                            <a:rPr lang="en-US" altLang="ko-KR" sz="1500" i="1">
                              <a:solidFill>
                                <a:srgbClr val="262626"/>
                              </a:solidFill>
                              <a:latin typeface="Cambria Math" panose="02040503050406030204" pitchFamily="18" charset="0"/>
                              <a:ea typeface="Times New Roman" pitchFamily="34" charset="-122"/>
                              <a:cs typeface="Times New Roman" pitchFamily="34" charset="-120"/>
                            </a:rPr>
                            <m:t>𝑇𝑃</m:t>
                          </m:r>
                          <m:r>
                            <a:rPr lang="en-US" altLang="ko-KR" sz="1500" i="1">
                              <a:solidFill>
                                <a:srgbClr val="262626"/>
                              </a:solidFill>
                              <a:latin typeface="Cambria Math" panose="02040503050406030204" pitchFamily="18" charset="0"/>
                              <a:ea typeface="Times New Roman" pitchFamily="34" charset="-122"/>
                              <a:cs typeface="Times New Roman" pitchFamily="34" charset="-120"/>
                            </a:rPr>
                            <m:t>+</m:t>
                          </m:r>
                          <m:r>
                            <a:rPr lang="en-US" altLang="ko-KR" sz="1500" i="1">
                              <a:solidFill>
                                <a:srgbClr val="262626"/>
                              </a:solidFill>
                              <a:latin typeface="Cambria Math" panose="02040503050406030204" pitchFamily="18" charset="0"/>
                              <a:ea typeface="Times New Roman" pitchFamily="34" charset="-122"/>
                              <a:cs typeface="Times New Roman" pitchFamily="34" charset="-120"/>
                            </a:rPr>
                            <m:t>𝐹𝑁</m:t>
                          </m:r>
                        </m:den>
                      </m:f>
                    </m:oMath>
                  </m:oMathPara>
                </a14:m>
                <a:endParaRPr lang="en-US" sz="1500" dirty="0"/>
              </a:p>
            </p:txBody>
          </p:sp>
        </mc:Choice>
        <mc:Fallback xmlns="">
          <p:sp>
            <p:nvSpPr>
              <p:cNvPr id="16" name="Text 14"/>
              <p:cNvSpPr txBox="1">
                <a:spLocks noRot="1" noChangeAspect="1" noMove="1" noResize="1" noEditPoints="1" noAdjustHandles="1" noChangeArrowheads="1" noChangeShapeType="1" noTextEdit="1"/>
              </p:cNvSpPr>
              <p:nvPr/>
            </p:nvSpPr>
            <p:spPr>
              <a:xfrm>
                <a:off x="6233160" y="4023360"/>
                <a:ext cx="1841297" cy="548640"/>
              </a:xfrm>
              <a:prstGeom prst="rect">
                <a:avLst/>
              </a:prstGeom>
              <a:blipFill>
                <a:blip r:embed="rId5"/>
                <a:stretch>
                  <a:fillRect b="-1111"/>
                </a:stretch>
              </a:blipFill>
              <a:ln/>
            </p:spPr>
            <p:txBody>
              <a:bodyPr/>
              <a:lstStyle/>
              <a:p>
                <a:r>
                  <a:rPr lang="ko-KR" altLang="en-US">
                    <a:noFill/>
                  </a:rPr>
                  <a:t> </a:t>
                </a:r>
              </a:p>
            </p:txBody>
          </p:sp>
        </mc:Fallback>
      </mc:AlternateContent>
      <p:sp>
        <p:nvSpPr>
          <p:cNvPr id="17" name="Text 15"/>
          <p:cNvSpPr txBox="1"/>
          <p:nvPr/>
        </p:nvSpPr>
        <p:spPr>
          <a:xfrm>
            <a:off x="6233160" y="4663440"/>
            <a:ext cx="1841297" cy="411480"/>
          </a:xfrm>
          <a:prstGeom prst="rect">
            <a:avLst/>
          </a:prstGeom>
          <a:noFill/>
          <a:ln/>
        </p:spPr>
        <p:txBody>
          <a:bodyPr wrap="square" lIns="0" tIns="0" rIns="0" bIns="0" rtlCol="0" anchor="ctr"/>
          <a:lstStyle/>
          <a:p>
            <a:pPr marL="0" indent="0" algn="ctr">
              <a:buNone/>
            </a:pPr>
            <a:r>
              <a:rPr lang="en-US" sz="1250" dirty="0" err="1">
                <a:solidFill>
                  <a:srgbClr val="404040"/>
                </a:solidFill>
                <a:latin typeface="맑은 고딕" pitchFamily="34" charset="0"/>
                <a:ea typeface="맑은 고딕" pitchFamily="34" charset="-122"/>
                <a:cs typeface="맑은 고딕" pitchFamily="34" charset="-120"/>
              </a:rPr>
              <a:t>이상</a:t>
            </a:r>
            <a:r>
              <a:rPr lang="ko-KR" altLang="en-US" sz="1250" dirty="0">
                <a:solidFill>
                  <a:srgbClr val="404040"/>
                </a:solidFill>
                <a:latin typeface="맑은 고딕" pitchFamily="34" charset="0"/>
                <a:ea typeface="맑은 고딕" pitchFamily="34" charset="-122"/>
                <a:cs typeface="맑은 고딕" pitchFamily="34" charset="-120"/>
              </a:rPr>
              <a:t>을 </a:t>
            </a:r>
            <a:r>
              <a:rPr lang="en-US" sz="1250" dirty="0" err="1">
                <a:solidFill>
                  <a:srgbClr val="404040"/>
                </a:solidFill>
                <a:latin typeface="맑은 고딕" pitchFamily="34" charset="0"/>
                <a:ea typeface="맑은 고딕" pitchFamily="34" charset="-122"/>
                <a:cs typeface="맑은 고딕" pitchFamily="34" charset="-120"/>
              </a:rPr>
              <a:t>놓친</a:t>
            </a:r>
            <a:r>
              <a:rPr lang="en-US" sz="1250" dirty="0">
                <a:solidFill>
                  <a:srgbClr val="404040"/>
                </a:solidFill>
                <a:latin typeface="맑은 고딕" pitchFamily="34" charset="0"/>
                <a:ea typeface="맑은 고딕" pitchFamily="34" charset="-122"/>
                <a:cs typeface="맑은 고딕" pitchFamily="34" charset="-120"/>
              </a:rPr>
              <a:t> 비율</a:t>
            </a:r>
            <a:endParaRPr lang="en-US" sz="1250" dirty="0"/>
          </a:p>
        </p:txBody>
      </p:sp>
      <p:sp>
        <p:nvSpPr>
          <p:cNvPr id="19" name="Text 17"/>
          <p:cNvSpPr txBox="1"/>
          <p:nvPr/>
        </p:nvSpPr>
        <p:spPr>
          <a:xfrm>
            <a:off x="8930640" y="3538728"/>
            <a:ext cx="1841297" cy="411480"/>
          </a:xfrm>
          <a:prstGeom prst="rect">
            <a:avLst/>
          </a:prstGeom>
          <a:noFill/>
          <a:ln/>
        </p:spPr>
        <p:txBody>
          <a:bodyPr wrap="square" lIns="0" tIns="0" rIns="0" bIns="0" rtlCol="0" anchor="ctr"/>
          <a:lstStyle/>
          <a:p>
            <a:pPr marL="0" indent="0" algn="ctr">
              <a:buNone/>
            </a:pPr>
            <a:r>
              <a:rPr lang="en-US" sz="1700" b="1" dirty="0">
                <a:solidFill>
                  <a:srgbClr val="C00000"/>
                </a:solidFill>
                <a:latin typeface="맑은 고딕" pitchFamily="34" charset="0"/>
                <a:ea typeface="맑은 고딕" pitchFamily="34" charset="-122"/>
                <a:cs typeface="맑은 고딕" pitchFamily="34" charset="-120"/>
              </a:rPr>
              <a:t>0.5초 </a:t>
            </a:r>
            <a:r>
              <a:rPr lang="ko-KR" altLang="en-US" sz="1700" b="1" dirty="0">
                <a:solidFill>
                  <a:srgbClr val="C00000"/>
                </a:solidFill>
                <a:latin typeface="맑은 고딕" pitchFamily="34" charset="0"/>
                <a:ea typeface="맑은 고딕" pitchFamily="34" charset="-122"/>
                <a:cs typeface="맑은 고딕" pitchFamily="34" charset="-120"/>
              </a:rPr>
              <a:t>이내 </a:t>
            </a:r>
            <a:r>
              <a:rPr lang="en-US" sz="1700" b="1" dirty="0" err="1">
                <a:solidFill>
                  <a:srgbClr val="C00000"/>
                </a:solidFill>
                <a:latin typeface="맑은 고딕" pitchFamily="34" charset="0"/>
                <a:ea typeface="맑은 고딕" pitchFamily="34" charset="-122"/>
                <a:cs typeface="맑은 고딕" pitchFamily="34" charset="-120"/>
              </a:rPr>
              <a:t>경보율</a:t>
            </a:r>
            <a:endParaRPr lang="en-US" sz="1700" dirty="0"/>
          </a:p>
        </p:txBody>
      </p:sp>
      <mc:AlternateContent xmlns:mc="http://schemas.openxmlformats.org/markup-compatibility/2006" xmlns:a14="http://schemas.microsoft.com/office/drawing/2010/main">
        <mc:Choice Requires="a14">
          <p:sp>
            <p:nvSpPr>
              <p:cNvPr id="20" name="Text 18"/>
              <p:cNvSpPr txBox="1"/>
              <p:nvPr/>
            </p:nvSpPr>
            <p:spPr>
              <a:xfrm>
                <a:off x="8930640" y="4023360"/>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600" b="0" i="1" smtClean="0">
                              <a:latin typeface="Cambria Math" panose="02040503050406030204" pitchFamily="18" charset="0"/>
                            </a:rPr>
                          </m:ctrlPr>
                        </m:fPr>
                        <m:num>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𝑛</m:t>
                              </m:r>
                              <m:r>
                                <a:rPr lang="en-US" altLang="ko-KR" sz="1600" b="0" i="1" smtClean="0">
                                  <a:latin typeface="Cambria Math" panose="02040503050406030204" pitchFamily="18" charset="0"/>
                                </a:rPr>
                                <m:t>(</m:t>
                              </m:r>
                              <m:r>
                                <a:rPr lang="en-US" altLang="ko-KR" sz="1600" i="1">
                                  <a:latin typeface="Cambria Math" panose="02040503050406030204" pitchFamily="18" charset="0"/>
                                </a:rPr>
                                <m:t>𝑡</m:t>
                              </m:r>
                            </m:e>
                            <m:sub>
                              <m:r>
                                <a:rPr lang="en-US" altLang="ko-KR" sz="1600" i="1">
                                  <a:latin typeface="Cambria Math" panose="02040503050406030204" pitchFamily="18" charset="0"/>
                                </a:rPr>
                                <m:t>𝑑𝑒𝑙𝑎𝑦</m:t>
                              </m:r>
                            </m:sub>
                          </m:sSub>
                          <m:r>
                            <a:rPr lang="en-US" altLang="ko-KR" sz="1600" b="0" i="1" smtClean="0">
                              <a:latin typeface="Cambria Math" panose="02040503050406030204" pitchFamily="18" charset="0"/>
                            </a:rPr>
                            <m:t>&lt;0.5)</m:t>
                          </m:r>
                        </m:num>
                        <m:den>
                          <m:r>
                            <a:rPr lang="en-US" altLang="ko-KR" sz="1500" b="0" i="1" smtClean="0">
                              <a:solidFill>
                                <a:srgbClr val="262626"/>
                              </a:solidFill>
                              <a:latin typeface="Cambria Math" panose="02040503050406030204" pitchFamily="18" charset="0"/>
                              <a:cs typeface="Times New Roman" pitchFamily="34" charset="-120"/>
                            </a:rPr>
                            <m:t>𝑛</m:t>
                          </m:r>
                          <m:r>
                            <a:rPr lang="en-US" altLang="ko-KR" sz="1500" b="0" i="1" smtClean="0">
                              <a:solidFill>
                                <a:srgbClr val="262626"/>
                              </a:solidFill>
                              <a:latin typeface="Cambria Math" panose="02040503050406030204" pitchFamily="18" charset="0"/>
                              <a:cs typeface="Times New Roman" pitchFamily="34" charset="-120"/>
                            </a:rPr>
                            <m:t>(</m:t>
                          </m:r>
                          <m:r>
                            <a:rPr lang="en-US" altLang="ko-KR" sz="1500" b="0" i="1" smtClean="0">
                              <a:solidFill>
                                <a:srgbClr val="262626"/>
                              </a:solidFill>
                              <a:latin typeface="Cambria Math" panose="02040503050406030204" pitchFamily="18" charset="0"/>
                              <a:cs typeface="Times New Roman" pitchFamily="34" charset="-120"/>
                            </a:rPr>
                            <m:t>𝑐𝑙𝑖𝑝</m:t>
                          </m:r>
                          <m:r>
                            <a:rPr lang="en-US" altLang="ko-KR" sz="1500" b="0" i="1" smtClean="0">
                              <a:solidFill>
                                <a:srgbClr val="262626"/>
                              </a:solidFill>
                              <a:latin typeface="Cambria Math" panose="02040503050406030204" pitchFamily="18" charset="0"/>
                              <a:cs typeface="Times New Roman" pitchFamily="34" charset="-120"/>
                            </a:rPr>
                            <m:t>)</m:t>
                          </m:r>
                        </m:den>
                      </m:f>
                    </m:oMath>
                  </m:oMathPara>
                </a14:m>
                <a:endParaRPr lang="en-US" sz="1500" dirty="0"/>
              </a:p>
            </p:txBody>
          </p:sp>
        </mc:Choice>
        <mc:Fallback xmlns="">
          <p:sp>
            <p:nvSpPr>
              <p:cNvPr id="20" name="Text 18"/>
              <p:cNvSpPr txBox="1">
                <a:spLocks noRot="1" noChangeAspect="1" noMove="1" noResize="1" noEditPoints="1" noAdjustHandles="1" noChangeArrowheads="1" noChangeShapeType="1" noTextEdit="1"/>
              </p:cNvSpPr>
              <p:nvPr/>
            </p:nvSpPr>
            <p:spPr>
              <a:xfrm>
                <a:off x="8930640" y="4023360"/>
                <a:ext cx="1841297" cy="548640"/>
              </a:xfrm>
              <a:prstGeom prst="rect">
                <a:avLst/>
              </a:prstGeom>
              <a:blipFill>
                <a:blip r:embed="rId6"/>
                <a:stretch>
                  <a:fillRect/>
                </a:stretch>
              </a:blipFill>
              <a:ln/>
            </p:spPr>
            <p:txBody>
              <a:bodyPr/>
              <a:lstStyle/>
              <a:p>
                <a:r>
                  <a:rPr lang="ko-KR" altLang="en-US">
                    <a:noFill/>
                  </a:rPr>
                  <a:t> </a:t>
                </a:r>
              </a:p>
            </p:txBody>
          </p:sp>
        </mc:Fallback>
      </mc:AlternateContent>
      <p:sp>
        <p:nvSpPr>
          <p:cNvPr id="21" name="Text 19"/>
          <p:cNvSpPr txBox="1"/>
          <p:nvPr/>
        </p:nvSpPr>
        <p:spPr>
          <a:xfrm>
            <a:off x="8794750" y="4663440"/>
            <a:ext cx="1955312" cy="411480"/>
          </a:xfrm>
          <a:prstGeom prst="rect">
            <a:avLst/>
          </a:prstGeom>
          <a:noFill/>
          <a:ln/>
        </p:spPr>
        <p:txBody>
          <a:bodyPr wrap="square" lIns="0" tIns="0" rIns="0" bIns="0" rtlCol="0" anchor="ctr"/>
          <a:lstStyle/>
          <a:p>
            <a:pPr marL="0" indent="0" algn="ctr">
              <a:buNone/>
            </a:pPr>
            <a:r>
              <a:rPr lang="en-US" sz="1250" dirty="0">
                <a:solidFill>
                  <a:srgbClr val="404040"/>
                </a:solidFill>
                <a:latin typeface="맑은 고딕" pitchFamily="34" charset="0"/>
                <a:ea typeface="맑은 고딕" pitchFamily="34" charset="-122"/>
                <a:cs typeface="맑은 고딕" pitchFamily="34" charset="-120"/>
              </a:rPr>
              <a:t>0.5초 안에 첫 경보가 난 </a:t>
            </a:r>
            <a:r>
              <a:rPr lang="en-US" sz="1250" dirty="0" err="1">
                <a:solidFill>
                  <a:srgbClr val="404040"/>
                </a:solidFill>
                <a:latin typeface="맑은 고딕" pitchFamily="34" charset="0"/>
                <a:ea typeface="맑은 고딕" pitchFamily="34" charset="-122"/>
                <a:cs typeface="맑은 고딕" pitchFamily="34" charset="-120"/>
              </a:rPr>
              <a:t>clip비율</a:t>
            </a:r>
            <a:endParaRPr lang="en-US" sz="1250" dirty="0"/>
          </a:p>
        </p:txBody>
      </p:sp>
      <mc:AlternateContent xmlns:mc="http://schemas.openxmlformats.org/markup-compatibility/2006" xmlns:a14="http://schemas.microsoft.com/office/drawing/2010/main">
        <mc:Choice Requires="a14">
          <p:sp>
            <p:nvSpPr>
              <p:cNvPr id="22" name="caption"/>
              <p:cNvSpPr txBox="1"/>
              <p:nvPr/>
            </p:nvSpPr>
            <p:spPr>
              <a:xfrm>
                <a:off x="1005840" y="5486400"/>
                <a:ext cx="10515600" cy="365760"/>
              </a:xfrm>
              <a:prstGeom prst="rect">
                <a:avLst/>
              </a:prstGeom>
              <a:noFill/>
              <a:ln/>
            </p:spPr>
            <p:txBody>
              <a:bodyPr wrap="square" lIns="0" tIns="0" rIns="0" bIns="0" rtlCol="0" anchor="t"/>
              <a:lstStyle/>
              <a:p>
                <a14:m>
                  <m:oMath xmlns:m="http://schemas.openxmlformats.org/officeDocument/2006/math">
                    <m:r>
                      <a:rPr lang="en-US" altLang="ko-KR" sz="1400" i="1" dirty="0">
                        <a:solidFill>
                          <a:srgbClr val="262626"/>
                        </a:solidFill>
                        <a:latin typeface="Cambria Math" panose="02040503050406030204" pitchFamily="18" charset="0"/>
                        <a:ea typeface="Times New Roman" pitchFamily="34" charset="-122"/>
                        <a:cs typeface="Times New Roman" pitchFamily="34" charset="-120"/>
                      </a:rPr>
                      <m:t>𝑇𝑃</m:t>
                    </m:r>
                  </m:oMath>
                </a14:m>
                <a:r>
                  <a:rPr lang="en-US" sz="1400" dirty="0">
                    <a:latin typeface="맑은 고딕" pitchFamily="34" charset="0"/>
                    <a:ea typeface="맑은 고딕" pitchFamily="34" charset="-122"/>
                    <a:cs typeface="맑은 고딕" pitchFamily="34" charset="-120"/>
                  </a:rPr>
                  <a:t>(True Positive) · </a:t>
                </a:r>
                <a14:m>
                  <m:oMath xmlns:m="http://schemas.openxmlformats.org/officeDocument/2006/math">
                    <m:r>
                      <m:rPr>
                        <m:nor/>
                      </m:rPr>
                      <a:rPr lang="en-US" altLang="ko-KR" sz="1400" i="1" dirty="0">
                        <a:solidFill>
                          <a:srgbClr val="262626"/>
                        </a:solidFill>
                        <a:latin typeface="Times New Roman" pitchFamily="34" charset="0"/>
                        <a:ea typeface="Times New Roman" pitchFamily="34" charset="-122"/>
                        <a:cs typeface="Times New Roman" pitchFamily="34" charset="-120"/>
                      </a:rPr>
                      <m:t>FP</m:t>
                    </m:r>
                  </m:oMath>
                </a14:m>
                <a:r>
                  <a:rPr lang="en-US" sz="1400" dirty="0">
                    <a:latin typeface="맑은 고딕" pitchFamily="34" charset="0"/>
                    <a:ea typeface="맑은 고딕" pitchFamily="34" charset="-122"/>
                    <a:cs typeface="맑은 고딕" pitchFamily="34" charset="-120"/>
                  </a:rPr>
                  <a:t>(False Positive) · </a:t>
                </a:r>
                <a14:m>
                  <m:oMath xmlns:m="http://schemas.openxmlformats.org/officeDocument/2006/math">
                    <m:r>
                      <m:rPr>
                        <m:nor/>
                      </m:rPr>
                      <a:rPr lang="en-US" altLang="ko-KR" sz="1400" i="1" dirty="0">
                        <a:solidFill>
                          <a:srgbClr val="262626"/>
                        </a:solidFill>
                        <a:latin typeface="Times New Roman" pitchFamily="34" charset="0"/>
                        <a:ea typeface="Times New Roman" pitchFamily="34" charset="-122"/>
                        <a:cs typeface="Times New Roman" pitchFamily="34" charset="-120"/>
                      </a:rPr>
                      <m:t>TN</m:t>
                    </m:r>
                  </m:oMath>
                </a14:m>
                <a:r>
                  <a:rPr lang="en-US" sz="1400" dirty="0">
                    <a:latin typeface="맑은 고딕" pitchFamily="34" charset="0"/>
                    <a:ea typeface="맑은 고딕" pitchFamily="34" charset="-122"/>
                    <a:cs typeface="맑은 고딕" pitchFamily="34" charset="-120"/>
                  </a:rPr>
                  <a:t>(True Negative) · </a:t>
                </a:r>
                <a14:m>
                  <m:oMath xmlns:m="http://schemas.openxmlformats.org/officeDocument/2006/math">
                    <m:r>
                      <a:rPr lang="en-US" altLang="ko-KR" sz="1400" i="1">
                        <a:solidFill>
                          <a:srgbClr val="262626"/>
                        </a:solidFill>
                        <a:latin typeface="Cambria Math" panose="02040503050406030204" pitchFamily="18" charset="0"/>
                        <a:ea typeface="Times New Roman" pitchFamily="34" charset="-122"/>
                        <a:cs typeface="Times New Roman" pitchFamily="34" charset="-120"/>
                      </a:rPr>
                      <m:t>𝐹𝑁</m:t>
                    </m:r>
                  </m:oMath>
                </a14:m>
                <a:r>
                  <a:rPr lang="en-US" sz="1400" dirty="0">
                    <a:latin typeface="맑은 고딕" pitchFamily="34" charset="0"/>
                    <a:ea typeface="맑은 고딕" pitchFamily="34" charset="-122"/>
                    <a:cs typeface="맑은 고딕" pitchFamily="34" charset="-120"/>
                  </a:rPr>
                  <a:t>(False Negative) </a:t>
                </a:r>
                <a:endParaRPr lang="en-US" sz="1400" dirty="0"/>
              </a:p>
            </p:txBody>
          </p:sp>
        </mc:Choice>
        <mc:Fallback xmlns="">
          <p:sp>
            <p:nvSpPr>
              <p:cNvPr id="22" name="caption"/>
              <p:cNvSpPr txBox="1">
                <a:spLocks noRot="1" noChangeAspect="1" noMove="1" noResize="1" noEditPoints="1" noAdjustHandles="1" noChangeArrowheads="1" noChangeShapeType="1" noTextEdit="1"/>
              </p:cNvSpPr>
              <p:nvPr/>
            </p:nvSpPr>
            <p:spPr>
              <a:xfrm>
                <a:off x="1005840" y="5486400"/>
                <a:ext cx="10515600" cy="365760"/>
              </a:xfrm>
              <a:prstGeom prst="rect">
                <a:avLst/>
              </a:prstGeom>
              <a:blipFill>
                <a:blip r:embed="rId7"/>
                <a:stretch>
                  <a:fillRect l="-580" t="-15000"/>
                </a:stretch>
              </a:blipFill>
              <a:ln/>
            </p:spPr>
            <p:txBody>
              <a:bodyPr/>
              <a:lstStyle/>
              <a:p>
                <a:r>
                  <a:rPr lang="ko-KR" altLang="en-US">
                    <a:noFill/>
                  </a:rPr>
                  <a:t> </a:t>
                </a:r>
              </a:p>
            </p:txBody>
          </p:sp>
        </mc:Fallback>
      </mc:AlternateContent>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14</a:t>
            </a:fld>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4DEC6B8-7021-5BA5-E538-6FDACCE28CE8}"/>
                  </a:ext>
                </a:extLst>
              </p:cNvPr>
              <p:cNvSpPr txBox="1"/>
              <p:nvPr/>
            </p:nvSpPr>
            <p:spPr>
              <a:xfrm>
                <a:off x="923290" y="5708063"/>
                <a:ext cx="2194560" cy="324769"/>
              </a:xfrm>
              <a:prstGeom prst="rect">
                <a:avLst/>
              </a:prstGeom>
              <a:noFill/>
            </p:spPr>
            <p:txBody>
              <a:bodyPr wrap="square" rtlCol="0">
                <a:spAutoFit/>
              </a:bodyPr>
              <a:lstStyle/>
              <a:p>
                <a14:m>
                  <m:oMath xmlns:m="http://schemas.openxmlformats.org/officeDocument/2006/math">
                    <m:sSub>
                      <m:sSubPr>
                        <m:ctrlPr>
                          <a:rPr lang="en-US" altLang="ko-KR" sz="1400" b="0" i="1" smtClean="0">
                            <a:latin typeface="Cambria Math" panose="02040503050406030204" pitchFamily="18" charset="0"/>
                          </a:rPr>
                        </m:ctrlPr>
                      </m:sSubPr>
                      <m:e>
                        <m:sSub>
                          <m:sSubPr>
                            <m:ctrlPr>
                              <a:rPr lang="en-US" altLang="ko-KR" sz="1400" b="0" i="1" smtClean="0">
                                <a:latin typeface="Cambria Math" panose="02040503050406030204" pitchFamily="18" charset="0"/>
                              </a:rPr>
                            </m:ctrlPr>
                          </m:sSubPr>
                          <m:e>
                            <m:r>
                              <a:rPr lang="en-US" altLang="ko-KR" sz="1400" b="0" i="1" smtClean="0">
                                <a:latin typeface="Cambria Math" panose="02040503050406030204" pitchFamily="18" charset="0"/>
                              </a:rPr>
                              <m:t>𝑡</m:t>
                            </m:r>
                          </m:e>
                          <m:sub>
                            <m:r>
                              <a:rPr lang="en-US" altLang="ko-KR" sz="1400" b="0" i="1" smtClean="0">
                                <a:latin typeface="Cambria Math" panose="02040503050406030204" pitchFamily="18" charset="0"/>
                              </a:rPr>
                              <m:t>𝑑𝑒𝑙𝑎𝑦</m:t>
                            </m:r>
                          </m:sub>
                        </m:sSub>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𝑡</m:t>
                        </m:r>
                      </m:e>
                      <m:sub>
                        <m:r>
                          <a:rPr lang="en-US" altLang="ko-KR" sz="1400" b="0" i="1" smtClean="0">
                            <a:latin typeface="Cambria Math" panose="02040503050406030204" pitchFamily="18" charset="0"/>
                          </a:rPr>
                          <m:t>𝑎𝑙𝑎𝑟𝑚</m:t>
                        </m:r>
                      </m:sub>
                    </m:sSub>
                    <m:r>
                      <a:rPr lang="en-US" altLang="ko-KR" sz="1400" b="0" i="1" smtClean="0">
                        <a:latin typeface="Cambria Math" panose="02040503050406030204" pitchFamily="18" charset="0"/>
                      </a:rPr>
                      <m:t>−</m:t>
                    </m:r>
                    <m:sSub>
                      <m:sSubPr>
                        <m:ctrlPr>
                          <a:rPr lang="en-US" altLang="ko-KR" sz="1400" b="0" i="1" smtClean="0">
                            <a:latin typeface="Cambria Math" panose="02040503050406030204" pitchFamily="18" charset="0"/>
                          </a:rPr>
                        </m:ctrlPr>
                      </m:sSubPr>
                      <m:e>
                        <m:r>
                          <a:rPr lang="en-US" altLang="ko-KR" sz="1400" b="0" i="1" smtClean="0">
                            <a:latin typeface="Cambria Math" panose="02040503050406030204" pitchFamily="18" charset="0"/>
                          </a:rPr>
                          <m:t>𝑡</m:t>
                        </m:r>
                      </m:e>
                      <m:sub>
                        <m:r>
                          <a:rPr lang="en-US" altLang="ko-KR" sz="1400" b="0" i="1" smtClean="0">
                            <a:latin typeface="Cambria Math" panose="02040503050406030204" pitchFamily="18" charset="0"/>
                          </a:rPr>
                          <m:t>𝑜𝑛𝑠𝑒𝑡</m:t>
                        </m:r>
                      </m:sub>
                    </m:sSub>
                  </m:oMath>
                </a14:m>
                <a:r>
                  <a:rPr lang="ko-KR" altLang="en-US" sz="1400" dirty="0"/>
                  <a:t> </a:t>
                </a:r>
              </a:p>
            </p:txBody>
          </p:sp>
        </mc:Choice>
        <mc:Fallback xmlns="">
          <p:sp>
            <p:nvSpPr>
              <p:cNvPr id="23" name="TextBox 22">
                <a:extLst>
                  <a:ext uri="{FF2B5EF4-FFF2-40B4-BE49-F238E27FC236}">
                    <a16:creationId xmlns:a16="http://schemas.microsoft.com/office/drawing/2014/main" id="{24DEC6B8-7021-5BA5-E538-6FDACCE28CE8}"/>
                  </a:ext>
                </a:extLst>
              </p:cNvPr>
              <p:cNvSpPr txBox="1">
                <a:spLocks noRot="1" noChangeAspect="1" noMove="1" noResize="1" noEditPoints="1" noAdjustHandles="1" noChangeArrowheads="1" noChangeShapeType="1" noTextEdit="1"/>
              </p:cNvSpPr>
              <p:nvPr/>
            </p:nvSpPr>
            <p:spPr>
              <a:xfrm>
                <a:off x="923290" y="5708063"/>
                <a:ext cx="2194560" cy="324769"/>
              </a:xfrm>
              <a:prstGeom prst="rect">
                <a:avLst/>
              </a:prstGeom>
              <a:blipFill>
                <a:blip r:embed="rId8"/>
                <a:stretch>
                  <a:fillRect b="-1852"/>
                </a:stretch>
              </a:blipFill>
            </p:spPr>
            <p:txBody>
              <a:bodyPr/>
              <a:lstStyle/>
              <a:p>
                <a:r>
                  <a:rPr lang="ko-KR" altLang="en-US">
                    <a:noFill/>
                  </a:rPr>
                  <a:t> </a:t>
                </a:r>
              </a:p>
            </p:txBody>
          </p:sp>
        </mc:Fallback>
      </mc:AlternateContent>
      <p:sp>
        <p:nvSpPr>
          <p:cNvPr id="401" name="Text 401"/>
          <p:cNvSpPr txBox="1"/>
          <p:nvPr/>
        </p:nvSpPr>
        <p:spPr>
          <a:xfrm>
            <a:off x="8732520" y="470809"/>
            <a:ext cx="11887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경보 O</a:t>
            </a:r>
            <a:endParaRPr lang="en-US" sz="1000" dirty="0"/>
          </a:p>
        </p:txBody>
      </p:sp>
      <p:sp>
        <p:nvSpPr>
          <p:cNvPr id="402" name="Text 402"/>
          <p:cNvSpPr txBox="1"/>
          <p:nvPr/>
        </p:nvSpPr>
        <p:spPr>
          <a:xfrm>
            <a:off x="9921240" y="470809"/>
            <a:ext cx="11887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경보 X</a:t>
            </a:r>
            <a:endParaRPr lang="en-US" sz="1000" dirty="0"/>
          </a:p>
        </p:txBody>
      </p:sp>
      <p:sp>
        <p:nvSpPr>
          <p:cNvPr id="403" name="Text 403"/>
          <p:cNvSpPr txBox="1"/>
          <p:nvPr/>
        </p:nvSpPr>
        <p:spPr>
          <a:xfrm>
            <a:off x="7818120" y="690265"/>
            <a:ext cx="822960" cy="457200"/>
          </a:xfrm>
          <a:prstGeom prst="rect">
            <a:avLst/>
          </a:prstGeom>
          <a:noFill/>
          <a:ln/>
        </p:spPr>
        <p:txBody>
          <a:bodyPr wrap="square" lIns="0" tIns="0" rIns="0" bIns="0" rtlCol="0" anchor="ctr"/>
          <a:lstStyle/>
          <a:p>
            <a:pPr marL="0" indent="0" algn="r">
              <a:buNone/>
            </a:pPr>
            <a:r>
              <a:rPr lang="en-US" sz="1050" b="1" dirty="0">
                <a:solidFill>
                  <a:srgbClr val="262626"/>
                </a:solidFill>
                <a:latin typeface="맑은 고딕" pitchFamily="34" charset="0"/>
                <a:ea typeface="맑은 고딕" pitchFamily="34" charset="-122"/>
                <a:cs typeface="맑은 고딕" pitchFamily="34" charset="-120"/>
              </a:rPr>
              <a:t>이상 </a:t>
            </a:r>
            <a:r>
              <a:rPr lang="en-US" sz="900" dirty="0">
                <a:solidFill>
                  <a:srgbClr val="7F7F7F"/>
                </a:solidFill>
                <a:latin typeface="맑은 고딕" pitchFamily="34" charset="0"/>
                <a:ea typeface="맑은 고딕" pitchFamily="34" charset="-122"/>
                <a:cs typeface="맑은 고딕" pitchFamily="34" charset="-120"/>
              </a:rPr>
              <a:t>600</a:t>
            </a:r>
            <a:endParaRPr lang="en-US" sz="1050" dirty="0"/>
          </a:p>
        </p:txBody>
      </p:sp>
      <p:sp>
        <p:nvSpPr>
          <p:cNvPr id="404" name="Text 404"/>
          <p:cNvSpPr txBox="1"/>
          <p:nvPr/>
        </p:nvSpPr>
        <p:spPr>
          <a:xfrm>
            <a:off x="7818120" y="1147465"/>
            <a:ext cx="822960" cy="457200"/>
          </a:xfrm>
          <a:prstGeom prst="rect">
            <a:avLst/>
          </a:prstGeom>
          <a:noFill/>
          <a:ln/>
        </p:spPr>
        <p:txBody>
          <a:bodyPr wrap="square" lIns="0" tIns="0" rIns="0" bIns="0" rtlCol="0" anchor="ctr"/>
          <a:lstStyle/>
          <a:p>
            <a:pPr marL="0" indent="0" algn="r">
              <a:buNone/>
            </a:pPr>
            <a:r>
              <a:rPr lang="en-US" sz="1050" b="1" dirty="0">
                <a:solidFill>
                  <a:srgbClr val="262626"/>
                </a:solidFill>
                <a:latin typeface="맑은 고딕" pitchFamily="34" charset="0"/>
                <a:ea typeface="맑은 고딕" pitchFamily="34" charset="-122"/>
                <a:cs typeface="맑은 고딕" pitchFamily="34" charset="-120"/>
              </a:rPr>
              <a:t>정상 </a:t>
            </a:r>
            <a:r>
              <a:rPr lang="en-US" sz="900" dirty="0">
                <a:solidFill>
                  <a:srgbClr val="7F7F7F"/>
                </a:solidFill>
                <a:latin typeface="맑은 고딕" pitchFamily="34" charset="0"/>
                <a:ea typeface="맑은 고딕" pitchFamily="34" charset="-122"/>
                <a:cs typeface="맑은 고딕" pitchFamily="34" charset="-120"/>
              </a:rPr>
              <a:t>4,090</a:t>
            </a:r>
            <a:endParaRPr lang="en-US" sz="1050" dirty="0"/>
          </a:p>
        </p:txBody>
      </p:sp>
      <p:sp>
        <p:nvSpPr>
          <p:cNvPr id="405" name="Shape 405"/>
          <p:cNvSpPr/>
          <p:nvPr/>
        </p:nvSpPr>
        <p:spPr>
          <a:xfrm>
            <a:off x="8732520" y="690265"/>
            <a:ext cx="1188720" cy="457200"/>
          </a:xfrm>
          <a:prstGeom prst="rect">
            <a:avLst/>
          </a:prstGeom>
          <a:solidFill>
            <a:srgbClr val="FFFFFF"/>
          </a:solidFill>
          <a:ln w="9525">
            <a:solidFill>
              <a:srgbClr val="595959"/>
            </a:solidFill>
            <a:prstDash val="solid"/>
          </a:ln>
        </p:spPr>
        <p:txBody>
          <a:bodyPr/>
          <a:lstStyle/>
          <a:p>
            <a:endParaRPr lang="ko-KR" altLang="en-US"/>
          </a:p>
        </p:txBody>
      </p:sp>
      <p:sp>
        <p:nvSpPr>
          <p:cNvPr id="406" name="Text 406"/>
          <p:cNvSpPr txBox="1"/>
          <p:nvPr/>
        </p:nvSpPr>
        <p:spPr>
          <a:xfrm>
            <a:off x="8796528" y="690265"/>
            <a:ext cx="365760" cy="457200"/>
          </a:xfrm>
          <a:prstGeom prst="rect">
            <a:avLst/>
          </a:prstGeom>
          <a:noFill/>
          <a:ln/>
        </p:spPr>
        <p:txBody>
          <a:bodyPr wrap="square" lIns="0" tIns="0" rIns="0" bIns="0" rtlCol="0" anchor="ctr"/>
          <a:lstStyle/>
          <a:p>
            <a:pPr marL="0" indent="0" algn="l">
              <a:buNone/>
            </a:pPr>
            <a:r>
              <a:rPr lang="en-US" sz="900" dirty="0">
                <a:solidFill>
                  <a:srgbClr val="7F7F7F"/>
                </a:solidFill>
                <a:latin typeface="맑은 고딕" pitchFamily="34" charset="0"/>
                <a:ea typeface="맑은 고딕" pitchFamily="34" charset="-122"/>
                <a:cs typeface="맑은 고딕" pitchFamily="34" charset="-120"/>
              </a:rPr>
              <a:t>TP</a:t>
            </a:r>
            <a:endParaRPr lang="en-US" sz="900" dirty="0"/>
          </a:p>
        </p:txBody>
      </p:sp>
      <p:sp>
        <p:nvSpPr>
          <p:cNvPr id="407" name="Text 407"/>
          <p:cNvSpPr txBox="1"/>
          <p:nvPr/>
        </p:nvSpPr>
        <p:spPr>
          <a:xfrm>
            <a:off x="9098280" y="690265"/>
            <a:ext cx="777240" cy="457200"/>
          </a:xfrm>
          <a:prstGeom prst="rect">
            <a:avLst/>
          </a:prstGeom>
          <a:noFill/>
          <a:ln/>
        </p:spPr>
        <p:txBody>
          <a:bodyPr wrap="square" lIns="0" tIns="0" rIns="0" bIns="0" rtlCol="0" anchor="ctr"/>
          <a:lstStyle/>
          <a:p>
            <a:pPr marL="0" indent="0" algn="ctr">
              <a:buNone/>
            </a:pPr>
            <a:r>
              <a:rPr lang="en-US" sz="1400" b="1" dirty="0">
                <a:solidFill>
                  <a:srgbClr val="262626"/>
                </a:solidFill>
                <a:latin typeface="맑은 고딕" pitchFamily="34" charset="0"/>
                <a:ea typeface="맑은 고딕" pitchFamily="34" charset="-122"/>
                <a:cs typeface="맑은 고딕" pitchFamily="34" charset="-120"/>
              </a:rPr>
              <a:t>570.3</a:t>
            </a:r>
            <a:endParaRPr lang="en-US" sz="1400" dirty="0"/>
          </a:p>
        </p:txBody>
      </p:sp>
      <p:sp>
        <p:nvSpPr>
          <p:cNvPr id="408" name="Shape 408"/>
          <p:cNvSpPr/>
          <p:nvPr/>
        </p:nvSpPr>
        <p:spPr>
          <a:xfrm>
            <a:off x="9921240" y="690265"/>
            <a:ext cx="1188720" cy="457200"/>
          </a:xfrm>
          <a:prstGeom prst="rect">
            <a:avLst/>
          </a:prstGeom>
          <a:solidFill>
            <a:srgbClr val="FBE5E5"/>
          </a:solidFill>
          <a:ln w="9525">
            <a:solidFill>
              <a:srgbClr val="595959"/>
            </a:solidFill>
            <a:prstDash val="solid"/>
          </a:ln>
        </p:spPr>
        <p:txBody>
          <a:bodyPr/>
          <a:lstStyle/>
          <a:p>
            <a:endParaRPr lang="ko-KR" altLang="en-US"/>
          </a:p>
        </p:txBody>
      </p:sp>
      <p:sp>
        <p:nvSpPr>
          <p:cNvPr id="409" name="Text 409"/>
          <p:cNvSpPr txBox="1"/>
          <p:nvPr/>
        </p:nvSpPr>
        <p:spPr>
          <a:xfrm>
            <a:off x="9985248" y="690265"/>
            <a:ext cx="365760" cy="457200"/>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FN</a:t>
            </a:r>
            <a:endParaRPr lang="en-US" sz="900" dirty="0"/>
          </a:p>
        </p:txBody>
      </p:sp>
      <p:sp>
        <p:nvSpPr>
          <p:cNvPr id="410" name="Text 410"/>
          <p:cNvSpPr txBox="1"/>
          <p:nvPr/>
        </p:nvSpPr>
        <p:spPr>
          <a:xfrm>
            <a:off x="10287000" y="690265"/>
            <a:ext cx="777240" cy="457200"/>
          </a:xfrm>
          <a:prstGeom prst="rect">
            <a:avLst/>
          </a:prstGeom>
          <a:noFill/>
          <a:ln/>
        </p:spPr>
        <p:txBody>
          <a:bodyPr wrap="square" lIns="0" tIns="0" rIns="0" bIns="0" rtlCol="0" anchor="ctr"/>
          <a:lstStyle/>
          <a:p>
            <a:pPr marL="0" indent="0" algn="ctr">
              <a:buNone/>
            </a:pPr>
            <a:r>
              <a:rPr lang="en-US" sz="1400" b="1" dirty="0">
                <a:solidFill>
                  <a:srgbClr val="C00000"/>
                </a:solidFill>
                <a:latin typeface="맑은 고딕" pitchFamily="34" charset="0"/>
                <a:ea typeface="맑은 고딕" pitchFamily="34" charset="-122"/>
                <a:cs typeface="맑은 고딕" pitchFamily="34" charset="-120"/>
              </a:rPr>
              <a:t>29.7</a:t>
            </a:r>
            <a:endParaRPr lang="en-US" sz="1400" dirty="0"/>
          </a:p>
        </p:txBody>
      </p:sp>
      <p:sp>
        <p:nvSpPr>
          <p:cNvPr id="411" name="Shape 411"/>
          <p:cNvSpPr/>
          <p:nvPr/>
        </p:nvSpPr>
        <p:spPr>
          <a:xfrm>
            <a:off x="8732520" y="1147465"/>
            <a:ext cx="1188720" cy="457200"/>
          </a:xfrm>
          <a:prstGeom prst="rect">
            <a:avLst/>
          </a:prstGeom>
          <a:solidFill>
            <a:srgbClr val="FBE5E5"/>
          </a:solidFill>
          <a:ln w="9525">
            <a:solidFill>
              <a:srgbClr val="595959"/>
            </a:solidFill>
            <a:prstDash val="solid"/>
          </a:ln>
        </p:spPr>
        <p:txBody>
          <a:bodyPr/>
          <a:lstStyle/>
          <a:p>
            <a:endParaRPr lang="ko-KR" altLang="en-US"/>
          </a:p>
        </p:txBody>
      </p:sp>
      <p:sp>
        <p:nvSpPr>
          <p:cNvPr id="412" name="Text 412"/>
          <p:cNvSpPr txBox="1"/>
          <p:nvPr/>
        </p:nvSpPr>
        <p:spPr>
          <a:xfrm>
            <a:off x="8796528" y="1147465"/>
            <a:ext cx="365760" cy="457200"/>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FP</a:t>
            </a:r>
            <a:endParaRPr lang="en-US" sz="900" dirty="0"/>
          </a:p>
        </p:txBody>
      </p:sp>
      <p:sp>
        <p:nvSpPr>
          <p:cNvPr id="413" name="Text 413"/>
          <p:cNvSpPr txBox="1"/>
          <p:nvPr/>
        </p:nvSpPr>
        <p:spPr>
          <a:xfrm>
            <a:off x="9098280" y="1147465"/>
            <a:ext cx="777240" cy="457200"/>
          </a:xfrm>
          <a:prstGeom prst="rect">
            <a:avLst/>
          </a:prstGeom>
          <a:noFill/>
          <a:ln/>
        </p:spPr>
        <p:txBody>
          <a:bodyPr wrap="square" lIns="0" tIns="0" rIns="0" bIns="0" rtlCol="0" anchor="ctr"/>
          <a:lstStyle/>
          <a:p>
            <a:pPr marL="0" indent="0" algn="ctr">
              <a:buNone/>
            </a:pPr>
            <a:r>
              <a:rPr lang="en-US" sz="1400" b="1" dirty="0">
                <a:solidFill>
                  <a:srgbClr val="C00000"/>
                </a:solidFill>
                <a:latin typeface="맑은 고딕" pitchFamily="34" charset="0"/>
                <a:ea typeface="맑은 고딕" pitchFamily="34" charset="-122"/>
                <a:cs typeface="맑은 고딕" pitchFamily="34" charset="-120"/>
              </a:rPr>
              <a:t>11.7</a:t>
            </a:r>
            <a:endParaRPr lang="en-US" sz="1400" dirty="0"/>
          </a:p>
        </p:txBody>
      </p:sp>
      <p:sp>
        <p:nvSpPr>
          <p:cNvPr id="414" name="Shape 414"/>
          <p:cNvSpPr/>
          <p:nvPr/>
        </p:nvSpPr>
        <p:spPr>
          <a:xfrm>
            <a:off x="9921240" y="1147465"/>
            <a:ext cx="1188720" cy="457200"/>
          </a:xfrm>
          <a:prstGeom prst="rect">
            <a:avLst/>
          </a:prstGeom>
          <a:solidFill>
            <a:srgbClr val="FFFFFF"/>
          </a:solidFill>
          <a:ln w="9525">
            <a:solidFill>
              <a:srgbClr val="595959"/>
            </a:solidFill>
            <a:prstDash val="solid"/>
          </a:ln>
        </p:spPr>
        <p:txBody>
          <a:bodyPr/>
          <a:lstStyle/>
          <a:p>
            <a:endParaRPr lang="ko-KR" altLang="en-US"/>
          </a:p>
        </p:txBody>
      </p:sp>
      <p:sp>
        <p:nvSpPr>
          <p:cNvPr id="415" name="Text 415"/>
          <p:cNvSpPr txBox="1"/>
          <p:nvPr/>
        </p:nvSpPr>
        <p:spPr>
          <a:xfrm>
            <a:off x="9985248" y="1147465"/>
            <a:ext cx="365760" cy="457200"/>
          </a:xfrm>
          <a:prstGeom prst="rect">
            <a:avLst/>
          </a:prstGeom>
          <a:noFill/>
          <a:ln/>
        </p:spPr>
        <p:txBody>
          <a:bodyPr wrap="square" lIns="0" tIns="0" rIns="0" bIns="0" rtlCol="0" anchor="ctr"/>
          <a:lstStyle/>
          <a:p>
            <a:pPr marL="0" indent="0" algn="l">
              <a:buNone/>
            </a:pPr>
            <a:r>
              <a:rPr lang="en-US" sz="900" dirty="0">
                <a:solidFill>
                  <a:srgbClr val="7F7F7F"/>
                </a:solidFill>
                <a:latin typeface="맑은 고딕" pitchFamily="34" charset="0"/>
                <a:ea typeface="맑은 고딕" pitchFamily="34" charset="-122"/>
                <a:cs typeface="맑은 고딕" pitchFamily="34" charset="-120"/>
              </a:rPr>
              <a:t>TN</a:t>
            </a:r>
            <a:endParaRPr lang="en-US" sz="900" dirty="0"/>
          </a:p>
        </p:txBody>
      </p:sp>
      <p:sp>
        <p:nvSpPr>
          <p:cNvPr id="416" name="Text 416"/>
          <p:cNvSpPr txBox="1"/>
          <p:nvPr/>
        </p:nvSpPr>
        <p:spPr>
          <a:xfrm>
            <a:off x="10287000" y="1147465"/>
            <a:ext cx="777240" cy="457200"/>
          </a:xfrm>
          <a:prstGeom prst="rect">
            <a:avLst/>
          </a:prstGeom>
          <a:noFill/>
          <a:ln/>
        </p:spPr>
        <p:txBody>
          <a:bodyPr wrap="square" lIns="0" tIns="0" rIns="0" bIns="0" rtlCol="0" anchor="ctr"/>
          <a:lstStyle/>
          <a:p>
            <a:pPr marL="0" indent="0" algn="ctr">
              <a:buNone/>
            </a:pPr>
            <a:r>
              <a:rPr lang="en-US" sz="1400" b="1" dirty="0">
                <a:solidFill>
                  <a:srgbClr val="262626"/>
                </a:solidFill>
                <a:latin typeface="맑은 고딕" pitchFamily="34" charset="0"/>
                <a:ea typeface="맑은 고딕" pitchFamily="34" charset="-122"/>
                <a:cs typeface="맑은 고딕" pitchFamily="34" charset="-120"/>
              </a:rPr>
              <a:t>4,078.3</a:t>
            </a:r>
            <a:endParaRPr lang="en-US" sz="1400" dirty="0"/>
          </a:p>
        </p:txBody>
      </p:sp>
      <p:sp>
        <p:nvSpPr>
          <p:cNvPr id="417" name="Text 417"/>
          <p:cNvSpPr txBox="1"/>
          <p:nvPr/>
        </p:nvSpPr>
        <p:spPr>
          <a:xfrm>
            <a:off x="8732520" y="1641241"/>
            <a:ext cx="2377440" cy="182880"/>
          </a:xfrm>
          <a:prstGeom prst="rect">
            <a:avLst/>
          </a:prstGeom>
          <a:noFill/>
          <a:ln/>
        </p:spPr>
        <p:txBody>
          <a:bodyPr wrap="square" lIns="0" tIns="0" rIns="0" bIns="0" rtlCol="0" anchor="ctr"/>
          <a:lstStyle/>
          <a:p>
            <a:pPr marL="0" indent="0" algn="ctr">
              <a:buNone/>
            </a:pPr>
            <a:r>
              <a:rPr lang="en-US" sz="900" dirty="0">
                <a:solidFill>
                  <a:srgbClr val="7F7F7F"/>
                </a:solidFill>
                <a:latin typeface="맑은 고딕" pitchFamily="34" charset="0"/>
                <a:ea typeface="맑은 고딕" pitchFamily="34" charset="-122"/>
                <a:cs typeface="맑은 고딕" pitchFamily="34" charset="-120"/>
              </a:rPr>
              <a:t>예: 최종 GMM, W = 3 (seed 평균, 시점 수)</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Benchmark of 17 Detectors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여러</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이상</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탐지</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방법</a:t>
            </a:r>
            <a:r>
              <a:rPr lang="en-US" sz="2100" dirty="0">
                <a:solidFill>
                  <a:srgbClr val="262626"/>
                </a:solidFill>
                <a:latin typeface="맑은 고딕" pitchFamily="34" charset="0"/>
                <a:ea typeface="맑은 고딕" pitchFamily="34" charset="-122"/>
                <a:cs typeface="맑은 고딕" pitchFamily="34" charset="-120"/>
              </a:rPr>
              <a:t> 중 </a:t>
            </a:r>
            <a:r>
              <a:rPr lang="en-US" sz="2100" dirty="0" err="1">
                <a:solidFill>
                  <a:srgbClr val="262626"/>
                </a:solidFill>
                <a:latin typeface="맑은 고딕" pitchFamily="34" charset="0"/>
                <a:ea typeface="맑은 고딕" pitchFamily="34" charset="-122"/>
                <a:cs typeface="맑은 고딕" pitchFamily="34" charset="-120"/>
              </a:rPr>
              <a:t>무엇이</a:t>
            </a:r>
            <a:r>
              <a:rPr lang="en-US" sz="2100" dirty="0">
                <a:solidFill>
                  <a:srgbClr val="262626"/>
                </a:solidFill>
                <a:latin typeface="맑은 고딕" pitchFamily="34" charset="0"/>
                <a:ea typeface="맑은 고딕" pitchFamily="34" charset="-122"/>
                <a:cs typeface="맑은 고딕" pitchFamily="34" charset="-120"/>
              </a:rPr>
              <a:t> 가장 잘 잡아낼까?</a:t>
            </a:r>
            <a:endParaRPr lang="en-US" sz="2100" dirty="0"/>
          </a:p>
        </p:txBody>
      </p:sp>
      <p:sp>
        <p:nvSpPr>
          <p:cNvPr id="5" name="bullets"/>
          <p:cNvSpPr txBox="1"/>
          <p:nvPr/>
        </p:nvSpPr>
        <p:spPr>
          <a:xfrm>
            <a:off x="1280160" y="2012400"/>
            <a:ext cx="10332720" cy="1069467"/>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밀도·거리 계열 우세: GMM F1 0.965, Mahalanobis 0.923 → 센서·시점 간 결합 분포를 보는 방법이 상위</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복잡도 ≠ 성능: 신경망 계열 AE 0.696·MLP 0.640·LSTM 0.638·GRU 0.608으로 모두 0.7 미만</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W = 3 (과거 3시점 + 현재) </a:t>
            </a:r>
            <a:r>
              <a:rPr lang="en-US" sz="1400" dirty="0" err="1">
                <a:solidFill>
                  <a:srgbClr val="404040"/>
                </a:solidFill>
                <a:latin typeface="맑은 고딕" pitchFamily="34" charset="0"/>
                <a:ea typeface="맑은 고딕" pitchFamily="34" charset="-122"/>
                <a:cs typeface="맑은 고딕" pitchFamily="34" charset="-120"/>
              </a:rPr>
              <a:t>기준</a:t>
            </a:r>
            <a:endParaRPr lang="en-US" sz="1600" dirty="0"/>
          </a:p>
        </p:txBody>
      </p:sp>
      <p:sp>
        <p:nvSpPr>
          <p:cNvPr id="201" name="Text 201"/>
          <p:cNvSpPr txBox="1"/>
          <p:nvPr/>
        </p:nvSpPr>
        <p:spPr>
          <a:xfrm>
            <a:off x="777240" y="2999232"/>
            <a:ext cx="5943600" cy="237744"/>
          </a:xfrm>
          <a:prstGeom prst="rect">
            <a:avLst/>
          </a:prstGeom>
          <a:noFill/>
          <a:ln/>
        </p:spPr>
        <p:txBody>
          <a:bodyPr wrap="square" lIns="0" tIns="0" rIns="0" bIns="0" rtlCol="0" anchor="ctr"/>
          <a:lstStyle/>
          <a:p>
            <a:pPr marL="0" indent="0" algn="l">
              <a:buNone/>
            </a:pPr>
            <a:r>
              <a:rPr lang="en-US" sz="1150" b="1" dirty="0">
                <a:solidFill>
                  <a:srgbClr val="262626"/>
                </a:solidFill>
                <a:latin typeface="맑은 고딕" pitchFamily="34" charset="0"/>
                <a:ea typeface="맑은 고딕" pitchFamily="34" charset="-122"/>
                <a:cs typeface="맑은 고딕" pitchFamily="34" charset="-120"/>
              </a:rPr>
              <a:t>F1 (W = 3, 테스트 4,690시점)</a:t>
            </a:r>
            <a:endParaRPr lang="en-US" sz="1150" dirty="0"/>
          </a:p>
        </p:txBody>
      </p:sp>
      <p:sp>
        <p:nvSpPr>
          <p:cNvPr id="202" name="Shape 202"/>
          <p:cNvSpPr/>
          <p:nvPr/>
        </p:nvSpPr>
        <p:spPr>
          <a:xfrm>
            <a:off x="2148840" y="3255264"/>
            <a:ext cx="91" cy="2552090"/>
          </a:xfrm>
          <a:prstGeom prst="line">
            <a:avLst/>
          </a:prstGeom>
          <a:noFill/>
          <a:ln w="6350">
            <a:solidFill>
              <a:srgbClr val="E3E3E3"/>
            </a:solidFill>
            <a:prstDash val="solid"/>
          </a:ln>
        </p:spPr>
        <p:txBody>
          <a:bodyPr/>
          <a:lstStyle/>
          <a:p>
            <a:endParaRPr lang="ko-KR" altLang="en-US"/>
          </a:p>
        </p:txBody>
      </p:sp>
      <p:sp>
        <p:nvSpPr>
          <p:cNvPr id="203" name="Text 203"/>
          <p:cNvSpPr txBox="1"/>
          <p:nvPr/>
        </p:nvSpPr>
        <p:spPr>
          <a:xfrm>
            <a:off x="187452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0.0</a:t>
            </a:r>
            <a:endParaRPr lang="en-US" sz="900" dirty="0"/>
          </a:p>
        </p:txBody>
      </p:sp>
      <p:sp>
        <p:nvSpPr>
          <p:cNvPr id="204" name="Shape 204"/>
          <p:cNvSpPr/>
          <p:nvPr/>
        </p:nvSpPr>
        <p:spPr>
          <a:xfrm>
            <a:off x="3904488" y="3255264"/>
            <a:ext cx="91" cy="2552090"/>
          </a:xfrm>
          <a:prstGeom prst="line">
            <a:avLst/>
          </a:prstGeom>
          <a:noFill/>
          <a:ln w="6350">
            <a:solidFill>
              <a:srgbClr val="E3E3E3"/>
            </a:solidFill>
            <a:prstDash val="solid"/>
          </a:ln>
        </p:spPr>
        <p:txBody>
          <a:bodyPr/>
          <a:lstStyle/>
          <a:p>
            <a:endParaRPr lang="ko-KR" altLang="en-US"/>
          </a:p>
        </p:txBody>
      </p:sp>
      <p:sp>
        <p:nvSpPr>
          <p:cNvPr id="205" name="Text 205"/>
          <p:cNvSpPr txBox="1"/>
          <p:nvPr/>
        </p:nvSpPr>
        <p:spPr>
          <a:xfrm>
            <a:off x="3630168"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0.2</a:t>
            </a:r>
            <a:endParaRPr lang="en-US" sz="900" dirty="0"/>
          </a:p>
        </p:txBody>
      </p:sp>
      <p:sp>
        <p:nvSpPr>
          <p:cNvPr id="206" name="Shape 206"/>
          <p:cNvSpPr/>
          <p:nvPr/>
        </p:nvSpPr>
        <p:spPr>
          <a:xfrm>
            <a:off x="5660136" y="3255264"/>
            <a:ext cx="91" cy="2552090"/>
          </a:xfrm>
          <a:prstGeom prst="line">
            <a:avLst/>
          </a:prstGeom>
          <a:noFill/>
          <a:ln w="6350">
            <a:solidFill>
              <a:srgbClr val="E3E3E3"/>
            </a:solidFill>
            <a:prstDash val="solid"/>
          </a:ln>
        </p:spPr>
        <p:txBody>
          <a:bodyPr/>
          <a:lstStyle/>
          <a:p>
            <a:endParaRPr lang="ko-KR" altLang="en-US"/>
          </a:p>
        </p:txBody>
      </p:sp>
      <p:sp>
        <p:nvSpPr>
          <p:cNvPr id="207" name="Text 207"/>
          <p:cNvSpPr txBox="1"/>
          <p:nvPr/>
        </p:nvSpPr>
        <p:spPr>
          <a:xfrm>
            <a:off x="5385816"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0.4</a:t>
            </a:r>
            <a:endParaRPr lang="en-US" sz="900" dirty="0"/>
          </a:p>
        </p:txBody>
      </p:sp>
      <p:sp>
        <p:nvSpPr>
          <p:cNvPr id="208" name="Shape 208"/>
          <p:cNvSpPr/>
          <p:nvPr/>
        </p:nvSpPr>
        <p:spPr>
          <a:xfrm>
            <a:off x="7415784" y="3255264"/>
            <a:ext cx="91" cy="2552090"/>
          </a:xfrm>
          <a:prstGeom prst="line">
            <a:avLst/>
          </a:prstGeom>
          <a:noFill/>
          <a:ln w="6350">
            <a:solidFill>
              <a:srgbClr val="E3E3E3"/>
            </a:solidFill>
            <a:prstDash val="solid"/>
          </a:ln>
        </p:spPr>
        <p:txBody>
          <a:bodyPr/>
          <a:lstStyle/>
          <a:p>
            <a:endParaRPr lang="ko-KR" altLang="en-US"/>
          </a:p>
        </p:txBody>
      </p:sp>
      <p:sp>
        <p:nvSpPr>
          <p:cNvPr id="209" name="Text 209"/>
          <p:cNvSpPr txBox="1"/>
          <p:nvPr/>
        </p:nvSpPr>
        <p:spPr>
          <a:xfrm>
            <a:off x="7141464"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0.6</a:t>
            </a:r>
            <a:endParaRPr lang="en-US" sz="900" dirty="0"/>
          </a:p>
        </p:txBody>
      </p:sp>
      <p:sp>
        <p:nvSpPr>
          <p:cNvPr id="210" name="Shape 210"/>
          <p:cNvSpPr/>
          <p:nvPr/>
        </p:nvSpPr>
        <p:spPr>
          <a:xfrm>
            <a:off x="9171432" y="3255264"/>
            <a:ext cx="91" cy="2552090"/>
          </a:xfrm>
          <a:prstGeom prst="line">
            <a:avLst/>
          </a:prstGeom>
          <a:noFill/>
          <a:ln w="6350">
            <a:solidFill>
              <a:srgbClr val="E3E3E3"/>
            </a:solidFill>
            <a:prstDash val="solid"/>
          </a:ln>
        </p:spPr>
        <p:txBody>
          <a:bodyPr/>
          <a:lstStyle/>
          <a:p>
            <a:endParaRPr lang="ko-KR" altLang="en-US"/>
          </a:p>
        </p:txBody>
      </p:sp>
      <p:sp>
        <p:nvSpPr>
          <p:cNvPr id="211" name="Text 211"/>
          <p:cNvSpPr txBox="1"/>
          <p:nvPr/>
        </p:nvSpPr>
        <p:spPr>
          <a:xfrm>
            <a:off x="8897112"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0.8</a:t>
            </a:r>
            <a:endParaRPr lang="en-US" sz="900" dirty="0"/>
          </a:p>
        </p:txBody>
      </p:sp>
      <p:sp>
        <p:nvSpPr>
          <p:cNvPr id="212" name="Shape 212"/>
          <p:cNvSpPr/>
          <p:nvPr/>
        </p:nvSpPr>
        <p:spPr>
          <a:xfrm>
            <a:off x="10927080" y="3255264"/>
            <a:ext cx="91" cy="2552090"/>
          </a:xfrm>
          <a:prstGeom prst="line">
            <a:avLst/>
          </a:prstGeom>
          <a:noFill/>
          <a:ln w="6350">
            <a:solidFill>
              <a:srgbClr val="E3E3E3"/>
            </a:solidFill>
            <a:prstDash val="solid"/>
          </a:ln>
        </p:spPr>
        <p:txBody>
          <a:bodyPr/>
          <a:lstStyle/>
          <a:p>
            <a:endParaRPr lang="ko-KR" altLang="en-US"/>
          </a:p>
        </p:txBody>
      </p:sp>
      <p:sp>
        <p:nvSpPr>
          <p:cNvPr id="213" name="Text 213"/>
          <p:cNvSpPr txBox="1"/>
          <p:nvPr/>
        </p:nvSpPr>
        <p:spPr>
          <a:xfrm>
            <a:off x="1065276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1.0</a:t>
            </a:r>
            <a:endParaRPr lang="en-US" sz="900" dirty="0"/>
          </a:p>
        </p:txBody>
      </p:sp>
      <p:sp>
        <p:nvSpPr>
          <p:cNvPr id="214" name="Text 214"/>
          <p:cNvSpPr txBox="1"/>
          <p:nvPr/>
        </p:nvSpPr>
        <p:spPr>
          <a:xfrm>
            <a:off x="777240" y="3273552"/>
            <a:ext cx="1298448" cy="149047"/>
          </a:xfrm>
          <a:prstGeom prst="rect">
            <a:avLst/>
          </a:prstGeom>
          <a:noFill/>
          <a:ln/>
        </p:spPr>
        <p:txBody>
          <a:bodyPr wrap="square" lIns="0" tIns="0" rIns="0" bIns="0" rtlCol="0" anchor="ctr"/>
          <a:lstStyle/>
          <a:p>
            <a:pPr marL="0" indent="0" algn="r">
              <a:buNone/>
            </a:pPr>
            <a:r>
              <a:rPr lang="en-US" sz="950" b="1" dirty="0">
                <a:solidFill>
                  <a:srgbClr val="C00000"/>
                </a:solidFill>
                <a:latin typeface="맑은 고딕" pitchFamily="34" charset="0"/>
                <a:ea typeface="맑은 고딕" pitchFamily="34" charset="-122"/>
                <a:cs typeface="맑은 고딕" pitchFamily="34" charset="-120"/>
              </a:rPr>
              <a:t>GMM</a:t>
            </a:r>
            <a:endParaRPr lang="en-US" sz="950" dirty="0"/>
          </a:p>
        </p:txBody>
      </p:sp>
      <p:sp>
        <p:nvSpPr>
          <p:cNvPr id="215" name="Shape 215"/>
          <p:cNvSpPr/>
          <p:nvPr/>
        </p:nvSpPr>
        <p:spPr>
          <a:xfrm>
            <a:off x="2148840" y="3296412"/>
            <a:ext cx="8471278" cy="103327"/>
          </a:xfrm>
          <a:prstGeom prst="rect">
            <a:avLst/>
          </a:prstGeom>
          <a:solidFill>
            <a:srgbClr val="C00000"/>
          </a:solidFill>
          <a:ln w="12700">
            <a:solidFill>
              <a:srgbClr val="C00000"/>
            </a:solidFill>
            <a:prstDash val="solid"/>
          </a:ln>
        </p:spPr>
        <p:txBody>
          <a:bodyPr/>
          <a:lstStyle/>
          <a:p>
            <a:endParaRPr lang="ko-KR" altLang="en-US"/>
          </a:p>
        </p:txBody>
      </p:sp>
      <p:sp>
        <p:nvSpPr>
          <p:cNvPr id="216" name="Text 216"/>
          <p:cNvSpPr txBox="1"/>
          <p:nvPr/>
        </p:nvSpPr>
        <p:spPr>
          <a:xfrm>
            <a:off x="10665838" y="3273552"/>
            <a:ext cx="640080" cy="149047"/>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0.965</a:t>
            </a:r>
            <a:endParaRPr lang="en-US" sz="900" dirty="0"/>
          </a:p>
        </p:txBody>
      </p:sp>
      <p:sp>
        <p:nvSpPr>
          <p:cNvPr id="217" name="Text 217"/>
          <p:cNvSpPr txBox="1"/>
          <p:nvPr/>
        </p:nvSpPr>
        <p:spPr>
          <a:xfrm>
            <a:off x="777240" y="3422599"/>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Mahalanobis</a:t>
            </a:r>
            <a:endParaRPr lang="en-US" sz="950" dirty="0"/>
          </a:p>
        </p:txBody>
      </p:sp>
      <p:sp>
        <p:nvSpPr>
          <p:cNvPr id="218" name="Shape 218"/>
          <p:cNvSpPr/>
          <p:nvPr/>
        </p:nvSpPr>
        <p:spPr>
          <a:xfrm>
            <a:off x="2148840" y="3445459"/>
            <a:ext cx="8105370" cy="103327"/>
          </a:xfrm>
          <a:prstGeom prst="rect">
            <a:avLst/>
          </a:prstGeom>
          <a:solidFill>
            <a:srgbClr val="5B7BA0"/>
          </a:solidFill>
          <a:ln w="12700">
            <a:solidFill>
              <a:srgbClr val="5B7BA0"/>
            </a:solidFill>
            <a:prstDash val="solid"/>
          </a:ln>
        </p:spPr>
        <p:txBody>
          <a:bodyPr/>
          <a:lstStyle/>
          <a:p>
            <a:endParaRPr lang="ko-KR" altLang="en-US"/>
          </a:p>
        </p:txBody>
      </p:sp>
      <p:sp>
        <p:nvSpPr>
          <p:cNvPr id="219" name="Text 219"/>
          <p:cNvSpPr txBox="1"/>
          <p:nvPr/>
        </p:nvSpPr>
        <p:spPr>
          <a:xfrm>
            <a:off x="10299930" y="3422599"/>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0.923</a:t>
            </a:r>
            <a:endParaRPr lang="en-US" sz="900" dirty="0"/>
          </a:p>
        </p:txBody>
      </p:sp>
      <p:sp>
        <p:nvSpPr>
          <p:cNvPr id="220" name="Text 220"/>
          <p:cNvSpPr txBox="1"/>
          <p:nvPr/>
        </p:nvSpPr>
        <p:spPr>
          <a:xfrm>
            <a:off x="777240" y="357164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LOF20</a:t>
            </a:r>
            <a:endParaRPr lang="en-US" sz="950" dirty="0"/>
          </a:p>
        </p:txBody>
      </p:sp>
      <p:sp>
        <p:nvSpPr>
          <p:cNvPr id="221" name="Shape 221"/>
          <p:cNvSpPr/>
          <p:nvPr/>
        </p:nvSpPr>
        <p:spPr>
          <a:xfrm>
            <a:off x="2148840" y="3594506"/>
            <a:ext cx="7283182" cy="103327"/>
          </a:xfrm>
          <a:prstGeom prst="rect">
            <a:avLst/>
          </a:prstGeom>
          <a:solidFill>
            <a:srgbClr val="5B7BA0"/>
          </a:solidFill>
          <a:ln w="12700">
            <a:solidFill>
              <a:srgbClr val="5B7BA0"/>
            </a:solidFill>
            <a:prstDash val="solid"/>
          </a:ln>
        </p:spPr>
        <p:txBody>
          <a:bodyPr/>
          <a:lstStyle/>
          <a:p>
            <a:endParaRPr lang="ko-KR" altLang="en-US"/>
          </a:p>
        </p:txBody>
      </p:sp>
      <p:sp>
        <p:nvSpPr>
          <p:cNvPr id="222" name="Text 222"/>
          <p:cNvSpPr txBox="1"/>
          <p:nvPr/>
        </p:nvSpPr>
        <p:spPr>
          <a:xfrm>
            <a:off x="9477742" y="357164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0.830</a:t>
            </a:r>
            <a:endParaRPr lang="en-US" sz="900" dirty="0"/>
          </a:p>
        </p:txBody>
      </p:sp>
      <p:sp>
        <p:nvSpPr>
          <p:cNvPr id="223" name="Text 223"/>
          <p:cNvSpPr txBox="1"/>
          <p:nvPr/>
        </p:nvSpPr>
        <p:spPr>
          <a:xfrm>
            <a:off x="777240" y="372069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PCA_Recon</a:t>
            </a:r>
            <a:endParaRPr lang="en-US" sz="950" dirty="0"/>
          </a:p>
        </p:txBody>
      </p:sp>
      <p:sp>
        <p:nvSpPr>
          <p:cNvPr id="224" name="Shape 224"/>
          <p:cNvSpPr/>
          <p:nvPr/>
        </p:nvSpPr>
        <p:spPr>
          <a:xfrm>
            <a:off x="2148840" y="3743554"/>
            <a:ext cx="6834300" cy="103327"/>
          </a:xfrm>
          <a:prstGeom prst="rect">
            <a:avLst/>
          </a:prstGeom>
          <a:solidFill>
            <a:srgbClr val="5B7BA0"/>
          </a:solidFill>
          <a:ln w="12700">
            <a:solidFill>
              <a:srgbClr val="5B7BA0"/>
            </a:solidFill>
            <a:prstDash val="solid"/>
          </a:ln>
        </p:spPr>
        <p:txBody>
          <a:bodyPr/>
          <a:lstStyle/>
          <a:p>
            <a:endParaRPr lang="ko-KR" altLang="en-US"/>
          </a:p>
        </p:txBody>
      </p:sp>
      <p:sp>
        <p:nvSpPr>
          <p:cNvPr id="225" name="Text 225"/>
          <p:cNvSpPr txBox="1"/>
          <p:nvPr/>
        </p:nvSpPr>
        <p:spPr>
          <a:xfrm>
            <a:off x="9028860" y="372069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0.779</a:t>
            </a:r>
            <a:endParaRPr lang="en-US" sz="900" dirty="0"/>
          </a:p>
        </p:txBody>
      </p:sp>
      <p:sp>
        <p:nvSpPr>
          <p:cNvPr id="226" name="Text 226"/>
          <p:cNvSpPr txBox="1"/>
          <p:nvPr/>
        </p:nvSpPr>
        <p:spPr>
          <a:xfrm>
            <a:off x="777240" y="386974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AE_Recon</a:t>
            </a:r>
            <a:endParaRPr lang="en-US" sz="950" dirty="0"/>
          </a:p>
        </p:txBody>
      </p:sp>
      <p:sp>
        <p:nvSpPr>
          <p:cNvPr id="227" name="Shape 227"/>
          <p:cNvSpPr/>
          <p:nvPr/>
        </p:nvSpPr>
        <p:spPr>
          <a:xfrm>
            <a:off x="2148840" y="3892601"/>
            <a:ext cx="6110040" cy="103327"/>
          </a:xfrm>
          <a:prstGeom prst="rect">
            <a:avLst/>
          </a:prstGeom>
          <a:solidFill>
            <a:srgbClr val="5B7BA0"/>
          </a:solidFill>
          <a:ln w="12700">
            <a:solidFill>
              <a:srgbClr val="5B7BA0"/>
            </a:solidFill>
            <a:prstDash val="solid"/>
          </a:ln>
        </p:spPr>
        <p:txBody>
          <a:bodyPr/>
          <a:lstStyle/>
          <a:p>
            <a:endParaRPr lang="ko-KR" altLang="en-US"/>
          </a:p>
        </p:txBody>
      </p:sp>
      <p:sp>
        <p:nvSpPr>
          <p:cNvPr id="228" name="Text 228"/>
          <p:cNvSpPr txBox="1"/>
          <p:nvPr/>
        </p:nvSpPr>
        <p:spPr>
          <a:xfrm>
            <a:off x="8304600" y="386974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0.696</a:t>
            </a:r>
            <a:endParaRPr lang="en-US" sz="900" dirty="0"/>
          </a:p>
        </p:txBody>
      </p:sp>
      <p:sp>
        <p:nvSpPr>
          <p:cNvPr id="229" name="Text 229"/>
          <p:cNvSpPr txBox="1"/>
          <p:nvPr/>
        </p:nvSpPr>
        <p:spPr>
          <a:xfrm>
            <a:off x="777240" y="401878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KDE</a:t>
            </a:r>
            <a:endParaRPr lang="en-US" sz="950" dirty="0"/>
          </a:p>
        </p:txBody>
      </p:sp>
      <p:sp>
        <p:nvSpPr>
          <p:cNvPr id="230" name="Shape 230"/>
          <p:cNvSpPr/>
          <p:nvPr/>
        </p:nvSpPr>
        <p:spPr>
          <a:xfrm>
            <a:off x="2148840" y="4041648"/>
            <a:ext cx="6042164" cy="103327"/>
          </a:xfrm>
          <a:prstGeom prst="rect">
            <a:avLst/>
          </a:prstGeom>
          <a:solidFill>
            <a:srgbClr val="5B7BA0"/>
          </a:solidFill>
          <a:ln w="12700">
            <a:solidFill>
              <a:srgbClr val="5B7BA0"/>
            </a:solidFill>
            <a:prstDash val="solid"/>
          </a:ln>
        </p:spPr>
        <p:txBody>
          <a:bodyPr/>
          <a:lstStyle/>
          <a:p>
            <a:endParaRPr lang="ko-KR" altLang="en-US"/>
          </a:p>
        </p:txBody>
      </p:sp>
      <p:sp>
        <p:nvSpPr>
          <p:cNvPr id="231" name="Text 231"/>
          <p:cNvSpPr txBox="1"/>
          <p:nvPr/>
        </p:nvSpPr>
        <p:spPr>
          <a:xfrm>
            <a:off x="8236724" y="401878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0.688</a:t>
            </a:r>
            <a:endParaRPr lang="en-US" sz="900" dirty="0"/>
          </a:p>
        </p:txBody>
      </p:sp>
      <p:sp>
        <p:nvSpPr>
          <p:cNvPr id="232" name="Text 232"/>
          <p:cNvSpPr txBox="1"/>
          <p:nvPr/>
        </p:nvSpPr>
        <p:spPr>
          <a:xfrm>
            <a:off x="777240" y="4167835"/>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kNN20</a:t>
            </a:r>
            <a:endParaRPr lang="en-US" sz="950" dirty="0"/>
          </a:p>
        </p:txBody>
      </p:sp>
      <p:sp>
        <p:nvSpPr>
          <p:cNvPr id="233" name="Shape 233"/>
          <p:cNvSpPr/>
          <p:nvPr/>
        </p:nvSpPr>
        <p:spPr>
          <a:xfrm>
            <a:off x="2148840" y="4190695"/>
            <a:ext cx="5683472" cy="103327"/>
          </a:xfrm>
          <a:prstGeom prst="rect">
            <a:avLst/>
          </a:prstGeom>
          <a:solidFill>
            <a:srgbClr val="5B7BA0"/>
          </a:solidFill>
          <a:ln w="12700">
            <a:solidFill>
              <a:srgbClr val="5B7BA0"/>
            </a:solidFill>
            <a:prstDash val="solid"/>
          </a:ln>
        </p:spPr>
        <p:txBody>
          <a:bodyPr/>
          <a:lstStyle/>
          <a:p>
            <a:endParaRPr lang="ko-KR" altLang="en-US"/>
          </a:p>
        </p:txBody>
      </p:sp>
      <p:sp>
        <p:nvSpPr>
          <p:cNvPr id="234" name="Text 234"/>
          <p:cNvSpPr txBox="1"/>
          <p:nvPr/>
        </p:nvSpPr>
        <p:spPr>
          <a:xfrm>
            <a:off x="7878032" y="4167835"/>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0.647</a:t>
            </a:r>
            <a:endParaRPr lang="en-US" sz="900" dirty="0"/>
          </a:p>
        </p:txBody>
      </p:sp>
      <p:sp>
        <p:nvSpPr>
          <p:cNvPr id="235" name="Text 235"/>
          <p:cNvSpPr txBox="1"/>
          <p:nvPr/>
        </p:nvSpPr>
        <p:spPr>
          <a:xfrm>
            <a:off x="777240" y="4316882"/>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MLP32</a:t>
            </a:r>
            <a:endParaRPr lang="en-US" sz="950" dirty="0"/>
          </a:p>
        </p:txBody>
      </p:sp>
      <p:sp>
        <p:nvSpPr>
          <p:cNvPr id="236" name="Shape 236"/>
          <p:cNvSpPr/>
          <p:nvPr/>
        </p:nvSpPr>
        <p:spPr>
          <a:xfrm>
            <a:off x="2148840" y="4339742"/>
            <a:ext cx="5619840" cy="103327"/>
          </a:xfrm>
          <a:prstGeom prst="rect">
            <a:avLst/>
          </a:prstGeom>
          <a:solidFill>
            <a:srgbClr val="5B7BA0"/>
          </a:solidFill>
          <a:ln w="12700">
            <a:solidFill>
              <a:srgbClr val="5B7BA0"/>
            </a:solidFill>
            <a:prstDash val="solid"/>
          </a:ln>
        </p:spPr>
        <p:txBody>
          <a:bodyPr/>
          <a:lstStyle/>
          <a:p>
            <a:endParaRPr lang="ko-KR" altLang="en-US"/>
          </a:p>
        </p:txBody>
      </p:sp>
      <p:sp>
        <p:nvSpPr>
          <p:cNvPr id="237" name="Text 237"/>
          <p:cNvSpPr txBox="1"/>
          <p:nvPr/>
        </p:nvSpPr>
        <p:spPr>
          <a:xfrm>
            <a:off x="7814400" y="4316882"/>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0.640</a:t>
            </a:r>
            <a:endParaRPr lang="en-US" sz="900" dirty="0"/>
          </a:p>
        </p:txBody>
      </p:sp>
      <p:sp>
        <p:nvSpPr>
          <p:cNvPr id="238" name="Text 238"/>
          <p:cNvSpPr txBox="1"/>
          <p:nvPr/>
        </p:nvSpPr>
        <p:spPr>
          <a:xfrm>
            <a:off x="777240" y="446593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LSTM32</a:t>
            </a:r>
            <a:endParaRPr lang="en-US" sz="950" dirty="0"/>
          </a:p>
        </p:txBody>
      </p:sp>
      <p:sp>
        <p:nvSpPr>
          <p:cNvPr id="239" name="Shape 239"/>
          <p:cNvSpPr/>
          <p:nvPr/>
        </p:nvSpPr>
        <p:spPr>
          <a:xfrm>
            <a:off x="2148840" y="4488790"/>
            <a:ext cx="5602923" cy="103327"/>
          </a:xfrm>
          <a:prstGeom prst="rect">
            <a:avLst/>
          </a:prstGeom>
          <a:solidFill>
            <a:srgbClr val="5B7BA0"/>
          </a:solidFill>
          <a:ln w="12700">
            <a:solidFill>
              <a:srgbClr val="5B7BA0"/>
            </a:solidFill>
            <a:prstDash val="solid"/>
          </a:ln>
        </p:spPr>
        <p:txBody>
          <a:bodyPr/>
          <a:lstStyle/>
          <a:p>
            <a:endParaRPr lang="ko-KR" altLang="en-US"/>
          </a:p>
        </p:txBody>
      </p:sp>
      <p:sp>
        <p:nvSpPr>
          <p:cNvPr id="240" name="Text 240"/>
          <p:cNvSpPr txBox="1"/>
          <p:nvPr/>
        </p:nvSpPr>
        <p:spPr>
          <a:xfrm>
            <a:off x="7797483" y="446593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0.638</a:t>
            </a:r>
            <a:endParaRPr lang="en-US" sz="900" dirty="0"/>
          </a:p>
        </p:txBody>
      </p:sp>
      <p:sp>
        <p:nvSpPr>
          <p:cNvPr id="241" name="Text 241"/>
          <p:cNvSpPr txBox="1"/>
          <p:nvPr/>
        </p:nvSpPr>
        <p:spPr>
          <a:xfrm>
            <a:off x="777240" y="461497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AR_Relation</a:t>
            </a:r>
            <a:endParaRPr lang="en-US" sz="950" dirty="0"/>
          </a:p>
        </p:txBody>
      </p:sp>
      <p:sp>
        <p:nvSpPr>
          <p:cNvPr id="242" name="Shape 242"/>
          <p:cNvSpPr/>
          <p:nvPr/>
        </p:nvSpPr>
        <p:spPr>
          <a:xfrm>
            <a:off x="2148840" y="4637837"/>
            <a:ext cx="5548323" cy="103327"/>
          </a:xfrm>
          <a:prstGeom prst="rect">
            <a:avLst/>
          </a:prstGeom>
          <a:solidFill>
            <a:srgbClr val="5B7BA0"/>
          </a:solidFill>
          <a:ln w="12700">
            <a:solidFill>
              <a:srgbClr val="5B7BA0"/>
            </a:solidFill>
            <a:prstDash val="solid"/>
          </a:ln>
        </p:spPr>
        <p:txBody>
          <a:bodyPr/>
          <a:lstStyle/>
          <a:p>
            <a:endParaRPr lang="ko-KR" altLang="en-US"/>
          </a:p>
        </p:txBody>
      </p:sp>
      <p:sp>
        <p:nvSpPr>
          <p:cNvPr id="243" name="Text 243"/>
          <p:cNvSpPr txBox="1"/>
          <p:nvPr/>
        </p:nvSpPr>
        <p:spPr>
          <a:xfrm>
            <a:off x="7742883" y="461497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0.632</a:t>
            </a:r>
            <a:endParaRPr lang="en-US" sz="900" dirty="0"/>
          </a:p>
        </p:txBody>
      </p:sp>
      <p:sp>
        <p:nvSpPr>
          <p:cNvPr id="244" name="Text 244"/>
          <p:cNvSpPr txBox="1"/>
          <p:nvPr/>
        </p:nvSpPr>
        <p:spPr>
          <a:xfrm>
            <a:off x="777240" y="476402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OCSVM</a:t>
            </a:r>
            <a:endParaRPr lang="en-US" sz="950" dirty="0"/>
          </a:p>
        </p:txBody>
      </p:sp>
      <p:sp>
        <p:nvSpPr>
          <p:cNvPr id="245" name="Shape 245"/>
          <p:cNvSpPr/>
          <p:nvPr/>
        </p:nvSpPr>
        <p:spPr>
          <a:xfrm>
            <a:off x="2148840" y="4786884"/>
            <a:ext cx="5485148" cy="103327"/>
          </a:xfrm>
          <a:prstGeom prst="rect">
            <a:avLst/>
          </a:prstGeom>
          <a:solidFill>
            <a:srgbClr val="5B7BA0"/>
          </a:solidFill>
          <a:ln w="12700">
            <a:solidFill>
              <a:srgbClr val="5B7BA0"/>
            </a:solidFill>
            <a:prstDash val="solid"/>
          </a:ln>
        </p:spPr>
        <p:txBody>
          <a:bodyPr/>
          <a:lstStyle/>
          <a:p>
            <a:endParaRPr lang="ko-KR" altLang="en-US"/>
          </a:p>
        </p:txBody>
      </p:sp>
      <p:sp>
        <p:nvSpPr>
          <p:cNvPr id="246" name="Text 246"/>
          <p:cNvSpPr txBox="1"/>
          <p:nvPr/>
        </p:nvSpPr>
        <p:spPr>
          <a:xfrm>
            <a:off x="7679708" y="476402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0.625</a:t>
            </a:r>
            <a:endParaRPr lang="en-US" sz="900" dirty="0"/>
          </a:p>
        </p:txBody>
      </p:sp>
      <p:sp>
        <p:nvSpPr>
          <p:cNvPr id="247" name="Text 247"/>
          <p:cNvSpPr txBox="1"/>
          <p:nvPr/>
        </p:nvSpPr>
        <p:spPr>
          <a:xfrm>
            <a:off x="777240" y="491307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VAR_Ridge</a:t>
            </a:r>
            <a:endParaRPr lang="en-US" sz="950" dirty="0"/>
          </a:p>
        </p:txBody>
      </p:sp>
      <p:sp>
        <p:nvSpPr>
          <p:cNvPr id="248" name="Shape 248"/>
          <p:cNvSpPr/>
          <p:nvPr/>
        </p:nvSpPr>
        <p:spPr>
          <a:xfrm>
            <a:off x="2148840" y="4935931"/>
            <a:ext cx="5365035" cy="103327"/>
          </a:xfrm>
          <a:prstGeom prst="rect">
            <a:avLst/>
          </a:prstGeom>
          <a:solidFill>
            <a:srgbClr val="5B7BA0"/>
          </a:solidFill>
          <a:ln w="12700">
            <a:solidFill>
              <a:srgbClr val="5B7BA0"/>
            </a:solidFill>
            <a:prstDash val="solid"/>
          </a:ln>
        </p:spPr>
        <p:txBody>
          <a:bodyPr/>
          <a:lstStyle/>
          <a:p>
            <a:endParaRPr lang="ko-KR" altLang="en-US"/>
          </a:p>
        </p:txBody>
      </p:sp>
      <p:sp>
        <p:nvSpPr>
          <p:cNvPr id="249" name="Text 249"/>
          <p:cNvSpPr txBox="1"/>
          <p:nvPr/>
        </p:nvSpPr>
        <p:spPr>
          <a:xfrm>
            <a:off x="7559595" y="491307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0.611</a:t>
            </a:r>
            <a:endParaRPr lang="en-US" sz="900" dirty="0"/>
          </a:p>
        </p:txBody>
      </p:sp>
      <p:sp>
        <p:nvSpPr>
          <p:cNvPr id="250" name="Text 250"/>
          <p:cNvSpPr txBox="1"/>
          <p:nvPr/>
        </p:nvSpPr>
        <p:spPr>
          <a:xfrm>
            <a:off x="777240" y="506211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GRU32</a:t>
            </a:r>
            <a:endParaRPr lang="en-US" sz="950" dirty="0"/>
          </a:p>
        </p:txBody>
      </p:sp>
      <p:sp>
        <p:nvSpPr>
          <p:cNvPr id="251" name="Shape 251"/>
          <p:cNvSpPr/>
          <p:nvPr/>
        </p:nvSpPr>
        <p:spPr>
          <a:xfrm>
            <a:off x="2148840" y="5084978"/>
            <a:ext cx="5333710" cy="103327"/>
          </a:xfrm>
          <a:prstGeom prst="rect">
            <a:avLst/>
          </a:prstGeom>
          <a:solidFill>
            <a:srgbClr val="5B7BA0"/>
          </a:solidFill>
          <a:ln w="12700">
            <a:solidFill>
              <a:srgbClr val="5B7BA0"/>
            </a:solidFill>
            <a:prstDash val="solid"/>
          </a:ln>
        </p:spPr>
        <p:txBody>
          <a:bodyPr/>
          <a:lstStyle/>
          <a:p>
            <a:endParaRPr lang="ko-KR" altLang="en-US"/>
          </a:p>
        </p:txBody>
      </p:sp>
      <p:sp>
        <p:nvSpPr>
          <p:cNvPr id="252" name="Text 252"/>
          <p:cNvSpPr txBox="1"/>
          <p:nvPr/>
        </p:nvSpPr>
        <p:spPr>
          <a:xfrm>
            <a:off x="7528270" y="506211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0.608</a:t>
            </a:r>
            <a:endParaRPr lang="en-US" sz="900" dirty="0"/>
          </a:p>
        </p:txBody>
      </p:sp>
      <p:sp>
        <p:nvSpPr>
          <p:cNvPr id="253" name="Text 253"/>
          <p:cNvSpPr txBox="1"/>
          <p:nvPr/>
        </p:nvSpPr>
        <p:spPr>
          <a:xfrm>
            <a:off x="777240" y="521116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a:t>
            </a:r>
            <a:endParaRPr lang="en-US" sz="950" dirty="0"/>
          </a:p>
        </p:txBody>
      </p:sp>
      <p:sp>
        <p:nvSpPr>
          <p:cNvPr id="254" name="Shape 254"/>
          <p:cNvSpPr/>
          <p:nvPr/>
        </p:nvSpPr>
        <p:spPr>
          <a:xfrm>
            <a:off x="2148840" y="5234026"/>
            <a:ext cx="5010221" cy="103327"/>
          </a:xfrm>
          <a:prstGeom prst="rect">
            <a:avLst/>
          </a:prstGeom>
          <a:solidFill>
            <a:srgbClr val="5B7BA0"/>
          </a:solidFill>
          <a:ln w="12700">
            <a:solidFill>
              <a:srgbClr val="5B7BA0"/>
            </a:solidFill>
            <a:prstDash val="solid"/>
          </a:ln>
        </p:spPr>
        <p:txBody>
          <a:bodyPr/>
          <a:lstStyle/>
          <a:p>
            <a:endParaRPr lang="ko-KR" altLang="en-US"/>
          </a:p>
        </p:txBody>
      </p:sp>
      <p:sp>
        <p:nvSpPr>
          <p:cNvPr id="255" name="Text 255"/>
          <p:cNvSpPr txBox="1"/>
          <p:nvPr/>
        </p:nvSpPr>
        <p:spPr>
          <a:xfrm>
            <a:off x="7204781" y="521116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0.571</a:t>
            </a:r>
            <a:endParaRPr lang="en-US" sz="900" dirty="0"/>
          </a:p>
        </p:txBody>
      </p:sp>
      <p:sp>
        <p:nvSpPr>
          <p:cNvPr id="256" name="Text 256"/>
          <p:cNvSpPr txBox="1"/>
          <p:nvPr/>
        </p:nvSpPr>
        <p:spPr>
          <a:xfrm>
            <a:off x="777240" y="5360213"/>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IsolationForest</a:t>
            </a:r>
            <a:endParaRPr lang="en-US" sz="950" dirty="0"/>
          </a:p>
        </p:txBody>
      </p:sp>
      <p:sp>
        <p:nvSpPr>
          <p:cNvPr id="257" name="Shape 257"/>
          <p:cNvSpPr/>
          <p:nvPr/>
        </p:nvSpPr>
        <p:spPr>
          <a:xfrm>
            <a:off x="2148840" y="5383073"/>
            <a:ext cx="4485133" cy="103327"/>
          </a:xfrm>
          <a:prstGeom prst="rect">
            <a:avLst/>
          </a:prstGeom>
          <a:solidFill>
            <a:srgbClr val="5B7BA0"/>
          </a:solidFill>
          <a:ln w="12700">
            <a:solidFill>
              <a:srgbClr val="5B7BA0"/>
            </a:solidFill>
            <a:prstDash val="solid"/>
          </a:ln>
        </p:spPr>
        <p:txBody>
          <a:bodyPr/>
          <a:lstStyle/>
          <a:p>
            <a:endParaRPr lang="ko-KR" altLang="en-US"/>
          </a:p>
        </p:txBody>
      </p:sp>
      <p:sp>
        <p:nvSpPr>
          <p:cNvPr id="258" name="Text 258"/>
          <p:cNvSpPr txBox="1"/>
          <p:nvPr/>
        </p:nvSpPr>
        <p:spPr>
          <a:xfrm>
            <a:off x="6679693" y="5360213"/>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0.511</a:t>
            </a:r>
            <a:endParaRPr lang="en-US" sz="900" dirty="0"/>
          </a:p>
        </p:txBody>
      </p:sp>
      <p:sp>
        <p:nvSpPr>
          <p:cNvPr id="259" name="Text 259"/>
          <p:cNvSpPr txBox="1"/>
          <p:nvPr/>
        </p:nvSpPr>
        <p:spPr>
          <a:xfrm>
            <a:off x="777240" y="550926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RobustMAD</a:t>
            </a:r>
            <a:endParaRPr lang="en-US" sz="950" dirty="0"/>
          </a:p>
        </p:txBody>
      </p:sp>
      <p:sp>
        <p:nvSpPr>
          <p:cNvPr id="260" name="Shape 260"/>
          <p:cNvSpPr/>
          <p:nvPr/>
        </p:nvSpPr>
        <p:spPr>
          <a:xfrm>
            <a:off x="2148840" y="5532120"/>
            <a:ext cx="4290116" cy="103327"/>
          </a:xfrm>
          <a:prstGeom prst="rect">
            <a:avLst/>
          </a:prstGeom>
          <a:solidFill>
            <a:srgbClr val="5B7BA0"/>
          </a:solidFill>
          <a:ln w="12700">
            <a:solidFill>
              <a:srgbClr val="5B7BA0"/>
            </a:solidFill>
            <a:prstDash val="solid"/>
          </a:ln>
        </p:spPr>
        <p:txBody>
          <a:bodyPr/>
          <a:lstStyle/>
          <a:p>
            <a:endParaRPr lang="ko-KR" altLang="en-US"/>
          </a:p>
        </p:txBody>
      </p:sp>
      <p:sp>
        <p:nvSpPr>
          <p:cNvPr id="261" name="Text 261"/>
          <p:cNvSpPr txBox="1"/>
          <p:nvPr/>
        </p:nvSpPr>
        <p:spPr>
          <a:xfrm>
            <a:off x="6484676" y="550926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0.489</a:t>
            </a:r>
            <a:endParaRPr lang="en-US" sz="900" dirty="0"/>
          </a:p>
        </p:txBody>
      </p:sp>
      <p:sp>
        <p:nvSpPr>
          <p:cNvPr id="262" name="Text 262"/>
          <p:cNvSpPr txBox="1"/>
          <p:nvPr/>
        </p:nvSpPr>
        <p:spPr>
          <a:xfrm>
            <a:off x="777240" y="565830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Persistence</a:t>
            </a:r>
            <a:endParaRPr lang="en-US" sz="950" dirty="0"/>
          </a:p>
        </p:txBody>
      </p:sp>
      <p:sp>
        <p:nvSpPr>
          <p:cNvPr id="263" name="Shape 263"/>
          <p:cNvSpPr/>
          <p:nvPr/>
        </p:nvSpPr>
        <p:spPr>
          <a:xfrm>
            <a:off x="2148840" y="5681167"/>
            <a:ext cx="3340707" cy="103327"/>
          </a:xfrm>
          <a:prstGeom prst="rect">
            <a:avLst/>
          </a:prstGeom>
          <a:solidFill>
            <a:srgbClr val="5B7BA0"/>
          </a:solidFill>
          <a:ln w="12700">
            <a:solidFill>
              <a:srgbClr val="5B7BA0"/>
            </a:solidFill>
            <a:prstDash val="solid"/>
          </a:ln>
        </p:spPr>
        <p:txBody>
          <a:bodyPr/>
          <a:lstStyle/>
          <a:p>
            <a:endParaRPr lang="ko-KR" altLang="en-US"/>
          </a:p>
        </p:txBody>
      </p:sp>
      <p:sp>
        <p:nvSpPr>
          <p:cNvPr id="264" name="Text 264"/>
          <p:cNvSpPr txBox="1"/>
          <p:nvPr/>
        </p:nvSpPr>
        <p:spPr>
          <a:xfrm>
            <a:off x="5535267" y="565830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0.381</a:t>
            </a:r>
            <a:endParaRPr lang="en-US" sz="9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15</a:t>
            </a:fld>
            <a:endParaRPr lang="en-US" dirty="0"/>
          </a:p>
        </p:txBody>
      </p:sp>
      <p:sp>
        <p:nvSpPr>
          <p:cNvPr id="11" name="Text 7">
            <a:extLst>
              <a:ext uri="{FF2B5EF4-FFF2-40B4-BE49-F238E27FC236}">
                <a16:creationId xmlns:a16="http://schemas.microsoft.com/office/drawing/2014/main" id="{C22632C7-9B38-3BE7-E67C-A4329B9F555F}"/>
              </a:ext>
            </a:extLst>
          </p:cNvPr>
          <p:cNvSpPr txBox="1"/>
          <p:nvPr/>
        </p:nvSpPr>
        <p:spPr>
          <a:xfrm>
            <a:off x="9732111" y="800100"/>
            <a:ext cx="1841297" cy="411480"/>
          </a:xfrm>
          <a:prstGeom prst="rect">
            <a:avLst/>
          </a:prstGeom>
          <a:noFill/>
          <a:ln/>
        </p:spPr>
        <p:txBody>
          <a:bodyPr wrap="square" lIns="0" tIns="0" rIns="0" bIns="0" rtlCol="0" anchor="ctr"/>
          <a:lstStyle/>
          <a:p>
            <a:pPr marL="0" indent="0" algn="ctr">
              <a:buNone/>
            </a:pPr>
            <a:endParaRPr lang="en-US" sz="1250" dirty="0"/>
          </a:p>
        </p:txBody>
      </p:sp>
      <p:sp>
        <p:nvSpPr>
          <p:cNvPr id="13" name="Text 5">
            <a:extLst>
              <a:ext uri="{FF2B5EF4-FFF2-40B4-BE49-F238E27FC236}">
                <a16:creationId xmlns:a16="http://schemas.microsoft.com/office/drawing/2014/main" id="{E0044083-9626-8598-9D7E-30B3198AD09D}"/>
              </a:ext>
            </a:extLst>
          </p:cNvPr>
          <p:cNvSpPr txBox="1"/>
          <p:nvPr/>
        </p:nvSpPr>
        <p:spPr>
          <a:xfrm>
            <a:off x="9132238" y="572801"/>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F1</a:t>
            </a:r>
            <a:endParaRPr lang="en-US" sz="1700" dirty="0"/>
          </a:p>
        </p:txBody>
      </p:sp>
      <mc:AlternateContent xmlns:mc="http://schemas.openxmlformats.org/markup-compatibility/2006">
        <mc:Choice xmlns:a14="http://schemas.microsoft.com/office/drawing/2010/main" Requires="a14">
          <p:sp>
            <p:nvSpPr>
              <p:cNvPr id="15" name="Text 6">
                <a:extLst>
                  <a:ext uri="{FF2B5EF4-FFF2-40B4-BE49-F238E27FC236}">
                    <a16:creationId xmlns:a16="http://schemas.microsoft.com/office/drawing/2014/main" id="{23D5E2D4-3084-F2A1-76BC-8D31A9C54D82}"/>
                  </a:ext>
                </a:extLst>
              </p:cNvPr>
              <p:cNvSpPr txBox="1"/>
              <p:nvPr/>
            </p:nvSpPr>
            <p:spPr>
              <a:xfrm>
                <a:off x="9132238" y="1057433"/>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500" i="1" dirty="0">
                              <a:solidFill>
                                <a:srgbClr val="262626"/>
                              </a:solidFill>
                              <a:latin typeface="Cambria Math" panose="02040503050406030204" pitchFamily="18" charset="0"/>
                              <a:ea typeface="Times New Roman" pitchFamily="34" charset="-122"/>
                              <a:cs typeface="Times New Roman" pitchFamily="34" charset="-120"/>
                            </a:rPr>
                          </m:ctrlPr>
                        </m:fPr>
                        <m:num>
                          <m:r>
                            <a:rPr lang="en-US" altLang="ko-KR" sz="1500" i="1" dirty="0">
                              <a:solidFill>
                                <a:srgbClr val="262626"/>
                              </a:solidFill>
                              <a:latin typeface="Cambria Math" panose="02040503050406030204" pitchFamily="18" charset="0"/>
                              <a:ea typeface="Times New Roman" pitchFamily="34" charset="-122"/>
                              <a:cs typeface="Times New Roman" pitchFamily="34" charset="-120"/>
                            </a:rPr>
                            <m:t>2</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𝑇𝑃</m:t>
                          </m:r>
                        </m:num>
                        <m:den>
                          <m:r>
                            <a:rPr lang="en-US" altLang="ko-KR" sz="1500" i="1" dirty="0">
                              <a:solidFill>
                                <a:srgbClr val="262626"/>
                              </a:solidFill>
                              <a:latin typeface="Cambria Math" panose="02040503050406030204" pitchFamily="18" charset="0"/>
                              <a:ea typeface="Times New Roman" pitchFamily="34" charset="-122"/>
                              <a:cs typeface="Times New Roman" pitchFamily="34" charset="-120"/>
                            </a:rPr>
                            <m:t>2𝑇𝑃</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 + </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𝐹𝑃</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 + </m:t>
                          </m:r>
                          <m:r>
                            <a:rPr lang="en-US" altLang="ko-KR" sz="1500" i="1" dirty="0">
                              <a:solidFill>
                                <a:srgbClr val="262626"/>
                              </a:solidFill>
                              <a:latin typeface="Cambria Math" panose="02040503050406030204" pitchFamily="18" charset="0"/>
                              <a:ea typeface="Times New Roman" pitchFamily="34" charset="-122"/>
                              <a:cs typeface="Times New Roman" pitchFamily="34" charset="-120"/>
                            </a:rPr>
                            <m:t>𝐹𝑁</m:t>
                          </m:r>
                        </m:den>
                      </m:f>
                    </m:oMath>
                  </m:oMathPara>
                </a14:m>
                <a:endParaRPr lang="en-US" sz="1500" dirty="0"/>
              </a:p>
            </p:txBody>
          </p:sp>
        </mc:Choice>
        <mc:Fallback>
          <p:sp>
            <p:nvSpPr>
              <p:cNvPr id="15" name="Text 6">
                <a:extLst>
                  <a:ext uri="{FF2B5EF4-FFF2-40B4-BE49-F238E27FC236}">
                    <a16:creationId xmlns:a16="http://schemas.microsoft.com/office/drawing/2014/main" id="{23D5E2D4-3084-F2A1-76BC-8D31A9C54D82}"/>
                  </a:ext>
                </a:extLst>
              </p:cNvPr>
              <p:cNvSpPr txBox="1">
                <a:spLocks noRot="1" noChangeAspect="1" noMove="1" noResize="1" noEditPoints="1" noAdjustHandles="1" noChangeArrowheads="1" noChangeShapeType="1" noTextEdit="1"/>
              </p:cNvSpPr>
              <p:nvPr/>
            </p:nvSpPr>
            <p:spPr>
              <a:xfrm>
                <a:off x="9132238" y="1057433"/>
                <a:ext cx="1841297" cy="548640"/>
              </a:xfrm>
              <a:prstGeom prst="rect">
                <a:avLst/>
              </a:prstGeom>
              <a:blipFill>
                <a:blip r:embed="rId3"/>
                <a:stretch>
                  <a:fillRect b="-1111"/>
                </a:stretch>
              </a:blipFill>
              <a:ln/>
            </p:spPr>
            <p:txBody>
              <a:bodyPr/>
              <a:lstStyle/>
              <a:p>
                <a:r>
                  <a:rPr lang="ko-KR"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Miss Rate</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실제</a:t>
            </a:r>
            <a:r>
              <a:rPr lang="en-US" sz="2100" dirty="0">
                <a:solidFill>
                  <a:srgbClr val="262626"/>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이상</a:t>
            </a:r>
            <a:r>
              <a:rPr lang="ko-KR" altLang="en-US" sz="2100" dirty="0">
                <a:solidFill>
                  <a:srgbClr val="262626"/>
                </a:solidFill>
                <a:latin typeface="맑은 고딕" pitchFamily="34" charset="0"/>
                <a:ea typeface="맑은 고딕" pitchFamily="34" charset="-122"/>
                <a:cs typeface="맑은 고딕" pitchFamily="34" charset="-120"/>
              </a:rPr>
              <a:t>을 얼</a:t>
            </a:r>
            <a:r>
              <a:rPr lang="en-US" sz="2100" dirty="0" err="1">
                <a:solidFill>
                  <a:srgbClr val="262626"/>
                </a:solidFill>
                <a:latin typeface="맑은 고딕" pitchFamily="34" charset="0"/>
                <a:ea typeface="맑은 고딕" pitchFamily="34" charset="-122"/>
                <a:cs typeface="맑은 고딕" pitchFamily="34" charset="-120"/>
              </a:rPr>
              <a:t>마나</a:t>
            </a:r>
            <a:r>
              <a:rPr lang="en-US" sz="2100" dirty="0">
                <a:solidFill>
                  <a:srgbClr val="262626"/>
                </a:solidFill>
                <a:latin typeface="맑은 고딕" pitchFamily="34" charset="0"/>
                <a:ea typeface="맑은 고딕" pitchFamily="34" charset="-122"/>
                <a:cs typeface="맑은 고딕" pitchFamily="34" charset="-120"/>
              </a:rPr>
              <a:t> 놓칠까?</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GMM Miss rate 4.9%: 2위 Mahalanobis 12.7%의 절반 이하, 나머지 방법은 27.3~76.5%</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차이는 clip 초반: 기존 방법은 창이 차기 전 0.0~0.2초 63시점 모두 미탐, GMM은 약 41시점 </a:t>
            </a:r>
            <a:r>
              <a:rPr lang="en-US" sz="1600" dirty="0" err="1">
                <a:solidFill>
                  <a:srgbClr val="262626"/>
                </a:solidFill>
                <a:latin typeface="맑은 고딕" pitchFamily="34" charset="0"/>
                <a:ea typeface="맑은 고딕" pitchFamily="34" charset="-122"/>
                <a:cs typeface="맑은 고딕" pitchFamily="34" charset="-120"/>
              </a:rPr>
              <a:t>탐지</a:t>
            </a:r>
            <a:endParaRPr lang="en-US" sz="1600" dirty="0"/>
          </a:p>
        </p:txBody>
      </p:sp>
      <p:sp>
        <p:nvSpPr>
          <p:cNvPr id="201" name="Text 201"/>
          <p:cNvSpPr txBox="1"/>
          <p:nvPr/>
        </p:nvSpPr>
        <p:spPr>
          <a:xfrm>
            <a:off x="783102" y="2999232"/>
            <a:ext cx="5943600" cy="237744"/>
          </a:xfrm>
          <a:prstGeom prst="rect">
            <a:avLst/>
          </a:prstGeom>
          <a:noFill/>
          <a:ln/>
        </p:spPr>
        <p:txBody>
          <a:bodyPr wrap="square" lIns="0" tIns="0" rIns="0" bIns="0" rtlCol="0" anchor="ctr"/>
          <a:lstStyle/>
          <a:p>
            <a:pPr marL="0" indent="0" algn="l">
              <a:buNone/>
            </a:pPr>
            <a:r>
              <a:rPr lang="en-US" sz="1150" b="1" dirty="0">
                <a:solidFill>
                  <a:srgbClr val="262626"/>
                </a:solidFill>
                <a:latin typeface="맑은 고딕" pitchFamily="34" charset="0"/>
                <a:ea typeface="맑은 고딕" pitchFamily="34" charset="-122"/>
                <a:cs typeface="맑은 고딕" pitchFamily="34" charset="-120"/>
              </a:rPr>
              <a:t>Miss rate (이상 테스트 600시점 중 미탐 비율)</a:t>
            </a:r>
            <a:endParaRPr lang="en-US" sz="1150" dirty="0"/>
          </a:p>
        </p:txBody>
      </p:sp>
      <p:sp>
        <p:nvSpPr>
          <p:cNvPr id="202" name="Shape 202"/>
          <p:cNvSpPr/>
          <p:nvPr/>
        </p:nvSpPr>
        <p:spPr>
          <a:xfrm>
            <a:off x="2158889" y="3255264"/>
            <a:ext cx="91" cy="2552090"/>
          </a:xfrm>
          <a:prstGeom prst="line">
            <a:avLst/>
          </a:prstGeom>
          <a:noFill/>
          <a:ln w="6350">
            <a:solidFill>
              <a:srgbClr val="E3E3E3"/>
            </a:solidFill>
            <a:prstDash val="solid"/>
          </a:ln>
        </p:spPr>
        <p:txBody>
          <a:bodyPr/>
          <a:lstStyle/>
          <a:p>
            <a:endParaRPr lang="ko-KR" altLang="en-US"/>
          </a:p>
        </p:txBody>
      </p:sp>
      <p:sp>
        <p:nvSpPr>
          <p:cNvPr id="203" name="Text 203"/>
          <p:cNvSpPr txBox="1"/>
          <p:nvPr/>
        </p:nvSpPr>
        <p:spPr>
          <a:xfrm>
            <a:off x="1884569"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a:t>
            </a:r>
            <a:endParaRPr lang="en-US" sz="900" dirty="0"/>
          </a:p>
        </p:txBody>
      </p:sp>
      <p:sp>
        <p:nvSpPr>
          <p:cNvPr id="204" name="Shape 204"/>
          <p:cNvSpPr/>
          <p:nvPr/>
        </p:nvSpPr>
        <p:spPr>
          <a:xfrm>
            <a:off x="4353449" y="3255264"/>
            <a:ext cx="91" cy="2552090"/>
          </a:xfrm>
          <a:prstGeom prst="line">
            <a:avLst/>
          </a:prstGeom>
          <a:noFill/>
          <a:ln w="6350">
            <a:solidFill>
              <a:srgbClr val="E3E3E3"/>
            </a:solidFill>
            <a:prstDash val="solid"/>
          </a:ln>
        </p:spPr>
        <p:txBody>
          <a:bodyPr/>
          <a:lstStyle/>
          <a:p>
            <a:endParaRPr lang="ko-KR" altLang="en-US"/>
          </a:p>
        </p:txBody>
      </p:sp>
      <p:sp>
        <p:nvSpPr>
          <p:cNvPr id="205" name="Text 205"/>
          <p:cNvSpPr txBox="1"/>
          <p:nvPr/>
        </p:nvSpPr>
        <p:spPr>
          <a:xfrm>
            <a:off x="4079129"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20%</a:t>
            </a:r>
            <a:endParaRPr lang="en-US" sz="900" dirty="0"/>
          </a:p>
        </p:txBody>
      </p:sp>
      <p:sp>
        <p:nvSpPr>
          <p:cNvPr id="206" name="Shape 206"/>
          <p:cNvSpPr/>
          <p:nvPr/>
        </p:nvSpPr>
        <p:spPr>
          <a:xfrm>
            <a:off x="6548009" y="3255264"/>
            <a:ext cx="91" cy="2552090"/>
          </a:xfrm>
          <a:prstGeom prst="line">
            <a:avLst/>
          </a:prstGeom>
          <a:noFill/>
          <a:ln w="6350">
            <a:solidFill>
              <a:srgbClr val="E3E3E3"/>
            </a:solidFill>
            <a:prstDash val="solid"/>
          </a:ln>
        </p:spPr>
        <p:txBody>
          <a:bodyPr/>
          <a:lstStyle/>
          <a:p>
            <a:endParaRPr lang="ko-KR" altLang="en-US"/>
          </a:p>
        </p:txBody>
      </p:sp>
      <p:sp>
        <p:nvSpPr>
          <p:cNvPr id="207" name="Text 207"/>
          <p:cNvSpPr txBox="1"/>
          <p:nvPr/>
        </p:nvSpPr>
        <p:spPr>
          <a:xfrm>
            <a:off x="6273689"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40%</a:t>
            </a:r>
            <a:endParaRPr lang="en-US" sz="900" dirty="0"/>
          </a:p>
        </p:txBody>
      </p:sp>
      <p:sp>
        <p:nvSpPr>
          <p:cNvPr id="208" name="Shape 208"/>
          <p:cNvSpPr/>
          <p:nvPr/>
        </p:nvSpPr>
        <p:spPr>
          <a:xfrm>
            <a:off x="8742569" y="3255264"/>
            <a:ext cx="91" cy="2552090"/>
          </a:xfrm>
          <a:prstGeom prst="line">
            <a:avLst/>
          </a:prstGeom>
          <a:noFill/>
          <a:ln w="6350">
            <a:solidFill>
              <a:srgbClr val="E3E3E3"/>
            </a:solidFill>
            <a:prstDash val="solid"/>
          </a:ln>
        </p:spPr>
        <p:txBody>
          <a:bodyPr/>
          <a:lstStyle/>
          <a:p>
            <a:endParaRPr lang="ko-KR" altLang="en-US"/>
          </a:p>
        </p:txBody>
      </p:sp>
      <p:sp>
        <p:nvSpPr>
          <p:cNvPr id="209" name="Text 209"/>
          <p:cNvSpPr txBox="1"/>
          <p:nvPr/>
        </p:nvSpPr>
        <p:spPr>
          <a:xfrm>
            <a:off x="8468249"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60%</a:t>
            </a:r>
            <a:endParaRPr lang="en-US" sz="900" dirty="0"/>
          </a:p>
        </p:txBody>
      </p:sp>
      <p:sp>
        <p:nvSpPr>
          <p:cNvPr id="210" name="Shape 210"/>
          <p:cNvSpPr/>
          <p:nvPr/>
        </p:nvSpPr>
        <p:spPr>
          <a:xfrm>
            <a:off x="10937129" y="3255264"/>
            <a:ext cx="91" cy="2552090"/>
          </a:xfrm>
          <a:prstGeom prst="line">
            <a:avLst/>
          </a:prstGeom>
          <a:noFill/>
          <a:ln w="6350">
            <a:solidFill>
              <a:srgbClr val="E3E3E3"/>
            </a:solidFill>
            <a:prstDash val="solid"/>
          </a:ln>
        </p:spPr>
        <p:txBody>
          <a:bodyPr/>
          <a:lstStyle/>
          <a:p>
            <a:endParaRPr lang="ko-KR" altLang="en-US"/>
          </a:p>
        </p:txBody>
      </p:sp>
      <p:sp>
        <p:nvSpPr>
          <p:cNvPr id="211" name="Text 211"/>
          <p:cNvSpPr txBox="1"/>
          <p:nvPr/>
        </p:nvSpPr>
        <p:spPr>
          <a:xfrm>
            <a:off x="10662809"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80%</a:t>
            </a:r>
            <a:endParaRPr lang="en-US" sz="900" dirty="0"/>
          </a:p>
        </p:txBody>
      </p:sp>
      <p:sp>
        <p:nvSpPr>
          <p:cNvPr id="212" name="Text 212"/>
          <p:cNvSpPr txBox="1"/>
          <p:nvPr/>
        </p:nvSpPr>
        <p:spPr>
          <a:xfrm>
            <a:off x="783102" y="3273552"/>
            <a:ext cx="1298448" cy="149047"/>
          </a:xfrm>
          <a:prstGeom prst="rect">
            <a:avLst/>
          </a:prstGeom>
          <a:noFill/>
          <a:ln/>
        </p:spPr>
        <p:txBody>
          <a:bodyPr wrap="square" lIns="0" tIns="0" rIns="0" bIns="0" rtlCol="0" anchor="ctr"/>
          <a:lstStyle/>
          <a:p>
            <a:pPr marL="0" indent="0" algn="r">
              <a:buNone/>
            </a:pPr>
            <a:r>
              <a:rPr lang="en-US" sz="950" b="1" dirty="0">
                <a:solidFill>
                  <a:srgbClr val="C00000"/>
                </a:solidFill>
                <a:latin typeface="맑은 고딕" pitchFamily="34" charset="0"/>
                <a:ea typeface="맑은 고딕" pitchFamily="34" charset="-122"/>
                <a:cs typeface="맑은 고딕" pitchFamily="34" charset="-120"/>
              </a:rPr>
              <a:t>GMM</a:t>
            </a:r>
            <a:endParaRPr lang="en-US" sz="950" dirty="0"/>
          </a:p>
        </p:txBody>
      </p:sp>
      <p:sp>
        <p:nvSpPr>
          <p:cNvPr id="213" name="Shape 213"/>
          <p:cNvSpPr/>
          <p:nvPr/>
        </p:nvSpPr>
        <p:spPr>
          <a:xfrm>
            <a:off x="2154702" y="3296412"/>
            <a:ext cx="542544" cy="103327"/>
          </a:xfrm>
          <a:prstGeom prst="rect">
            <a:avLst/>
          </a:prstGeom>
          <a:solidFill>
            <a:srgbClr val="C00000"/>
          </a:solidFill>
          <a:ln w="12700">
            <a:solidFill>
              <a:srgbClr val="C00000"/>
            </a:solidFill>
            <a:prstDash val="solid"/>
          </a:ln>
        </p:spPr>
        <p:txBody>
          <a:bodyPr/>
          <a:lstStyle/>
          <a:p>
            <a:endParaRPr lang="ko-KR" altLang="en-US"/>
          </a:p>
        </p:txBody>
      </p:sp>
      <p:sp>
        <p:nvSpPr>
          <p:cNvPr id="214" name="Text 214"/>
          <p:cNvSpPr txBox="1"/>
          <p:nvPr/>
        </p:nvSpPr>
        <p:spPr>
          <a:xfrm>
            <a:off x="2747153" y="3273552"/>
            <a:ext cx="640080" cy="149047"/>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4.9%</a:t>
            </a:r>
            <a:endParaRPr lang="en-US" sz="900" dirty="0"/>
          </a:p>
        </p:txBody>
      </p:sp>
      <p:sp>
        <p:nvSpPr>
          <p:cNvPr id="215" name="Text 215"/>
          <p:cNvSpPr txBox="1"/>
          <p:nvPr/>
        </p:nvSpPr>
        <p:spPr>
          <a:xfrm>
            <a:off x="783102" y="3422599"/>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Mahalanobis</a:t>
            </a:r>
            <a:endParaRPr lang="en-US" sz="950" dirty="0"/>
          </a:p>
        </p:txBody>
      </p:sp>
      <p:sp>
        <p:nvSpPr>
          <p:cNvPr id="216" name="Shape 216"/>
          <p:cNvSpPr/>
          <p:nvPr/>
        </p:nvSpPr>
        <p:spPr>
          <a:xfrm>
            <a:off x="2154702" y="3445459"/>
            <a:ext cx="1389888" cy="103327"/>
          </a:xfrm>
          <a:prstGeom prst="rect">
            <a:avLst/>
          </a:prstGeom>
          <a:solidFill>
            <a:srgbClr val="5B7BA0"/>
          </a:solidFill>
          <a:ln w="12700">
            <a:solidFill>
              <a:srgbClr val="5B7BA0"/>
            </a:solidFill>
            <a:prstDash val="solid"/>
          </a:ln>
        </p:spPr>
        <p:txBody>
          <a:bodyPr/>
          <a:lstStyle/>
          <a:p>
            <a:endParaRPr lang="ko-KR" altLang="en-US"/>
          </a:p>
        </p:txBody>
      </p:sp>
      <p:sp>
        <p:nvSpPr>
          <p:cNvPr id="217" name="Text 217"/>
          <p:cNvSpPr txBox="1"/>
          <p:nvPr/>
        </p:nvSpPr>
        <p:spPr>
          <a:xfrm>
            <a:off x="3594497" y="3422599"/>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12.7%</a:t>
            </a:r>
            <a:endParaRPr lang="en-US" sz="900" dirty="0"/>
          </a:p>
        </p:txBody>
      </p:sp>
      <p:sp>
        <p:nvSpPr>
          <p:cNvPr id="218" name="Text 218"/>
          <p:cNvSpPr txBox="1"/>
          <p:nvPr/>
        </p:nvSpPr>
        <p:spPr>
          <a:xfrm>
            <a:off x="783102" y="357164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LOF20</a:t>
            </a:r>
            <a:endParaRPr lang="en-US" sz="950" dirty="0"/>
          </a:p>
        </p:txBody>
      </p:sp>
      <p:sp>
        <p:nvSpPr>
          <p:cNvPr id="219" name="Shape 219"/>
          <p:cNvSpPr/>
          <p:nvPr/>
        </p:nvSpPr>
        <p:spPr>
          <a:xfrm>
            <a:off x="2154702" y="3594506"/>
            <a:ext cx="2999232" cy="103327"/>
          </a:xfrm>
          <a:prstGeom prst="rect">
            <a:avLst/>
          </a:prstGeom>
          <a:solidFill>
            <a:srgbClr val="5B7BA0"/>
          </a:solidFill>
          <a:ln w="12700">
            <a:solidFill>
              <a:srgbClr val="5B7BA0"/>
            </a:solidFill>
            <a:prstDash val="solid"/>
          </a:ln>
        </p:spPr>
        <p:txBody>
          <a:bodyPr/>
          <a:lstStyle/>
          <a:p>
            <a:endParaRPr lang="ko-KR" altLang="en-US"/>
          </a:p>
        </p:txBody>
      </p:sp>
      <p:sp>
        <p:nvSpPr>
          <p:cNvPr id="220" name="Text 220"/>
          <p:cNvSpPr txBox="1"/>
          <p:nvPr/>
        </p:nvSpPr>
        <p:spPr>
          <a:xfrm>
            <a:off x="5203841" y="357164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27.3%</a:t>
            </a:r>
            <a:endParaRPr lang="en-US" sz="900" dirty="0"/>
          </a:p>
        </p:txBody>
      </p:sp>
      <p:sp>
        <p:nvSpPr>
          <p:cNvPr id="221" name="Text 221"/>
          <p:cNvSpPr txBox="1"/>
          <p:nvPr/>
        </p:nvSpPr>
        <p:spPr>
          <a:xfrm>
            <a:off x="783102" y="372069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PCA_Recon</a:t>
            </a:r>
            <a:endParaRPr lang="en-US" sz="950" dirty="0"/>
          </a:p>
        </p:txBody>
      </p:sp>
      <p:sp>
        <p:nvSpPr>
          <p:cNvPr id="222" name="Shape 222"/>
          <p:cNvSpPr/>
          <p:nvPr/>
        </p:nvSpPr>
        <p:spPr>
          <a:xfrm>
            <a:off x="2154702" y="3743554"/>
            <a:ext cx="3803904" cy="103327"/>
          </a:xfrm>
          <a:prstGeom prst="rect">
            <a:avLst/>
          </a:prstGeom>
          <a:solidFill>
            <a:srgbClr val="5B7BA0"/>
          </a:solidFill>
          <a:ln w="12700">
            <a:solidFill>
              <a:srgbClr val="5B7BA0"/>
            </a:solidFill>
            <a:prstDash val="solid"/>
          </a:ln>
        </p:spPr>
        <p:txBody>
          <a:bodyPr/>
          <a:lstStyle/>
          <a:p>
            <a:endParaRPr lang="ko-KR" altLang="en-US"/>
          </a:p>
        </p:txBody>
      </p:sp>
      <p:sp>
        <p:nvSpPr>
          <p:cNvPr id="223" name="Text 223"/>
          <p:cNvSpPr txBox="1"/>
          <p:nvPr/>
        </p:nvSpPr>
        <p:spPr>
          <a:xfrm>
            <a:off x="6008513" y="372069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34.7%</a:t>
            </a:r>
            <a:endParaRPr lang="en-US" sz="900" dirty="0"/>
          </a:p>
        </p:txBody>
      </p:sp>
      <p:sp>
        <p:nvSpPr>
          <p:cNvPr id="224" name="Text 224"/>
          <p:cNvSpPr txBox="1"/>
          <p:nvPr/>
        </p:nvSpPr>
        <p:spPr>
          <a:xfrm>
            <a:off x="783102" y="386974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AE_Recon</a:t>
            </a:r>
            <a:endParaRPr lang="en-US" sz="950" dirty="0"/>
          </a:p>
        </p:txBody>
      </p:sp>
      <p:sp>
        <p:nvSpPr>
          <p:cNvPr id="225" name="Shape 225"/>
          <p:cNvSpPr/>
          <p:nvPr/>
        </p:nvSpPr>
        <p:spPr>
          <a:xfrm>
            <a:off x="2154702" y="3892601"/>
            <a:ext cx="5004816" cy="103327"/>
          </a:xfrm>
          <a:prstGeom prst="rect">
            <a:avLst/>
          </a:prstGeom>
          <a:solidFill>
            <a:srgbClr val="5B7BA0"/>
          </a:solidFill>
          <a:ln w="12700">
            <a:solidFill>
              <a:srgbClr val="5B7BA0"/>
            </a:solidFill>
            <a:prstDash val="solid"/>
          </a:ln>
        </p:spPr>
        <p:txBody>
          <a:bodyPr/>
          <a:lstStyle/>
          <a:p>
            <a:endParaRPr lang="ko-KR" altLang="en-US"/>
          </a:p>
        </p:txBody>
      </p:sp>
      <p:sp>
        <p:nvSpPr>
          <p:cNvPr id="226" name="Text 226"/>
          <p:cNvSpPr txBox="1"/>
          <p:nvPr/>
        </p:nvSpPr>
        <p:spPr>
          <a:xfrm>
            <a:off x="7209425" y="386974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45.6%</a:t>
            </a:r>
            <a:endParaRPr lang="en-US" sz="900" dirty="0"/>
          </a:p>
        </p:txBody>
      </p:sp>
      <p:sp>
        <p:nvSpPr>
          <p:cNvPr id="227" name="Text 227"/>
          <p:cNvSpPr txBox="1"/>
          <p:nvPr/>
        </p:nvSpPr>
        <p:spPr>
          <a:xfrm>
            <a:off x="783102" y="401878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KDE</a:t>
            </a:r>
            <a:endParaRPr lang="en-US" sz="950" dirty="0"/>
          </a:p>
        </p:txBody>
      </p:sp>
      <p:sp>
        <p:nvSpPr>
          <p:cNvPr id="228" name="Shape 228"/>
          <p:cNvSpPr/>
          <p:nvPr/>
        </p:nvSpPr>
        <p:spPr>
          <a:xfrm>
            <a:off x="2154702" y="4041648"/>
            <a:ext cx="5157216" cy="103327"/>
          </a:xfrm>
          <a:prstGeom prst="rect">
            <a:avLst/>
          </a:prstGeom>
          <a:solidFill>
            <a:srgbClr val="5B7BA0"/>
          </a:solidFill>
          <a:ln w="12700">
            <a:solidFill>
              <a:srgbClr val="5B7BA0"/>
            </a:solidFill>
            <a:prstDash val="solid"/>
          </a:ln>
        </p:spPr>
        <p:txBody>
          <a:bodyPr/>
          <a:lstStyle/>
          <a:p>
            <a:endParaRPr lang="ko-KR" altLang="en-US"/>
          </a:p>
        </p:txBody>
      </p:sp>
      <p:sp>
        <p:nvSpPr>
          <p:cNvPr id="229" name="Text 229"/>
          <p:cNvSpPr txBox="1"/>
          <p:nvPr/>
        </p:nvSpPr>
        <p:spPr>
          <a:xfrm>
            <a:off x="7361825" y="401878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47.0%</a:t>
            </a:r>
            <a:endParaRPr lang="en-US" sz="900" dirty="0"/>
          </a:p>
        </p:txBody>
      </p:sp>
      <p:sp>
        <p:nvSpPr>
          <p:cNvPr id="230" name="Text 230"/>
          <p:cNvSpPr txBox="1"/>
          <p:nvPr/>
        </p:nvSpPr>
        <p:spPr>
          <a:xfrm>
            <a:off x="783102" y="4167835"/>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kNN20</a:t>
            </a:r>
            <a:endParaRPr lang="en-US" sz="950" dirty="0"/>
          </a:p>
        </p:txBody>
      </p:sp>
      <p:sp>
        <p:nvSpPr>
          <p:cNvPr id="231" name="Shape 231"/>
          <p:cNvSpPr/>
          <p:nvPr/>
        </p:nvSpPr>
        <p:spPr>
          <a:xfrm>
            <a:off x="2154702" y="4190695"/>
            <a:ext cx="5632704" cy="103327"/>
          </a:xfrm>
          <a:prstGeom prst="rect">
            <a:avLst/>
          </a:prstGeom>
          <a:solidFill>
            <a:srgbClr val="5B7BA0"/>
          </a:solidFill>
          <a:ln w="12700">
            <a:solidFill>
              <a:srgbClr val="5B7BA0"/>
            </a:solidFill>
            <a:prstDash val="solid"/>
          </a:ln>
        </p:spPr>
        <p:txBody>
          <a:bodyPr/>
          <a:lstStyle/>
          <a:p>
            <a:endParaRPr lang="ko-KR" altLang="en-US"/>
          </a:p>
        </p:txBody>
      </p:sp>
      <p:sp>
        <p:nvSpPr>
          <p:cNvPr id="232" name="Text 232"/>
          <p:cNvSpPr txBox="1"/>
          <p:nvPr/>
        </p:nvSpPr>
        <p:spPr>
          <a:xfrm>
            <a:off x="7837313" y="4167835"/>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51.3%</a:t>
            </a:r>
            <a:endParaRPr lang="en-US" sz="900" dirty="0"/>
          </a:p>
        </p:txBody>
      </p:sp>
      <p:sp>
        <p:nvSpPr>
          <p:cNvPr id="233" name="Text 233"/>
          <p:cNvSpPr txBox="1"/>
          <p:nvPr/>
        </p:nvSpPr>
        <p:spPr>
          <a:xfrm>
            <a:off x="783102" y="4316882"/>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MLP32</a:t>
            </a:r>
            <a:endParaRPr lang="en-US" sz="950" dirty="0"/>
          </a:p>
        </p:txBody>
      </p:sp>
      <p:sp>
        <p:nvSpPr>
          <p:cNvPr id="234" name="Shape 234"/>
          <p:cNvSpPr/>
          <p:nvPr/>
        </p:nvSpPr>
        <p:spPr>
          <a:xfrm>
            <a:off x="2154702" y="4339742"/>
            <a:ext cx="5705856" cy="103327"/>
          </a:xfrm>
          <a:prstGeom prst="rect">
            <a:avLst/>
          </a:prstGeom>
          <a:solidFill>
            <a:srgbClr val="5B7BA0"/>
          </a:solidFill>
          <a:ln w="12700">
            <a:solidFill>
              <a:srgbClr val="5B7BA0"/>
            </a:solidFill>
            <a:prstDash val="solid"/>
          </a:ln>
        </p:spPr>
        <p:txBody>
          <a:bodyPr/>
          <a:lstStyle/>
          <a:p>
            <a:endParaRPr lang="ko-KR" altLang="en-US"/>
          </a:p>
        </p:txBody>
      </p:sp>
      <p:sp>
        <p:nvSpPr>
          <p:cNvPr id="235" name="Text 235"/>
          <p:cNvSpPr txBox="1"/>
          <p:nvPr/>
        </p:nvSpPr>
        <p:spPr>
          <a:xfrm>
            <a:off x="7910465" y="4316882"/>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52.0%</a:t>
            </a:r>
            <a:endParaRPr lang="en-US" sz="900" dirty="0"/>
          </a:p>
        </p:txBody>
      </p:sp>
      <p:sp>
        <p:nvSpPr>
          <p:cNvPr id="236" name="Text 236"/>
          <p:cNvSpPr txBox="1"/>
          <p:nvPr/>
        </p:nvSpPr>
        <p:spPr>
          <a:xfrm>
            <a:off x="783102" y="446593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LSTM32</a:t>
            </a:r>
            <a:endParaRPr lang="en-US" sz="950" dirty="0"/>
          </a:p>
        </p:txBody>
      </p:sp>
      <p:sp>
        <p:nvSpPr>
          <p:cNvPr id="237" name="Shape 237"/>
          <p:cNvSpPr/>
          <p:nvPr/>
        </p:nvSpPr>
        <p:spPr>
          <a:xfrm>
            <a:off x="2154702" y="4488790"/>
            <a:ext cx="5718048" cy="103327"/>
          </a:xfrm>
          <a:prstGeom prst="rect">
            <a:avLst/>
          </a:prstGeom>
          <a:solidFill>
            <a:srgbClr val="5B7BA0"/>
          </a:solidFill>
          <a:ln w="12700">
            <a:solidFill>
              <a:srgbClr val="5B7BA0"/>
            </a:solidFill>
            <a:prstDash val="solid"/>
          </a:ln>
        </p:spPr>
        <p:txBody>
          <a:bodyPr/>
          <a:lstStyle/>
          <a:p>
            <a:endParaRPr lang="ko-KR" altLang="en-US"/>
          </a:p>
        </p:txBody>
      </p:sp>
      <p:sp>
        <p:nvSpPr>
          <p:cNvPr id="238" name="Text 238"/>
          <p:cNvSpPr txBox="1"/>
          <p:nvPr/>
        </p:nvSpPr>
        <p:spPr>
          <a:xfrm>
            <a:off x="7922657" y="446593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52.1%</a:t>
            </a:r>
            <a:endParaRPr lang="en-US" sz="900" dirty="0"/>
          </a:p>
        </p:txBody>
      </p:sp>
      <p:sp>
        <p:nvSpPr>
          <p:cNvPr id="239" name="Text 239"/>
          <p:cNvSpPr txBox="1"/>
          <p:nvPr/>
        </p:nvSpPr>
        <p:spPr>
          <a:xfrm>
            <a:off x="783102" y="461497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AR_Relation</a:t>
            </a:r>
            <a:endParaRPr lang="en-US" sz="950" dirty="0"/>
          </a:p>
        </p:txBody>
      </p:sp>
      <p:sp>
        <p:nvSpPr>
          <p:cNvPr id="240" name="Shape 240"/>
          <p:cNvSpPr/>
          <p:nvPr/>
        </p:nvSpPr>
        <p:spPr>
          <a:xfrm>
            <a:off x="2154702" y="4637837"/>
            <a:ext cx="5852160" cy="103327"/>
          </a:xfrm>
          <a:prstGeom prst="rect">
            <a:avLst/>
          </a:prstGeom>
          <a:solidFill>
            <a:srgbClr val="5B7BA0"/>
          </a:solidFill>
          <a:ln w="12700">
            <a:solidFill>
              <a:srgbClr val="5B7BA0"/>
            </a:solidFill>
            <a:prstDash val="solid"/>
          </a:ln>
        </p:spPr>
        <p:txBody>
          <a:bodyPr/>
          <a:lstStyle/>
          <a:p>
            <a:endParaRPr lang="ko-KR" altLang="en-US"/>
          </a:p>
        </p:txBody>
      </p:sp>
      <p:sp>
        <p:nvSpPr>
          <p:cNvPr id="241" name="Text 241"/>
          <p:cNvSpPr txBox="1"/>
          <p:nvPr/>
        </p:nvSpPr>
        <p:spPr>
          <a:xfrm>
            <a:off x="8056769" y="461497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53.3%</a:t>
            </a:r>
            <a:endParaRPr lang="en-US" sz="900" dirty="0"/>
          </a:p>
        </p:txBody>
      </p:sp>
      <p:sp>
        <p:nvSpPr>
          <p:cNvPr id="242" name="Text 242"/>
          <p:cNvSpPr txBox="1"/>
          <p:nvPr/>
        </p:nvSpPr>
        <p:spPr>
          <a:xfrm>
            <a:off x="783102" y="476402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OCSVM</a:t>
            </a:r>
            <a:endParaRPr lang="en-US" sz="950" dirty="0"/>
          </a:p>
        </p:txBody>
      </p:sp>
      <p:sp>
        <p:nvSpPr>
          <p:cNvPr id="243" name="Shape 243"/>
          <p:cNvSpPr/>
          <p:nvPr/>
        </p:nvSpPr>
        <p:spPr>
          <a:xfrm>
            <a:off x="2154702" y="4786884"/>
            <a:ext cx="5961888" cy="103327"/>
          </a:xfrm>
          <a:prstGeom prst="rect">
            <a:avLst/>
          </a:prstGeom>
          <a:solidFill>
            <a:srgbClr val="5B7BA0"/>
          </a:solidFill>
          <a:ln w="12700">
            <a:solidFill>
              <a:srgbClr val="5B7BA0"/>
            </a:solidFill>
            <a:prstDash val="solid"/>
          </a:ln>
        </p:spPr>
        <p:txBody>
          <a:bodyPr/>
          <a:lstStyle/>
          <a:p>
            <a:endParaRPr lang="ko-KR" altLang="en-US"/>
          </a:p>
        </p:txBody>
      </p:sp>
      <p:sp>
        <p:nvSpPr>
          <p:cNvPr id="244" name="Text 244"/>
          <p:cNvSpPr txBox="1"/>
          <p:nvPr/>
        </p:nvSpPr>
        <p:spPr>
          <a:xfrm>
            <a:off x="8166497" y="476402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54.3%</a:t>
            </a:r>
            <a:endParaRPr lang="en-US" sz="900" dirty="0"/>
          </a:p>
        </p:txBody>
      </p:sp>
      <p:sp>
        <p:nvSpPr>
          <p:cNvPr id="245" name="Text 245"/>
          <p:cNvSpPr txBox="1"/>
          <p:nvPr/>
        </p:nvSpPr>
        <p:spPr>
          <a:xfrm>
            <a:off x="783102" y="491307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VAR_Ridge</a:t>
            </a:r>
            <a:endParaRPr lang="en-US" sz="950" dirty="0"/>
          </a:p>
        </p:txBody>
      </p:sp>
      <p:sp>
        <p:nvSpPr>
          <p:cNvPr id="246" name="Shape 246"/>
          <p:cNvSpPr/>
          <p:nvPr/>
        </p:nvSpPr>
        <p:spPr>
          <a:xfrm>
            <a:off x="2154702" y="4935931"/>
            <a:ext cx="6071616" cy="103327"/>
          </a:xfrm>
          <a:prstGeom prst="rect">
            <a:avLst/>
          </a:prstGeom>
          <a:solidFill>
            <a:srgbClr val="5B7BA0"/>
          </a:solidFill>
          <a:ln w="12700">
            <a:solidFill>
              <a:srgbClr val="5B7BA0"/>
            </a:solidFill>
            <a:prstDash val="solid"/>
          </a:ln>
        </p:spPr>
        <p:txBody>
          <a:bodyPr/>
          <a:lstStyle/>
          <a:p>
            <a:endParaRPr lang="ko-KR" altLang="en-US"/>
          </a:p>
        </p:txBody>
      </p:sp>
      <p:sp>
        <p:nvSpPr>
          <p:cNvPr id="247" name="Text 247"/>
          <p:cNvSpPr txBox="1"/>
          <p:nvPr/>
        </p:nvSpPr>
        <p:spPr>
          <a:xfrm>
            <a:off x="8276225" y="491307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55.3%</a:t>
            </a:r>
            <a:endParaRPr lang="en-US" sz="900" dirty="0"/>
          </a:p>
        </p:txBody>
      </p:sp>
      <p:sp>
        <p:nvSpPr>
          <p:cNvPr id="248" name="Text 248"/>
          <p:cNvSpPr txBox="1"/>
          <p:nvPr/>
        </p:nvSpPr>
        <p:spPr>
          <a:xfrm>
            <a:off x="783102" y="506211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GRU32</a:t>
            </a:r>
            <a:endParaRPr lang="en-US" sz="950" dirty="0"/>
          </a:p>
        </p:txBody>
      </p:sp>
      <p:sp>
        <p:nvSpPr>
          <p:cNvPr id="249" name="Shape 249"/>
          <p:cNvSpPr/>
          <p:nvPr/>
        </p:nvSpPr>
        <p:spPr>
          <a:xfrm>
            <a:off x="2154702" y="5084978"/>
            <a:ext cx="6120384" cy="103327"/>
          </a:xfrm>
          <a:prstGeom prst="rect">
            <a:avLst/>
          </a:prstGeom>
          <a:solidFill>
            <a:srgbClr val="5B7BA0"/>
          </a:solidFill>
          <a:ln w="12700">
            <a:solidFill>
              <a:srgbClr val="5B7BA0"/>
            </a:solidFill>
            <a:prstDash val="solid"/>
          </a:ln>
        </p:spPr>
        <p:txBody>
          <a:bodyPr/>
          <a:lstStyle/>
          <a:p>
            <a:endParaRPr lang="ko-KR" altLang="en-US"/>
          </a:p>
        </p:txBody>
      </p:sp>
      <p:sp>
        <p:nvSpPr>
          <p:cNvPr id="250" name="Text 250"/>
          <p:cNvSpPr txBox="1"/>
          <p:nvPr/>
        </p:nvSpPr>
        <p:spPr>
          <a:xfrm>
            <a:off x="8324993" y="506211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55.8%</a:t>
            </a:r>
            <a:endParaRPr lang="en-US" sz="900" dirty="0"/>
          </a:p>
        </p:txBody>
      </p:sp>
      <p:sp>
        <p:nvSpPr>
          <p:cNvPr id="251" name="Text 251"/>
          <p:cNvSpPr txBox="1"/>
          <p:nvPr/>
        </p:nvSpPr>
        <p:spPr>
          <a:xfrm>
            <a:off x="783102" y="521116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a:t>
            </a:r>
            <a:endParaRPr lang="en-US" sz="950" dirty="0"/>
          </a:p>
        </p:txBody>
      </p:sp>
      <p:sp>
        <p:nvSpPr>
          <p:cNvPr id="252" name="Shape 252"/>
          <p:cNvSpPr/>
          <p:nvPr/>
        </p:nvSpPr>
        <p:spPr>
          <a:xfrm>
            <a:off x="2154702" y="5234026"/>
            <a:ext cx="6547104" cy="103327"/>
          </a:xfrm>
          <a:prstGeom prst="rect">
            <a:avLst/>
          </a:prstGeom>
          <a:solidFill>
            <a:srgbClr val="5B7BA0"/>
          </a:solidFill>
          <a:ln w="12700">
            <a:solidFill>
              <a:srgbClr val="5B7BA0"/>
            </a:solidFill>
            <a:prstDash val="solid"/>
          </a:ln>
        </p:spPr>
        <p:txBody>
          <a:bodyPr/>
          <a:lstStyle/>
          <a:p>
            <a:endParaRPr lang="ko-KR" altLang="en-US"/>
          </a:p>
        </p:txBody>
      </p:sp>
      <p:sp>
        <p:nvSpPr>
          <p:cNvPr id="253" name="Text 253"/>
          <p:cNvSpPr txBox="1"/>
          <p:nvPr/>
        </p:nvSpPr>
        <p:spPr>
          <a:xfrm>
            <a:off x="8751713" y="521116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59.7%</a:t>
            </a:r>
            <a:endParaRPr lang="en-US" sz="900" dirty="0"/>
          </a:p>
        </p:txBody>
      </p:sp>
      <p:sp>
        <p:nvSpPr>
          <p:cNvPr id="254" name="Text 254"/>
          <p:cNvSpPr txBox="1"/>
          <p:nvPr/>
        </p:nvSpPr>
        <p:spPr>
          <a:xfrm>
            <a:off x="783102" y="5360213"/>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IsolationForest</a:t>
            </a:r>
            <a:endParaRPr lang="en-US" sz="950" dirty="0"/>
          </a:p>
        </p:txBody>
      </p:sp>
      <p:sp>
        <p:nvSpPr>
          <p:cNvPr id="255" name="Shape 255"/>
          <p:cNvSpPr/>
          <p:nvPr/>
        </p:nvSpPr>
        <p:spPr>
          <a:xfrm>
            <a:off x="2154702" y="5383073"/>
            <a:ext cx="7199376" cy="103327"/>
          </a:xfrm>
          <a:prstGeom prst="rect">
            <a:avLst/>
          </a:prstGeom>
          <a:solidFill>
            <a:srgbClr val="5B7BA0"/>
          </a:solidFill>
          <a:ln w="12700">
            <a:solidFill>
              <a:srgbClr val="5B7BA0"/>
            </a:solidFill>
            <a:prstDash val="solid"/>
          </a:ln>
        </p:spPr>
        <p:txBody>
          <a:bodyPr/>
          <a:lstStyle/>
          <a:p>
            <a:endParaRPr lang="ko-KR" altLang="en-US"/>
          </a:p>
        </p:txBody>
      </p:sp>
      <p:sp>
        <p:nvSpPr>
          <p:cNvPr id="256" name="Text 256"/>
          <p:cNvSpPr txBox="1"/>
          <p:nvPr/>
        </p:nvSpPr>
        <p:spPr>
          <a:xfrm>
            <a:off x="9403985" y="5360213"/>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65.6%</a:t>
            </a:r>
            <a:endParaRPr lang="en-US" sz="900" dirty="0"/>
          </a:p>
        </p:txBody>
      </p:sp>
      <p:sp>
        <p:nvSpPr>
          <p:cNvPr id="257" name="Text 257"/>
          <p:cNvSpPr txBox="1"/>
          <p:nvPr/>
        </p:nvSpPr>
        <p:spPr>
          <a:xfrm>
            <a:off x="783102" y="550926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RobustMAD</a:t>
            </a:r>
            <a:endParaRPr lang="en-US" sz="950" dirty="0"/>
          </a:p>
        </p:txBody>
      </p:sp>
      <p:sp>
        <p:nvSpPr>
          <p:cNvPr id="258" name="Shape 258"/>
          <p:cNvSpPr/>
          <p:nvPr/>
        </p:nvSpPr>
        <p:spPr>
          <a:xfrm>
            <a:off x="2154702" y="5532120"/>
            <a:ext cx="7406640" cy="103327"/>
          </a:xfrm>
          <a:prstGeom prst="rect">
            <a:avLst/>
          </a:prstGeom>
          <a:solidFill>
            <a:srgbClr val="5B7BA0"/>
          </a:solidFill>
          <a:ln w="12700">
            <a:solidFill>
              <a:srgbClr val="5B7BA0"/>
            </a:solidFill>
            <a:prstDash val="solid"/>
          </a:ln>
        </p:spPr>
        <p:txBody>
          <a:bodyPr/>
          <a:lstStyle/>
          <a:p>
            <a:endParaRPr lang="ko-KR" altLang="en-US"/>
          </a:p>
        </p:txBody>
      </p:sp>
      <p:sp>
        <p:nvSpPr>
          <p:cNvPr id="259" name="Text 259"/>
          <p:cNvSpPr txBox="1"/>
          <p:nvPr/>
        </p:nvSpPr>
        <p:spPr>
          <a:xfrm>
            <a:off x="9611249" y="550926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67.5%</a:t>
            </a:r>
            <a:endParaRPr lang="en-US" sz="900" dirty="0"/>
          </a:p>
        </p:txBody>
      </p:sp>
      <p:sp>
        <p:nvSpPr>
          <p:cNvPr id="260" name="Text 260"/>
          <p:cNvSpPr txBox="1"/>
          <p:nvPr/>
        </p:nvSpPr>
        <p:spPr>
          <a:xfrm>
            <a:off x="783102" y="565830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Persistence</a:t>
            </a:r>
            <a:endParaRPr lang="en-US" sz="950" dirty="0"/>
          </a:p>
        </p:txBody>
      </p:sp>
      <p:sp>
        <p:nvSpPr>
          <p:cNvPr id="261" name="Shape 261"/>
          <p:cNvSpPr/>
          <p:nvPr/>
        </p:nvSpPr>
        <p:spPr>
          <a:xfrm>
            <a:off x="2154702" y="5681167"/>
            <a:ext cx="8394192" cy="103327"/>
          </a:xfrm>
          <a:prstGeom prst="rect">
            <a:avLst/>
          </a:prstGeom>
          <a:solidFill>
            <a:srgbClr val="5B7BA0"/>
          </a:solidFill>
          <a:ln w="12700">
            <a:solidFill>
              <a:srgbClr val="5B7BA0"/>
            </a:solidFill>
            <a:prstDash val="solid"/>
          </a:ln>
        </p:spPr>
        <p:txBody>
          <a:bodyPr/>
          <a:lstStyle/>
          <a:p>
            <a:endParaRPr lang="ko-KR" altLang="en-US"/>
          </a:p>
        </p:txBody>
      </p:sp>
      <p:sp>
        <p:nvSpPr>
          <p:cNvPr id="262" name="Text 262"/>
          <p:cNvSpPr txBox="1"/>
          <p:nvPr/>
        </p:nvSpPr>
        <p:spPr>
          <a:xfrm>
            <a:off x="10598801" y="565830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76.5%</a:t>
            </a:r>
            <a:endParaRPr lang="en-US" sz="900" dirty="0"/>
          </a:p>
        </p:txBody>
      </p:sp>
      <p:sp>
        <p:nvSpPr>
          <p:cNvPr id="138" name="Slide Number Placeholder 0">
            <a:extLst>
              <a:ext uri="{FF2B5EF4-FFF2-40B4-BE49-F238E27FC236}">
                <a16:creationId xmlns:a16="http://schemas.microsoft.com/office/drawing/2014/main" id="{8F7A3E30-83A6-D73C-E565-240539B872B2}"/>
              </a:ext>
            </a:extLst>
          </p:cNvPr>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16</a:t>
            </a:fld>
            <a:endParaRPr lang="en-US" dirty="0"/>
          </a:p>
        </p:txBody>
      </p:sp>
      <p:sp>
        <p:nvSpPr>
          <p:cNvPr id="7" name="Text 13">
            <a:extLst>
              <a:ext uri="{FF2B5EF4-FFF2-40B4-BE49-F238E27FC236}">
                <a16:creationId xmlns:a16="http://schemas.microsoft.com/office/drawing/2014/main" id="{31332EDC-EE06-18C7-95C7-8D5B6F7AE136}"/>
              </a:ext>
            </a:extLst>
          </p:cNvPr>
          <p:cNvSpPr txBox="1"/>
          <p:nvPr/>
        </p:nvSpPr>
        <p:spPr>
          <a:xfrm>
            <a:off x="9133200" y="572400"/>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Miss rate</a:t>
            </a:r>
            <a:endParaRPr lang="en-US" sz="1700" dirty="0"/>
          </a:p>
        </p:txBody>
      </p:sp>
      <mc:AlternateContent xmlns:mc="http://schemas.openxmlformats.org/markup-compatibility/2006">
        <mc:Choice xmlns:a14="http://schemas.microsoft.com/office/drawing/2010/main" Requires="a14">
          <p:sp>
            <p:nvSpPr>
              <p:cNvPr id="9" name="Text 14">
                <a:extLst>
                  <a:ext uri="{FF2B5EF4-FFF2-40B4-BE49-F238E27FC236}">
                    <a16:creationId xmlns:a16="http://schemas.microsoft.com/office/drawing/2014/main" id="{D7478735-021D-B3C3-E06C-C169A0A71B7E}"/>
                  </a:ext>
                </a:extLst>
              </p:cNvPr>
              <p:cNvSpPr txBox="1"/>
              <p:nvPr/>
            </p:nvSpPr>
            <p:spPr>
              <a:xfrm>
                <a:off x="9133200" y="1058400"/>
                <a:ext cx="1841297" cy="548640"/>
              </a:xfrm>
              <a:prstGeom prst="rect">
                <a:avLst/>
              </a:prstGeom>
              <a:noFill/>
              <a:ln/>
            </p:spPr>
            <p:txBody>
              <a:bodyPr wrap="square" lIns="0" tIns="0" rIns="0" bIns="0" rtlCol="0" anchor="ctr"/>
              <a:lstStyle/>
              <a:p>
                <a:pPr marL="0" indent="0" algn="ctr">
                  <a:buNone/>
                </a:pPr>
                <a14:m>
                  <m:oMathPara xmlns:m="http://schemas.openxmlformats.org/officeDocument/2006/math">
                    <m:oMath>
                      <m:f>
                        <m:fPr>
                          <m:ctrlPr>
                            <a:rPr lang="en-US" altLang="ko-KR" sz="1500" i="1">
                              <a:solidFill>
                                <a:srgbClr val="262626"/>
                              </a:solidFill>
                              <a:latin typeface="Cambria Math" panose="02040503050406030204" pitchFamily="18" charset="0"/>
                              <a:ea typeface="Times New Roman" pitchFamily="34" charset="-122"/>
                              <a:cs typeface="Times New Roman" pitchFamily="34" charset="-120"/>
                            </a:rPr>
                          </m:ctrlPr>
                        </m:fPr>
                        <m:num>
                          <m:r>
                            <a:rPr lang="en-US" altLang="ko-KR" sz="1500" i="1">
                              <a:solidFill>
                                <a:srgbClr val="262626"/>
                              </a:solidFill>
                              <a:latin typeface="Cambria Math" panose="02040503050406030204" pitchFamily="18" charset="0"/>
                              <a:ea typeface="Times New Roman" pitchFamily="34" charset="-122"/>
                              <a:cs typeface="Times New Roman" pitchFamily="34" charset="-120"/>
                            </a:rPr>
                            <m:t>𝐹𝑁</m:t>
                          </m:r>
                        </m:num>
                        <m:den>
                          <m:r>
                            <a:rPr lang="en-US" altLang="ko-KR" sz="1500" i="1">
                              <a:solidFill>
                                <a:srgbClr val="262626"/>
                              </a:solidFill>
                              <a:latin typeface="Cambria Math" panose="02040503050406030204" pitchFamily="18" charset="0"/>
                              <a:ea typeface="Times New Roman" pitchFamily="34" charset="-122"/>
                              <a:cs typeface="Times New Roman" pitchFamily="34" charset="-120"/>
                            </a:rPr>
                            <m:t>𝑇𝑃</m:t>
                          </m:r>
                          <m:r>
                            <a:rPr lang="en-US" altLang="ko-KR" sz="1500" i="1">
                              <a:solidFill>
                                <a:srgbClr val="262626"/>
                              </a:solidFill>
                              <a:latin typeface="Cambria Math" panose="02040503050406030204" pitchFamily="18" charset="0"/>
                              <a:ea typeface="Times New Roman" pitchFamily="34" charset="-122"/>
                              <a:cs typeface="Times New Roman" pitchFamily="34" charset="-120"/>
                            </a:rPr>
                            <m:t>+</m:t>
                          </m:r>
                          <m:r>
                            <a:rPr lang="en-US" altLang="ko-KR" sz="1500" i="1">
                              <a:solidFill>
                                <a:srgbClr val="262626"/>
                              </a:solidFill>
                              <a:latin typeface="Cambria Math" panose="02040503050406030204" pitchFamily="18" charset="0"/>
                              <a:ea typeface="Times New Roman" pitchFamily="34" charset="-122"/>
                              <a:cs typeface="Times New Roman" pitchFamily="34" charset="-120"/>
                            </a:rPr>
                            <m:t>𝐹𝑁</m:t>
                          </m:r>
                        </m:den>
                      </m:f>
                    </m:oMath>
                  </m:oMathPara>
                </a14:m>
                <a:endParaRPr lang="en-US" sz="1500" dirty="0"/>
              </a:p>
            </p:txBody>
          </p:sp>
        </mc:Choice>
        <mc:Fallback>
          <p:sp>
            <p:nvSpPr>
              <p:cNvPr id="9" name="Text 14">
                <a:extLst>
                  <a:ext uri="{FF2B5EF4-FFF2-40B4-BE49-F238E27FC236}">
                    <a16:creationId xmlns:a16="http://schemas.microsoft.com/office/drawing/2014/main" id="{D7478735-021D-B3C3-E06C-C169A0A71B7E}"/>
                  </a:ext>
                </a:extLst>
              </p:cNvPr>
              <p:cNvSpPr txBox="1">
                <a:spLocks noRot="1" noChangeAspect="1" noMove="1" noResize="1" noEditPoints="1" noAdjustHandles="1" noChangeArrowheads="1" noChangeShapeType="1" noTextEdit="1"/>
              </p:cNvSpPr>
              <p:nvPr/>
            </p:nvSpPr>
            <p:spPr>
              <a:xfrm>
                <a:off x="9133200" y="1058400"/>
                <a:ext cx="1841297" cy="548640"/>
              </a:xfrm>
              <a:prstGeom prst="rect">
                <a:avLst/>
              </a:prstGeom>
              <a:blipFill>
                <a:blip r:embed="rId3"/>
                <a:stretch>
                  <a:fillRect b="-1111"/>
                </a:stretch>
              </a:blipFill>
              <a:ln/>
            </p:spPr>
            <p:txBody>
              <a:bodyPr/>
              <a:lstStyle/>
              <a:p>
                <a:r>
                  <a:rPr lang="ko-KR"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False Alarm Rate</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err="1">
                <a:solidFill>
                  <a:srgbClr val="262626"/>
                </a:solidFill>
                <a:latin typeface="맑은 고딕" pitchFamily="34" charset="0"/>
                <a:ea typeface="맑은 고딕" pitchFamily="34" charset="-122"/>
                <a:cs typeface="맑은 고딕" pitchFamily="34" charset="-120"/>
              </a:rPr>
              <a:t>오경보를</a:t>
            </a:r>
            <a:r>
              <a:rPr lang="en-US" sz="2100" dirty="0">
                <a:solidFill>
                  <a:srgbClr val="262626"/>
                </a:solidFill>
                <a:latin typeface="맑은 고딕" pitchFamily="34" charset="0"/>
                <a:ea typeface="맑은 고딕" pitchFamily="34" charset="-122"/>
                <a:cs typeface="맑은 고딕" pitchFamily="34" charset="-120"/>
              </a:rPr>
              <a:t> </a:t>
            </a:r>
            <a:r>
              <a:rPr lang="ko-KR" altLang="en-US" sz="2100" dirty="0">
                <a:solidFill>
                  <a:srgbClr val="262626"/>
                </a:solidFill>
                <a:latin typeface="맑은 고딕" pitchFamily="34" charset="0"/>
                <a:ea typeface="맑은 고딕" pitchFamily="34" charset="-122"/>
                <a:cs typeface="맑은 고딕" pitchFamily="34" charset="-120"/>
              </a:rPr>
              <a:t>얼마나 울릴까</a:t>
            </a:r>
            <a:r>
              <a:rPr lang="en-US" sz="2100" dirty="0">
                <a:solidFill>
                  <a:srgbClr val="262626"/>
                </a:solidFill>
                <a:latin typeface="맑은 고딕" pitchFamily="34" charset="0"/>
                <a:ea typeface="맑은 고딕" pitchFamily="34" charset="-122"/>
                <a:cs typeface="맑은 고딕" pitchFamily="34" charset="-120"/>
              </a:rPr>
              <a:t>?</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모든 방법 FAR 0.4% 미만: 정상 보정 99 백분위 임계값을 공통 적용 → GMM 0.29%로 다른 방법과 같은 수준</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낮은 FAR ≠ 좋은 탐지: Persistence 0.00%·IsolationForest 0.03%는 경보 자체가 적어 Miss rate 65% </a:t>
            </a:r>
            <a:r>
              <a:rPr lang="en-US" sz="1600" dirty="0" err="1">
                <a:solidFill>
                  <a:srgbClr val="262626"/>
                </a:solidFill>
                <a:latin typeface="맑은 고딕" pitchFamily="34" charset="0"/>
                <a:ea typeface="맑은 고딕" pitchFamily="34" charset="-122"/>
                <a:cs typeface="맑은 고딕" pitchFamily="34" charset="-120"/>
              </a:rPr>
              <a:t>이상</a:t>
            </a:r>
            <a:endParaRPr lang="en-US" sz="1600" dirty="0"/>
          </a:p>
        </p:txBody>
      </p:sp>
      <p:sp>
        <p:nvSpPr>
          <p:cNvPr id="201" name="Text 201"/>
          <p:cNvSpPr txBox="1"/>
          <p:nvPr/>
        </p:nvSpPr>
        <p:spPr>
          <a:xfrm>
            <a:off x="777240" y="2999232"/>
            <a:ext cx="5943600" cy="237744"/>
          </a:xfrm>
          <a:prstGeom prst="rect">
            <a:avLst/>
          </a:prstGeom>
          <a:noFill/>
          <a:ln/>
        </p:spPr>
        <p:txBody>
          <a:bodyPr wrap="square" lIns="0" tIns="0" rIns="0" bIns="0" rtlCol="0" anchor="ctr"/>
          <a:lstStyle/>
          <a:p>
            <a:pPr marL="0" indent="0" algn="l">
              <a:buNone/>
            </a:pPr>
            <a:r>
              <a:rPr lang="en-US" sz="1150" b="1" dirty="0">
                <a:solidFill>
                  <a:srgbClr val="262626"/>
                </a:solidFill>
                <a:latin typeface="맑은 고딕" pitchFamily="34" charset="0"/>
                <a:ea typeface="맑은 고딕" pitchFamily="34" charset="-122"/>
                <a:cs typeface="맑은 고딕" pitchFamily="34" charset="-120"/>
              </a:rPr>
              <a:t>FAR (정상 테스트 4,090시점 중 오경보 비율)</a:t>
            </a:r>
            <a:endParaRPr lang="en-US" sz="1150" dirty="0"/>
          </a:p>
        </p:txBody>
      </p:sp>
      <p:sp>
        <p:nvSpPr>
          <p:cNvPr id="202" name="Shape 202"/>
          <p:cNvSpPr/>
          <p:nvPr/>
        </p:nvSpPr>
        <p:spPr>
          <a:xfrm>
            <a:off x="2148840" y="3255264"/>
            <a:ext cx="91" cy="2552090"/>
          </a:xfrm>
          <a:prstGeom prst="line">
            <a:avLst/>
          </a:prstGeom>
          <a:noFill/>
          <a:ln w="6350">
            <a:solidFill>
              <a:srgbClr val="E3E3E3"/>
            </a:solidFill>
            <a:prstDash val="solid"/>
          </a:ln>
        </p:spPr>
        <p:txBody>
          <a:bodyPr/>
          <a:lstStyle/>
          <a:p>
            <a:endParaRPr lang="ko-KR" altLang="en-US"/>
          </a:p>
        </p:txBody>
      </p:sp>
      <p:sp>
        <p:nvSpPr>
          <p:cNvPr id="203" name="Text 203"/>
          <p:cNvSpPr txBox="1"/>
          <p:nvPr/>
        </p:nvSpPr>
        <p:spPr>
          <a:xfrm>
            <a:off x="187452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0.0%</a:t>
            </a:r>
            <a:endParaRPr lang="en-US" sz="900" dirty="0"/>
          </a:p>
        </p:txBody>
      </p:sp>
      <p:sp>
        <p:nvSpPr>
          <p:cNvPr id="204" name="Shape 204"/>
          <p:cNvSpPr/>
          <p:nvPr/>
        </p:nvSpPr>
        <p:spPr>
          <a:xfrm>
            <a:off x="3904488" y="3255264"/>
            <a:ext cx="91" cy="2552090"/>
          </a:xfrm>
          <a:prstGeom prst="line">
            <a:avLst/>
          </a:prstGeom>
          <a:noFill/>
          <a:ln w="6350">
            <a:solidFill>
              <a:srgbClr val="E3E3E3"/>
            </a:solidFill>
            <a:prstDash val="solid"/>
          </a:ln>
        </p:spPr>
        <p:txBody>
          <a:bodyPr/>
          <a:lstStyle/>
          <a:p>
            <a:endParaRPr lang="ko-KR" altLang="en-US"/>
          </a:p>
        </p:txBody>
      </p:sp>
      <p:sp>
        <p:nvSpPr>
          <p:cNvPr id="205" name="Text 205"/>
          <p:cNvSpPr txBox="1"/>
          <p:nvPr/>
        </p:nvSpPr>
        <p:spPr>
          <a:xfrm>
            <a:off x="3630168"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0.1%</a:t>
            </a:r>
            <a:endParaRPr lang="en-US" sz="900" dirty="0"/>
          </a:p>
        </p:txBody>
      </p:sp>
      <p:sp>
        <p:nvSpPr>
          <p:cNvPr id="206" name="Shape 206"/>
          <p:cNvSpPr/>
          <p:nvPr/>
        </p:nvSpPr>
        <p:spPr>
          <a:xfrm>
            <a:off x="5660136" y="3255264"/>
            <a:ext cx="91" cy="2552090"/>
          </a:xfrm>
          <a:prstGeom prst="line">
            <a:avLst/>
          </a:prstGeom>
          <a:noFill/>
          <a:ln w="6350">
            <a:solidFill>
              <a:srgbClr val="E3E3E3"/>
            </a:solidFill>
            <a:prstDash val="solid"/>
          </a:ln>
        </p:spPr>
        <p:txBody>
          <a:bodyPr/>
          <a:lstStyle/>
          <a:p>
            <a:endParaRPr lang="ko-KR" altLang="en-US"/>
          </a:p>
        </p:txBody>
      </p:sp>
      <p:sp>
        <p:nvSpPr>
          <p:cNvPr id="207" name="Text 207"/>
          <p:cNvSpPr txBox="1"/>
          <p:nvPr/>
        </p:nvSpPr>
        <p:spPr>
          <a:xfrm>
            <a:off x="5385816"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0.2%</a:t>
            </a:r>
            <a:endParaRPr lang="en-US" sz="900" dirty="0"/>
          </a:p>
        </p:txBody>
      </p:sp>
      <p:sp>
        <p:nvSpPr>
          <p:cNvPr id="208" name="Shape 208"/>
          <p:cNvSpPr/>
          <p:nvPr/>
        </p:nvSpPr>
        <p:spPr>
          <a:xfrm>
            <a:off x="7415784" y="3255264"/>
            <a:ext cx="91" cy="2552090"/>
          </a:xfrm>
          <a:prstGeom prst="line">
            <a:avLst/>
          </a:prstGeom>
          <a:noFill/>
          <a:ln w="6350">
            <a:solidFill>
              <a:srgbClr val="E3E3E3"/>
            </a:solidFill>
            <a:prstDash val="solid"/>
          </a:ln>
        </p:spPr>
        <p:txBody>
          <a:bodyPr/>
          <a:lstStyle/>
          <a:p>
            <a:endParaRPr lang="ko-KR" altLang="en-US"/>
          </a:p>
        </p:txBody>
      </p:sp>
      <p:sp>
        <p:nvSpPr>
          <p:cNvPr id="209" name="Text 209"/>
          <p:cNvSpPr txBox="1"/>
          <p:nvPr/>
        </p:nvSpPr>
        <p:spPr>
          <a:xfrm>
            <a:off x="7141464"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0.3%</a:t>
            </a:r>
            <a:endParaRPr lang="en-US" sz="900" dirty="0"/>
          </a:p>
        </p:txBody>
      </p:sp>
      <p:sp>
        <p:nvSpPr>
          <p:cNvPr id="210" name="Shape 210"/>
          <p:cNvSpPr/>
          <p:nvPr/>
        </p:nvSpPr>
        <p:spPr>
          <a:xfrm>
            <a:off x="9171432" y="3255264"/>
            <a:ext cx="91" cy="2552090"/>
          </a:xfrm>
          <a:prstGeom prst="line">
            <a:avLst/>
          </a:prstGeom>
          <a:noFill/>
          <a:ln w="6350">
            <a:solidFill>
              <a:srgbClr val="E3E3E3"/>
            </a:solidFill>
            <a:prstDash val="solid"/>
          </a:ln>
        </p:spPr>
        <p:txBody>
          <a:bodyPr/>
          <a:lstStyle/>
          <a:p>
            <a:endParaRPr lang="ko-KR" altLang="en-US"/>
          </a:p>
        </p:txBody>
      </p:sp>
      <p:sp>
        <p:nvSpPr>
          <p:cNvPr id="211" name="Text 211"/>
          <p:cNvSpPr txBox="1"/>
          <p:nvPr/>
        </p:nvSpPr>
        <p:spPr>
          <a:xfrm>
            <a:off x="8897112"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0.4%</a:t>
            </a:r>
            <a:endParaRPr lang="en-US" sz="900" dirty="0"/>
          </a:p>
        </p:txBody>
      </p:sp>
      <p:sp>
        <p:nvSpPr>
          <p:cNvPr id="212" name="Shape 212"/>
          <p:cNvSpPr/>
          <p:nvPr/>
        </p:nvSpPr>
        <p:spPr>
          <a:xfrm>
            <a:off x="10927080" y="3255264"/>
            <a:ext cx="91" cy="2552090"/>
          </a:xfrm>
          <a:prstGeom prst="line">
            <a:avLst/>
          </a:prstGeom>
          <a:noFill/>
          <a:ln w="6350">
            <a:solidFill>
              <a:srgbClr val="E3E3E3"/>
            </a:solidFill>
            <a:prstDash val="solid"/>
          </a:ln>
        </p:spPr>
        <p:txBody>
          <a:bodyPr/>
          <a:lstStyle/>
          <a:p>
            <a:endParaRPr lang="ko-KR" altLang="en-US"/>
          </a:p>
        </p:txBody>
      </p:sp>
      <p:sp>
        <p:nvSpPr>
          <p:cNvPr id="213" name="Text 213"/>
          <p:cNvSpPr txBox="1"/>
          <p:nvPr/>
        </p:nvSpPr>
        <p:spPr>
          <a:xfrm>
            <a:off x="1065276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0.5%</a:t>
            </a:r>
            <a:endParaRPr lang="en-US" sz="900" dirty="0"/>
          </a:p>
        </p:txBody>
      </p:sp>
      <p:sp>
        <p:nvSpPr>
          <p:cNvPr id="214" name="Text 214"/>
          <p:cNvSpPr txBox="1"/>
          <p:nvPr/>
        </p:nvSpPr>
        <p:spPr>
          <a:xfrm>
            <a:off x="777240" y="3273552"/>
            <a:ext cx="1298448" cy="149047"/>
          </a:xfrm>
          <a:prstGeom prst="rect">
            <a:avLst/>
          </a:prstGeom>
          <a:noFill/>
          <a:ln/>
        </p:spPr>
        <p:txBody>
          <a:bodyPr wrap="square" lIns="0" tIns="0" rIns="0" bIns="0" rtlCol="0" anchor="ctr"/>
          <a:lstStyle/>
          <a:p>
            <a:pPr marL="0" indent="0" algn="r">
              <a:buNone/>
            </a:pPr>
            <a:r>
              <a:rPr lang="en-US" sz="950" b="1" dirty="0">
                <a:solidFill>
                  <a:srgbClr val="C00000"/>
                </a:solidFill>
                <a:latin typeface="맑은 고딕" pitchFamily="34" charset="0"/>
                <a:ea typeface="맑은 고딕" pitchFamily="34" charset="-122"/>
                <a:cs typeface="맑은 고딕" pitchFamily="34" charset="-120"/>
              </a:rPr>
              <a:t>GMM</a:t>
            </a:r>
            <a:endParaRPr lang="en-US" sz="950" dirty="0"/>
          </a:p>
        </p:txBody>
      </p:sp>
      <p:sp>
        <p:nvSpPr>
          <p:cNvPr id="215" name="Shape 215"/>
          <p:cNvSpPr/>
          <p:nvPr/>
        </p:nvSpPr>
        <p:spPr>
          <a:xfrm>
            <a:off x="2148840" y="3296412"/>
            <a:ext cx="5007961" cy="103327"/>
          </a:xfrm>
          <a:prstGeom prst="rect">
            <a:avLst/>
          </a:prstGeom>
          <a:solidFill>
            <a:srgbClr val="C00000"/>
          </a:solidFill>
          <a:ln w="12700">
            <a:solidFill>
              <a:srgbClr val="C00000"/>
            </a:solidFill>
            <a:prstDash val="solid"/>
          </a:ln>
        </p:spPr>
        <p:txBody>
          <a:bodyPr/>
          <a:lstStyle/>
          <a:p>
            <a:endParaRPr lang="ko-KR" altLang="en-US"/>
          </a:p>
        </p:txBody>
      </p:sp>
      <p:sp>
        <p:nvSpPr>
          <p:cNvPr id="216" name="Text 216"/>
          <p:cNvSpPr txBox="1"/>
          <p:nvPr/>
        </p:nvSpPr>
        <p:spPr>
          <a:xfrm>
            <a:off x="7202521" y="3273552"/>
            <a:ext cx="640080" cy="149047"/>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0.29%</a:t>
            </a:r>
            <a:endParaRPr lang="en-US" sz="900" dirty="0"/>
          </a:p>
        </p:txBody>
      </p:sp>
      <p:sp>
        <p:nvSpPr>
          <p:cNvPr id="217" name="Text 217"/>
          <p:cNvSpPr txBox="1"/>
          <p:nvPr/>
        </p:nvSpPr>
        <p:spPr>
          <a:xfrm>
            <a:off x="777240" y="3422599"/>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Mahalanobis</a:t>
            </a:r>
            <a:endParaRPr lang="en-US" sz="950" dirty="0"/>
          </a:p>
        </p:txBody>
      </p:sp>
      <p:sp>
        <p:nvSpPr>
          <p:cNvPr id="218" name="Shape 218"/>
          <p:cNvSpPr/>
          <p:nvPr/>
        </p:nvSpPr>
        <p:spPr>
          <a:xfrm>
            <a:off x="2148840" y="3445459"/>
            <a:ext cx="4721790" cy="103327"/>
          </a:xfrm>
          <a:prstGeom prst="rect">
            <a:avLst/>
          </a:prstGeom>
          <a:solidFill>
            <a:srgbClr val="5B7BA0"/>
          </a:solidFill>
          <a:ln w="12700">
            <a:solidFill>
              <a:srgbClr val="5B7BA0"/>
            </a:solidFill>
            <a:prstDash val="solid"/>
          </a:ln>
        </p:spPr>
        <p:txBody>
          <a:bodyPr/>
          <a:lstStyle/>
          <a:p>
            <a:endParaRPr lang="ko-KR" altLang="en-US"/>
          </a:p>
        </p:txBody>
      </p:sp>
      <p:sp>
        <p:nvSpPr>
          <p:cNvPr id="219" name="Text 219"/>
          <p:cNvSpPr txBox="1"/>
          <p:nvPr/>
        </p:nvSpPr>
        <p:spPr>
          <a:xfrm>
            <a:off x="6916350" y="3422599"/>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0.27%</a:t>
            </a:r>
            <a:endParaRPr lang="en-US" sz="900" dirty="0"/>
          </a:p>
        </p:txBody>
      </p:sp>
      <p:sp>
        <p:nvSpPr>
          <p:cNvPr id="220" name="Text 220"/>
          <p:cNvSpPr txBox="1"/>
          <p:nvPr/>
        </p:nvSpPr>
        <p:spPr>
          <a:xfrm>
            <a:off x="777240" y="357164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LOF20</a:t>
            </a:r>
            <a:endParaRPr lang="en-US" sz="950" dirty="0"/>
          </a:p>
        </p:txBody>
      </p:sp>
      <p:sp>
        <p:nvSpPr>
          <p:cNvPr id="221" name="Shape 221"/>
          <p:cNvSpPr/>
          <p:nvPr/>
        </p:nvSpPr>
        <p:spPr>
          <a:xfrm>
            <a:off x="2148840" y="3594506"/>
            <a:ext cx="6438807" cy="103327"/>
          </a:xfrm>
          <a:prstGeom prst="rect">
            <a:avLst/>
          </a:prstGeom>
          <a:solidFill>
            <a:srgbClr val="5B7BA0"/>
          </a:solidFill>
          <a:ln w="12700">
            <a:solidFill>
              <a:srgbClr val="5B7BA0"/>
            </a:solidFill>
            <a:prstDash val="solid"/>
          </a:ln>
        </p:spPr>
        <p:txBody>
          <a:bodyPr/>
          <a:lstStyle/>
          <a:p>
            <a:endParaRPr lang="ko-KR" altLang="en-US"/>
          </a:p>
        </p:txBody>
      </p:sp>
      <p:sp>
        <p:nvSpPr>
          <p:cNvPr id="222" name="Text 222"/>
          <p:cNvSpPr txBox="1"/>
          <p:nvPr/>
        </p:nvSpPr>
        <p:spPr>
          <a:xfrm>
            <a:off x="8633367" y="357164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0.37%</a:t>
            </a:r>
            <a:endParaRPr lang="en-US" sz="900" dirty="0"/>
          </a:p>
        </p:txBody>
      </p:sp>
      <p:sp>
        <p:nvSpPr>
          <p:cNvPr id="223" name="Text 223"/>
          <p:cNvSpPr txBox="1"/>
          <p:nvPr/>
        </p:nvSpPr>
        <p:spPr>
          <a:xfrm>
            <a:off x="777240" y="372069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PCA_Recon</a:t>
            </a:r>
            <a:endParaRPr lang="en-US" sz="950" dirty="0"/>
          </a:p>
        </p:txBody>
      </p:sp>
      <p:sp>
        <p:nvSpPr>
          <p:cNvPr id="224" name="Shape 224"/>
          <p:cNvSpPr/>
          <p:nvPr/>
        </p:nvSpPr>
        <p:spPr>
          <a:xfrm>
            <a:off x="2148840" y="3743554"/>
            <a:ext cx="6438807" cy="103327"/>
          </a:xfrm>
          <a:prstGeom prst="rect">
            <a:avLst/>
          </a:prstGeom>
          <a:solidFill>
            <a:srgbClr val="5B7BA0"/>
          </a:solidFill>
          <a:ln w="12700">
            <a:solidFill>
              <a:srgbClr val="5B7BA0"/>
            </a:solidFill>
            <a:prstDash val="solid"/>
          </a:ln>
        </p:spPr>
        <p:txBody>
          <a:bodyPr/>
          <a:lstStyle/>
          <a:p>
            <a:endParaRPr lang="ko-KR" altLang="en-US"/>
          </a:p>
        </p:txBody>
      </p:sp>
      <p:sp>
        <p:nvSpPr>
          <p:cNvPr id="225" name="Text 225"/>
          <p:cNvSpPr txBox="1"/>
          <p:nvPr/>
        </p:nvSpPr>
        <p:spPr>
          <a:xfrm>
            <a:off x="8633367" y="372069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0.37%</a:t>
            </a:r>
            <a:endParaRPr lang="en-US" sz="900" dirty="0"/>
          </a:p>
        </p:txBody>
      </p:sp>
      <p:sp>
        <p:nvSpPr>
          <p:cNvPr id="226" name="Text 226"/>
          <p:cNvSpPr txBox="1"/>
          <p:nvPr/>
        </p:nvSpPr>
        <p:spPr>
          <a:xfrm>
            <a:off x="777240" y="386974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AE_Recon</a:t>
            </a:r>
            <a:endParaRPr lang="en-US" sz="950" dirty="0"/>
          </a:p>
        </p:txBody>
      </p:sp>
      <p:sp>
        <p:nvSpPr>
          <p:cNvPr id="227" name="Shape 227"/>
          <p:cNvSpPr/>
          <p:nvPr/>
        </p:nvSpPr>
        <p:spPr>
          <a:xfrm>
            <a:off x="2148840" y="3892601"/>
            <a:ext cx="4864875" cy="103327"/>
          </a:xfrm>
          <a:prstGeom prst="rect">
            <a:avLst/>
          </a:prstGeom>
          <a:solidFill>
            <a:srgbClr val="5B7BA0"/>
          </a:solidFill>
          <a:ln w="12700">
            <a:solidFill>
              <a:srgbClr val="5B7BA0"/>
            </a:solidFill>
            <a:prstDash val="solid"/>
          </a:ln>
        </p:spPr>
        <p:txBody>
          <a:bodyPr/>
          <a:lstStyle/>
          <a:p>
            <a:endParaRPr lang="ko-KR" altLang="en-US"/>
          </a:p>
        </p:txBody>
      </p:sp>
      <p:sp>
        <p:nvSpPr>
          <p:cNvPr id="228" name="Text 228"/>
          <p:cNvSpPr txBox="1"/>
          <p:nvPr/>
        </p:nvSpPr>
        <p:spPr>
          <a:xfrm>
            <a:off x="7059435" y="386974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0.28%</a:t>
            </a:r>
            <a:endParaRPr lang="en-US" sz="900" dirty="0"/>
          </a:p>
        </p:txBody>
      </p:sp>
      <p:sp>
        <p:nvSpPr>
          <p:cNvPr id="229" name="Text 229"/>
          <p:cNvSpPr txBox="1"/>
          <p:nvPr/>
        </p:nvSpPr>
        <p:spPr>
          <a:xfrm>
            <a:off x="777240" y="401878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KDE</a:t>
            </a:r>
            <a:endParaRPr lang="en-US" sz="950" dirty="0"/>
          </a:p>
        </p:txBody>
      </p:sp>
      <p:sp>
        <p:nvSpPr>
          <p:cNvPr id="230" name="Shape 230"/>
          <p:cNvSpPr/>
          <p:nvPr/>
        </p:nvSpPr>
        <p:spPr>
          <a:xfrm>
            <a:off x="2148840" y="4041648"/>
            <a:ext cx="2575522" cy="103327"/>
          </a:xfrm>
          <a:prstGeom prst="rect">
            <a:avLst/>
          </a:prstGeom>
          <a:solidFill>
            <a:srgbClr val="5B7BA0"/>
          </a:solidFill>
          <a:ln w="12700">
            <a:solidFill>
              <a:srgbClr val="5B7BA0"/>
            </a:solidFill>
            <a:prstDash val="solid"/>
          </a:ln>
        </p:spPr>
        <p:txBody>
          <a:bodyPr/>
          <a:lstStyle/>
          <a:p>
            <a:endParaRPr lang="ko-KR" altLang="en-US"/>
          </a:p>
        </p:txBody>
      </p:sp>
      <p:sp>
        <p:nvSpPr>
          <p:cNvPr id="231" name="Text 231"/>
          <p:cNvSpPr txBox="1"/>
          <p:nvPr/>
        </p:nvSpPr>
        <p:spPr>
          <a:xfrm>
            <a:off x="4770082" y="401878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0.15%</a:t>
            </a:r>
            <a:endParaRPr lang="en-US" sz="900" dirty="0"/>
          </a:p>
        </p:txBody>
      </p:sp>
      <p:sp>
        <p:nvSpPr>
          <p:cNvPr id="232" name="Text 232"/>
          <p:cNvSpPr txBox="1"/>
          <p:nvPr/>
        </p:nvSpPr>
        <p:spPr>
          <a:xfrm>
            <a:off x="777240" y="4167835"/>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kNN20</a:t>
            </a:r>
            <a:endParaRPr lang="en-US" sz="950" dirty="0"/>
          </a:p>
        </p:txBody>
      </p:sp>
      <p:sp>
        <p:nvSpPr>
          <p:cNvPr id="233" name="Shape 233"/>
          <p:cNvSpPr/>
          <p:nvPr/>
        </p:nvSpPr>
        <p:spPr>
          <a:xfrm>
            <a:off x="2148840" y="4190695"/>
            <a:ext cx="4292537" cy="103327"/>
          </a:xfrm>
          <a:prstGeom prst="rect">
            <a:avLst/>
          </a:prstGeom>
          <a:solidFill>
            <a:srgbClr val="5B7BA0"/>
          </a:solidFill>
          <a:ln w="12700">
            <a:solidFill>
              <a:srgbClr val="5B7BA0"/>
            </a:solidFill>
            <a:prstDash val="solid"/>
          </a:ln>
        </p:spPr>
        <p:txBody>
          <a:bodyPr/>
          <a:lstStyle/>
          <a:p>
            <a:endParaRPr lang="ko-KR" altLang="en-US"/>
          </a:p>
        </p:txBody>
      </p:sp>
      <p:sp>
        <p:nvSpPr>
          <p:cNvPr id="234" name="Text 234"/>
          <p:cNvSpPr txBox="1"/>
          <p:nvPr/>
        </p:nvSpPr>
        <p:spPr>
          <a:xfrm>
            <a:off x="6487097" y="4167835"/>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0.24%</a:t>
            </a:r>
            <a:endParaRPr lang="en-US" sz="900" dirty="0"/>
          </a:p>
        </p:txBody>
      </p:sp>
      <p:sp>
        <p:nvSpPr>
          <p:cNvPr id="235" name="Text 235"/>
          <p:cNvSpPr txBox="1"/>
          <p:nvPr/>
        </p:nvSpPr>
        <p:spPr>
          <a:xfrm>
            <a:off x="777240" y="4316882"/>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MLP32</a:t>
            </a:r>
            <a:endParaRPr lang="en-US" sz="950" dirty="0"/>
          </a:p>
        </p:txBody>
      </p:sp>
      <p:sp>
        <p:nvSpPr>
          <p:cNvPr id="236" name="Shape 236"/>
          <p:cNvSpPr/>
          <p:nvPr/>
        </p:nvSpPr>
        <p:spPr>
          <a:xfrm>
            <a:off x="2148840" y="4339742"/>
            <a:ext cx="5007961" cy="103327"/>
          </a:xfrm>
          <a:prstGeom prst="rect">
            <a:avLst/>
          </a:prstGeom>
          <a:solidFill>
            <a:srgbClr val="5B7BA0"/>
          </a:solidFill>
          <a:ln w="12700">
            <a:solidFill>
              <a:srgbClr val="5B7BA0"/>
            </a:solidFill>
            <a:prstDash val="solid"/>
          </a:ln>
        </p:spPr>
        <p:txBody>
          <a:bodyPr/>
          <a:lstStyle/>
          <a:p>
            <a:endParaRPr lang="ko-KR" altLang="en-US"/>
          </a:p>
        </p:txBody>
      </p:sp>
      <p:sp>
        <p:nvSpPr>
          <p:cNvPr id="237" name="Text 237"/>
          <p:cNvSpPr txBox="1"/>
          <p:nvPr/>
        </p:nvSpPr>
        <p:spPr>
          <a:xfrm>
            <a:off x="7202521" y="4316882"/>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0.29%</a:t>
            </a:r>
            <a:endParaRPr lang="en-US" sz="900" dirty="0"/>
          </a:p>
        </p:txBody>
      </p:sp>
      <p:sp>
        <p:nvSpPr>
          <p:cNvPr id="238" name="Text 238"/>
          <p:cNvSpPr txBox="1"/>
          <p:nvPr/>
        </p:nvSpPr>
        <p:spPr>
          <a:xfrm>
            <a:off x="777240" y="446593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LSTM32</a:t>
            </a:r>
            <a:endParaRPr lang="en-US" sz="950" dirty="0"/>
          </a:p>
        </p:txBody>
      </p:sp>
      <p:sp>
        <p:nvSpPr>
          <p:cNvPr id="239" name="Shape 239"/>
          <p:cNvSpPr/>
          <p:nvPr/>
        </p:nvSpPr>
        <p:spPr>
          <a:xfrm>
            <a:off x="2148840" y="4488790"/>
            <a:ext cx="5580300" cy="103327"/>
          </a:xfrm>
          <a:prstGeom prst="rect">
            <a:avLst/>
          </a:prstGeom>
          <a:solidFill>
            <a:srgbClr val="5B7BA0"/>
          </a:solidFill>
          <a:ln w="12700">
            <a:solidFill>
              <a:srgbClr val="5B7BA0"/>
            </a:solidFill>
            <a:prstDash val="solid"/>
          </a:ln>
        </p:spPr>
        <p:txBody>
          <a:bodyPr/>
          <a:lstStyle/>
          <a:p>
            <a:endParaRPr lang="ko-KR" altLang="en-US"/>
          </a:p>
        </p:txBody>
      </p:sp>
      <p:sp>
        <p:nvSpPr>
          <p:cNvPr id="240" name="Text 240"/>
          <p:cNvSpPr txBox="1"/>
          <p:nvPr/>
        </p:nvSpPr>
        <p:spPr>
          <a:xfrm>
            <a:off x="7774860" y="446593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0.32%</a:t>
            </a:r>
            <a:endParaRPr lang="en-US" sz="900" dirty="0"/>
          </a:p>
        </p:txBody>
      </p:sp>
      <p:sp>
        <p:nvSpPr>
          <p:cNvPr id="241" name="Text 241"/>
          <p:cNvSpPr txBox="1"/>
          <p:nvPr/>
        </p:nvSpPr>
        <p:spPr>
          <a:xfrm>
            <a:off x="777240" y="461497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AR_Relation</a:t>
            </a:r>
            <a:endParaRPr lang="en-US" sz="950" dirty="0"/>
          </a:p>
        </p:txBody>
      </p:sp>
      <p:sp>
        <p:nvSpPr>
          <p:cNvPr id="242" name="Shape 242"/>
          <p:cNvSpPr/>
          <p:nvPr/>
        </p:nvSpPr>
        <p:spPr>
          <a:xfrm>
            <a:off x="2148840" y="4637837"/>
            <a:ext cx="2575522" cy="103327"/>
          </a:xfrm>
          <a:prstGeom prst="rect">
            <a:avLst/>
          </a:prstGeom>
          <a:solidFill>
            <a:srgbClr val="5B7BA0"/>
          </a:solidFill>
          <a:ln w="12700">
            <a:solidFill>
              <a:srgbClr val="5B7BA0"/>
            </a:solidFill>
            <a:prstDash val="solid"/>
          </a:ln>
        </p:spPr>
        <p:txBody>
          <a:bodyPr/>
          <a:lstStyle/>
          <a:p>
            <a:endParaRPr lang="ko-KR" altLang="en-US"/>
          </a:p>
        </p:txBody>
      </p:sp>
      <p:sp>
        <p:nvSpPr>
          <p:cNvPr id="243" name="Text 243"/>
          <p:cNvSpPr txBox="1"/>
          <p:nvPr/>
        </p:nvSpPr>
        <p:spPr>
          <a:xfrm>
            <a:off x="4770082" y="461497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0.15%</a:t>
            </a:r>
            <a:endParaRPr lang="en-US" sz="900" dirty="0"/>
          </a:p>
        </p:txBody>
      </p:sp>
      <p:sp>
        <p:nvSpPr>
          <p:cNvPr id="244" name="Text 244"/>
          <p:cNvSpPr txBox="1"/>
          <p:nvPr/>
        </p:nvSpPr>
        <p:spPr>
          <a:xfrm>
            <a:off x="777240" y="476402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OCSVM</a:t>
            </a:r>
            <a:endParaRPr lang="en-US" sz="950" dirty="0"/>
          </a:p>
        </p:txBody>
      </p:sp>
      <p:sp>
        <p:nvSpPr>
          <p:cNvPr id="245" name="Shape 245"/>
          <p:cNvSpPr/>
          <p:nvPr/>
        </p:nvSpPr>
        <p:spPr>
          <a:xfrm>
            <a:off x="2148840" y="4786884"/>
            <a:ext cx="1287761" cy="103327"/>
          </a:xfrm>
          <a:prstGeom prst="rect">
            <a:avLst/>
          </a:prstGeom>
          <a:solidFill>
            <a:srgbClr val="5B7BA0"/>
          </a:solidFill>
          <a:ln w="12700">
            <a:solidFill>
              <a:srgbClr val="5B7BA0"/>
            </a:solidFill>
            <a:prstDash val="solid"/>
          </a:ln>
        </p:spPr>
        <p:txBody>
          <a:bodyPr/>
          <a:lstStyle/>
          <a:p>
            <a:endParaRPr lang="ko-KR" altLang="en-US"/>
          </a:p>
        </p:txBody>
      </p:sp>
      <p:sp>
        <p:nvSpPr>
          <p:cNvPr id="246" name="Text 246"/>
          <p:cNvSpPr txBox="1"/>
          <p:nvPr/>
        </p:nvSpPr>
        <p:spPr>
          <a:xfrm>
            <a:off x="3482321" y="476402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0.07%</a:t>
            </a:r>
            <a:endParaRPr lang="en-US" sz="900" dirty="0"/>
          </a:p>
        </p:txBody>
      </p:sp>
      <p:sp>
        <p:nvSpPr>
          <p:cNvPr id="247" name="Text 247"/>
          <p:cNvSpPr txBox="1"/>
          <p:nvPr/>
        </p:nvSpPr>
        <p:spPr>
          <a:xfrm>
            <a:off x="777240" y="491307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VAR_Ridge</a:t>
            </a:r>
            <a:endParaRPr lang="en-US" sz="950" dirty="0"/>
          </a:p>
        </p:txBody>
      </p:sp>
      <p:sp>
        <p:nvSpPr>
          <p:cNvPr id="248" name="Shape 248"/>
          <p:cNvSpPr/>
          <p:nvPr/>
        </p:nvSpPr>
        <p:spPr>
          <a:xfrm>
            <a:off x="2148840" y="4935931"/>
            <a:ext cx="3863283" cy="103327"/>
          </a:xfrm>
          <a:prstGeom prst="rect">
            <a:avLst/>
          </a:prstGeom>
          <a:solidFill>
            <a:srgbClr val="5B7BA0"/>
          </a:solidFill>
          <a:ln w="12700">
            <a:solidFill>
              <a:srgbClr val="5B7BA0"/>
            </a:solidFill>
            <a:prstDash val="solid"/>
          </a:ln>
        </p:spPr>
        <p:txBody>
          <a:bodyPr/>
          <a:lstStyle/>
          <a:p>
            <a:endParaRPr lang="ko-KR" altLang="en-US"/>
          </a:p>
        </p:txBody>
      </p:sp>
      <p:sp>
        <p:nvSpPr>
          <p:cNvPr id="249" name="Text 249"/>
          <p:cNvSpPr txBox="1"/>
          <p:nvPr/>
        </p:nvSpPr>
        <p:spPr>
          <a:xfrm>
            <a:off x="6057843" y="491307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0.22%</a:t>
            </a:r>
            <a:endParaRPr lang="en-US" sz="900" dirty="0"/>
          </a:p>
        </p:txBody>
      </p:sp>
      <p:sp>
        <p:nvSpPr>
          <p:cNvPr id="250" name="Text 250"/>
          <p:cNvSpPr txBox="1"/>
          <p:nvPr/>
        </p:nvSpPr>
        <p:spPr>
          <a:xfrm>
            <a:off x="777240" y="506211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GRU32</a:t>
            </a:r>
            <a:endParaRPr lang="en-US" sz="950" dirty="0"/>
          </a:p>
        </p:txBody>
      </p:sp>
      <p:sp>
        <p:nvSpPr>
          <p:cNvPr id="251" name="Shape 251"/>
          <p:cNvSpPr/>
          <p:nvPr/>
        </p:nvSpPr>
        <p:spPr>
          <a:xfrm>
            <a:off x="2148840" y="5084978"/>
            <a:ext cx="3434029" cy="103327"/>
          </a:xfrm>
          <a:prstGeom prst="rect">
            <a:avLst/>
          </a:prstGeom>
          <a:solidFill>
            <a:srgbClr val="5B7BA0"/>
          </a:solidFill>
          <a:ln w="12700">
            <a:solidFill>
              <a:srgbClr val="5B7BA0"/>
            </a:solidFill>
            <a:prstDash val="solid"/>
          </a:ln>
        </p:spPr>
        <p:txBody>
          <a:bodyPr/>
          <a:lstStyle/>
          <a:p>
            <a:endParaRPr lang="ko-KR" altLang="en-US"/>
          </a:p>
        </p:txBody>
      </p:sp>
      <p:sp>
        <p:nvSpPr>
          <p:cNvPr id="252" name="Text 252"/>
          <p:cNvSpPr txBox="1"/>
          <p:nvPr/>
        </p:nvSpPr>
        <p:spPr>
          <a:xfrm>
            <a:off x="5628589" y="506211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0.20%</a:t>
            </a:r>
            <a:endParaRPr lang="en-US" sz="900" dirty="0"/>
          </a:p>
        </p:txBody>
      </p:sp>
      <p:sp>
        <p:nvSpPr>
          <p:cNvPr id="253" name="Text 253"/>
          <p:cNvSpPr txBox="1"/>
          <p:nvPr/>
        </p:nvSpPr>
        <p:spPr>
          <a:xfrm>
            <a:off x="777240" y="521116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a:t>
            </a:r>
            <a:endParaRPr lang="en-US" sz="950" dirty="0"/>
          </a:p>
        </p:txBody>
      </p:sp>
      <p:sp>
        <p:nvSpPr>
          <p:cNvPr id="254" name="Shape 254"/>
          <p:cNvSpPr/>
          <p:nvPr/>
        </p:nvSpPr>
        <p:spPr>
          <a:xfrm>
            <a:off x="2148840" y="5234026"/>
            <a:ext cx="2575522" cy="103327"/>
          </a:xfrm>
          <a:prstGeom prst="rect">
            <a:avLst/>
          </a:prstGeom>
          <a:solidFill>
            <a:srgbClr val="5B7BA0"/>
          </a:solidFill>
          <a:ln w="12700">
            <a:solidFill>
              <a:srgbClr val="5B7BA0"/>
            </a:solidFill>
            <a:prstDash val="solid"/>
          </a:ln>
        </p:spPr>
        <p:txBody>
          <a:bodyPr/>
          <a:lstStyle/>
          <a:p>
            <a:endParaRPr lang="ko-KR" altLang="en-US"/>
          </a:p>
        </p:txBody>
      </p:sp>
      <p:sp>
        <p:nvSpPr>
          <p:cNvPr id="255" name="Text 255"/>
          <p:cNvSpPr txBox="1"/>
          <p:nvPr/>
        </p:nvSpPr>
        <p:spPr>
          <a:xfrm>
            <a:off x="4770082" y="521116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0.15%</a:t>
            </a:r>
            <a:endParaRPr lang="en-US" sz="900" dirty="0"/>
          </a:p>
        </p:txBody>
      </p:sp>
      <p:sp>
        <p:nvSpPr>
          <p:cNvPr id="256" name="Text 256"/>
          <p:cNvSpPr txBox="1"/>
          <p:nvPr/>
        </p:nvSpPr>
        <p:spPr>
          <a:xfrm>
            <a:off x="777240" y="5360213"/>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IsolationForest</a:t>
            </a:r>
            <a:endParaRPr lang="en-US" sz="950" dirty="0"/>
          </a:p>
        </p:txBody>
      </p:sp>
      <p:sp>
        <p:nvSpPr>
          <p:cNvPr id="257" name="Shape 257"/>
          <p:cNvSpPr/>
          <p:nvPr/>
        </p:nvSpPr>
        <p:spPr>
          <a:xfrm>
            <a:off x="2148840" y="5383073"/>
            <a:ext cx="572338" cy="103327"/>
          </a:xfrm>
          <a:prstGeom prst="rect">
            <a:avLst/>
          </a:prstGeom>
          <a:solidFill>
            <a:srgbClr val="5B7BA0"/>
          </a:solidFill>
          <a:ln w="12700">
            <a:solidFill>
              <a:srgbClr val="5B7BA0"/>
            </a:solidFill>
            <a:prstDash val="solid"/>
          </a:ln>
        </p:spPr>
        <p:txBody>
          <a:bodyPr/>
          <a:lstStyle/>
          <a:p>
            <a:endParaRPr lang="ko-KR" altLang="en-US"/>
          </a:p>
        </p:txBody>
      </p:sp>
      <p:sp>
        <p:nvSpPr>
          <p:cNvPr id="258" name="Text 258"/>
          <p:cNvSpPr txBox="1"/>
          <p:nvPr/>
        </p:nvSpPr>
        <p:spPr>
          <a:xfrm>
            <a:off x="2766898" y="5360213"/>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0.03%</a:t>
            </a:r>
            <a:endParaRPr lang="en-US" sz="900" dirty="0"/>
          </a:p>
        </p:txBody>
      </p:sp>
      <p:sp>
        <p:nvSpPr>
          <p:cNvPr id="259" name="Text 259"/>
          <p:cNvSpPr txBox="1"/>
          <p:nvPr/>
        </p:nvSpPr>
        <p:spPr>
          <a:xfrm>
            <a:off x="777240" y="550926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RobustMAD</a:t>
            </a:r>
            <a:endParaRPr lang="en-US" sz="950" dirty="0"/>
          </a:p>
        </p:txBody>
      </p:sp>
      <p:sp>
        <p:nvSpPr>
          <p:cNvPr id="260" name="Shape 260"/>
          <p:cNvSpPr/>
          <p:nvPr/>
        </p:nvSpPr>
        <p:spPr>
          <a:xfrm>
            <a:off x="2148840" y="5532120"/>
            <a:ext cx="1287761" cy="103327"/>
          </a:xfrm>
          <a:prstGeom prst="rect">
            <a:avLst/>
          </a:prstGeom>
          <a:solidFill>
            <a:srgbClr val="5B7BA0"/>
          </a:solidFill>
          <a:ln w="12700">
            <a:solidFill>
              <a:srgbClr val="5B7BA0"/>
            </a:solidFill>
            <a:prstDash val="solid"/>
          </a:ln>
        </p:spPr>
        <p:txBody>
          <a:bodyPr/>
          <a:lstStyle/>
          <a:p>
            <a:endParaRPr lang="ko-KR" altLang="en-US"/>
          </a:p>
        </p:txBody>
      </p:sp>
      <p:sp>
        <p:nvSpPr>
          <p:cNvPr id="261" name="Text 261"/>
          <p:cNvSpPr txBox="1"/>
          <p:nvPr/>
        </p:nvSpPr>
        <p:spPr>
          <a:xfrm>
            <a:off x="3482321" y="550926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0.07%</a:t>
            </a:r>
            <a:endParaRPr lang="en-US" sz="900" dirty="0"/>
          </a:p>
        </p:txBody>
      </p:sp>
      <p:sp>
        <p:nvSpPr>
          <p:cNvPr id="262" name="Text 262"/>
          <p:cNvSpPr txBox="1"/>
          <p:nvPr/>
        </p:nvSpPr>
        <p:spPr>
          <a:xfrm>
            <a:off x="777240" y="565830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Persistence</a:t>
            </a:r>
            <a:endParaRPr lang="en-US" sz="950" dirty="0"/>
          </a:p>
        </p:txBody>
      </p:sp>
      <p:sp>
        <p:nvSpPr>
          <p:cNvPr id="263" name="Shape 263"/>
          <p:cNvSpPr/>
          <p:nvPr/>
        </p:nvSpPr>
        <p:spPr>
          <a:xfrm>
            <a:off x="2148840" y="5681167"/>
            <a:ext cx="1" cy="103327"/>
          </a:xfrm>
          <a:prstGeom prst="rect">
            <a:avLst/>
          </a:prstGeom>
          <a:solidFill>
            <a:srgbClr val="5B7BA0"/>
          </a:solidFill>
          <a:ln w="12700">
            <a:solidFill>
              <a:srgbClr val="5B7BA0"/>
            </a:solidFill>
            <a:prstDash val="solid"/>
          </a:ln>
        </p:spPr>
        <p:txBody>
          <a:bodyPr/>
          <a:lstStyle/>
          <a:p>
            <a:endParaRPr lang="ko-KR" altLang="en-US"/>
          </a:p>
        </p:txBody>
      </p:sp>
      <p:sp>
        <p:nvSpPr>
          <p:cNvPr id="264" name="Text 264"/>
          <p:cNvSpPr txBox="1"/>
          <p:nvPr/>
        </p:nvSpPr>
        <p:spPr>
          <a:xfrm>
            <a:off x="2194560" y="565830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0.00%</a:t>
            </a:r>
            <a:endParaRPr lang="en-US" sz="900" dirty="0"/>
          </a:p>
        </p:txBody>
      </p:sp>
      <p:sp>
        <p:nvSpPr>
          <p:cNvPr id="138" name="Slide Number Placeholder 0">
            <a:extLst>
              <a:ext uri="{FF2B5EF4-FFF2-40B4-BE49-F238E27FC236}">
                <a16:creationId xmlns:a16="http://schemas.microsoft.com/office/drawing/2014/main" id="{8F7A3E30-83A6-D73C-E565-240539B872B2}"/>
              </a:ext>
            </a:extLst>
          </p:cNvPr>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17</a:t>
            </a:fld>
            <a:endParaRPr lang="en-US" dirty="0"/>
          </a:p>
        </p:txBody>
      </p:sp>
      <p:sp>
        <p:nvSpPr>
          <p:cNvPr id="7" name="Text 9">
            <a:extLst>
              <a:ext uri="{FF2B5EF4-FFF2-40B4-BE49-F238E27FC236}">
                <a16:creationId xmlns:a16="http://schemas.microsoft.com/office/drawing/2014/main" id="{B3F374DB-CF4E-C949-A309-FDF1C0DDC9AE}"/>
              </a:ext>
            </a:extLst>
          </p:cNvPr>
          <p:cNvSpPr txBox="1"/>
          <p:nvPr/>
        </p:nvSpPr>
        <p:spPr>
          <a:xfrm>
            <a:off x="9133200" y="572400"/>
            <a:ext cx="1841297" cy="411480"/>
          </a:xfrm>
          <a:prstGeom prst="rect">
            <a:avLst/>
          </a:prstGeom>
          <a:noFill/>
          <a:ln/>
        </p:spPr>
        <p:txBody>
          <a:bodyPr wrap="square" lIns="0" tIns="0" rIns="0" bIns="0" rtlCol="0" anchor="ctr"/>
          <a:lstStyle/>
          <a:p>
            <a:pPr marL="0" indent="0" algn="ctr">
              <a:buNone/>
            </a:pPr>
            <a:r>
              <a:rPr lang="en-US" sz="1700" b="1" dirty="0">
                <a:solidFill>
                  <a:srgbClr val="1F4E79"/>
                </a:solidFill>
                <a:latin typeface="맑은 고딕" pitchFamily="34" charset="0"/>
                <a:ea typeface="맑은 고딕" pitchFamily="34" charset="-122"/>
                <a:cs typeface="맑은 고딕" pitchFamily="34" charset="-120"/>
              </a:rPr>
              <a:t>FAR</a:t>
            </a:r>
            <a:endParaRPr lang="en-US" sz="1700" dirty="0"/>
          </a:p>
        </p:txBody>
      </p:sp>
      <mc:AlternateContent xmlns:mc="http://schemas.openxmlformats.org/markup-compatibility/2006">
        <mc:Choice xmlns:a14="http://schemas.microsoft.com/office/drawing/2010/main" Requires="a14">
          <p:sp>
            <p:nvSpPr>
              <p:cNvPr id="9" name="Text 10">
                <a:extLst>
                  <a:ext uri="{FF2B5EF4-FFF2-40B4-BE49-F238E27FC236}">
                    <a16:creationId xmlns:a16="http://schemas.microsoft.com/office/drawing/2014/main" id="{E9674B69-CE74-D4DC-DD28-739C42E8E184}"/>
                  </a:ext>
                </a:extLst>
              </p:cNvPr>
              <p:cNvSpPr txBox="1"/>
              <p:nvPr/>
            </p:nvSpPr>
            <p:spPr>
              <a:xfrm>
                <a:off x="9133200" y="1058400"/>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500" i="1" dirty="0">
                              <a:solidFill>
                                <a:srgbClr val="262626"/>
                              </a:solidFill>
                              <a:latin typeface="Times New Roman" pitchFamily="34" charset="0"/>
                              <a:ea typeface="Times New Roman" pitchFamily="34" charset="-122"/>
                              <a:cs typeface="Times New Roman" pitchFamily="34" charset="-120"/>
                            </a:rPr>
                          </m:ctrlPr>
                        </m:fPr>
                        <m:num>
                          <m:r>
                            <m:rPr>
                              <m:nor/>
                            </m:rPr>
                            <a:rPr lang="en-US" altLang="ko-KR" sz="1500" i="1" dirty="0">
                              <a:solidFill>
                                <a:srgbClr val="262626"/>
                              </a:solidFill>
                              <a:latin typeface="Times New Roman" pitchFamily="34" charset="0"/>
                              <a:ea typeface="Times New Roman" pitchFamily="34" charset="-122"/>
                              <a:cs typeface="Times New Roman" pitchFamily="34" charset="-120"/>
                            </a:rPr>
                            <m:t>FP</m:t>
                          </m:r>
                        </m:num>
                        <m:den>
                          <m:r>
                            <m:rPr>
                              <m:nor/>
                            </m:rPr>
                            <a:rPr lang="en-US" altLang="ko-KR" sz="1500" i="1" dirty="0">
                              <a:solidFill>
                                <a:srgbClr val="262626"/>
                              </a:solidFill>
                              <a:latin typeface="Times New Roman" pitchFamily="34" charset="0"/>
                              <a:ea typeface="Times New Roman" pitchFamily="34" charset="-122"/>
                              <a:cs typeface="Times New Roman" pitchFamily="34" charset="-120"/>
                            </a:rPr>
                            <m:t>FP + TN</m:t>
                          </m:r>
                        </m:den>
                      </m:f>
                    </m:oMath>
                  </m:oMathPara>
                </a14:m>
                <a:endParaRPr lang="en-US" sz="1500" dirty="0"/>
              </a:p>
            </p:txBody>
          </p:sp>
        </mc:Choice>
        <mc:Fallback>
          <p:sp>
            <p:nvSpPr>
              <p:cNvPr id="9" name="Text 10">
                <a:extLst>
                  <a:ext uri="{FF2B5EF4-FFF2-40B4-BE49-F238E27FC236}">
                    <a16:creationId xmlns:a16="http://schemas.microsoft.com/office/drawing/2014/main" id="{E9674B69-CE74-D4DC-DD28-739C42E8E184}"/>
                  </a:ext>
                </a:extLst>
              </p:cNvPr>
              <p:cNvSpPr txBox="1">
                <a:spLocks noRot="1" noChangeAspect="1" noMove="1" noResize="1" noEditPoints="1" noAdjustHandles="1" noChangeArrowheads="1" noChangeShapeType="1" noTextEdit="1"/>
              </p:cNvSpPr>
              <p:nvPr/>
            </p:nvSpPr>
            <p:spPr>
              <a:xfrm>
                <a:off x="9133200" y="1058400"/>
                <a:ext cx="1841297" cy="548640"/>
              </a:xfrm>
              <a:prstGeom prst="rect">
                <a:avLst/>
              </a:prstGeom>
              <a:blipFill>
                <a:blip r:embed="rId3"/>
                <a:stretch>
                  <a:fillRect/>
                </a:stretch>
              </a:blipFill>
              <a:ln/>
            </p:spPr>
            <p:txBody>
              <a:bodyPr/>
              <a:lstStyle/>
              <a:p>
                <a:r>
                  <a:rPr lang="ko-KR"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Early Detection Performance</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ko-KR" altLang="en-US" sz="2100" dirty="0">
                <a:solidFill>
                  <a:srgbClr val="262626"/>
                </a:solidFill>
                <a:latin typeface="맑은 고딕" pitchFamily="34" charset="0"/>
                <a:ea typeface="맑은 고딕" pitchFamily="34" charset="-122"/>
                <a:cs typeface="맑은 고딕" pitchFamily="34" charset="-120"/>
              </a:rPr>
              <a:t>얼마나</a:t>
            </a:r>
            <a:r>
              <a:rPr lang="en-US" sz="2100" dirty="0">
                <a:solidFill>
                  <a:srgbClr val="262626"/>
                </a:solidFill>
                <a:latin typeface="맑은 고딕" pitchFamily="34" charset="0"/>
                <a:ea typeface="맑은 고딕" pitchFamily="34" charset="-122"/>
                <a:cs typeface="맑은 고딕" pitchFamily="34" charset="-120"/>
              </a:rPr>
              <a:t> 가장 빨리 잡아낼까?</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첫 경보 속도: GMM은 이상 21 clip 모두 0.5초 내 경보, 그중 20개는 0.3초 이내 (11개는 첫 관측 0.0초)</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판단 시작 차이: 기존 방법은 창이 차는 0.3초부터 판단 → Mahalanobis 95.2%, 신경망 60~71%</a:t>
            </a:r>
            <a:endParaRPr lang="en-US" sz="1600" dirty="0"/>
          </a:p>
        </p:txBody>
      </p:sp>
      <p:sp>
        <p:nvSpPr>
          <p:cNvPr id="201" name="Text 201"/>
          <p:cNvSpPr txBox="1"/>
          <p:nvPr/>
        </p:nvSpPr>
        <p:spPr>
          <a:xfrm>
            <a:off x="777240" y="2999232"/>
            <a:ext cx="5943600" cy="237744"/>
          </a:xfrm>
          <a:prstGeom prst="rect">
            <a:avLst/>
          </a:prstGeom>
          <a:noFill/>
          <a:ln/>
        </p:spPr>
        <p:txBody>
          <a:bodyPr wrap="square" lIns="0" tIns="0" rIns="0" bIns="0" rtlCol="0" anchor="ctr"/>
          <a:lstStyle/>
          <a:p>
            <a:pPr marL="0" indent="0" algn="l">
              <a:buNone/>
            </a:pPr>
            <a:r>
              <a:rPr lang="en-US" sz="1150" b="1" dirty="0">
                <a:solidFill>
                  <a:srgbClr val="262626"/>
                </a:solidFill>
                <a:latin typeface="맑은 고딕" pitchFamily="34" charset="0"/>
                <a:ea typeface="맑은 고딕" pitchFamily="34" charset="-122"/>
                <a:cs typeface="맑은 고딕" pitchFamily="34" charset="-120"/>
              </a:rPr>
              <a:t>0.5초 이내 첫 경보율 (이상 21 clip 기준)</a:t>
            </a:r>
            <a:endParaRPr lang="en-US" sz="1150" dirty="0"/>
          </a:p>
        </p:txBody>
      </p:sp>
      <p:sp>
        <p:nvSpPr>
          <p:cNvPr id="202" name="Shape 202"/>
          <p:cNvSpPr/>
          <p:nvPr/>
        </p:nvSpPr>
        <p:spPr>
          <a:xfrm>
            <a:off x="2148840" y="3255264"/>
            <a:ext cx="91" cy="2552090"/>
          </a:xfrm>
          <a:prstGeom prst="line">
            <a:avLst/>
          </a:prstGeom>
          <a:noFill/>
          <a:ln w="6350">
            <a:solidFill>
              <a:srgbClr val="E3E3E3"/>
            </a:solidFill>
            <a:prstDash val="solid"/>
          </a:ln>
        </p:spPr>
        <p:txBody>
          <a:bodyPr/>
          <a:lstStyle/>
          <a:p>
            <a:endParaRPr lang="ko-KR" altLang="en-US"/>
          </a:p>
        </p:txBody>
      </p:sp>
      <p:sp>
        <p:nvSpPr>
          <p:cNvPr id="203" name="Text 203"/>
          <p:cNvSpPr txBox="1"/>
          <p:nvPr/>
        </p:nvSpPr>
        <p:spPr>
          <a:xfrm>
            <a:off x="187452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0%</a:t>
            </a:r>
            <a:endParaRPr lang="en-US" sz="900" dirty="0"/>
          </a:p>
        </p:txBody>
      </p:sp>
      <p:sp>
        <p:nvSpPr>
          <p:cNvPr id="204" name="Shape 204"/>
          <p:cNvSpPr/>
          <p:nvPr/>
        </p:nvSpPr>
        <p:spPr>
          <a:xfrm>
            <a:off x="4343400" y="3255264"/>
            <a:ext cx="91" cy="2552090"/>
          </a:xfrm>
          <a:prstGeom prst="line">
            <a:avLst/>
          </a:prstGeom>
          <a:noFill/>
          <a:ln w="6350">
            <a:solidFill>
              <a:srgbClr val="E3E3E3"/>
            </a:solidFill>
            <a:prstDash val="solid"/>
          </a:ln>
        </p:spPr>
        <p:txBody>
          <a:bodyPr/>
          <a:lstStyle/>
          <a:p>
            <a:endParaRPr lang="ko-KR" altLang="en-US"/>
          </a:p>
        </p:txBody>
      </p:sp>
      <p:sp>
        <p:nvSpPr>
          <p:cNvPr id="205" name="Text 205"/>
          <p:cNvSpPr txBox="1"/>
          <p:nvPr/>
        </p:nvSpPr>
        <p:spPr>
          <a:xfrm>
            <a:off x="406908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25%</a:t>
            </a:r>
            <a:endParaRPr lang="en-US" sz="900" dirty="0"/>
          </a:p>
        </p:txBody>
      </p:sp>
      <p:sp>
        <p:nvSpPr>
          <p:cNvPr id="206" name="Shape 206"/>
          <p:cNvSpPr/>
          <p:nvPr/>
        </p:nvSpPr>
        <p:spPr>
          <a:xfrm>
            <a:off x="6537960" y="3255264"/>
            <a:ext cx="91" cy="2552090"/>
          </a:xfrm>
          <a:prstGeom prst="line">
            <a:avLst/>
          </a:prstGeom>
          <a:noFill/>
          <a:ln w="6350">
            <a:solidFill>
              <a:srgbClr val="E3E3E3"/>
            </a:solidFill>
            <a:prstDash val="solid"/>
          </a:ln>
        </p:spPr>
        <p:txBody>
          <a:bodyPr/>
          <a:lstStyle/>
          <a:p>
            <a:endParaRPr lang="ko-KR" altLang="en-US"/>
          </a:p>
        </p:txBody>
      </p:sp>
      <p:sp>
        <p:nvSpPr>
          <p:cNvPr id="207" name="Text 207"/>
          <p:cNvSpPr txBox="1"/>
          <p:nvPr/>
        </p:nvSpPr>
        <p:spPr>
          <a:xfrm>
            <a:off x="626364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50%</a:t>
            </a:r>
            <a:endParaRPr lang="en-US" sz="900" dirty="0"/>
          </a:p>
        </p:txBody>
      </p:sp>
      <p:sp>
        <p:nvSpPr>
          <p:cNvPr id="208" name="Shape 208"/>
          <p:cNvSpPr/>
          <p:nvPr/>
        </p:nvSpPr>
        <p:spPr>
          <a:xfrm>
            <a:off x="8732520" y="3255264"/>
            <a:ext cx="91" cy="2552090"/>
          </a:xfrm>
          <a:prstGeom prst="line">
            <a:avLst/>
          </a:prstGeom>
          <a:noFill/>
          <a:ln w="6350">
            <a:solidFill>
              <a:srgbClr val="E3E3E3"/>
            </a:solidFill>
            <a:prstDash val="solid"/>
          </a:ln>
        </p:spPr>
        <p:txBody>
          <a:bodyPr/>
          <a:lstStyle/>
          <a:p>
            <a:endParaRPr lang="ko-KR" altLang="en-US"/>
          </a:p>
        </p:txBody>
      </p:sp>
      <p:sp>
        <p:nvSpPr>
          <p:cNvPr id="209" name="Text 209"/>
          <p:cNvSpPr txBox="1"/>
          <p:nvPr/>
        </p:nvSpPr>
        <p:spPr>
          <a:xfrm>
            <a:off x="845820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75%</a:t>
            </a:r>
            <a:endParaRPr lang="en-US" sz="900" dirty="0"/>
          </a:p>
        </p:txBody>
      </p:sp>
      <p:sp>
        <p:nvSpPr>
          <p:cNvPr id="210" name="Shape 210"/>
          <p:cNvSpPr/>
          <p:nvPr/>
        </p:nvSpPr>
        <p:spPr>
          <a:xfrm>
            <a:off x="10927080" y="3255264"/>
            <a:ext cx="91" cy="2552090"/>
          </a:xfrm>
          <a:prstGeom prst="line">
            <a:avLst/>
          </a:prstGeom>
          <a:noFill/>
          <a:ln w="6350">
            <a:solidFill>
              <a:srgbClr val="E3E3E3"/>
            </a:solidFill>
            <a:prstDash val="solid"/>
          </a:ln>
        </p:spPr>
        <p:txBody>
          <a:bodyPr/>
          <a:lstStyle/>
          <a:p>
            <a:endParaRPr lang="ko-KR" altLang="en-US"/>
          </a:p>
        </p:txBody>
      </p:sp>
      <p:sp>
        <p:nvSpPr>
          <p:cNvPr id="211" name="Text 211"/>
          <p:cNvSpPr txBox="1"/>
          <p:nvPr/>
        </p:nvSpPr>
        <p:spPr>
          <a:xfrm>
            <a:off x="10652760" y="5834786"/>
            <a:ext cx="548640" cy="182880"/>
          </a:xfrm>
          <a:prstGeom prst="rect">
            <a:avLst/>
          </a:prstGeom>
          <a:noFill/>
          <a:ln/>
        </p:spPr>
        <p:txBody>
          <a:bodyPr wrap="square" lIns="0" tIns="0" rIns="0" bIns="0" rtlCol="0" anchor="ctr"/>
          <a:lstStyle/>
          <a:p>
            <a:pPr marL="0" indent="0" algn="ctr">
              <a:buNone/>
            </a:pPr>
            <a:r>
              <a:rPr lang="en-US" sz="900" dirty="0">
                <a:solidFill>
                  <a:srgbClr val="595959"/>
                </a:solidFill>
                <a:latin typeface="맑은 고딕" pitchFamily="34" charset="0"/>
                <a:ea typeface="맑은 고딕" pitchFamily="34" charset="-122"/>
                <a:cs typeface="맑은 고딕" pitchFamily="34" charset="-120"/>
              </a:rPr>
              <a:t>100%</a:t>
            </a:r>
            <a:endParaRPr lang="en-US" sz="900" dirty="0"/>
          </a:p>
        </p:txBody>
      </p:sp>
      <p:sp>
        <p:nvSpPr>
          <p:cNvPr id="212" name="Text 212"/>
          <p:cNvSpPr txBox="1"/>
          <p:nvPr/>
        </p:nvSpPr>
        <p:spPr>
          <a:xfrm>
            <a:off x="777240" y="3273552"/>
            <a:ext cx="1298448" cy="149047"/>
          </a:xfrm>
          <a:prstGeom prst="rect">
            <a:avLst/>
          </a:prstGeom>
          <a:noFill/>
          <a:ln/>
        </p:spPr>
        <p:txBody>
          <a:bodyPr wrap="square" lIns="0" tIns="0" rIns="0" bIns="0" rtlCol="0" anchor="ctr"/>
          <a:lstStyle/>
          <a:p>
            <a:pPr marL="0" indent="0" algn="r">
              <a:buNone/>
            </a:pPr>
            <a:r>
              <a:rPr lang="en-US" sz="950" b="1" dirty="0">
                <a:solidFill>
                  <a:srgbClr val="C00000"/>
                </a:solidFill>
                <a:latin typeface="맑은 고딕" pitchFamily="34" charset="0"/>
                <a:ea typeface="맑은 고딕" pitchFamily="34" charset="-122"/>
                <a:cs typeface="맑은 고딕" pitchFamily="34" charset="-120"/>
              </a:rPr>
              <a:t>GMM</a:t>
            </a:r>
            <a:endParaRPr lang="en-US" sz="950" dirty="0"/>
          </a:p>
        </p:txBody>
      </p:sp>
      <p:sp>
        <p:nvSpPr>
          <p:cNvPr id="213" name="Shape 213"/>
          <p:cNvSpPr/>
          <p:nvPr/>
        </p:nvSpPr>
        <p:spPr>
          <a:xfrm>
            <a:off x="2148840" y="3296412"/>
            <a:ext cx="8778240" cy="103327"/>
          </a:xfrm>
          <a:prstGeom prst="rect">
            <a:avLst/>
          </a:prstGeom>
          <a:solidFill>
            <a:srgbClr val="F4B6B6"/>
          </a:solidFill>
          <a:ln w="12700">
            <a:solidFill>
              <a:srgbClr val="F4B6B6"/>
            </a:solidFill>
            <a:prstDash val="solid"/>
          </a:ln>
        </p:spPr>
        <p:txBody>
          <a:bodyPr/>
          <a:lstStyle/>
          <a:p>
            <a:endParaRPr lang="ko-KR" altLang="en-US"/>
          </a:p>
        </p:txBody>
      </p:sp>
      <p:sp>
        <p:nvSpPr>
          <p:cNvPr id="214" name="Shape 214"/>
          <p:cNvSpPr/>
          <p:nvPr/>
        </p:nvSpPr>
        <p:spPr>
          <a:xfrm>
            <a:off x="2148840" y="3296412"/>
            <a:ext cx="8360228" cy="103327"/>
          </a:xfrm>
          <a:prstGeom prst="rect">
            <a:avLst/>
          </a:prstGeom>
          <a:solidFill>
            <a:srgbClr val="C00000"/>
          </a:solidFill>
          <a:ln w="12700">
            <a:solidFill>
              <a:srgbClr val="C00000"/>
            </a:solidFill>
            <a:prstDash val="solid"/>
          </a:ln>
        </p:spPr>
        <p:txBody>
          <a:bodyPr/>
          <a:lstStyle/>
          <a:p>
            <a:endParaRPr lang="ko-KR" altLang="en-US"/>
          </a:p>
        </p:txBody>
      </p:sp>
      <p:sp>
        <p:nvSpPr>
          <p:cNvPr id="215" name="Text 215"/>
          <p:cNvSpPr txBox="1"/>
          <p:nvPr/>
        </p:nvSpPr>
        <p:spPr>
          <a:xfrm>
            <a:off x="10972800" y="3273552"/>
            <a:ext cx="640080" cy="149047"/>
          </a:xfrm>
          <a:prstGeom prst="rect">
            <a:avLst/>
          </a:prstGeom>
          <a:noFill/>
          <a:ln/>
        </p:spPr>
        <p:txBody>
          <a:bodyPr wrap="square" lIns="0" tIns="0" rIns="0" bIns="0" rtlCol="0" anchor="ctr"/>
          <a:lstStyle/>
          <a:p>
            <a:pPr marL="0" indent="0" algn="l">
              <a:buNone/>
            </a:pPr>
            <a:r>
              <a:rPr lang="en-US" sz="900" b="1" dirty="0">
                <a:solidFill>
                  <a:srgbClr val="C00000"/>
                </a:solidFill>
                <a:latin typeface="맑은 고딕" pitchFamily="34" charset="0"/>
                <a:ea typeface="맑은 고딕" pitchFamily="34" charset="-122"/>
                <a:cs typeface="맑은 고딕" pitchFamily="34" charset="-120"/>
              </a:rPr>
              <a:t>100.0%</a:t>
            </a:r>
            <a:endParaRPr lang="en-US" sz="900" dirty="0"/>
          </a:p>
        </p:txBody>
      </p:sp>
      <p:sp>
        <p:nvSpPr>
          <p:cNvPr id="216" name="Text 216"/>
          <p:cNvSpPr txBox="1"/>
          <p:nvPr/>
        </p:nvSpPr>
        <p:spPr>
          <a:xfrm>
            <a:off x="777240" y="3422599"/>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Mahalanobis</a:t>
            </a:r>
            <a:endParaRPr lang="en-US" sz="950" dirty="0"/>
          </a:p>
        </p:txBody>
      </p:sp>
      <p:sp>
        <p:nvSpPr>
          <p:cNvPr id="217" name="Shape 217"/>
          <p:cNvSpPr/>
          <p:nvPr/>
        </p:nvSpPr>
        <p:spPr>
          <a:xfrm>
            <a:off x="2148840" y="3445459"/>
            <a:ext cx="8360228" cy="103327"/>
          </a:xfrm>
          <a:prstGeom prst="rect">
            <a:avLst/>
          </a:prstGeom>
          <a:solidFill>
            <a:srgbClr val="C9D6E3"/>
          </a:solidFill>
          <a:ln w="12700">
            <a:solidFill>
              <a:srgbClr val="C9D6E3"/>
            </a:solidFill>
            <a:prstDash val="solid"/>
          </a:ln>
        </p:spPr>
        <p:txBody>
          <a:bodyPr/>
          <a:lstStyle/>
          <a:p>
            <a:endParaRPr lang="ko-KR" altLang="en-US"/>
          </a:p>
        </p:txBody>
      </p:sp>
      <p:sp>
        <p:nvSpPr>
          <p:cNvPr id="218" name="Shape 218"/>
          <p:cNvSpPr/>
          <p:nvPr/>
        </p:nvSpPr>
        <p:spPr>
          <a:xfrm>
            <a:off x="2148840" y="3445459"/>
            <a:ext cx="7942217" cy="103327"/>
          </a:xfrm>
          <a:prstGeom prst="rect">
            <a:avLst/>
          </a:prstGeom>
          <a:solidFill>
            <a:srgbClr val="5B7BA0"/>
          </a:solidFill>
          <a:ln w="12700">
            <a:solidFill>
              <a:srgbClr val="5B7BA0"/>
            </a:solidFill>
            <a:prstDash val="solid"/>
          </a:ln>
        </p:spPr>
        <p:txBody>
          <a:bodyPr/>
          <a:lstStyle/>
          <a:p>
            <a:endParaRPr lang="ko-KR" altLang="en-US"/>
          </a:p>
        </p:txBody>
      </p:sp>
      <p:sp>
        <p:nvSpPr>
          <p:cNvPr id="219" name="Text 219"/>
          <p:cNvSpPr txBox="1"/>
          <p:nvPr/>
        </p:nvSpPr>
        <p:spPr>
          <a:xfrm>
            <a:off x="10554788" y="3422599"/>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95.2%</a:t>
            </a:r>
            <a:endParaRPr lang="en-US" sz="900" dirty="0"/>
          </a:p>
        </p:txBody>
      </p:sp>
      <p:sp>
        <p:nvSpPr>
          <p:cNvPr id="220" name="Text 220"/>
          <p:cNvSpPr txBox="1"/>
          <p:nvPr/>
        </p:nvSpPr>
        <p:spPr>
          <a:xfrm>
            <a:off x="777240" y="357164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LOF20</a:t>
            </a:r>
            <a:endParaRPr lang="en-US" sz="950" dirty="0"/>
          </a:p>
        </p:txBody>
      </p:sp>
      <p:sp>
        <p:nvSpPr>
          <p:cNvPr id="221" name="Shape 221"/>
          <p:cNvSpPr/>
          <p:nvPr/>
        </p:nvSpPr>
        <p:spPr>
          <a:xfrm>
            <a:off x="2148840" y="3594506"/>
            <a:ext cx="7106194" cy="103327"/>
          </a:xfrm>
          <a:prstGeom prst="rect">
            <a:avLst/>
          </a:prstGeom>
          <a:solidFill>
            <a:srgbClr val="C9D6E3"/>
          </a:solidFill>
          <a:ln w="12700">
            <a:solidFill>
              <a:srgbClr val="C9D6E3"/>
            </a:solidFill>
            <a:prstDash val="solid"/>
          </a:ln>
        </p:spPr>
        <p:txBody>
          <a:bodyPr/>
          <a:lstStyle/>
          <a:p>
            <a:endParaRPr lang="ko-KR" altLang="en-US"/>
          </a:p>
        </p:txBody>
      </p:sp>
      <p:sp>
        <p:nvSpPr>
          <p:cNvPr id="222" name="Shape 222"/>
          <p:cNvSpPr/>
          <p:nvPr/>
        </p:nvSpPr>
        <p:spPr>
          <a:xfrm>
            <a:off x="2148840" y="3594506"/>
            <a:ext cx="6270171" cy="103327"/>
          </a:xfrm>
          <a:prstGeom prst="rect">
            <a:avLst/>
          </a:prstGeom>
          <a:solidFill>
            <a:srgbClr val="5B7BA0"/>
          </a:solidFill>
          <a:ln w="12700">
            <a:solidFill>
              <a:srgbClr val="5B7BA0"/>
            </a:solidFill>
            <a:prstDash val="solid"/>
          </a:ln>
        </p:spPr>
        <p:txBody>
          <a:bodyPr/>
          <a:lstStyle/>
          <a:p>
            <a:endParaRPr lang="ko-KR" altLang="en-US"/>
          </a:p>
        </p:txBody>
      </p:sp>
      <p:sp>
        <p:nvSpPr>
          <p:cNvPr id="223" name="Text 223"/>
          <p:cNvSpPr txBox="1"/>
          <p:nvPr/>
        </p:nvSpPr>
        <p:spPr>
          <a:xfrm>
            <a:off x="9300754" y="357164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81.0%</a:t>
            </a:r>
            <a:endParaRPr lang="en-US" sz="900" dirty="0"/>
          </a:p>
        </p:txBody>
      </p:sp>
      <p:sp>
        <p:nvSpPr>
          <p:cNvPr id="224" name="Text 224"/>
          <p:cNvSpPr txBox="1"/>
          <p:nvPr/>
        </p:nvSpPr>
        <p:spPr>
          <a:xfrm>
            <a:off x="777240" y="372069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PCA_Recon</a:t>
            </a:r>
            <a:endParaRPr lang="en-US" sz="950" dirty="0"/>
          </a:p>
        </p:txBody>
      </p:sp>
      <p:sp>
        <p:nvSpPr>
          <p:cNvPr id="225" name="Shape 225"/>
          <p:cNvSpPr/>
          <p:nvPr/>
        </p:nvSpPr>
        <p:spPr>
          <a:xfrm>
            <a:off x="2148840" y="3743554"/>
            <a:ext cx="6270171" cy="103327"/>
          </a:xfrm>
          <a:prstGeom prst="rect">
            <a:avLst/>
          </a:prstGeom>
          <a:solidFill>
            <a:srgbClr val="C9D6E3"/>
          </a:solidFill>
          <a:ln w="12700">
            <a:solidFill>
              <a:srgbClr val="C9D6E3"/>
            </a:solidFill>
            <a:prstDash val="solid"/>
          </a:ln>
        </p:spPr>
        <p:txBody>
          <a:bodyPr/>
          <a:lstStyle/>
          <a:p>
            <a:endParaRPr lang="ko-KR" altLang="en-US"/>
          </a:p>
        </p:txBody>
      </p:sp>
      <p:sp>
        <p:nvSpPr>
          <p:cNvPr id="226" name="Shape 226"/>
          <p:cNvSpPr/>
          <p:nvPr/>
        </p:nvSpPr>
        <p:spPr>
          <a:xfrm>
            <a:off x="2148840" y="3743554"/>
            <a:ext cx="6270171" cy="103327"/>
          </a:xfrm>
          <a:prstGeom prst="rect">
            <a:avLst/>
          </a:prstGeom>
          <a:solidFill>
            <a:srgbClr val="5B7BA0"/>
          </a:solidFill>
          <a:ln w="12700">
            <a:solidFill>
              <a:srgbClr val="5B7BA0"/>
            </a:solidFill>
            <a:prstDash val="solid"/>
          </a:ln>
        </p:spPr>
        <p:txBody>
          <a:bodyPr/>
          <a:lstStyle/>
          <a:p>
            <a:endParaRPr lang="ko-KR" altLang="en-US"/>
          </a:p>
        </p:txBody>
      </p:sp>
      <p:sp>
        <p:nvSpPr>
          <p:cNvPr id="227" name="Text 227"/>
          <p:cNvSpPr txBox="1"/>
          <p:nvPr/>
        </p:nvSpPr>
        <p:spPr>
          <a:xfrm>
            <a:off x="8464731" y="372069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71.4%</a:t>
            </a:r>
            <a:endParaRPr lang="en-US" sz="900" dirty="0"/>
          </a:p>
        </p:txBody>
      </p:sp>
      <p:sp>
        <p:nvSpPr>
          <p:cNvPr id="228" name="Text 228"/>
          <p:cNvSpPr txBox="1"/>
          <p:nvPr/>
        </p:nvSpPr>
        <p:spPr>
          <a:xfrm>
            <a:off x="777240" y="386974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AE_Recon</a:t>
            </a:r>
            <a:endParaRPr lang="en-US" sz="950" dirty="0"/>
          </a:p>
        </p:txBody>
      </p:sp>
      <p:sp>
        <p:nvSpPr>
          <p:cNvPr id="229" name="Shape 229"/>
          <p:cNvSpPr/>
          <p:nvPr/>
        </p:nvSpPr>
        <p:spPr>
          <a:xfrm>
            <a:off x="2148840" y="3892601"/>
            <a:ext cx="6270171" cy="103327"/>
          </a:xfrm>
          <a:prstGeom prst="rect">
            <a:avLst/>
          </a:prstGeom>
          <a:solidFill>
            <a:srgbClr val="C9D6E3"/>
          </a:solidFill>
          <a:ln w="12700">
            <a:solidFill>
              <a:srgbClr val="C9D6E3"/>
            </a:solidFill>
            <a:prstDash val="solid"/>
          </a:ln>
        </p:spPr>
        <p:txBody>
          <a:bodyPr/>
          <a:lstStyle/>
          <a:p>
            <a:endParaRPr lang="ko-KR" altLang="en-US"/>
          </a:p>
        </p:txBody>
      </p:sp>
      <p:sp>
        <p:nvSpPr>
          <p:cNvPr id="230" name="Shape 230"/>
          <p:cNvSpPr/>
          <p:nvPr/>
        </p:nvSpPr>
        <p:spPr>
          <a:xfrm>
            <a:off x="2148840" y="3892601"/>
            <a:ext cx="5852160" cy="103327"/>
          </a:xfrm>
          <a:prstGeom prst="rect">
            <a:avLst/>
          </a:prstGeom>
          <a:solidFill>
            <a:srgbClr val="5B7BA0"/>
          </a:solidFill>
          <a:ln w="12700">
            <a:solidFill>
              <a:srgbClr val="5B7BA0"/>
            </a:solidFill>
            <a:prstDash val="solid"/>
          </a:ln>
        </p:spPr>
        <p:txBody>
          <a:bodyPr/>
          <a:lstStyle/>
          <a:p>
            <a:endParaRPr lang="ko-KR" altLang="en-US"/>
          </a:p>
        </p:txBody>
      </p:sp>
      <p:sp>
        <p:nvSpPr>
          <p:cNvPr id="231" name="Text 231"/>
          <p:cNvSpPr txBox="1"/>
          <p:nvPr/>
        </p:nvSpPr>
        <p:spPr>
          <a:xfrm>
            <a:off x="8464731" y="386974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71.4%</a:t>
            </a:r>
            <a:endParaRPr lang="en-US" sz="900" dirty="0"/>
          </a:p>
        </p:txBody>
      </p:sp>
      <p:sp>
        <p:nvSpPr>
          <p:cNvPr id="232" name="Text 232"/>
          <p:cNvSpPr txBox="1"/>
          <p:nvPr/>
        </p:nvSpPr>
        <p:spPr>
          <a:xfrm>
            <a:off x="777240" y="401878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KDE</a:t>
            </a:r>
            <a:endParaRPr lang="en-US" sz="950" dirty="0"/>
          </a:p>
        </p:txBody>
      </p:sp>
      <p:sp>
        <p:nvSpPr>
          <p:cNvPr id="233" name="Shape 233"/>
          <p:cNvSpPr/>
          <p:nvPr/>
        </p:nvSpPr>
        <p:spPr>
          <a:xfrm>
            <a:off x="2148840" y="4041648"/>
            <a:ext cx="6270171" cy="103327"/>
          </a:xfrm>
          <a:prstGeom prst="rect">
            <a:avLst/>
          </a:prstGeom>
          <a:solidFill>
            <a:srgbClr val="C9D6E3"/>
          </a:solidFill>
          <a:ln w="12700">
            <a:solidFill>
              <a:srgbClr val="C9D6E3"/>
            </a:solidFill>
            <a:prstDash val="solid"/>
          </a:ln>
        </p:spPr>
        <p:txBody>
          <a:bodyPr/>
          <a:lstStyle/>
          <a:p>
            <a:endParaRPr lang="ko-KR" altLang="en-US"/>
          </a:p>
        </p:txBody>
      </p:sp>
      <p:sp>
        <p:nvSpPr>
          <p:cNvPr id="234" name="Shape 234"/>
          <p:cNvSpPr/>
          <p:nvPr/>
        </p:nvSpPr>
        <p:spPr>
          <a:xfrm>
            <a:off x="2148840" y="4041648"/>
            <a:ext cx="5852160" cy="103327"/>
          </a:xfrm>
          <a:prstGeom prst="rect">
            <a:avLst/>
          </a:prstGeom>
          <a:solidFill>
            <a:srgbClr val="5B7BA0"/>
          </a:solidFill>
          <a:ln w="12700">
            <a:solidFill>
              <a:srgbClr val="5B7BA0"/>
            </a:solidFill>
            <a:prstDash val="solid"/>
          </a:ln>
        </p:spPr>
        <p:txBody>
          <a:bodyPr/>
          <a:lstStyle/>
          <a:p>
            <a:endParaRPr lang="ko-KR" altLang="en-US"/>
          </a:p>
        </p:txBody>
      </p:sp>
      <p:sp>
        <p:nvSpPr>
          <p:cNvPr id="235" name="Text 235"/>
          <p:cNvSpPr txBox="1"/>
          <p:nvPr/>
        </p:nvSpPr>
        <p:spPr>
          <a:xfrm>
            <a:off x="8464731" y="401878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71.4%</a:t>
            </a:r>
            <a:endParaRPr lang="en-US" sz="900" dirty="0"/>
          </a:p>
        </p:txBody>
      </p:sp>
      <p:sp>
        <p:nvSpPr>
          <p:cNvPr id="236" name="Text 236"/>
          <p:cNvSpPr txBox="1"/>
          <p:nvPr/>
        </p:nvSpPr>
        <p:spPr>
          <a:xfrm>
            <a:off x="777240" y="4167835"/>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AR_Relation</a:t>
            </a:r>
            <a:endParaRPr lang="en-US" sz="950" dirty="0"/>
          </a:p>
        </p:txBody>
      </p:sp>
      <p:sp>
        <p:nvSpPr>
          <p:cNvPr id="237" name="Shape 237"/>
          <p:cNvSpPr/>
          <p:nvPr/>
        </p:nvSpPr>
        <p:spPr>
          <a:xfrm>
            <a:off x="2148840" y="4190695"/>
            <a:ext cx="6270171" cy="103327"/>
          </a:xfrm>
          <a:prstGeom prst="rect">
            <a:avLst/>
          </a:prstGeom>
          <a:solidFill>
            <a:srgbClr val="C9D6E3"/>
          </a:solidFill>
          <a:ln w="12700">
            <a:solidFill>
              <a:srgbClr val="C9D6E3"/>
            </a:solidFill>
            <a:prstDash val="solid"/>
          </a:ln>
        </p:spPr>
        <p:txBody>
          <a:bodyPr/>
          <a:lstStyle/>
          <a:p>
            <a:endParaRPr lang="ko-KR" altLang="en-US"/>
          </a:p>
        </p:txBody>
      </p:sp>
      <p:sp>
        <p:nvSpPr>
          <p:cNvPr id="238" name="Shape 238"/>
          <p:cNvSpPr/>
          <p:nvPr/>
        </p:nvSpPr>
        <p:spPr>
          <a:xfrm>
            <a:off x="2148840" y="4190695"/>
            <a:ext cx="5852160" cy="103327"/>
          </a:xfrm>
          <a:prstGeom prst="rect">
            <a:avLst/>
          </a:prstGeom>
          <a:solidFill>
            <a:srgbClr val="5B7BA0"/>
          </a:solidFill>
          <a:ln w="12700">
            <a:solidFill>
              <a:srgbClr val="5B7BA0"/>
            </a:solidFill>
            <a:prstDash val="solid"/>
          </a:ln>
        </p:spPr>
        <p:txBody>
          <a:bodyPr/>
          <a:lstStyle/>
          <a:p>
            <a:endParaRPr lang="ko-KR" altLang="en-US"/>
          </a:p>
        </p:txBody>
      </p:sp>
      <p:sp>
        <p:nvSpPr>
          <p:cNvPr id="239" name="Text 239"/>
          <p:cNvSpPr txBox="1"/>
          <p:nvPr/>
        </p:nvSpPr>
        <p:spPr>
          <a:xfrm>
            <a:off x="8464731" y="4167835"/>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71.4%</a:t>
            </a:r>
            <a:endParaRPr lang="en-US" sz="900" dirty="0"/>
          </a:p>
        </p:txBody>
      </p:sp>
      <p:sp>
        <p:nvSpPr>
          <p:cNvPr id="240" name="Text 240"/>
          <p:cNvSpPr txBox="1"/>
          <p:nvPr/>
        </p:nvSpPr>
        <p:spPr>
          <a:xfrm>
            <a:off x="777240" y="4316882"/>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MLP32</a:t>
            </a:r>
            <a:endParaRPr lang="en-US" sz="950" dirty="0"/>
          </a:p>
        </p:txBody>
      </p:sp>
      <p:sp>
        <p:nvSpPr>
          <p:cNvPr id="241" name="Shape 241"/>
          <p:cNvSpPr/>
          <p:nvPr/>
        </p:nvSpPr>
        <p:spPr>
          <a:xfrm>
            <a:off x="2148840" y="4339742"/>
            <a:ext cx="6270171" cy="103327"/>
          </a:xfrm>
          <a:prstGeom prst="rect">
            <a:avLst/>
          </a:prstGeom>
          <a:solidFill>
            <a:srgbClr val="C9D6E3"/>
          </a:solidFill>
          <a:ln w="12700">
            <a:solidFill>
              <a:srgbClr val="C9D6E3"/>
            </a:solidFill>
            <a:prstDash val="solid"/>
          </a:ln>
        </p:spPr>
        <p:txBody>
          <a:bodyPr/>
          <a:lstStyle/>
          <a:p>
            <a:endParaRPr lang="ko-KR" altLang="en-US"/>
          </a:p>
        </p:txBody>
      </p:sp>
      <p:sp>
        <p:nvSpPr>
          <p:cNvPr id="242" name="Shape 242"/>
          <p:cNvSpPr/>
          <p:nvPr/>
        </p:nvSpPr>
        <p:spPr>
          <a:xfrm>
            <a:off x="2148840" y="4339742"/>
            <a:ext cx="5712822" cy="103327"/>
          </a:xfrm>
          <a:prstGeom prst="rect">
            <a:avLst/>
          </a:prstGeom>
          <a:solidFill>
            <a:srgbClr val="5B7BA0"/>
          </a:solidFill>
          <a:ln w="12700">
            <a:solidFill>
              <a:srgbClr val="5B7BA0"/>
            </a:solidFill>
            <a:prstDash val="solid"/>
          </a:ln>
        </p:spPr>
        <p:txBody>
          <a:bodyPr/>
          <a:lstStyle/>
          <a:p>
            <a:endParaRPr lang="ko-KR" altLang="en-US"/>
          </a:p>
        </p:txBody>
      </p:sp>
      <p:sp>
        <p:nvSpPr>
          <p:cNvPr id="243" name="Text 243"/>
          <p:cNvSpPr txBox="1"/>
          <p:nvPr/>
        </p:nvSpPr>
        <p:spPr>
          <a:xfrm>
            <a:off x="8464731" y="4316882"/>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71.4%</a:t>
            </a:r>
            <a:endParaRPr lang="en-US" sz="900" dirty="0"/>
          </a:p>
        </p:txBody>
      </p:sp>
      <p:sp>
        <p:nvSpPr>
          <p:cNvPr id="244" name="Text 244"/>
          <p:cNvSpPr txBox="1"/>
          <p:nvPr/>
        </p:nvSpPr>
        <p:spPr>
          <a:xfrm>
            <a:off x="777240" y="446593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LSTM32</a:t>
            </a:r>
            <a:endParaRPr lang="en-US" sz="950" dirty="0"/>
          </a:p>
        </p:txBody>
      </p:sp>
      <p:sp>
        <p:nvSpPr>
          <p:cNvPr id="245" name="Shape 245"/>
          <p:cNvSpPr/>
          <p:nvPr/>
        </p:nvSpPr>
        <p:spPr>
          <a:xfrm>
            <a:off x="2148840" y="4488790"/>
            <a:ext cx="6130834" cy="103327"/>
          </a:xfrm>
          <a:prstGeom prst="rect">
            <a:avLst/>
          </a:prstGeom>
          <a:solidFill>
            <a:srgbClr val="C9D6E3"/>
          </a:solidFill>
          <a:ln w="12700">
            <a:solidFill>
              <a:srgbClr val="C9D6E3"/>
            </a:solidFill>
            <a:prstDash val="solid"/>
          </a:ln>
        </p:spPr>
        <p:txBody>
          <a:bodyPr/>
          <a:lstStyle/>
          <a:p>
            <a:endParaRPr lang="ko-KR" altLang="en-US"/>
          </a:p>
        </p:txBody>
      </p:sp>
      <p:sp>
        <p:nvSpPr>
          <p:cNvPr id="246" name="Shape 246"/>
          <p:cNvSpPr/>
          <p:nvPr/>
        </p:nvSpPr>
        <p:spPr>
          <a:xfrm>
            <a:off x="2148840" y="4488790"/>
            <a:ext cx="5573485" cy="103327"/>
          </a:xfrm>
          <a:prstGeom prst="rect">
            <a:avLst/>
          </a:prstGeom>
          <a:solidFill>
            <a:srgbClr val="5B7BA0"/>
          </a:solidFill>
          <a:ln w="12700">
            <a:solidFill>
              <a:srgbClr val="5B7BA0"/>
            </a:solidFill>
            <a:prstDash val="solid"/>
          </a:ln>
        </p:spPr>
        <p:txBody>
          <a:bodyPr/>
          <a:lstStyle/>
          <a:p>
            <a:endParaRPr lang="ko-KR" altLang="en-US"/>
          </a:p>
        </p:txBody>
      </p:sp>
      <p:sp>
        <p:nvSpPr>
          <p:cNvPr id="247" name="Text 247"/>
          <p:cNvSpPr txBox="1"/>
          <p:nvPr/>
        </p:nvSpPr>
        <p:spPr>
          <a:xfrm>
            <a:off x="8325394" y="446593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69.8%</a:t>
            </a:r>
            <a:endParaRPr lang="en-US" sz="900" dirty="0"/>
          </a:p>
        </p:txBody>
      </p:sp>
      <p:sp>
        <p:nvSpPr>
          <p:cNvPr id="248" name="Text 248"/>
          <p:cNvSpPr txBox="1"/>
          <p:nvPr/>
        </p:nvSpPr>
        <p:spPr>
          <a:xfrm>
            <a:off x="777240" y="461497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AR</a:t>
            </a:r>
            <a:endParaRPr lang="en-US" sz="950" dirty="0"/>
          </a:p>
        </p:txBody>
      </p:sp>
      <p:sp>
        <p:nvSpPr>
          <p:cNvPr id="249" name="Shape 249"/>
          <p:cNvSpPr/>
          <p:nvPr/>
        </p:nvSpPr>
        <p:spPr>
          <a:xfrm>
            <a:off x="2148840" y="4637837"/>
            <a:ext cx="5852160" cy="103327"/>
          </a:xfrm>
          <a:prstGeom prst="rect">
            <a:avLst/>
          </a:prstGeom>
          <a:solidFill>
            <a:srgbClr val="C9D6E3"/>
          </a:solidFill>
          <a:ln w="12700">
            <a:solidFill>
              <a:srgbClr val="C9D6E3"/>
            </a:solidFill>
            <a:prstDash val="solid"/>
          </a:ln>
        </p:spPr>
        <p:txBody>
          <a:bodyPr/>
          <a:lstStyle/>
          <a:p>
            <a:endParaRPr lang="ko-KR" altLang="en-US"/>
          </a:p>
        </p:txBody>
      </p:sp>
      <p:sp>
        <p:nvSpPr>
          <p:cNvPr id="250" name="Shape 250"/>
          <p:cNvSpPr/>
          <p:nvPr/>
        </p:nvSpPr>
        <p:spPr>
          <a:xfrm>
            <a:off x="2148840" y="4637837"/>
            <a:ext cx="5016137" cy="103327"/>
          </a:xfrm>
          <a:prstGeom prst="rect">
            <a:avLst/>
          </a:prstGeom>
          <a:solidFill>
            <a:srgbClr val="5B7BA0"/>
          </a:solidFill>
          <a:ln w="12700">
            <a:solidFill>
              <a:srgbClr val="5B7BA0"/>
            </a:solidFill>
            <a:prstDash val="solid"/>
          </a:ln>
        </p:spPr>
        <p:txBody>
          <a:bodyPr/>
          <a:lstStyle/>
          <a:p>
            <a:endParaRPr lang="ko-KR" altLang="en-US"/>
          </a:p>
        </p:txBody>
      </p:sp>
      <p:sp>
        <p:nvSpPr>
          <p:cNvPr id="251" name="Text 251"/>
          <p:cNvSpPr txBox="1"/>
          <p:nvPr/>
        </p:nvSpPr>
        <p:spPr>
          <a:xfrm>
            <a:off x="8046720" y="461497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66.7%</a:t>
            </a:r>
            <a:endParaRPr lang="en-US" sz="900" dirty="0"/>
          </a:p>
        </p:txBody>
      </p:sp>
      <p:sp>
        <p:nvSpPr>
          <p:cNvPr id="252" name="Text 252"/>
          <p:cNvSpPr txBox="1"/>
          <p:nvPr/>
        </p:nvSpPr>
        <p:spPr>
          <a:xfrm>
            <a:off x="777240" y="4764024"/>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kNN20</a:t>
            </a:r>
            <a:endParaRPr lang="en-US" sz="950" dirty="0"/>
          </a:p>
        </p:txBody>
      </p:sp>
      <p:sp>
        <p:nvSpPr>
          <p:cNvPr id="253" name="Shape 253"/>
          <p:cNvSpPr/>
          <p:nvPr/>
        </p:nvSpPr>
        <p:spPr>
          <a:xfrm>
            <a:off x="2148840" y="4786884"/>
            <a:ext cx="5434148" cy="103327"/>
          </a:xfrm>
          <a:prstGeom prst="rect">
            <a:avLst/>
          </a:prstGeom>
          <a:solidFill>
            <a:srgbClr val="C9D6E3"/>
          </a:solidFill>
          <a:ln w="12700">
            <a:solidFill>
              <a:srgbClr val="C9D6E3"/>
            </a:solidFill>
            <a:prstDash val="solid"/>
          </a:ln>
        </p:spPr>
        <p:txBody>
          <a:bodyPr/>
          <a:lstStyle/>
          <a:p>
            <a:endParaRPr lang="ko-KR" altLang="en-US"/>
          </a:p>
        </p:txBody>
      </p:sp>
      <p:sp>
        <p:nvSpPr>
          <p:cNvPr id="254" name="Shape 254"/>
          <p:cNvSpPr/>
          <p:nvPr/>
        </p:nvSpPr>
        <p:spPr>
          <a:xfrm>
            <a:off x="2148840" y="4786884"/>
            <a:ext cx="5434148" cy="103327"/>
          </a:xfrm>
          <a:prstGeom prst="rect">
            <a:avLst/>
          </a:prstGeom>
          <a:solidFill>
            <a:srgbClr val="5B7BA0"/>
          </a:solidFill>
          <a:ln w="12700">
            <a:solidFill>
              <a:srgbClr val="5B7BA0"/>
            </a:solidFill>
            <a:prstDash val="solid"/>
          </a:ln>
        </p:spPr>
        <p:txBody>
          <a:bodyPr/>
          <a:lstStyle/>
          <a:p>
            <a:endParaRPr lang="ko-KR" altLang="en-US"/>
          </a:p>
        </p:txBody>
      </p:sp>
      <p:sp>
        <p:nvSpPr>
          <p:cNvPr id="255" name="Text 255"/>
          <p:cNvSpPr txBox="1"/>
          <p:nvPr/>
        </p:nvSpPr>
        <p:spPr>
          <a:xfrm>
            <a:off x="7628708" y="4764024"/>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61.9%</a:t>
            </a:r>
            <a:endParaRPr lang="en-US" sz="900" dirty="0"/>
          </a:p>
        </p:txBody>
      </p:sp>
      <p:sp>
        <p:nvSpPr>
          <p:cNvPr id="256" name="Text 256"/>
          <p:cNvSpPr txBox="1"/>
          <p:nvPr/>
        </p:nvSpPr>
        <p:spPr>
          <a:xfrm>
            <a:off x="777240" y="4913071"/>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OCSVM</a:t>
            </a:r>
            <a:endParaRPr lang="en-US" sz="950" dirty="0"/>
          </a:p>
        </p:txBody>
      </p:sp>
      <p:sp>
        <p:nvSpPr>
          <p:cNvPr id="257" name="Shape 257"/>
          <p:cNvSpPr/>
          <p:nvPr/>
        </p:nvSpPr>
        <p:spPr>
          <a:xfrm>
            <a:off x="2148840" y="4935931"/>
            <a:ext cx="5434148" cy="103327"/>
          </a:xfrm>
          <a:prstGeom prst="rect">
            <a:avLst/>
          </a:prstGeom>
          <a:solidFill>
            <a:srgbClr val="C9D6E3"/>
          </a:solidFill>
          <a:ln w="12700">
            <a:solidFill>
              <a:srgbClr val="C9D6E3"/>
            </a:solidFill>
            <a:prstDash val="solid"/>
          </a:ln>
        </p:spPr>
        <p:txBody>
          <a:bodyPr/>
          <a:lstStyle/>
          <a:p>
            <a:endParaRPr lang="ko-KR" altLang="en-US"/>
          </a:p>
        </p:txBody>
      </p:sp>
      <p:sp>
        <p:nvSpPr>
          <p:cNvPr id="258" name="Shape 258"/>
          <p:cNvSpPr/>
          <p:nvPr/>
        </p:nvSpPr>
        <p:spPr>
          <a:xfrm>
            <a:off x="2148840" y="4935931"/>
            <a:ext cx="5434148" cy="103327"/>
          </a:xfrm>
          <a:prstGeom prst="rect">
            <a:avLst/>
          </a:prstGeom>
          <a:solidFill>
            <a:srgbClr val="5B7BA0"/>
          </a:solidFill>
          <a:ln w="12700">
            <a:solidFill>
              <a:srgbClr val="5B7BA0"/>
            </a:solidFill>
            <a:prstDash val="solid"/>
          </a:ln>
        </p:spPr>
        <p:txBody>
          <a:bodyPr/>
          <a:lstStyle/>
          <a:p>
            <a:endParaRPr lang="ko-KR" altLang="en-US"/>
          </a:p>
        </p:txBody>
      </p:sp>
      <p:sp>
        <p:nvSpPr>
          <p:cNvPr id="259" name="Text 259"/>
          <p:cNvSpPr txBox="1"/>
          <p:nvPr/>
        </p:nvSpPr>
        <p:spPr>
          <a:xfrm>
            <a:off x="7628708" y="4913071"/>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61.9%</a:t>
            </a:r>
            <a:endParaRPr lang="en-US" sz="900" dirty="0"/>
          </a:p>
        </p:txBody>
      </p:sp>
      <p:sp>
        <p:nvSpPr>
          <p:cNvPr id="260" name="Text 260"/>
          <p:cNvSpPr txBox="1"/>
          <p:nvPr/>
        </p:nvSpPr>
        <p:spPr>
          <a:xfrm>
            <a:off x="777240" y="5062118"/>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VAR_Ridge</a:t>
            </a:r>
            <a:endParaRPr lang="en-US" sz="950" dirty="0"/>
          </a:p>
        </p:txBody>
      </p:sp>
      <p:sp>
        <p:nvSpPr>
          <p:cNvPr id="261" name="Shape 261"/>
          <p:cNvSpPr/>
          <p:nvPr/>
        </p:nvSpPr>
        <p:spPr>
          <a:xfrm>
            <a:off x="2148840" y="5084978"/>
            <a:ext cx="5434148" cy="103327"/>
          </a:xfrm>
          <a:prstGeom prst="rect">
            <a:avLst/>
          </a:prstGeom>
          <a:solidFill>
            <a:srgbClr val="C9D6E3"/>
          </a:solidFill>
          <a:ln w="12700">
            <a:solidFill>
              <a:srgbClr val="C9D6E3"/>
            </a:solidFill>
            <a:prstDash val="solid"/>
          </a:ln>
        </p:spPr>
        <p:txBody>
          <a:bodyPr/>
          <a:lstStyle/>
          <a:p>
            <a:endParaRPr lang="ko-KR" altLang="en-US"/>
          </a:p>
        </p:txBody>
      </p:sp>
      <p:sp>
        <p:nvSpPr>
          <p:cNvPr id="262" name="Shape 262"/>
          <p:cNvSpPr/>
          <p:nvPr/>
        </p:nvSpPr>
        <p:spPr>
          <a:xfrm>
            <a:off x="2148840" y="5084978"/>
            <a:ext cx="4598125" cy="103327"/>
          </a:xfrm>
          <a:prstGeom prst="rect">
            <a:avLst/>
          </a:prstGeom>
          <a:solidFill>
            <a:srgbClr val="5B7BA0"/>
          </a:solidFill>
          <a:ln w="12700">
            <a:solidFill>
              <a:srgbClr val="5B7BA0"/>
            </a:solidFill>
            <a:prstDash val="solid"/>
          </a:ln>
        </p:spPr>
        <p:txBody>
          <a:bodyPr/>
          <a:lstStyle/>
          <a:p>
            <a:endParaRPr lang="ko-KR" altLang="en-US"/>
          </a:p>
        </p:txBody>
      </p:sp>
      <p:sp>
        <p:nvSpPr>
          <p:cNvPr id="263" name="Text 263"/>
          <p:cNvSpPr txBox="1"/>
          <p:nvPr/>
        </p:nvSpPr>
        <p:spPr>
          <a:xfrm>
            <a:off x="7628708" y="5062118"/>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61.9%</a:t>
            </a:r>
            <a:endParaRPr lang="en-US" sz="900" dirty="0"/>
          </a:p>
        </p:txBody>
      </p:sp>
      <p:sp>
        <p:nvSpPr>
          <p:cNvPr id="264" name="Text 264"/>
          <p:cNvSpPr txBox="1"/>
          <p:nvPr/>
        </p:nvSpPr>
        <p:spPr>
          <a:xfrm>
            <a:off x="777240" y="5211166"/>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GRU32</a:t>
            </a:r>
            <a:endParaRPr lang="en-US" sz="950" dirty="0"/>
          </a:p>
        </p:txBody>
      </p:sp>
      <p:sp>
        <p:nvSpPr>
          <p:cNvPr id="265" name="Shape 265"/>
          <p:cNvSpPr/>
          <p:nvPr/>
        </p:nvSpPr>
        <p:spPr>
          <a:xfrm>
            <a:off x="2148840" y="5234026"/>
            <a:ext cx="5294811" cy="103327"/>
          </a:xfrm>
          <a:prstGeom prst="rect">
            <a:avLst/>
          </a:prstGeom>
          <a:solidFill>
            <a:srgbClr val="C9D6E3"/>
          </a:solidFill>
          <a:ln w="12700">
            <a:solidFill>
              <a:srgbClr val="C9D6E3"/>
            </a:solidFill>
            <a:prstDash val="solid"/>
          </a:ln>
        </p:spPr>
        <p:txBody>
          <a:bodyPr/>
          <a:lstStyle/>
          <a:p>
            <a:endParaRPr lang="ko-KR" altLang="en-US"/>
          </a:p>
        </p:txBody>
      </p:sp>
      <p:sp>
        <p:nvSpPr>
          <p:cNvPr id="266" name="Shape 266"/>
          <p:cNvSpPr/>
          <p:nvPr/>
        </p:nvSpPr>
        <p:spPr>
          <a:xfrm>
            <a:off x="2148840" y="5234026"/>
            <a:ext cx="5016137" cy="103327"/>
          </a:xfrm>
          <a:prstGeom prst="rect">
            <a:avLst/>
          </a:prstGeom>
          <a:solidFill>
            <a:srgbClr val="5B7BA0"/>
          </a:solidFill>
          <a:ln w="12700">
            <a:solidFill>
              <a:srgbClr val="5B7BA0"/>
            </a:solidFill>
            <a:prstDash val="solid"/>
          </a:ln>
        </p:spPr>
        <p:txBody>
          <a:bodyPr/>
          <a:lstStyle/>
          <a:p>
            <a:endParaRPr lang="ko-KR" altLang="en-US"/>
          </a:p>
        </p:txBody>
      </p:sp>
      <p:sp>
        <p:nvSpPr>
          <p:cNvPr id="267" name="Text 267"/>
          <p:cNvSpPr txBox="1"/>
          <p:nvPr/>
        </p:nvSpPr>
        <p:spPr>
          <a:xfrm>
            <a:off x="7489371" y="5211166"/>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60.3%</a:t>
            </a:r>
            <a:endParaRPr lang="en-US" sz="900" dirty="0"/>
          </a:p>
        </p:txBody>
      </p:sp>
      <p:sp>
        <p:nvSpPr>
          <p:cNvPr id="268" name="Text 268"/>
          <p:cNvSpPr txBox="1"/>
          <p:nvPr/>
        </p:nvSpPr>
        <p:spPr>
          <a:xfrm>
            <a:off x="777240" y="5360213"/>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IsolationForest</a:t>
            </a:r>
            <a:endParaRPr lang="en-US" sz="950" dirty="0"/>
          </a:p>
        </p:txBody>
      </p:sp>
      <p:sp>
        <p:nvSpPr>
          <p:cNvPr id="269" name="Shape 269"/>
          <p:cNvSpPr/>
          <p:nvPr/>
        </p:nvSpPr>
        <p:spPr>
          <a:xfrm>
            <a:off x="2148840" y="5383073"/>
            <a:ext cx="4458788" cy="103327"/>
          </a:xfrm>
          <a:prstGeom prst="rect">
            <a:avLst/>
          </a:prstGeom>
          <a:solidFill>
            <a:srgbClr val="C9D6E3"/>
          </a:solidFill>
          <a:ln w="12700">
            <a:solidFill>
              <a:srgbClr val="C9D6E3"/>
            </a:solidFill>
            <a:prstDash val="solid"/>
          </a:ln>
        </p:spPr>
        <p:txBody>
          <a:bodyPr/>
          <a:lstStyle/>
          <a:p>
            <a:endParaRPr lang="ko-KR" altLang="en-US"/>
          </a:p>
        </p:txBody>
      </p:sp>
      <p:sp>
        <p:nvSpPr>
          <p:cNvPr id="270" name="Shape 270"/>
          <p:cNvSpPr/>
          <p:nvPr/>
        </p:nvSpPr>
        <p:spPr>
          <a:xfrm>
            <a:off x="2148840" y="5383073"/>
            <a:ext cx="4180114" cy="103327"/>
          </a:xfrm>
          <a:prstGeom prst="rect">
            <a:avLst/>
          </a:prstGeom>
          <a:solidFill>
            <a:srgbClr val="5B7BA0"/>
          </a:solidFill>
          <a:ln w="12700">
            <a:solidFill>
              <a:srgbClr val="5B7BA0"/>
            </a:solidFill>
            <a:prstDash val="solid"/>
          </a:ln>
        </p:spPr>
        <p:txBody>
          <a:bodyPr/>
          <a:lstStyle/>
          <a:p>
            <a:endParaRPr lang="ko-KR" altLang="en-US"/>
          </a:p>
        </p:txBody>
      </p:sp>
      <p:sp>
        <p:nvSpPr>
          <p:cNvPr id="271" name="Text 271"/>
          <p:cNvSpPr txBox="1"/>
          <p:nvPr/>
        </p:nvSpPr>
        <p:spPr>
          <a:xfrm>
            <a:off x="6653348" y="5360213"/>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50.8%</a:t>
            </a:r>
            <a:endParaRPr lang="en-US" sz="900" dirty="0"/>
          </a:p>
        </p:txBody>
      </p:sp>
      <p:sp>
        <p:nvSpPr>
          <p:cNvPr id="272" name="Text 272"/>
          <p:cNvSpPr txBox="1"/>
          <p:nvPr/>
        </p:nvSpPr>
        <p:spPr>
          <a:xfrm>
            <a:off x="777240" y="5509260"/>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RobustMAD</a:t>
            </a:r>
            <a:endParaRPr lang="en-US" sz="950" dirty="0"/>
          </a:p>
        </p:txBody>
      </p:sp>
      <p:sp>
        <p:nvSpPr>
          <p:cNvPr id="273" name="Shape 273"/>
          <p:cNvSpPr/>
          <p:nvPr/>
        </p:nvSpPr>
        <p:spPr>
          <a:xfrm>
            <a:off x="2148840" y="5532120"/>
            <a:ext cx="4180114" cy="103327"/>
          </a:xfrm>
          <a:prstGeom prst="rect">
            <a:avLst/>
          </a:prstGeom>
          <a:solidFill>
            <a:srgbClr val="C9D6E3"/>
          </a:solidFill>
          <a:ln w="12700">
            <a:solidFill>
              <a:srgbClr val="C9D6E3"/>
            </a:solidFill>
            <a:prstDash val="solid"/>
          </a:ln>
        </p:spPr>
        <p:txBody>
          <a:bodyPr/>
          <a:lstStyle/>
          <a:p>
            <a:endParaRPr lang="ko-KR" altLang="en-US"/>
          </a:p>
        </p:txBody>
      </p:sp>
      <p:sp>
        <p:nvSpPr>
          <p:cNvPr id="274" name="Shape 274"/>
          <p:cNvSpPr/>
          <p:nvPr/>
        </p:nvSpPr>
        <p:spPr>
          <a:xfrm>
            <a:off x="2148840" y="5532120"/>
            <a:ext cx="4180114" cy="103327"/>
          </a:xfrm>
          <a:prstGeom prst="rect">
            <a:avLst/>
          </a:prstGeom>
          <a:solidFill>
            <a:srgbClr val="5B7BA0"/>
          </a:solidFill>
          <a:ln w="12700">
            <a:solidFill>
              <a:srgbClr val="5B7BA0"/>
            </a:solidFill>
            <a:prstDash val="solid"/>
          </a:ln>
        </p:spPr>
        <p:txBody>
          <a:bodyPr/>
          <a:lstStyle/>
          <a:p>
            <a:endParaRPr lang="ko-KR" altLang="en-US"/>
          </a:p>
        </p:txBody>
      </p:sp>
      <p:sp>
        <p:nvSpPr>
          <p:cNvPr id="275" name="Text 275"/>
          <p:cNvSpPr txBox="1"/>
          <p:nvPr/>
        </p:nvSpPr>
        <p:spPr>
          <a:xfrm>
            <a:off x="6374674" y="5509260"/>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47.6%</a:t>
            </a:r>
            <a:endParaRPr lang="en-US" sz="900" dirty="0"/>
          </a:p>
        </p:txBody>
      </p:sp>
      <p:sp>
        <p:nvSpPr>
          <p:cNvPr id="276" name="Text 276"/>
          <p:cNvSpPr txBox="1"/>
          <p:nvPr/>
        </p:nvSpPr>
        <p:spPr>
          <a:xfrm>
            <a:off x="777240" y="5658307"/>
            <a:ext cx="1298448" cy="149047"/>
          </a:xfrm>
          <a:prstGeom prst="rect">
            <a:avLst/>
          </a:prstGeom>
          <a:noFill/>
          <a:ln/>
        </p:spPr>
        <p:txBody>
          <a:bodyPr wrap="square" lIns="0" tIns="0" rIns="0" bIns="0" rtlCol="0" anchor="ctr"/>
          <a:lstStyle/>
          <a:p>
            <a:pPr marL="0" indent="0" algn="r">
              <a:buNone/>
            </a:pPr>
            <a:r>
              <a:rPr lang="en-US" sz="950" dirty="0">
                <a:solidFill>
                  <a:srgbClr val="262626"/>
                </a:solidFill>
                <a:latin typeface="맑은 고딕" pitchFamily="34" charset="0"/>
                <a:ea typeface="맑은 고딕" pitchFamily="34" charset="-122"/>
                <a:cs typeface="맑은 고딕" pitchFamily="34" charset="-120"/>
              </a:rPr>
              <a:t>Persistence</a:t>
            </a:r>
            <a:endParaRPr lang="en-US" sz="950" dirty="0"/>
          </a:p>
        </p:txBody>
      </p:sp>
      <p:sp>
        <p:nvSpPr>
          <p:cNvPr id="277" name="Shape 277"/>
          <p:cNvSpPr/>
          <p:nvPr/>
        </p:nvSpPr>
        <p:spPr>
          <a:xfrm>
            <a:off x="2148840" y="5681167"/>
            <a:ext cx="4180114" cy="103327"/>
          </a:xfrm>
          <a:prstGeom prst="rect">
            <a:avLst/>
          </a:prstGeom>
          <a:solidFill>
            <a:srgbClr val="C9D6E3"/>
          </a:solidFill>
          <a:ln w="12700">
            <a:solidFill>
              <a:srgbClr val="C9D6E3"/>
            </a:solidFill>
            <a:prstDash val="solid"/>
          </a:ln>
        </p:spPr>
        <p:txBody>
          <a:bodyPr/>
          <a:lstStyle/>
          <a:p>
            <a:endParaRPr lang="ko-KR" altLang="en-US"/>
          </a:p>
        </p:txBody>
      </p:sp>
      <p:sp>
        <p:nvSpPr>
          <p:cNvPr id="278" name="Shape 278"/>
          <p:cNvSpPr/>
          <p:nvPr/>
        </p:nvSpPr>
        <p:spPr>
          <a:xfrm>
            <a:off x="2148840" y="5681167"/>
            <a:ext cx="3762102" cy="103327"/>
          </a:xfrm>
          <a:prstGeom prst="rect">
            <a:avLst/>
          </a:prstGeom>
          <a:solidFill>
            <a:srgbClr val="5B7BA0"/>
          </a:solidFill>
          <a:ln w="12700">
            <a:solidFill>
              <a:srgbClr val="5B7BA0"/>
            </a:solidFill>
            <a:prstDash val="solid"/>
          </a:ln>
        </p:spPr>
        <p:txBody>
          <a:bodyPr/>
          <a:lstStyle/>
          <a:p>
            <a:endParaRPr lang="ko-KR" altLang="en-US"/>
          </a:p>
        </p:txBody>
      </p:sp>
      <p:sp>
        <p:nvSpPr>
          <p:cNvPr id="279" name="Text 279"/>
          <p:cNvSpPr txBox="1"/>
          <p:nvPr/>
        </p:nvSpPr>
        <p:spPr>
          <a:xfrm>
            <a:off x="6374674" y="5658307"/>
            <a:ext cx="640080" cy="149047"/>
          </a:xfrm>
          <a:prstGeom prst="rect">
            <a:avLst/>
          </a:prstGeom>
          <a:noFill/>
          <a:ln/>
        </p:spPr>
        <p:txBody>
          <a:bodyPr wrap="square" lIns="0" tIns="0" rIns="0" bIns="0" rtlCol="0" anchor="ctr"/>
          <a:lstStyle/>
          <a:p>
            <a:pPr marL="0" indent="0" algn="l">
              <a:buNone/>
            </a:pPr>
            <a:r>
              <a:rPr lang="en-US" sz="900" dirty="0">
                <a:solidFill>
                  <a:srgbClr val="404040"/>
                </a:solidFill>
                <a:latin typeface="맑은 고딕" pitchFamily="34" charset="0"/>
                <a:ea typeface="맑은 고딕" pitchFamily="34" charset="-122"/>
                <a:cs typeface="맑은 고딕" pitchFamily="34" charset="-120"/>
              </a:rPr>
              <a:t>47.6%</a:t>
            </a:r>
            <a:endParaRPr lang="en-US" sz="900" dirty="0"/>
          </a:p>
        </p:txBody>
      </p:sp>
      <p:sp>
        <p:nvSpPr>
          <p:cNvPr id="280" name="Shape 280"/>
          <p:cNvSpPr/>
          <p:nvPr/>
        </p:nvSpPr>
        <p:spPr>
          <a:xfrm>
            <a:off x="2148840" y="6080760"/>
            <a:ext cx="274320" cy="128016"/>
          </a:xfrm>
          <a:prstGeom prst="rect">
            <a:avLst/>
          </a:prstGeom>
          <a:solidFill>
            <a:srgbClr val="5B7BA0"/>
          </a:solidFill>
          <a:ln w="12700">
            <a:solidFill>
              <a:srgbClr val="5B7BA0"/>
            </a:solidFill>
            <a:prstDash val="solid"/>
          </a:ln>
        </p:spPr>
        <p:txBody>
          <a:bodyPr/>
          <a:lstStyle/>
          <a:p>
            <a:endParaRPr lang="ko-KR" altLang="en-US"/>
          </a:p>
        </p:txBody>
      </p:sp>
      <p:sp>
        <p:nvSpPr>
          <p:cNvPr id="281" name="Text 281"/>
          <p:cNvSpPr txBox="1"/>
          <p:nvPr/>
        </p:nvSpPr>
        <p:spPr>
          <a:xfrm>
            <a:off x="2496312" y="6035040"/>
            <a:ext cx="2926080" cy="219456"/>
          </a:xfrm>
          <a:prstGeom prst="rect">
            <a:avLst/>
          </a:prstGeom>
          <a:noFill/>
          <a:ln/>
        </p:spPr>
        <p:txBody>
          <a:bodyPr wrap="square" lIns="0" tIns="0" rIns="0" bIns="0" rtlCol="0" anchor="ctr"/>
          <a:lstStyle/>
          <a:p>
            <a:pPr marL="0" indent="0" algn="l">
              <a:buNone/>
            </a:pPr>
            <a:r>
              <a:rPr lang="en-US" sz="950" dirty="0">
                <a:solidFill>
                  <a:srgbClr val="404040"/>
                </a:solidFill>
                <a:latin typeface="맑은 고딕" pitchFamily="34" charset="0"/>
                <a:ea typeface="맑은 고딕" pitchFamily="34" charset="-122"/>
                <a:cs typeface="맑은 고딕" pitchFamily="34" charset="-120"/>
              </a:rPr>
              <a:t>0.3초 이내 (기존 방법의 가장 이른 판단 시점)</a:t>
            </a:r>
            <a:endParaRPr lang="en-US" sz="950" dirty="0"/>
          </a:p>
        </p:txBody>
      </p:sp>
      <p:sp>
        <p:nvSpPr>
          <p:cNvPr id="282" name="Shape 282"/>
          <p:cNvSpPr/>
          <p:nvPr/>
        </p:nvSpPr>
        <p:spPr>
          <a:xfrm>
            <a:off x="5532120" y="6080760"/>
            <a:ext cx="274320" cy="128016"/>
          </a:xfrm>
          <a:prstGeom prst="rect">
            <a:avLst/>
          </a:prstGeom>
          <a:solidFill>
            <a:srgbClr val="C9D6E3"/>
          </a:solidFill>
          <a:ln w="12700">
            <a:solidFill>
              <a:srgbClr val="C9D6E3"/>
            </a:solidFill>
            <a:prstDash val="solid"/>
          </a:ln>
        </p:spPr>
        <p:txBody>
          <a:bodyPr/>
          <a:lstStyle/>
          <a:p>
            <a:endParaRPr lang="ko-KR" altLang="en-US"/>
          </a:p>
        </p:txBody>
      </p:sp>
      <p:sp>
        <p:nvSpPr>
          <p:cNvPr id="283" name="Text 283"/>
          <p:cNvSpPr txBox="1"/>
          <p:nvPr/>
        </p:nvSpPr>
        <p:spPr>
          <a:xfrm>
            <a:off x="5879592" y="6035040"/>
            <a:ext cx="1463040" cy="219456"/>
          </a:xfrm>
          <a:prstGeom prst="rect">
            <a:avLst/>
          </a:prstGeom>
          <a:noFill/>
          <a:ln/>
        </p:spPr>
        <p:txBody>
          <a:bodyPr wrap="square" lIns="0" tIns="0" rIns="0" bIns="0" rtlCol="0" anchor="ctr"/>
          <a:lstStyle/>
          <a:p>
            <a:pPr marL="0" indent="0" algn="l">
              <a:buNone/>
            </a:pPr>
            <a:r>
              <a:rPr lang="en-US" sz="950" dirty="0">
                <a:solidFill>
                  <a:srgbClr val="404040"/>
                </a:solidFill>
                <a:latin typeface="맑은 고딕" pitchFamily="34" charset="0"/>
                <a:ea typeface="맑은 고딕" pitchFamily="34" charset="-122"/>
                <a:cs typeface="맑은 고딕" pitchFamily="34" charset="-120"/>
              </a:rPr>
              <a:t>0.4~0.5초 추가</a:t>
            </a:r>
            <a:endParaRPr lang="en-US" sz="950" dirty="0"/>
          </a:p>
        </p:txBody>
      </p:sp>
      <p:sp>
        <p:nvSpPr>
          <p:cNvPr id="138" name="Slide Number Placeholder 0">
            <a:extLst>
              <a:ext uri="{FF2B5EF4-FFF2-40B4-BE49-F238E27FC236}">
                <a16:creationId xmlns:a16="http://schemas.microsoft.com/office/drawing/2014/main" id="{8F7A3E30-83A6-D73C-E565-240539B872B2}"/>
              </a:ext>
            </a:extLst>
          </p:cNvPr>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18</a:t>
            </a:fld>
            <a:endParaRPr lang="en-US" dirty="0"/>
          </a:p>
        </p:txBody>
      </p:sp>
      <p:sp>
        <p:nvSpPr>
          <p:cNvPr id="7" name="Text 17">
            <a:extLst>
              <a:ext uri="{FF2B5EF4-FFF2-40B4-BE49-F238E27FC236}">
                <a16:creationId xmlns:a16="http://schemas.microsoft.com/office/drawing/2014/main" id="{7381AE98-16DD-69D8-0ECD-F4157C27A318}"/>
              </a:ext>
            </a:extLst>
          </p:cNvPr>
          <p:cNvSpPr txBox="1"/>
          <p:nvPr/>
        </p:nvSpPr>
        <p:spPr>
          <a:xfrm>
            <a:off x="9133200" y="572400"/>
            <a:ext cx="1841297" cy="411480"/>
          </a:xfrm>
          <a:prstGeom prst="rect">
            <a:avLst/>
          </a:prstGeom>
          <a:noFill/>
          <a:ln/>
        </p:spPr>
        <p:txBody>
          <a:bodyPr wrap="square" lIns="0" tIns="0" rIns="0" bIns="0" rtlCol="0" anchor="ctr"/>
          <a:lstStyle/>
          <a:p>
            <a:pPr marL="0" indent="0" algn="ctr">
              <a:buNone/>
            </a:pPr>
            <a:r>
              <a:rPr lang="en-US" sz="1700" b="1" dirty="0">
                <a:solidFill>
                  <a:srgbClr val="C00000"/>
                </a:solidFill>
                <a:latin typeface="맑은 고딕" pitchFamily="34" charset="0"/>
                <a:ea typeface="맑은 고딕" pitchFamily="34" charset="-122"/>
                <a:cs typeface="맑은 고딕" pitchFamily="34" charset="-120"/>
              </a:rPr>
              <a:t>0.5초 </a:t>
            </a:r>
            <a:r>
              <a:rPr lang="ko-KR" altLang="en-US" sz="1700" b="1" dirty="0">
                <a:solidFill>
                  <a:srgbClr val="C00000"/>
                </a:solidFill>
                <a:latin typeface="맑은 고딕" pitchFamily="34" charset="0"/>
                <a:ea typeface="맑은 고딕" pitchFamily="34" charset="-122"/>
                <a:cs typeface="맑은 고딕" pitchFamily="34" charset="-120"/>
              </a:rPr>
              <a:t>이내 </a:t>
            </a:r>
            <a:r>
              <a:rPr lang="en-US" sz="1700" b="1" dirty="0" err="1">
                <a:solidFill>
                  <a:srgbClr val="C00000"/>
                </a:solidFill>
                <a:latin typeface="맑은 고딕" pitchFamily="34" charset="0"/>
                <a:ea typeface="맑은 고딕" pitchFamily="34" charset="-122"/>
                <a:cs typeface="맑은 고딕" pitchFamily="34" charset="-120"/>
              </a:rPr>
              <a:t>경보율</a:t>
            </a:r>
            <a:endParaRPr lang="en-US" sz="1700" dirty="0"/>
          </a:p>
        </p:txBody>
      </p:sp>
      <mc:AlternateContent xmlns:mc="http://schemas.openxmlformats.org/markup-compatibility/2006">
        <mc:Choice xmlns:a14="http://schemas.microsoft.com/office/drawing/2010/main" Requires="a14">
          <p:sp>
            <p:nvSpPr>
              <p:cNvPr id="9" name="Text 18">
                <a:extLst>
                  <a:ext uri="{FF2B5EF4-FFF2-40B4-BE49-F238E27FC236}">
                    <a16:creationId xmlns:a16="http://schemas.microsoft.com/office/drawing/2014/main" id="{74AE28A7-D687-23BC-C854-18397D0E0CB8}"/>
                  </a:ext>
                </a:extLst>
              </p:cNvPr>
              <p:cNvSpPr txBox="1"/>
              <p:nvPr/>
            </p:nvSpPr>
            <p:spPr>
              <a:xfrm>
                <a:off x="9133200" y="1058400"/>
                <a:ext cx="1841297" cy="548640"/>
              </a:xfrm>
              <a:prstGeom prst="rect">
                <a:avLst/>
              </a:prstGeom>
              <a:noFill/>
              <a:ln/>
            </p:spPr>
            <p:txBody>
              <a:bodyPr wrap="square" lIns="0" tIns="0" rIns="0" bIns="0" rtlCol="0" anchor="ctr"/>
              <a:lstStyle/>
              <a:p>
                <a:pPr algn="ctr"/>
                <a14:m>
                  <m:oMathPara xmlns:m="http://schemas.openxmlformats.org/officeDocument/2006/math">
                    <m:oMath>
                      <m:f>
                        <m:fPr>
                          <m:ctrlPr>
                            <a:rPr lang="en-US" altLang="ko-KR" sz="1600" b="0" i="1" smtClean="0">
                              <a:latin typeface="Cambria Math" panose="02040503050406030204" pitchFamily="18" charset="0"/>
                            </a:rPr>
                          </m:ctrlPr>
                        </m:fPr>
                        <m:num>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𝑛</m:t>
                              </m:r>
                              <m:r>
                                <a:rPr lang="en-US" altLang="ko-KR" sz="1600" b="0" i="1" smtClean="0">
                                  <a:latin typeface="Cambria Math" panose="02040503050406030204" pitchFamily="18" charset="0"/>
                                </a:rPr>
                                <m:t>(</m:t>
                              </m:r>
                              <m:r>
                                <a:rPr lang="en-US" altLang="ko-KR" sz="1600" i="1">
                                  <a:latin typeface="Cambria Math" panose="02040503050406030204" pitchFamily="18" charset="0"/>
                                </a:rPr>
                                <m:t>𝑡</m:t>
                              </m:r>
                            </m:e>
                            <m:sub>
                              <m:r>
                                <a:rPr lang="en-US" altLang="ko-KR" sz="1600" i="1">
                                  <a:latin typeface="Cambria Math" panose="02040503050406030204" pitchFamily="18" charset="0"/>
                                </a:rPr>
                                <m:t>𝑑𝑒𝑙𝑎𝑦</m:t>
                              </m:r>
                            </m:sub>
                          </m:sSub>
                          <m:r>
                            <a:rPr lang="en-US" altLang="ko-KR" sz="1600" b="0" i="1" smtClean="0">
                              <a:latin typeface="Cambria Math" panose="02040503050406030204" pitchFamily="18" charset="0"/>
                            </a:rPr>
                            <m:t>&lt;0.5)</m:t>
                          </m:r>
                        </m:num>
                        <m:den>
                          <m:r>
                            <a:rPr lang="en-US" altLang="ko-KR" sz="1500" b="0" i="1" smtClean="0">
                              <a:solidFill>
                                <a:srgbClr val="262626"/>
                              </a:solidFill>
                              <a:latin typeface="Cambria Math" panose="02040503050406030204" pitchFamily="18" charset="0"/>
                              <a:cs typeface="Times New Roman" pitchFamily="34" charset="-120"/>
                            </a:rPr>
                            <m:t>𝑛</m:t>
                          </m:r>
                          <m:r>
                            <a:rPr lang="en-US" altLang="ko-KR" sz="1500" b="0" i="1" smtClean="0">
                              <a:solidFill>
                                <a:srgbClr val="262626"/>
                              </a:solidFill>
                              <a:latin typeface="Cambria Math" panose="02040503050406030204" pitchFamily="18" charset="0"/>
                              <a:cs typeface="Times New Roman" pitchFamily="34" charset="-120"/>
                            </a:rPr>
                            <m:t>(</m:t>
                          </m:r>
                          <m:r>
                            <a:rPr lang="en-US" altLang="ko-KR" sz="1500" b="0" i="1" smtClean="0">
                              <a:solidFill>
                                <a:srgbClr val="262626"/>
                              </a:solidFill>
                              <a:latin typeface="Cambria Math" panose="02040503050406030204" pitchFamily="18" charset="0"/>
                              <a:cs typeface="Times New Roman" pitchFamily="34" charset="-120"/>
                            </a:rPr>
                            <m:t>𝑐𝑙𝑖𝑝</m:t>
                          </m:r>
                          <m:r>
                            <a:rPr lang="en-US" altLang="ko-KR" sz="1500" b="0" i="1" smtClean="0">
                              <a:solidFill>
                                <a:srgbClr val="262626"/>
                              </a:solidFill>
                              <a:latin typeface="Cambria Math" panose="02040503050406030204" pitchFamily="18" charset="0"/>
                              <a:cs typeface="Times New Roman" pitchFamily="34" charset="-120"/>
                            </a:rPr>
                            <m:t>)</m:t>
                          </m:r>
                        </m:den>
                      </m:f>
                    </m:oMath>
                  </m:oMathPara>
                </a14:m>
                <a:endParaRPr lang="en-US" sz="1500" dirty="0"/>
              </a:p>
            </p:txBody>
          </p:sp>
        </mc:Choice>
        <mc:Fallback>
          <p:sp>
            <p:nvSpPr>
              <p:cNvPr id="9" name="Text 18">
                <a:extLst>
                  <a:ext uri="{FF2B5EF4-FFF2-40B4-BE49-F238E27FC236}">
                    <a16:creationId xmlns:a16="http://schemas.microsoft.com/office/drawing/2014/main" id="{74AE28A7-D687-23BC-C854-18397D0E0CB8}"/>
                  </a:ext>
                </a:extLst>
              </p:cNvPr>
              <p:cNvSpPr txBox="1">
                <a:spLocks noRot="1" noChangeAspect="1" noMove="1" noResize="1" noEditPoints="1" noAdjustHandles="1" noChangeArrowheads="1" noChangeShapeType="1" noTextEdit="1"/>
              </p:cNvSpPr>
              <p:nvPr/>
            </p:nvSpPr>
            <p:spPr>
              <a:xfrm>
                <a:off x="9133200" y="1058400"/>
                <a:ext cx="1841297" cy="548640"/>
              </a:xfrm>
              <a:prstGeom prst="rect">
                <a:avLst/>
              </a:prstGeom>
              <a:blipFill>
                <a:blip r:embed="rId3"/>
                <a:stretch>
                  <a:fillRect/>
                </a:stretch>
              </a:blipFill>
              <a:ln/>
            </p:spPr>
            <p:txBody>
              <a:bodyPr/>
              <a:lstStyle/>
              <a:p>
                <a:r>
                  <a:rPr lang="ko-KR"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Effect of Window Length</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과거(W)를 얼마나 길게 봐야 할까?</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W ≥ 3에서 F1 포화: 0.954~0.966, 첫 경보는 W와 무관하게 평균 약 0.11초</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W = 3 채택: W ≥ 5부터 오경보 시점 18~33개로 증가 (W = 3: 11.7개)</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초기 주변분포 판정으로 창이 다 차기 전에도 판단 → 긴 W의 판단 대기 비용이 사라짐</a:t>
            </a:r>
            <a:endParaRPr lang="en-US" sz="1600" dirty="0"/>
          </a:p>
        </p:txBody>
      </p:sp>
      <p:sp>
        <p:nvSpPr>
          <p:cNvPr id="201" name="Shape 201"/>
          <p:cNvSpPr/>
          <p:nvPr/>
        </p:nvSpPr>
        <p:spPr>
          <a:xfrm>
            <a:off x="4462318" y="3154680"/>
            <a:ext cx="975390" cy="3172968"/>
          </a:xfrm>
          <a:prstGeom prst="rect">
            <a:avLst/>
          </a:prstGeom>
          <a:solidFill>
            <a:srgbClr val="FBE5E5"/>
          </a:solidFill>
          <a:ln w="12700">
            <a:solidFill>
              <a:srgbClr val="FBE5E5"/>
            </a:solidFill>
            <a:prstDash val="solid"/>
          </a:ln>
        </p:spPr>
        <p:txBody>
          <a:bodyPr/>
          <a:lstStyle/>
          <a:p>
            <a:endParaRPr lang="ko-KR" altLang="en-US"/>
          </a:p>
        </p:txBody>
      </p:sp>
      <p:sp>
        <p:nvSpPr>
          <p:cNvPr id="202" name="Text 202"/>
          <p:cNvSpPr txBox="1"/>
          <p:nvPr/>
        </p:nvSpPr>
        <p:spPr>
          <a:xfrm>
            <a:off x="4462318" y="3154680"/>
            <a:ext cx="975390" cy="201168"/>
          </a:xfrm>
          <a:prstGeom prst="rect">
            <a:avLst/>
          </a:prstGeom>
          <a:noFill/>
          <a:ln/>
        </p:spPr>
        <p:txBody>
          <a:bodyPr wrap="square" lIns="0" tIns="0" rIns="0" bIns="0" rtlCol="0" anchor="ctr"/>
          <a:lstStyle/>
          <a:p>
            <a:pPr marL="0" indent="0" algn="ctr">
              <a:buNone/>
            </a:pPr>
            <a:r>
              <a:rPr lang="en-US" sz="1100" b="1" dirty="0">
                <a:solidFill>
                  <a:srgbClr val="C00000"/>
                </a:solidFill>
                <a:latin typeface="맑은 고딕" pitchFamily="34" charset="0"/>
                <a:ea typeface="맑은 고딕" pitchFamily="34" charset="-122"/>
                <a:cs typeface="맑은 고딕" pitchFamily="34" charset="-120"/>
              </a:rPr>
              <a:t>W = 3 (채택)</a:t>
            </a:r>
            <a:endParaRPr lang="en-US" sz="1100" dirty="0"/>
          </a:p>
        </p:txBody>
      </p:sp>
      <p:sp>
        <p:nvSpPr>
          <p:cNvPr id="203" name="Text 203"/>
          <p:cNvSpPr txBox="1"/>
          <p:nvPr/>
        </p:nvSpPr>
        <p:spPr>
          <a:xfrm>
            <a:off x="777240" y="3383280"/>
            <a:ext cx="1097280" cy="274320"/>
          </a:xfrm>
          <a:prstGeom prst="rect">
            <a:avLst/>
          </a:prstGeom>
          <a:noFill/>
          <a:ln/>
        </p:spPr>
        <p:txBody>
          <a:bodyPr wrap="square" lIns="0" tIns="0" rIns="0" bIns="0" rtlCol="0" anchor="ctr"/>
          <a:lstStyle/>
          <a:p>
            <a:pPr marL="0" indent="0" algn="l">
              <a:buNone/>
            </a:pPr>
            <a:r>
              <a:rPr lang="en-US" sz="1300" b="1" dirty="0">
                <a:solidFill>
                  <a:srgbClr val="262626"/>
                </a:solidFill>
                <a:latin typeface="맑은 고딕" pitchFamily="34" charset="0"/>
                <a:ea typeface="맑은 고딕" pitchFamily="34" charset="-122"/>
                <a:cs typeface="맑은 고딕" pitchFamily="34" charset="-120"/>
              </a:rPr>
              <a:t>F1</a:t>
            </a:r>
            <a:endParaRPr lang="en-US" sz="1300" dirty="0"/>
          </a:p>
        </p:txBody>
      </p:sp>
      <p:sp>
        <p:nvSpPr>
          <p:cNvPr id="204" name="Text 204"/>
          <p:cNvSpPr txBox="1"/>
          <p:nvPr/>
        </p:nvSpPr>
        <p:spPr>
          <a:xfrm>
            <a:off x="777240" y="3639312"/>
            <a:ext cx="1234440" cy="365760"/>
          </a:xfrm>
          <a:prstGeom prst="rect">
            <a:avLst/>
          </a:prstGeom>
          <a:noFill/>
          <a:ln/>
        </p:spPr>
        <p:txBody>
          <a:bodyPr wrap="square" lIns="0" tIns="0" rIns="0" bIns="0" rtlCol="0" anchor="ctr"/>
          <a:lstStyle/>
          <a:p>
            <a:pPr marL="0" indent="0" algn="l">
              <a:buNone/>
            </a:pPr>
            <a:r>
              <a:rPr lang="en-US" sz="950" dirty="0">
                <a:solidFill>
                  <a:srgbClr val="595959"/>
                </a:solidFill>
                <a:latin typeface="맑은 고딕" pitchFamily="34" charset="0"/>
                <a:ea typeface="맑은 고딕" pitchFamily="34" charset="-122"/>
                <a:cs typeface="맑은 고딕" pitchFamily="34" charset="-120"/>
              </a:rPr>
              <a:t>(전체 테스트 시점, seed 평균)</a:t>
            </a:r>
            <a:endParaRPr lang="en-US" sz="950" dirty="0"/>
          </a:p>
        </p:txBody>
      </p:sp>
      <p:sp>
        <p:nvSpPr>
          <p:cNvPr id="205" name="Shape 205"/>
          <p:cNvSpPr/>
          <p:nvPr/>
        </p:nvSpPr>
        <p:spPr>
          <a:xfrm>
            <a:off x="2468880" y="4526280"/>
            <a:ext cx="45720" cy="91"/>
          </a:xfrm>
          <a:prstGeom prst="line">
            <a:avLst/>
          </a:prstGeom>
          <a:noFill/>
          <a:ln w="9525">
            <a:solidFill>
              <a:srgbClr val="000000"/>
            </a:solidFill>
            <a:prstDash val="solid"/>
          </a:ln>
        </p:spPr>
        <p:txBody>
          <a:bodyPr/>
          <a:lstStyle/>
          <a:p>
            <a:endParaRPr lang="ko-KR" altLang="en-US"/>
          </a:p>
        </p:txBody>
      </p:sp>
      <p:sp>
        <p:nvSpPr>
          <p:cNvPr id="206" name="Text 206"/>
          <p:cNvSpPr txBox="1"/>
          <p:nvPr/>
        </p:nvSpPr>
        <p:spPr>
          <a:xfrm>
            <a:off x="2057400" y="4434840"/>
            <a:ext cx="365760" cy="182880"/>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0.6</a:t>
            </a:r>
            <a:endParaRPr lang="en-US" sz="950" dirty="0"/>
          </a:p>
        </p:txBody>
      </p:sp>
      <p:sp>
        <p:nvSpPr>
          <p:cNvPr id="207" name="Shape 207"/>
          <p:cNvSpPr/>
          <p:nvPr/>
        </p:nvSpPr>
        <p:spPr>
          <a:xfrm>
            <a:off x="2468880" y="4263390"/>
            <a:ext cx="45720" cy="91"/>
          </a:xfrm>
          <a:prstGeom prst="line">
            <a:avLst/>
          </a:prstGeom>
          <a:noFill/>
          <a:ln w="9525">
            <a:solidFill>
              <a:srgbClr val="000000"/>
            </a:solidFill>
            <a:prstDash val="solid"/>
          </a:ln>
        </p:spPr>
        <p:txBody>
          <a:bodyPr/>
          <a:lstStyle/>
          <a:p>
            <a:endParaRPr lang="ko-KR" altLang="en-US"/>
          </a:p>
        </p:txBody>
      </p:sp>
      <p:sp>
        <p:nvSpPr>
          <p:cNvPr id="208" name="Text 208"/>
          <p:cNvSpPr txBox="1"/>
          <p:nvPr/>
        </p:nvSpPr>
        <p:spPr>
          <a:xfrm>
            <a:off x="2057400" y="4171950"/>
            <a:ext cx="365760" cy="182880"/>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0.7</a:t>
            </a:r>
            <a:endParaRPr lang="en-US" sz="950" dirty="0"/>
          </a:p>
        </p:txBody>
      </p:sp>
      <p:sp>
        <p:nvSpPr>
          <p:cNvPr id="209" name="Shape 209"/>
          <p:cNvSpPr/>
          <p:nvPr/>
        </p:nvSpPr>
        <p:spPr>
          <a:xfrm>
            <a:off x="2514600" y="4263390"/>
            <a:ext cx="8778240" cy="91"/>
          </a:xfrm>
          <a:prstGeom prst="line">
            <a:avLst/>
          </a:prstGeom>
          <a:noFill/>
          <a:ln w="6350">
            <a:solidFill>
              <a:srgbClr val="EDEDED"/>
            </a:solidFill>
            <a:prstDash val="solid"/>
          </a:ln>
        </p:spPr>
        <p:txBody>
          <a:bodyPr/>
          <a:lstStyle/>
          <a:p>
            <a:endParaRPr lang="ko-KR" altLang="en-US"/>
          </a:p>
        </p:txBody>
      </p:sp>
      <p:sp>
        <p:nvSpPr>
          <p:cNvPr id="210" name="Shape 210"/>
          <p:cNvSpPr/>
          <p:nvPr/>
        </p:nvSpPr>
        <p:spPr>
          <a:xfrm>
            <a:off x="2468880" y="4000500"/>
            <a:ext cx="45720" cy="91"/>
          </a:xfrm>
          <a:prstGeom prst="line">
            <a:avLst/>
          </a:prstGeom>
          <a:noFill/>
          <a:ln w="9525">
            <a:solidFill>
              <a:srgbClr val="000000"/>
            </a:solidFill>
            <a:prstDash val="solid"/>
          </a:ln>
        </p:spPr>
        <p:txBody>
          <a:bodyPr/>
          <a:lstStyle/>
          <a:p>
            <a:endParaRPr lang="ko-KR" altLang="en-US"/>
          </a:p>
        </p:txBody>
      </p:sp>
      <p:sp>
        <p:nvSpPr>
          <p:cNvPr id="211" name="Text 211"/>
          <p:cNvSpPr txBox="1"/>
          <p:nvPr/>
        </p:nvSpPr>
        <p:spPr>
          <a:xfrm>
            <a:off x="2057400" y="3909060"/>
            <a:ext cx="365760" cy="182880"/>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0.8</a:t>
            </a:r>
            <a:endParaRPr lang="en-US" sz="950" dirty="0"/>
          </a:p>
        </p:txBody>
      </p:sp>
      <p:sp>
        <p:nvSpPr>
          <p:cNvPr id="212" name="Shape 212"/>
          <p:cNvSpPr/>
          <p:nvPr/>
        </p:nvSpPr>
        <p:spPr>
          <a:xfrm>
            <a:off x="2514600" y="4000500"/>
            <a:ext cx="8778240" cy="91"/>
          </a:xfrm>
          <a:prstGeom prst="line">
            <a:avLst/>
          </a:prstGeom>
          <a:noFill/>
          <a:ln w="6350">
            <a:solidFill>
              <a:srgbClr val="EDEDED"/>
            </a:solidFill>
            <a:prstDash val="solid"/>
          </a:ln>
        </p:spPr>
        <p:txBody>
          <a:bodyPr/>
          <a:lstStyle/>
          <a:p>
            <a:endParaRPr lang="ko-KR" altLang="en-US"/>
          </a:p>
        </p:txBody>
      </p:sp>
      <p:sp>
        <p:nvSpPr>
          <p:cNvPr id="213" name="Shape 213"/>
          <p:cNvSpPr/>
          <p:nvPr/>
        </p:nvSpPr>
        <p:spPr>
          <a:xfrm>
            <a:off x="2468880" y="3737610"/>
            <a:ext cx="45720" cy="91"/>
          </a:xfrm>
          <a:prstGeom prst="line">
            <a:avLst/>
          </a:prstGeom>
          <a:noFill/>
          <a:ln w="9525">
            <a:solidFill>
              <a:srgbClr val="000000"/>
            </a:solidFill>
            <a:prstDash val="solid"/>
          </a:ln>
        </p:spPr>
        <p:txBody>
          <a:bodyPr/>
          <a:lstStyle/>
          <a:p>
            <a:endParaRPr lang="ko-KR" altLang="en-US"/>
          </a:p>
        </p:txBody>
      </p:sp>
      <p:sp>
        <p:nvSpPr>
          <p:cNvPr id="214" name="Text 214"/>
          <p:cNvSpPr txBox="1"/>
          <p:nvPr/>
        </p:nvSpPr>
        <p:spPr>
          <a:xfrm>
            <a:off x="2057400" y="3646170"/>
            <a:ext cx="365760" cy="182880"/>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0.9</a:t>
            </a:r>
            <a:endParaRPr lang="en-US" sz="950" dirty="0"/>
          </a:p>
        </p:txBody>
      </p:sp>
      <p:sp>
        <p:nvSpPr>
          <p:cNvPr id="215" name="Shape 215"/>
          <p:cNvSpPr/>
          <p:nvPr/>
        </p:nvSpPr>
        <p:spPr>
          <a:xfrm>
            <a:off x="2514600" y="3737610"/>
            <a:ext cx="8778240" cy="91"/>
          </a:xfrm>
          <a:prstGeom prst="line">
            <a:avLst/>
          </a:prstGeom>
          <a:noFill/>
          <a:ln w="6350">
            <a:solidFill>
              <a:srgbClr val="EDEDED"/>
            </a:solidFill>
            <a:prstDash val="solid"/>
          </a:ln>
        </p:spPr>
        <p:txBody>
          <a:bodyPr/>
          <a:lstStyle/>
          <a:p>
            <a:endParaRPr lang="ko-KR" altLang="en-US"/>
          </a:p>
        </p:txBody>
      </p:sp>
      <p:sp>
        <p:nvSpPr>
          <p:cNvPr id="216" name="Shape 216"/>
          <p:cNvSpPr/>
          <p:nvPr/>
        </p:nvSpPr>
        <p:spPr>
          <a:xfrm>
            <a:off x="2468880" y="3474720"/>
            <a:ext cx="45720" cy="91"/>
          </a:xfrm>
          <a:prstGeom prst="line">
            <a:avLst/>
          </a:prstGeom>
          <a:noFill/>
          <a:ln w="9525">
            <a:solidFill>
              <a:srgbClr val="000000"/>
            </a:solidFill>
            <a:prstDash val="solid"/>
          </a:ln>
        </p:spPr>
        <p:txBody>
          <a:bodyPr/>
          <a:lstStyle/>
          <a:p>
            <a:endParaRPr lang="ko-KR" altLang="en-US"/>
          </a:p>
        </p:txBody>
      </p:sp>
      <p:sp>
        <p:nvSpPr>
          <p:cNvPr id="217" name="Text 217"/>
          <p:cNvSpPr txBox="1"/>
          <p:nvPr/>
        </p:nvSpPr>
        <p:spPr>
          <a:xfrm>
            <a:off x="2057400" y="3383280"/>
            <a:ext cx="365760" cy="182880"/>
          </a:xfrm>
          <a:prstGeom prst="rect">
            <a:avLst/>
          </a:prstGeom>
          <a:noFill/>
          <a:ln/>
        </p:spPr>
        <p:txBody>
          <a:bodyPr wrap="square" lIns="0" tIns="0" rIns="0" bIns="0" rtlCol="0" anchor="ctr"/>
          <a:lstStyle/>
          <a:p>
            <a:pPr marL="0" indent="0" algn="r">
              <a:buNone/>
            </a:pPr>
            <a:r>
              <a:rPr lang="en-US" sz="950" dirty="0">
                <a:solidFill>
                  <a:srgbClr val="595959"/>
                </a:solidFill>
                <a:latin typeface="맑은 고딕" pitchFamily="34" charset="0"/>
                <a:ea typeface="맑은 고딕" pitchFamily="34" charset="-122"/>
                <a:cs typeface="맑은 고딕" pitchFamily="34" charset="-120"/>
              </a:rPr>
              <a:t>1.0</a:t>
            </a:r>
            <a:endParaRPr lang="en-US" sz="950" dirty="0"/>
          </a:p>
        </p:txBody>
      </p:sp>
      <p:sp>
        <p:nvSpPr>
          <p:cNvPr id="218" name="Shape 218"/>
          <p:cNvSpPr/>
          <p:nvPr/>
        </p:nvSpPr>
        <p:spPr>
          <a:xfrm>
            <a:off x="2514600" y="3474720"/>
            <a:ext cx="8778240" cy="91"/>
          </a:xfrm>
          <a:prstGeom prst="line">
            <a:avLst/>
          </a:prstGeom>
          <a:noFill/>
          <a:ln w="6350">
            <a:solidFill>
              <a:srgbClr val="EDEDED"/>
            </a:solidFill>
            <a:prstDash val="solid"/>
          </a:ln>
        </p:spPr>
        <p:txBody>
          <a:bodyPr/>
          <a:lstStyle/>
          <a:p>
            <a:endParaRPr lang="ko-KR" altLang="en-US"/>
          </a:p>
        </p:txBody>
      </p:sp>
      <p:sp>
        <p:nvSpPr>
          <p:cNvPr id="219" name="Shape 219"/>
          <p:cNvSpPr/>
          <p:nvPr/>
        </p:nvSpPr>
        <p:spPr>
          <a:xfrm>
            <a:off x="2514600" y="3429000"/>
            <a:ext cx="91" cy="1097280"/>
          </a:xfrm>
          <a:prstGeom prst="line">
            <a:avLst/>
          </a:prstGeom>
          <a:noFill/>
          <a:ln w="9525">
            <a:solidFill>
              <a:srgbClr val="000000"/>
            </a:solidFill>
            <a:prstDash val="solid"/>
          </a:ln>
        </p:spPr>
        <p:txBody>
          <a:bodyPr/>
          <a:lstStyle/>
          <a:p>
            <a:endParaRPr lang="ko-KR" altLang="en-US"/>
          </a:p>
        </p:txBody>
      </p:sp>
      <p:sp>
        <p:nvSpPr>
          <p:cNvPr id="220" name="Shape 220"/>
          <p:cNvSpPr/>
          <p:nvPr/>
        </p:nvSpPr>
        <p:spPr>
          <a:xfrm>
            <a:off x="2514600" y="4526280"/>
            <a:ext cx="8778240" cy="91"/>
          </a:xfrm>
          <a:prstGeom prst="line">
            <a:avLst/>
          </a:prstGeom>
          <a:noFill/>
          <a:ln w="9525">
            <a:solidFill>
              <a:srgbClr val="000000"/>
            </a:solidFill>
            <a:prstDash val="solid"/>
          </a:ln>
        </p:spPr>
        <p:txBody>
          <a:bodyPr/>
          <a:lstStyle/>
          <a:p>
            <a:endParaRPr lang="ko-KR" altLang="en-US"/>
          </a:p>
        </p:txBody>
      </p:sp>
      <p:sp>
        <p:nvSpPr>
          <p:cNvPr id="221" name="Shape 221"/>
          <p:cNvSpPr/>
          <p:nvPr/>
        </p:nvSpPr>
        <p:spPr>
          <a:xfrm>
            <a:off x="2999232" y="3565367"/>
            <a:ext cx="7803124" cy="747644"/>
          </a:xfrm>
          <a:custGeom>
            <a:avLst/>
            <a:gdLst/>
            <a:ahLst/>
            <a:cxnLst/>
            <a:rect l="l" t="t" r="r" b="b"/>
            <a:pathLst>
              <a:path w="7803124" h="747644">
                <a:moveTo>
                  <a:pt x="0" y="747644"/>
                </a:moveTo>
                <a:lnTo>
                  <a:pt x="975390" y="70180"/>
                </a:lnTo>
                <a:lnTo>
                  <a:pt x="1950781" y="1282"/>
                </a:lnTo>
                <a:lnTo>
                  <a:pt x="2926171" y="3791"/>
                </a:lnTo>
                <a:lnTo>
                  <a:pt x="3901562" y="1569"/>
                </a:lnTo>
                <a:lnTo>
                  <a:pt x="4876952" y="7855"/>
                </a:lnTo>
                <a:lnTo>
                  <a:pt x="5852343" y="31020"/>
                </a:lnTo>
                <a:lnTo>
                  <a:pt x="6827733" y="0"/>
                </a:lnTo>
                <a:lnTo>
                  <a:pt x="7803124" y="248"/>
                </a:lnTo>
              </a:path>
            </a:pathLst>
          </a:custGeom>
          <a:ln w="28575">
            <a:solidFill>
              <a:srgbClr val="C00000"/>
            </a:solidFill>
            <a:prstDash val="solid"/>
          </a:ln>
        </p:spPr>
        <p:txBody>
          <a:bodyPr/>
          <a:lstStyle/>
          <a:p>
            <a:endParaRPr lang="ko-KR" altLang="en-US"/>
          </a:p>
        </p:txBody>
      </p:sp>
      <p:sp>
        <p:nvSpPr>
          <p:cNvPr id="222" name="Shape 222"/>
          <p:cNvSpPr/>
          <p:nvPr/>
        </p:nvSpPr>
        <p:spPr>
          <a:xfrm>
            <a:off x="2948940" y="4262719"/>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23" name="Text 223"/>
          <p:cNvSpPr txBox="1"/>
          <p:nvPr/>
        </p:nvSpPr>
        <p:spPr>
          <a:xfrm>
            <a:off x="2679192" y="4066123"/>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0.681</a:t>
            </a:r>
            <a:endParaRPr lang="en-US" sz="950" dirty="0"/>
          </a:p>
        </p:txBody>
      </p:sp>
      <p:sp>
        <p:nvSpPr>
          <p:cNvPr id="224" name="Shape 224"/>
          <p:cNvSpPr/>
          <p:nvPr/>
        </p:nvSpPr>
        <p:spPr>
          <a:xfrm>
            <a:off x="3924330" y="3585255"/>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25" name="Text 225"/>
          <p:cNvSpPr txBox="1"/>
          <p:nvPr/>
        </p:nvSpPr>
        <p:spPr>
          <a:xfrm>
            <a:off x="3654582" y="3708699"/>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0.939</a:t>
            </a:r>
            <a:endParaRPr lang="en-US" sz="950" dirty="0"/>
          </a:p>
        </p:txBody>
      </p:sp>
      <p:sp>
        <p:nvSpPr>
          <p:cNvPr id="226" name="Shape 226"/>
          <p:cNvSpPr/>
          <p:nvPr/>
        </p:nvSpPr>
        <p:spPr>
          <a:xfrm>
            <a:off x="4899721" y="3516357"/>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27" name="Text 227"/>
          <p:cNvSpPr txBox="1"/>
          <p:nvPr/>
        </p:nvSpPr>
        <p:spPr>
          <a:xfrm>
            <a:off x="4629973" y="3639801"/>
            <a:ext cx="640080" cy="182880"/>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0.965</a:t>
            </a:r>
            <a:endParaRPr lang="en-US" sz="1000" dirty="0"/>
          </a:p>
        </p:txBody>
      </p:sp>
      <p:sp>
        <p:nvSpPr>
          <p:cNvPr id="228" name="Shape 228"/>
          <p:cNvSpPr/>
          <p:nvPr/>
        </p:nvSpPr>
        <p:spPr>
          <a:xfrm>
            <a:off x="5875111" y="3518865"/>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29" name="Text 229"/>
          <p:cNvSpPr txBox="1"/>
          <p:nvPr/>
        </p:nvSpPr>
        <p:spPr>
          <a:xfrm>
            <a:off x="5605363" y="3642309"/>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0.964</a:t>
            </a:r>
            <a:endParaRPr lang="en-US" sz="950" dirty="0"/>
          </a:p>
        </p:txBody>
      </p:sp>
      <p:sp>
        <p:nvSpPr>
          <p:cNvPr id="230" name="Shape 230"/>
          <p:cNvSpPr/>
          <p:nvPr/>
        </p:nvSpPr>
        <p:spPr>
          <a:xfrm>
            <a:off x="6850502" y="3516643"/>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31" name="Text 231"/>
          <p:cNvSpPr txBox="1"/>
          <p:nvPr/>
        </p:nvSpPr>
        <p:spPr>
          <a:xfrm>
            <a:off x="6580754" y="3640087"/>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0.965</a:t>
            </a:r>
            <a:endParaRPr lang="en-US" sz="950" dirty="0"/>
          </a:p>
        </p:txBody>
      </p:sp>
      <p:sp>
        <p:nvSpPr>
          <p:cNvPr id="232" name="Shape 232"/>
          <p:cNvSpPr/>
          <p:nvPr/>
        </p:nvSpPr>
        <p:spPr>
          <a:xfrm>
            <a:off x="7825892" y="3522930"/>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33" name="Text 233"/>
          <p:cNvSpPr txBox="1"/>
          <p:nvPr/>
        </p:nvSpPr>
        <p:spPr>
          <a:xfrm>
            <a:off x="7556144" y="3646374"/>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0.963</a:t>
            </a:r>
            <a:endParaRPr lang="en-US" sz="950" dirty="0"/>
          </a:p>
        </p:txBody>
      </p:sp>
      <p:sp>
        <p:nvSpPr>
          <p:cNvPr id="234" name="Shape 234"/>
          <p:cNvSpPr/>
          <p:nvPr/>
        </p:nvSpPr>
        <p:spPr>
          <a:xfrm>
            <a:off x="8801283" y="3546095"/>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35" name="Text 235"/>
          <p:cNvSpPr txBox="1"/>
          <p:nvPr/>
        </p:nvSpPr>
        <p:spPr>
          <a:xfrm>
            <a:off x="8531535" y="3669539"/>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0.954</a:t>
            </a:r>
            <a:endParaRPr lang="en-US" sz="950" dirty="0"/>
          </a:p>
        </p:txBody>
      </p:sp>
      <p:sp>
        <p:nvSpPr>
          <p:cNvPr id="236" name="Shape 236"/>
          <p:cNvSpPr/>
          <p:nvPr/>
        </p:nvSpPr>
        <p:spPr>
          <a:xfrm>
            <a:off x="9776673" y="3515075"/>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37" name="Text 237"/>
          <p:cNvSpPr txBox="1"/>
          <p:nvPr/>
        </p:nvSpPr>
        <p:spPr>
          <a:xfrm>
            <a:off x="9506925" y="3638519"/>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0.966</a:t>
            </a:r>
            <a:endParaRPr lang="en-US" sz="950" dirty="0"/>
          </a:p>
        </p:txBody>
      </p:sp>
      <p:sp>
        <p:nvSpPr>
          <p:cNvPr id="238" name="Shape 238"/>
          <p:cNvSpPr/>
          <p:nvPr/>
        </p:nvSpPr>
        <p:spPr>
          <a:xfrm>
            <a:off x="10752064" y="3515323"/>
            <a:ext cx="100584" cy="100584"/>
          </a:xfrm>
          <a:prstGeom prst="ellipse">
            <a:avLst/>
          </a:prstGeom>
          <a:solidFill>
            <a:srgbClr val="C00000"/>
          </a:solidFill>
          <a:ln w="12700">
            <a:solidFill>
              <a:srgbClr val="C00000"/>
            </a:solidFill>
            <a:prstDash val="solid"/>
          </a:ln>
        </p:spPr>
        <p:txBody>
          <a:bodyPr/>
          <a:lstStyle/>
          <a:p>
            <a:endParaRPr lang="ko-KR" altLang="en-US"/>
          </a:p>
        </p:txBody>
      </p:sp>
      <p:sp>
        <p:nvSpPr>
          <p:cNvPr id="239" name="Text 239"/>
          <p:cNvSpPr txBox="1"/>
          <p:nvPr/>
        </p:nvSpPr>
        <p:spPr>
          <a:xfrm>
            <a:off x="10482316" y="3638767"/>
            <a:ext cx="64008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0.965</a:t>
            </a:r>
            <a:endParaRPr lang="en-US" sz="950" dirty="0"/>
          </a:p>
        </p:txBody>
      </p:sp>
      <p:sp>
        <p:nvSpPr>
          <p:cNvPr id="240" name="Text 240"/>
          <p:cNvSpPr txBox="1"/>
          <p:nvPr/>
        </p:nvSpPr>
        <p:spPr>
          <a:xfrm>
            <a:off x="777240" y="4645152"/>
            <a:ext cx="1737360" cy="274320"/>
          </a:xfrm>
          <a:prstGeom prst="rect">
            <a:avLst/>
          </a:prstGeom>
          <a:noFill/>
          <a:ln/>
        </p:spPr>
        <p:txBody>
          <a:bodyPr wrap="square" lIns="0" tIns="0" rIns="0" bIns="0" rtlCol="0" anchor="ctr"/>
          <a:lstStyle/>
          <a:p>
            <a:pPr marL="0" indent="0" algn="l">
              <a:buNone/>
            </a:pPr>
            <a:r>
              <a:rPr lang="en-US" sz="1300" b="1" dirty="0">
                <a:solidFill>
                  <a:srgbClr val="262626"/>
                </a:solidFill>
                <a:latin typeface="맑은 고딕" pitchFamily="34" charset="0"/>
                <a:ea typeface="맑은 고딕" pitchFamily="34" charset="-122"/>
                <a:cs typeface="맑은 고딕" pitchFamily="34" charset="-120"/>
              </a:rPr>
              <a:t>평균 첫 경보 시각</a:t>
            </a:r>
            <a:endParaRPr lang="en-US" sz="1300" dirty="0"/>
          </a:p>
        </p:txBody>
      </p:sp>
      <p:sp>
        <p:nvSpPr>
          <p:cNvPr id="241" name="Text 241"/>
          <p:cNvSpPr txBox="1"/>
          <p:nvPr/>
        </p:nvSpPr>
        <p:spPr>
          <a:xfrm>
            <a:off x="777240" y="4901184"/>
            <a:ext cx="1737360" cy="219456"/>
          </a:xfrm>
          <a:prstGeom prst="rect">
            <a:avLst/>
          </a:prstGeom>
          <a:noFill/>
          <a:ln/>
        </p:spPr>
        <p:txBody>
          <a:bodyPr wrap="square" lIns="0" tIns="0" rIns="0" bIns="0" rtlCol="0" anchor="ctr"/>
          <a:lstStyle/>
          <a:p>
            <a:pPr marL="0" indent="0" algn="l">
              <a:buNone/>
            </a:pPr>
            <a:r>
              <a:rPr lang="en-US" sz="950" dirty="0">
                <a:solidFill>
                  <a:srgbClr val="595959"/>
                </a:solidFill>
                <a:latin typeface="맑은 고딕" pitchFamily="34" charset="0"/>
                <a:ea typeface="맑은 고딕" pitchFamily="34" charset="-122"/>
                <a:cs typeface="맑은 고딕" pitchFamily="34" charset="-120"/>
              </a:rPr>
              <a:t>(이상 clip 시작 후)</a:t>
            </a:r>
            <a:endParaRPr lang="en-US" sz="950" dirty="0"/>
          </a:p>
        </p:txBody>
      </p:sp>
      <p:sp>
        <p:nvSpPr>
          <p:cNvPr id="242" name="Shape 242"/>
          <p:cNvSpPr/>
          <p:nvPr/>
        </p:nvSpPr>
        <p:spPr>
          <a:xfrm>
            <a:off x="2514600" y="5394960"/>
            <a:ext cx="8778240" cy="91"/>
          </a:xfrm>
          <a:prstGeom prst="line">
            <a:avLst/>
          </a:prstGeom>
          <a:noFill/>
          <a:ln w="9525">
            <a:solidFill>
              <a:srgbClr val="000000"/>
            </a:solidFill>
            <a:prstDash val="solid"/>
          </a:ln>
        </p:spPr>
        <p:txBody>
          <a:bodyPr/>
          <a:lstStyle/>
          <a:p>
            <a:endParaRPr lang="ko-KR" altLang="en-US"/>
          </a:p>
        </p:txBody>
      </p:sp>
      <p:sp>
        <p:nvSpPr>
          <p:cNvPr id="243" name="Shape 243"/>
          <p:cNvSpPr/>
          <p:nvPr/>
        </p:nvSpPr>
        <p:spPr>
          <a:xfrm>
            <a:off x="2793492" y="4855945"/>
            <a:ext cx="411480" cy="539015"/>
          </a:xfrm>
          <a:prstGeom prst="rect">
            <a:avLst/>
          </a:prstGeom>
          <a:solidFill>
            <a:srgbClr val="A6B4C6"/>
          </a:solidFill>
          <a:ln w="12700">
            <a:solidFill>
              <a:srgbClr val="A6B4C6"/>
            </a:solidFill>
            <a:prstDash val="solid"/>
          </a:ln>
        </p:spPr>
        <p:txBody>
          <a:bodyPr/>
          <a:lstStyle/>
          <a:p>
            <a:endParaRPr lang="ko-KR" altLang="en-US"/>
          </a:p>
        </p:txBody>
      </p:sp>
      <p:sp>
        <p:nvSpPr>
          <p:cNvPr id="244" name="Text 244"/>
          <p:cNvSpPr txBox="1"/>
          <p:nvPr/>
        </p:nvSpPr>
        <p:spPr>
          <a:xfrm>
            <a:off x="2724912" y="4654777"/>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0.29초</a:t>
            </a:r>
            <a:endParaRPr lang="en-US" sz="950" dirty="0"/>
          </a:p>
        </p:txBody>
      </p:sp>
      <p:sp>
        <p:nvSpPr>
          <p:cNvPr id="245" name="Shape 245"/>
          <p:cNvSpPr/>
          <p:nvPr/>
        </p:nvSpPr>
        <p:spPr>
          <a:xfrm>
            <a:off x="3768882" y="5197566"/>
            <a:ext cx="411480" cy="197394"/>
          </a:xfrm>
          <a:prstGeom prst="rect">
            <a:avLst/>
          </a:prstGeom>
          <a:solidFill>
            <a:srgbClr val="A6B4C6"/>
          </a:solidFill>
          <a:ln w="12700">
            <a:solidFill>
              <a:srgbClr val="A6B4C6"/>
            </a:solidFill>
            <a:prstDash val="solid"/>
          </a:ln>
        </p:spPr>
        <p:txBody>
          <a:bodyPr/>
          <a:lstStyle/>
          <a:p>
            <a:endParaRPr lang="ko-KR" altLang="en-US"/>
          </a:p>
        </p:txBody>
      </p:sp>
      <p:sp>
        <p:nvSpPr>
          <p:cNvPr id="246" name="Text 246"/>
          <p:cNvSpPr txBox="1"/>
          <p:nvPr/>
        </p:nvSpPr>
        <p:spPr>
          <a:xfrm>
            <a:off x="3700302" y="4996398"/>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47" name="Shape 247"/>
          <p:cNvSpPr/>
          <p:nvPr/>
        </p:nvSpPr>
        <p:spPr>
          <a:xfrm>
            <a:off x="4744273" y="5197566"/>
            <a:ext cx="411480" cy="197394"/>
          </a:xfrm>
          <a:prstGeom prst="rect">
            <a:avLst/>
          </a:prstGeom>
          <a:solidFill>
            <a:srgbClr val="C00000"/>
          </a:solidFill>
          <a:ln w="12700">
            <a:solidFill>
              <a:srgbClr val="C00000"/>
            </a:solidFill>
            <a:prstDash val="solid"/>
          </a:ln>
        </p:spPr>
        <p:txBody>
          <a:bodyPr/>
          <a:lstStyle/>
          <a:p>
            <a:endParaRPr lang="ko-KR" altLang="en-US"/>
          </a:p>
        </p:txBody>
      </p:sp>
      <p:sp>
        <p:nvSpPr>
          <p:cNvPr id="248" name="Text 248"/>
          <p:cNvSpPr txBox="1"/>
          <p:nvPr/>
        </p:nvSpPr>
        <p:spPr>
          <a:xfrm>
            <a:off x="4675693" y="4996398"/>
            <a:ext cx="548640" cy="182880"/>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0.11초</a:t>
            </a:r>
            <a:endParaRPr lang="en-US" sz="1000" dirty="0"/>
          </a:p>
        </p:txBody>
      </p:sp>
      <p:sp>
        <p:nvSpPr>
          <p:cNvPr id="249" name="Shape 249"/>
          <p:cNvSpPr/>
          <p:nvPr/>
        </p:nvSpPr>
        <p:spPr>
          <a:xfrm>
            <a:off x="5719663" y="5194663"/>
            <a:ext cx="411480" cy="200297"/>
          </a:xfrm>
          <a:prstGeom prst="rect">
            <a:avLst/>
          </a:prstGeom>
          <a:solidFill>
            <a:srgbClr val="A6B4C6"/>
          </a:solidFill>
          <a:ln w="12700">
            <a:solidFill>
              <a:srgbClr val="A6B4C6"/>
            </a:solidFill>
            <a:prstDash val="solid"/>
          </a:ln>
        </p:spPr>
        <p:txBody>
          <a:bodyPr/>
          <a:lstStyle/>
          <a:p>
            <a:endParaRPr lang="ko-KR" altLang="en-US"/>
          </a:p>
        </p:txBody>
      </p:sp>
      <p:sp>
        <p:nvSpPr>
          <p:cNvPr id="250" name="Text 250"/>
          <p:cNvSpPr txBox="1"/>
          <p:nvPr/>
        </p:nvSpPr>
        <p:spPr>
          <a:xfrm>
            <a:off x="5651083" y="4993495"/>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51" name="Shape 251"/>
          <p:cNvSpPr/>
          <p:nvPr/>
        </p:nvSpPr>
        <p:spPr>
          <a:xfrm>
            <a:off x="6695054" y="5200469"/>
            <a:ext cx="411480" cy="194491"/>
          </a:xfrm>
          <a:prstGeom prst="rect">
            <a:avLst/>
          </a:prstGeom>
          <a:solidFill>
            <a:srgbClr val="A6B4C6"/>
          </a:solidFill>
          <a:ln w="12700">
            <a:solidFill>
              <a:srgbClr val="A6B4C6"/>
            </a:solidFill>
            <a:prstDash val="solid"/>
          </a:ln>
        </p:spPr>
        <p:txBody>
          <a:bodyPr/>
          <a:lstStyle/>
          <a:p>
            <a:endParaRPr lang="ko-KR" altLang="en-US"/>
          </a:p>
        </p:txBody>
      </p:sp>
      <p:sp>
        <p:nvSpPr>
          <p:cNvPr id="252" name="Text 252"/>
          <p:cNvSpPr txBox="1"/>
          <p:nvPr/>
        </p:nvSpPr>
        <p:spPr>
          <a:xfrm>
            <a:off x="6626474" y="4999301"/>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53" name="Shape 253"/>
          <p:cNvSpPr/>
          <p:nvPr/>
        </p:nvSpPr>
        <p:spPr>
          <a:xfrm>
            <a:off x="7670444" y="5203371"/>
            <a:ext cx="411480" cy="191589"/>
          </a:xfrm>
          <a:prstGeom prst="rect">
            <a:avLst/>
          </a:prstGeom>
          <a:solidFill>
            <a:srgbClr val="A6B4C6"/>
          </a:solidFill>
          <a:ln w="12700">
            <a:solidFill>
              <a:srgbClr val="A6B4C6"/>
            </a:solidFill>
            <a:prstDash val="solid"/>
          </a:ln>
        </p:spPr>
        <p:txBody>
          <a:bodyPr/>
          <a:lstStyle/>
          <a:p>
            <a:endParaRPr lang="ko-KR" altLang="en-US"/>
          </a:p>
        </p:txBody>
      </p:sp>
      <p:sp>
        <p:nvSpPr>
          <p:cNvPr id="254" name="Text 254"/>
          <p:cNvSpPr txBox="1"/>
          <p:nvPr/>
        </p:nvSpPr>
        <p:spPr>
          <a:xfrm>
            <a:off x="7601864" y="5002203"/>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0.10초</a:t>
            </a:r>
            <a:endParaRPr lang="en-US" sz="950" dirty="0"/>
          </a:p>
        </p:txBody>
      </p:sp>
      <p:sp>
        <p:nvSpPr>
          <p:cNvPr id="255" name="Shape 255"/>
          <p:cNvSpPr/>
          <p:nvPr/>
        </p:nvSpPr>
        <p:spPr>
          <a:xfrm>
            <a:off x="8645835" y="5194663"/>
            <a:ext cx="411480" cy="200297"/>
          </a:xfrm>
          <a:prstGeom prst="rect">
            <a:avLst/>
          </a:prstGeom>
          <a:solidFill>
            <a:srgbClr val="A6B4C6"/>
          </a:solidFill>
          <a:ln w="12700">
            <a:solidFill>
              <a:srgbClr val="A6B4C6"/>
            </a:solidFill>
            <a:prstDash val="solid"/>
          </a:ln>
        </p:spPr>
        <p:txBody>
          <a:bodyPr/>
          <a:lstStyle/>
          <a:p>
            <a:endParaRPr lang="ko-KR" altLang="en-US"/>
          </a:p>
        </p:txBody>
      </p:sp>
      <p:sp>
        <p:nvSpPr>
          <p:cNvPr id="256" name="Text 256"/>
          <p:cNvSpPr txBox="1"/>
          <p:nvPr/>
        </p:nvSpPr>
        <p:spPr>
          <a:xfrm>
            <a:off x="8577255" y="4993495"/>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57" name="Shape 257"/>
          <p:cNvSpPr/>
          <p:nvPr/>
        </p:nvSpPr>
        <p:spPr>
          <a:xfrm>
            <a:off x="9621225" y="5197566"/>
            <a:ext cx="411480" cy="197394"/>
          </a:xfrm>
          <a:prstGeom prst="rect">
            <a:avLst/>
          </a:prstGeom>
          <a:solidFill>
            <a:srgbClr val="A6B4C6"/>
          </a:solidFill>
          <a:ln w="12700">
            <a:solidFill>
              <a:srgbClr val="A6B4C6"/>
            </a:solidFill>
            <a:prstDash val="solid"/>
          </a:ln>
        </p:spPr>
        <p:txBody>
          <a:bodyPr/>
          <a:lstStyle/>
          <a:p>
            <a:endParaRPr lang="ko-KR" altLang="en-US"/>
          </a:p>
        </p:txBody>
      </p:sp>
      <p:sp>
        <p:nvSpPr>
          <p:cNvPr id="258" name="Text 258"/>
          <p:cNvSpPr txBox="1"/>
          <p:nvPr/>
        </p:nvSpPr>
        <p:spPr>
          <a:xfrm>
            <a:off x="9552645" y="4996398"/>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59" name="Shape 259"/>
          <p:cNvSpPr/>
          <p:nvPr/>
        </p:nvSpPr>
        <p:spPr>
          <a:xfrm>
            <a:off x="10596616" y="5194663"/>
            <a:ext cx="411480" cy="200297"/>
          </a:xfrm>
          <a:prstGeom prst="rect">
            <a:avLst/>
          </a:prstGeom>
          <a:solidFill>
            <a:srgbClr val="A6B4C6"/>
          </a:solidFill>
          <a:ln w="12700">
            <a:solidFill>
              <a:srgbClr val="A6B4C6"/>
            </a:solidFill>
            <a:prstDash val="solid"/>
          </a:ln>
        </p:spPr>
        <p:txBody>
          <a:bodyPr/>
          <a:lstStyle/>
          <a:p>
            <a:endParaRPr lang="ko-KR" altLang="en-US"/>
          </a:p>
        </p:txBody>
      </p:sp>
      <p:sp>
        <p:nvSpPr>
          <p:cNvPr id="260" name="Text 260"/>
          <p:cNvSpPr txBox="1"/>
          <p:nvPr/>
        </p:nvSpPr>
        <p:spPr>
          <a:xfrm>
            <a:off x="10528036" y="4993495"/>
            <a:ext cx="548640" cy="182880"/>
          </a:xfrm>
          <a:prstGeom prst="rect">
            <a:avLst/>
          </a:prstGeom>
          <a:noFill/>
          <a:ln/>
        </p:spPr>
        <p:txBody>
          <a:bodyPr wrap="square" lIns="0" tIns="0" rIns="0" bIns="0" rtlCol="0" anchor="ctr"/>
          <a:lstStyle/>
          <a:p>
            <a:pPr marL="0" indent="0" algn="ctr">
              <a:buNone/>
            </a:pPr>
            <a:r>
              <a:rPr lang="en-US" sz="950" dirty="0">
                <a:solidFill>
                  <a:srgbClr val="404040"/>
                </a:solidFill>
                <a:latin typeface="맑은 고딕" pitchFamily="34" charset="0"/>
                <a:ea typeface="맑은 고딕" pitchFamily="34" charset="-122"/>
                <a:cs typeface="맑은 고딕" pitchFamily="34" charset="-120"/>
              </a:rPr>
              <a:t>0.11초</a:t>
            </a:r>
            <a:endParaRPr lang="en-US" sz="950" dirty="0"/>
          </a:p>
        </p:txBody>
      </p:sp>
      <p:sp>
        <p:nvSpPr>
          <p:cNvPr id="261" name="Text 261"/>
          <p:cNvSpPr txBox="1"/>
          <p:nvPr/>
        </p:nvSpPr>
        <p:spPr>
          <a:xfrm>
            <a:off x="777240" y="5669280"/>
            <a:ext cx="1737360" cy="201168"/>
          </a:xfrm>
          <a:prstGeom prst="rect">
            <a:avLst/>
          </a:prstGeom>
          <a:noFill/>
          <a:ln/>
        </p:spPr>
        <p:txBody>
          <a:bodyPr wrap="square" lIns="0" tIns="0" rIns="0" bIns="0" rtlCol="0" anchor="ctr"/>
          <a:lstStyle/>
          <a:p>
            <a:pPr marL="0" indent="0" algn="l">
              <a:buNone/>
            </a:pPr>
            <a:r>
              <a:rPr lang="en-US" sz="1000" dirty="0">
                <a:solidFill>
                  <a:srgbClr val="404040"/>
                </a:solidFill>
                <a:latin typeface="맑은 고딕" pitchFamily="34" charset="0"/>
                <a:ea typeface="맑은 고딕" pitchFamily="34" charset="-122"/>
                <a:cs typeface="맑은 고딕" pitchFamily="34" charset="-120"/>
              </a:rPr>
              <a:t>창이 다 차는 시각</a:t>
            </a:r>
            <a:endParaRPr lang="en-US" sz="1000" dirty="0"/>
          </a:p>
        </p:txBody>
      </p:sp>
      <p:sp>
        <p:nvSpPr>
          <p:cNvPr id="262" name="Text 262"/>
          <p:cNvSpPr txBox="1"/>
          <p:nvPr/>
        </p:nvSpPr>
        <p:spPr>
          <a:xfrm>
            <a:off x="777240" y="5888736"/>
            <a:ext cx="1737360" cy="201168"/>
          </a:xfrm>
          <a:prstGeom prst="rect">
            <a:avLst/>
          </a:prstGeom>
          <a:noFill/>
          <a:ln/>
        </p:spPr>
        <p:txBody>
          <a:bodyPr wrap="square" lIns="0" tIns="0" rIns="0" bIns="0" rtlCol="0" anchor="ctr"/>
          <a:lstStyle/>
          <a:p>
            <a:pPr marL="0" indent="0" algn="l">
              <a:buNone/>
            </a:pPr>
            <a:r>
              <a:rPr lang="en-US" sz="1000" dirty="0">
                <a:solidFill>
                  <a:srgbClr val="404040"/>
                </a:solidFill>
                <a:latin typeface="맑은 고딕" pitchFamily="34" charset="0"/>
                <a:ea typeface="맑은 고딕" pitchFamily="34" charset="-122"/>
                <a:cs typeface="맑은 고딕" pitchFamily="34" charset="-120"/>
              </a:rPr>
              <a:t>0.5초 이내 경보 clip</a:t>
            </a:r>
            <a:endParaRPr lang="en-US" sz="1000" dirty="0"/>
          </a:p>
        </p:txBody>
      </p:sp>
      <p:sp>
        <p:nvSpPr>
          <p:cNvPr id="263" name="Text 263"/>
          <p:cNvSpPr txBox="1"/>
          <p:nvPr/>
        </p:nvSpPr>
        <p:spPr>
          <a:xfrm>
            <a:off x="777240" y="6108192"/>
            <a:ext cx="1737360" cy="201168"/>
          </a:xfrm>
          <a:prstGeom prst="rect">
            <a:avLst/>
          </a:prstGeom>
          <a:noFill/>
          <a:ln/>
        </p:spPr>
        <p:txBody>
          <a:bodyPr wrap="square" lIns="0" tIns="0" rIns="0" bIns="0" rtlCol="0" anchor="ctr"/>
          <a:lstStyle/>
          <a:p>
            <a:pPr marL="0" indent="0" algn="l">
              <a:buNone/>
            </a:pPr>
            <a:r>
              <a:rPr lang="en-US" sz="1000" dirty="0">
                <a:solidFill>
                  <a:srgbClr val="404040"/>
                </a:solidFill>
                <a:latin typeface="맑은 고딕" pitchFamily="34" charset="0"/>
                <a:ea typeface="맑은 고딕" pitchFamily="34" charset="-122"/>
                <a:cs typeface="맑은 고딕" pitchFamily="34" charset="-120"/>
              </a:rPr>
              <a:t>오경보 시점 수 (FP)</a:t>
            </a:r>
            <a:endParaRPr lang="en-US" sz="1000" dirty="0"/>
          </a:p>
        </p:txBody>
      </p:sp>
      <p:sp>
        <p:nvSpPr>
          <p:cNvPr id="264" name="Text 264"/>
          <p:cNvSpPr txBox="1"/>
          <p:nvPr/>
        </p:nvSpPr>
        <p:spPr>
          <a:xfrm>
            <a:off x="2633472"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1</a:t>
            </a:r>
            <a:endParaRPr lang="en-US" sz="1050" dirty="0"/>
          </a:p>
        </p:txBody>
      </p:sp>
      <p:sp>
        <p:nvSpPr>
          <p:cNvPr id="265" name="Text 265"/>
          <p:cNvSpPr txBox="1"/>
          <p:nvPr/>
        </p:nvSpPr>
        <p:spPr>
          <a:xfrm>
            <a:off x="2633472"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0.1초</a:t>
            </a:r>
            <a:endParaRPr lang="en-US" sz="1000" dirty="0"/>
          </a:p>
        </p:txBody>
      </p:sp>
      <p:sp>
        <p:nvSpPr>
          <p:cNvPr id="266" name="Text 266"/>
          <p:cNvSpPr txBox="1"/>
          <p:nvPr/>
        </p:nvSpPr>
        <p:spPr>
          <a:xfrm>
            <a:off x="2633472"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15/21</a:t>
            </a:r>
            <a:endParaRPr lang="en-US" sz="1000" dirty="0"/>
          </a:p>
        </p:txBody>
      </p:sp>
      <p:sp>
        <p:nvSpPr>
          <p:cNvPr id="267" name="Text 267"/>
          <p:cNvSpPr txBox="1"/>
          <p:nvPr/>
        </p:nvSpPr>
        <p:spPr>
          <a:xfrm>
            <a:off x="2633472" y="6108192"/>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8.0</a:t>
            </a:r>
            <a:endParaRPr lang="en-US" sz="1000" dirty="0"/>
          </a:p>
        </p:txBody>
      </p:sp>
      <p:sp>
        <p:nvSpPr>
          <p:cNvPr id="268" name="Text 268"/>
          <p:cNvSpPr txBox="1"/>
          <p:nvPr/>
        </p:nvSpPr>
        <p:spPr>
          <a:xfrm>
            <a:off x="3608862"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2</a:t>
            </a:r>
            <a:endParaRPr lang="en-US" sz="1050" dirty="0"/>
          </a:p>
        </p:txBody>
      </p:sp>
      <p:sp>
        <p:nvSpPr>
          <p:cNvPr id="269" name="Text 269"/>
          <p:cNvSpPr txBox="1"/>
          <p:nvPr/>
        </p:nvSpPr>
        <p:spPr>
          <a:xfrm>
            <a:off x="3608862"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0.2초</a:t>
            </a:r>
            <a:endParaRPr lang="en-US" sz="1000" dirty="0"/>
          </a:p>
        </p:txBody>
      </p:sp>
      <p:sp>
        <p:nvSpPr>
          <p:cNvPr id="270" name="Text 270"/>
          <p:cNvSpPr txBox="1"/>
          <p:nvPr/>
        </p:nvSpPr>
        <p:spPr>
          <a:xfrm>
            <a:off x="3608862"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71" name="Text 271"/>
          <p:cNvSpPr txBox="1"/>
          <p:nvPr/>
        </p:nvSpPr>
        <p:spPr>
          <a:xfrm>
            <a:off x="3608862" y="6108192"/>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10.0</a:t>
            </a:r>
            <a:endParaRPr lang="en-US" sz="1000" dirty="0"/>
          </a:p>
        </p:txBody>
      </p:sp>
      <p:sp>
        <p:nvSpPr>
          <p:cNvPr id="272" name="Text 272"/>
          <p:cNvSpPr txBox="1"/>
          <p:nvPr/>
        </p:nvSpPr>
        <p:spPr>
          <a:xfrm>
            <a:off x="4584253" y="5449824"/>
            <a:ext cx="731520" cy="201168"/>
          </a:xfrm>
          <a:prstGeom prst="rect">
            <a:avLst/>
          </a:prstGeom>
          <a:noFill/>
          <a:ln/>
        </p:spPr>
        <p:txBody>
          <a:bodyPr wrap="square" lIns="0" tIns="0" rIns="0" bIns="0" rtlCol="0" anchor="ctr"/>
          <a:lstStyle/>
          <a:p>
            <a:pPr marL="0" indent="0" algn="ctr">
              <a:buNone/>
            </a:pPr>
            <a:r>
              <a:rPr lang="en-US" sz="1050" b="1" dirty="0">
                <a:solidFill>
                  <a:srgbClr val="C00000"/>
                </a:solidFill>
                <a:latin typeface="맑은 고딕" pitchFamily="34" charset="0"/>
                <a:ea typeface="맑은 고딕" pitchFamily="34" charset="-122"/>
                <a:cs typeface="맑은 고딕" pitchFamily="34" charset="-120"/>
              </a:rPr>
              <a:t>W = 3</a:t>
            </a:r>
            <a:endParaRPr lang="en-US" sz="1050" dirty="0"/>
          </a:p>
        </p:txBody>
      </p:sp>
      <p:sp>
        <p:nvSpPr>
          <p:cNvPr id="273" name="Text 273"/>
          <p:cNvSpPr txBox="1"/>
          <p:nvPr/>
        </p:nvSpPr>
        <p:spPr>
          <a:xfrm>
            <a:off x="4584253"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0.3초</a:t>
            </a:r>
            <a:endParaRPr lang="en-US" sz="1000" dirty="0"/>
          </a:p>
        </p:txBody>
      </p:sp>
      <p:sp>
        <p:nvSpPr>
          <p:cNvPr id="274" name="Text 274"/>
          <p:cNvSpPr txBox="1"/>
          <p:nvPr/>
        </p:nvSpPr>
        <p:spPr>
          <a:xfrm>
            <a:off x="4584253"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75" name="Text 275"/>
          <p:cNvSpPr txBox="1"/>
          <p:nvPr/>
        </p:nvSpPr>
        <p:spPr>
          <a:xfrm>
            <a:off x="4584253" y="6108192"/>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11.7</a:t>
            </a:r>
            <a:endParaRPr lang="en-US" sz="1000" dirty="0"/>
          </a:p>
        </p:txBody>
      </p:sp>
      <p:sp>
        <p:nvSpPr>
          <p:cNvPr id="276" name="Text 276"/>
          <p:cNvSpPr txBox="1"/>
          <p:nvPr/>
        </p:nvSpPr>
        <p:spPr>
          <a:xfrm>
            <a:off x="5559643"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5</a:t>
            </a:r>
            <a:endParaRPr lang="en-US" sz="1050" dirty="0"/>
          </a:p>
        </p:txBody>
      </p:sp>
      <p:sp>
        <p:nvSpPr>
          <p:cNvPr id="277" name="Text 277"/>
          <p:cNvSpPr txBox="1"/>
          <p:nvPr/>
        </p:nvSpPr>
        <p:spPr>
          <a:xfrm>
            <a:off x="5559643"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0.5초</a:t>
            </a:r>
            <a:endParaRPr lang="en-US" sz="1000" dirty="0"/>
          </a:p>
        </p:txBody>
      </p:sp>
      <p:sp>
        <p:nvSpPr>
          <p:cNvPr id="278" name="Text 278"/>
          <p:cNvSpPr txBox="1"/>
          <p:nvPr/>
        </p:nvSpPr>
        <p:spPr>
          <a:xfrm>
            <a:off x="5559643"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79" name="Text 279"/>
          <p:cNvSpPr txBox="1"/>
          <p:nvPr/>
        </p:nvSpPr>
        <p:spPr>
          <a:xfrm>
            <a:off x="5559643"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20.0</a:t>
            </a:r>
            <a:endParaRPr lang="en-US" sz="1000" dirty="0"/>
          </a:p>
        </p:txBody>
      </p:sp>
      <p:sp>
        <p:nvSpPr>
          <p:cNvPr id="280" name="Text 280"/>
          <p:cNvSpPr txBox="1"/>
          <p:nvPr/>
        </p:nvSpPr>
        <p:spPr>
          <a:xfrm>
            <a:off x="6535034"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8</a:t>
            </a:r>
            <a:endParaRPr lang="en-US" sz="1050" dirty="0"/>
          </a:p>
        </p:txBody>
      </p:sp>
      <p:sp>
        <p:nvSpPr>
          <p:cNvPr id="281" name="Text 281"/>
          <p:cNvSpPr txBox="1"/>
          <p:nvPr/>
        </p:nvSpPr>
        <p:spPr>
          <a:xfrm>
            <a:off x="6535034"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0.8초</a:t>
            </a:r>
            <a:endParaRPr lang="en-US" sz="1000" dirty="0"/>
          </a:p>
        </p:txBody>
      </p:sp>
      <p:sp>
        <p:nvSpPr>
          <p:cNvPr id="282" name="Text 282"/>
          <p:cNvSpPr txBox="1"/>
          <p:nvPr/>
        </p:nvSpPr>
        <p:spPr>
          <a:xfrm>
            <a:off x="6535034"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83" name="Text 283"/>
          <p:cNvSpPr txBox="1"/>
          <p:nvPr/>
        </p:nvSpPr>
        <p:spPr>
          <a:xfrm>
            <a:off x="6535034"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19.7</a:t>
            </a:r>
            <a:endParaRPr lang="en-US" sz="1000" dirty="0"/>
          </a:p>
        </p:txBody>
      </p:sp>
      <p:sp>
        <p:nvSpPr>
          <p:cNvPr id="284" name="Text 284"/>
          <p:cNvSpPr txBox="1"/>
          <p:nvPr/>
        </p:nvSpPr>
        <p:spPr>
          <a:xfrm>
            <a:off x="7510424"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10</a:t>
            </a:r>
            <a:endParaRPr lang="en-US" sz="1050" dirty="0"/>
          </a:p>
        </p:txBody>
      </p:sp>
      <p:sp>
        <p:nvSpPr>
          <p:cNvPr id="285" name="Text 285"/>
          <p:cNvSpPr txBox="1"/>
          <p:nvPr/>
        </p:nvSpPr>
        <p:spPr>
          <a:xfrm>
            <a:off x="7510424"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1.0초</a:t>
            </a:r>
            <a:endParaRPr lang="en-US" sz="1000" dirty="0"/>
          </a:p>
        </p:txBody>
      </p:sp>
      <p:sp>
        <p:nvSpPr>
          <p:cNvPr id="286" name="Text 286"/>
          <p:cNvSpPr txBox="1"/>
          <p:nvPr/>
        </p:nvSpPr>
        <p:spPr>
          <a:xfrm>
            <a:off x="7510424"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87" name="Text 287"/>
          <p:cNvSpPr txBox="1"/>
          <p:nvPr/>
        </p:nvSpPr>
        <p:spPr>
          <a:xfrm>
            <a:off x="7510424"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23.0</a:t>
            </a:r>
            <a:endParaRPr lang="en-US" sz="1000" dirty="0"/>
          </a:p>
        </p:txBody>
      </p:sp>
      <p:sp>
        <p:nvSpPr>
          <p:cNvPr id="288" name="Text 288"/>
          <p:cNvSpPr txBox="1"/>
          <p:nvPr/>
        </p:nvSpPr>
        <p:spPr>
          <a:xfrm>
            <a:off x="8485815"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15</a:t>
            </a:r>
            <a:endParaRPr lang="en-US" sz="1050" dirty="0"/>
          </a:p>
        </p:txBody>
      </p:sp>
      <p:sp>
        <p:nvSpPr>
          <p:cNvPr id="289" name="Text 289"/>
          <p:cNvSpPr txBox="1"/>
          <p:nvPr/>
        </p:nvSpPr>
        <p:spPr>
          <a:xfrm>
            <a:off x="8485815"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1.5초</a:t>
            </a:r>
            <a:endParaRPr lang="en-US" sz="1000" dirty="0"/>
          </a:p>
        </p:txBody>
      </p:sp>
      <p:sp>
        <p:nvSpPr>
          <p:cNvPr id="290" name="Text 290"/>
          <p:cNvSpPr txBox="1"/>
          <p:nvPr/>
        </p:nvSpPr>
        <p:spPr>
          <a:xfrm>
            <a:off x="8485815"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91" name="Text 291"/>
          <p:cNvSpPr txBox="1"/>
          <p:nvPr/>
        </p:nvSpPr>
        <p:spPr>
          <a:xfrm>
            <a:off x="8485815"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33.0</a:t>
            </a:r>
            <a:endParaRPr lang="en-US" sz="1000" dirty="0"/>
          </a:p>
        </p:txBody>
      </p:sp>
      <p:sp>
        <p:nvSpPr>
          <p:cNvPr id="292" name="Text 292"/>
          <p:cNvSpPr txBox="1"/>
          <p:nvPr/>
        </p:nvSpPr>
        <p:spPr>
          <a:xfrm>
            <a:off x="9461205"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20</a:t>
            </a:r>
            <a:endParaRPr lang="en-US" sz="1050" dirty="0"/>
          </a:p>
        </p:txBody>
      </p:sp>
      <p:sp>
        <p:nvSpPr>
          <p:cNvPr id="293" name="Text 293"/>
          <p:cNvSpPr txBox="1"/>
          <p:nvPr/>
        </p:nvSpPr>
        <p:spPr>
          <a:xfrm>
            <a:off x="9461205"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2.0초</a:t>
            </a:r>
            <a:endParaRPr lang="en-US" sz="1000" dirty="0"/>
          </a:p>
        </p:txBody>
      </p:sp>
      <p:sp>
        <p:nvSpPr>
          <p:cNvPr id="294" name="Text 294"/>
          <p:cNvSpPr txBox="1"/>
          <p:nvPr/>
        </p:nvSpPr>
        <p:spPr>
          <a:xfrm>
            <a:off x="9461205"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95" name="Text 295"/>
          <p:cNvSpPr txBox="1"/>
          <p:nvPr/>
        </p:nvSpPr>
        <p:spPr>
          <a:xfrm>
            <a:off x="9461205"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18.7</a:t>
            </a:r>
            <a:endParaRPr lang="en-US" sz="1000" dirty="0"/>
          </a:p>
        </p:txBody>
      </p:sp>
      <p:sp>
        <p:nvSpPr>
          <p:cNvPr id="296" name="Text 296"/>
          <p:cNvSpPr txBox="1"/>
          <p:nvPr/>
        </p:nvSpPr>
        <p:spPr>
          <a:xfrm>
            <a:off x="10436596" y="5449824"/>
            <a:ext cx="731520" cy="201168"/>
          </a:xfrm>
          <a:prstGeom prst="rect">
            <a:avLst/>
          </a:prstGeom>
          <a:noFill/>
          <a:ln/>
        </p:spPr>
        <p:txBody>
          <a:bodyPr wrap="square" lIns="0" tIns="0" rIns="0" bIns="0" rtlCol="0" anchor="ct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W = 30</a:t>
            </a:r>
            <a:endParaRPr lang="en-US" sz="1050" dirty="0"/>
          </a:p>
        </p:txBody>
      </p:sp>
      <p:sp>
        <p:nvSpPr>
          <p:cNvPr id="297" name="Text 297"/>
          <p:cNvSpPr txBox="1"/>
          <p:nvPr/>
        </p:nvSpPr>
        <p:spPr>
          <a:xfrm>
            <a:off x="10436596" y="5669280"/>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3.0초</a:t>
            </a:r>
            <a:endParaRPr lang="en-US" sz="1000" dirty="0"/>
          </a:p>
        </p:txBody>
      </p:sp>
      <p:sp>
        <p:nvSpPr>
          <p:cNvPr id="298" name="Text 298"/>
          <p:cNvSpPr txBox="1"/>
          <p:nvPr/>
        </p:nvSpPr>
        <p:spPr>
          <a:xfrm>
            <a:off x="10436596" y="5888736"/>
            <a:ext cx="731520" cy="201168"/>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21/21</a:t>
            </a:r>
            <a:endParaRPr lang="en-US" sz="1000" dirty="0"/>
          </a:p>
        </p:txBody>
      </p:sp>
      <p:sp>
        <p:nvSpPr>
          <p:cNvPr id="299" name="Text 299"/>
          <p:cNvSpPr txBox="1"/>
          <p:nvPr/>
        </p:nvSpPr>
        <p:spPr>
          <a:xfrm>
            <a:off x="10436596" y="6108192"/>
            <a:ext cx="731520" cy="201168"/>
          </a:xfrm>
          <a:prstGeom prst="rect">
            <a:avLst/>
          </a:prstGeom>
          <a:noFill/>
          <a:ln/>
        </p:spPr>
        <p:txBody>
          <a:bodyPr wrap="square" lIns="0" tIns="0" rIns="0" bIns="0" rtlCol="0" anchor="ctr"/>
          <a:lstStyle/>
          <a:p>
            <a:pPr marL="0" indent="0" algn="ctr">
              <a:buNone/>
            </a:pPr>
            <a:r>
              <a:rPr lang="en-US" sz="1000" b="1" dirty="0">
                <a:solidFill>
                  <a:srgbClr val="C00000"/>
                </a:solidFill>
                <a:latin typeface="맑은 고딕" pitchFamily="34" charset="0"/>
                <a:ea typeface="맑은 고딕" pitchFamily="34" charset="-122"/>
                <a:cs typeface="맑은 고딕" pitchFamily="34" charset="-120"/>
              </a:rPr>
              <a:t>18.3</a:t>
            </a:r>
            <a:endParaRPr lang="en-US" sz="1000" dirty="0"/>
          </a:p>
        </p:txBody>
      </p:sp>
      <p:sp>
        <p:nvSpPr>
          <p:cNvPr id="96"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실험</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Sensor Ablation</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높은 성능은 어느 센서에서 나올까?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센서 제거 F1: 3센서 0.965 → 전류만 0.955 → 진동만 0.839, 성능 대부분이 전류에서 나옴</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진동만 모델: 2 clip(fault_0020·0021)은 끝까지 무경보, 0.5초 이내 첫 경보 76.2%</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최종 GMM, W = 3 (입력 차원 = 4시점 × 센서 수) · 센서만 바꿔 처음부터 재학습, seed 0·1·2 평균</a:t>
            </a:r>
            <a:endParaRPr lang="en-US" sz="1600" dirty="0"/>
          </a:p>
        </p:txBody>
      </p:sp>
      <p:graphicFrame>
        <p:nvGraphicFramePr>
          <p:cNvPr id="6" name="Chart 0"/>
          <p:cNvGraphicFramePr/>
          <p:nvPr/>
        </p:nvGraphicFramePr>
        <p:xfrm>
          <a:off x="914400" y="3337560"/>
          <a:ext cx="630936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248898172"/>
              </p:ext>
            </p:extLst>
          </p:nvPr>
        </p:nvGraphicFramePr>
        <p:xfrm>
          <a:off x="7498080" y="3520440"/>
          <a:ext cx="4206240" cy="1755648"/>
        </p:xfrm>
        <a:graphic>
          <a:graphicData uri="http://schemas.openxmlformats.org/drawingml/2006/table">
            <a:tbl>
              <a:tblPr/>
              <a:tblGrid>
                <a:gridCol w="822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38912">
                <a:tc>
                  <a:txBody>
                    <a:bodyP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입력</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입력 차원</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F1</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FAR</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Miss</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38912">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3센서</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charset="0"/>
                        </a:rPr>
                        <a:t>12</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0.965</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0.29%</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4.9%</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전류만</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charset="0"/>
                        </a:rPr>
                        <a:t>4</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0.955</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0.15%</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7.6%</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진동만</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no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charset="0"/>
                        </a:rPr>
                        <a:t>8</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no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0.839</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no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0.44%</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noFill/>
                  </a:tcPr>
                </a:tc>
                <a:tc>
                  <a:txBody>
                    <a:bodyPr/>
                    <a:lstStyle/>
                    <a:p>
                      <a:pPr marL="0" indent="0" algn="ctr">
                        <a:buNone/>
                      </a:pPr>
                      <a:r>
                        <a:rPr lang="en-US" sz="1300" dirty="0">
                          <a:solidFill>
                            <a:srgbClr val="262626"/>
                          </a:solidFill>
                          <a:latin typeface="맑은 고딕" pitchFamily="34" charset="0"/>
                          <a:ea typeface="맑은 고딕" pitchFamily="34" charset="-122"/>
                          <a:cs typeface="맑은 고딕" pitchFamily="34" charset="-120"/>
                        </a:rPr>
                        <a:t>25.6%</a:t>
                      </a:r>
                      <a:endParaRPr lang="en-US" sz="1300" dirty="0">
                        <a:latin typeface="맑은 고딕" charset="0"/>
                        <a:ea typeface="맑은 고딕" charset="0"/>
                        <a:cs typeface="맑은 고딕" charset="0"/>
                      </a:endParaRPr>
                    </a:p>
                  </a:txBody>
                  <a:tcPr anchor="ctr">
                    <a:lnL w="9525" cap="flat" cmpd="sng" algn="ctr">
                      <a:solidFill>
                        <a:srgbClr val="BFCBDA"/>
                      </a:solidFill>
                      <a:prstDash val="solid"/>
                      <a:round/>
                      <a:headEnd type="none" w="med" len="med"/>
                      <a:tailEnd type="none" w="med" len="med"/>
                    </a:lnL>
                    <a:lnR w="9525" cap="flat" cmpd="sng" algn="ctr">
                      <a:solidFill>
                        <a:srgbClr val="BFCBDA"/>
                      </a:solidFill>
                      <a:prstDash val="solid"/>
                      <a:round/>
                      <a:headEnd type="none" w="med" len="med"/>
                      <a:tailEnd type="none" w="med" len="med"/>
                    </a:lnR>
                    <a:lnT w="9525" cap="flat" cmpd="sng" algn="ctr">
                      <a:solidFill>
                        <a:srgbClr val="BFCBDA"/>
                      </a:solidFill>
                      <a:prstDash val="solid"/>
                      <a:round/>
                      <a:headEnd type="none" w="med" len="med"/>
                      <a:tailEnd type="none" w="med" len="med"/>
                    </a:lnT>
                    <a:lnB w="9525" cap="flat" cmpd="sng" algn="ctr">
                      <a:solidFill>
                        <a:srgbClr val="BFCBDA"/>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현장 활용성</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Field Deployment and Next Steps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현장에 적용하면 어떻게 쓸 수 있을까?</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운용 흐름: 0.1초 온라인 판단 → 경보 시 파형·점수·운전 조건 저장 → 작업자의 점검·정지 판단 지원</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확장 검증: 운전조건별 정상 분포·임계값, 동일 수집 조건의 독립 고장 기록으로 전류 기여 재평가</a:t>
            </a:r>
            <a:endParaRPr lang="en-US" sz="1600" dirty="0"/>
          </a:p>
          <a:p>
            <a:pPr marL="508000" lvl="1" indent="-254000">
              <a:spcAft>
                <a:spcPts val="4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추론·통신·제어 지연과 불량·비가동 감소 효과는 아직 측정하지 않음</a:t>
            </a:r>
            <a:endParaRPr lang="en-US" sz="1600" dirty="0"/>
          </a:p>
        </p:txBody>
      </p:sp>
      <p:sp>
        <p:nvSpPr>
          <p:cNvPr id="6" name="Text 4"/>
          <p:cNvSpPr txBox="1"/>
          <p:nvPr/>
        </p:nvSpPr>
        <p:spPr>
          <a:xfrm>
            <a:off x="777240" y="3200400"/>
            <a:ext cx="5120640" cy="274320"/>
          </a:xfrm>
          <a:prstGeom prst="rect">
            <a:avLst/>
          </a:prstGeom>
          <a:noFill/>
          <a:ln/>
        </p:spPr>
        <p:txBody>
          <a:bodyPr wrap="square" lIns="0" tIns="0" rIns="0" bIns="0" rtlCol="0" anchor="ctr"/>
          <a:lstStyle/>
          <a:p>
            <a:pPr marL="0" indent="0" algn="l">
              <a:buNone/>
            </a:pPr>
            <a:r>
              <a:rPr lang="en-US" sz="1300" b="1" dirty="0">
                <a:solidFill>
                  <a:srgbClr val="262626"/>
                </a:solidFill>
                <a:latin typeface="맑은 고딕" pitchFamily="34" charset="0"/>
                <a:ea typeface="맑은 고딕" pitchFamily="34" charset="-122"/>
                <a:cs typeface="맑은 고딕" pitchFamily="34" charset="-120"/>
              </a:rPr>
              <a:t>입력: 센서 원시 데이터 (한 줄 = 0.1초)</a:t>
            </a:r>
            <a:endParaRPr lang="en-US" sz="1300" dirty="0"/>
          </a:p>
        </p:txBody>
      </p:sp>
      <p:sp>
        <p:nvSpPr>
          <p:cNvPr id="7" name="Text 5"/>
          <p:cNvSpPr txBox="1"/>
          <p:nvPr/>
        </p:nvSpPr>
        <p:spPr>
          <a:xfrm>
            <a:off x="8458200" y="3200400"/>
            <a:ext cx="3200400" cy="274320"/>
          </a:xfrm>
          <a:prstGeom prst="rect">
            <a:avLst/>
          </a:prstGeom>
          <a:noFill/>
          <a:ln/>
        </p:spPr>
        <p:txBody>
          <a:bodyPr wrap="square" lIns="0" tIns="0" rIns="0" bIns="0" rtlCol="0" anchor="ctr"/>
          <a:lstStyle/>
          <a:p>
            <a:pPr marL="0" indent="0" algn="l">
              <a:buNone/>
            </a:pPr>
            <a:r>
              <a:rPr lang="en-US" sz="1300" b="1" dirty="0">
                <a:solidFill>
                  <a:srgbClr val="262626"/>
                </a:solidFill>
                <a:latin typeface="맑은 고딕" pitchFamily="34" charset="0"/>
                <a:ea typeface="맑은 고딕" pitchFamily="34" charset="-122"/>
                <a:cs typeface="맑은 고딕" pitchFamily="34" charset="-120"/>
              </a:rPr>
              <a:t>출력: 판정 결과</a:t>
            </a:r>
            <a:endParaRPr lang="en-US" sz="1300" dirty="0"/>
          </a:p>
        </p:txBody>
      </p:sp>
      <p:sp>
        <p:nvSpPr>
          <p:cNvPr id="8" name="Text 6"/>
          <p:cNvSpPr txBox="1"/>
          <p:nvPr/>
        </p:nvSpPr>
        <p:spPr>
          <a:xfrm>
            <a:off x="777240" y="3547872"/>
            <a:ext cx="3657600" cy="237744"/>
          </a:xfrm>
          <a:prstGeom prst="rect">
            <a:avLst/>
          </a:prstGeom>
          <a:noFill/>
          <a:ln/>
        </p:spPr>
        <p:txBody>
          <a:bodyPr wrap="square" lIns="0" tIns="0" rIns="0" bIns="0" rtlCol="0" anchor="ctr"/>
          <a:lstStyle/>
          <a:p>
            <a:pPr marL="0" indent="0" algn="l">
              <a:buNone/>
            </a:pPr>
            <a:r>
              <a:rPr lang="en-US" sz="1100" b="1" dirty="0">
                <a:solidFill>
                  <a:srgbClr val="1F4E79"/>
                </a:solidFill>
                <a:latin typeface="맑은 고딕" pitchFamily="34" charset="0"/>
                <a:ea typeface="맑은 고딕" pitchFamily="34" charset="-122"/>
                <a:cs typeface="맑은 고딕" pitchFamily="34" charset="-120"/>
              </a:rPr>
              <a:t>정상 운전 · 2022-07-12</a:t>
            </a:r>
            <a:endParaRPr lang="en-US" sz="1100" dirty="0"/>
          </a:p>
        </p:txBody>
      </p:sp>
      <p:graphicFrame>
        <p:nvGraphicFramePr>
          <p:cNvPr id="9" name="Table 0"/>
          <p:cNvGraphicFramePr>
            <a:graphicFrameLocks noGrp="1"/>
          </p:cNvGraphicFramePr>
          <p:nvPr/>
        </p:nvGraphicFramePr>
        <p:xfrm>
          <a:off x="777240" y="3803904"/>
          <a:ext cx="5120640" cy="114300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28600">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TimeStamp</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진동0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진동1</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전류</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01:00:50.060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0.075</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-0.043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93.2</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01:00:50.160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-0.036</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-0.001</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110.6</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01:00:50.260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-0.048</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-0.024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115.7</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01:00:50.360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0.064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0.079</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107.3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0" name="Table 1"/>
          <p:cNvGraphicFramePr>
            <a:graphicFrameLocks noGrp="1"/>
          </p:cNvGraphicFramePr>
          <p:nvPr>
            <p:extLst>
              <p:ext uri="{D42A27DB-BD31-4B8C-83A1-F6EECF244321}">
                <p14:modId xmlns:p14="http://schemas.microsoft.com/office/powerpoint/2010/main" val="1269761918"/>
              </p:ext>
            </p:extLst>
          </p:nvPr>
        </p:nvGraphicFramePr>
        <p:xfrm>
          <a:off x="8458200" y="3803904"/>
          <a:ext cx="3200400" cy="1143000"/>
        </p:xfrm>
        <a:graphic>
          <a:graphicData uri="http://schemas.openxmlformats.org/drawingml/2006/table">
            <a:tbl>
              <a:tblPr/>
              <a:tblGrid>
                <a:gridCol w="1051560">
                  <a:extLst>
                    <a:ext uri="{9D8B030D-6E8A-4147-A177-3AD203B41FA5}">
                      <a16:colId xmlns:a16="http://schemas.microsoft.com/office/drawing/2014/main" val="30001"/>
                    </a:ext>
                  </a:extLst>
                </a:gridCol>
                <a:gridCol w="868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228600">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입력 차원(θ)</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이상 점수</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판정</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28600">
                <a:tc>
                  <a:txBody>
                    <a:bodyPr/>
                    <a:lstStyle/>
                    <a:p>
                      <a:pPr marL="0" indent="0" algn="ctr">
                        <a:buNone/>
                      </a:pPr>
                      <a:r>
                        <a:rPr lang="en-US" sz="1050" b="0" kern="1200" dirty="0">
                          <a:solidFill>
                            <a:srgbClr val="404040"/>
                          </a:solidFill>
                          <a:latin typeface="맑은 고딕" pitchFamily="34" charset="0"/>
                          <a:ea typeface="맑은 고딕" pitchFamily="34" charset="-122"/>
                          <a:cs typeface="맑은 고딕" charset="0"/>
                        </a:rPr>
                        <a:t>3 (8.4)</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kern="1200" dirty="0">
                          <a:solidFill>
                            <a:srgbClr val="1F4E79"/>
                          </a:solidFill>
                          <a:latin typeface="맑은 고딕" pitchFamily="34" charset="0"/>
                          <a:ea typeface="맑은 고딕" pitchFamily="34" charset="-122"/>
                          <a:cs typeface="맑은 고딕" charset="0"/>
                        </a:rPr>
                        <a:t>3.5</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defTabSz="914400" rtl="0" eaLnBrk="1" latinLnBrk="0" hangingPunct="1">
                        <a:buNone/>
                      </a:pPr>
                      <a:r>
                        <a:rPr lang="ko-KR" altLang="en-US" sz="1050" b="1" kern="1200" dirty="0">
                          <a:solidFill>
                            <a:srgbClr val="FFFFFF"/>
                          </a:solidFill>
                          <a:latin typeface="맑은 고딕" pitchFamily="34" charset="0"/>
                          <a:ea typeface="맑은 고딕" pitchFamily="34" charset="-122"/>
                          <a:cs typeface="맑은 고딕" charset="0"/>
                        </a:rPr>
                        <a:t>정상</a:t>
                      </a:r>
                      <a:endParaRPr lang="en-US" sz="1050" b="1" kern="1200" dirty="0">
                        <a:solidFill>
                          <a:srgbClr val="FFFFFF"/>
                        </a:solidFill>
                        <a:latin typeface="맑은 고딕" pitchFamily="34" charset="0"/>
                        <a:ea typeface="맑은 고딕" pitchFamily="34" charset="-122"/>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228600">
                <a:tc>
                  <a:txBody>
                    <a:bodyPr/>
                    <a:lstStyle/>
                    <a:p>
                      <a:pPr marL="0" indent="0" algn="ctr">
                        <a:buNone/>
                      </a:pPr>
                      <a:r>
                        <a:rPr lang="en-US" sz="1050" b="0" kern="1200" dirty="0">
                          <a:solidFill>
                            <a:srgbClr val="404040"/>
                          </a:solidFill>
                          <a:latin typeface="맑은 고딕" pitchFamily="34" charset="0"/>
                          <a:ea typeface="맑은 고딕" pitchFamily="34" charset="-122"/>
                          <a:cs typeface="맑은 고딕" charset="0"/>
                        </a:rPr>
                        <a:t>6 (12.7)</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kern="1200" dirty="0">
                          <a:solidFill>
                            <a:srgbClr val="1F4E79"/>
                          </a:solidFill>
                          <a:latin typeface="맑은 고딕" pitchFamily="34" charset="0"/>
                          <a:ea typeface="맑은 고딕" pitchFamily="34" charset="-122"/>
                          <a:cs typeface="맑은 고딕" charset="0"/>
                        </a:rPr>
                        <a:t>5.0</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defTabSz="914400" rtl="0" eaLnBrk="1" latinLnBrk="0" hangingPunct="1">
                        <a:buNone/>
                      </a:pPr>
                      <a:r>
                        <a:rPr lang="ko-KR" altLang="en-US" sz="1050" b="1" kern="1200" dirty="0">
                          <a:solidFill>
                            <a:srgbClr val="FFFFFF"/>
                          </a:solidFill>
                          <a:latin typeface="맑은 고딕" pitchFamily="34" charset="0"/>
                          <a:ea typeface="맑은 고딕" pitchFamily="34" charset="-122"/>
                          <a:cs typeface="맑은 고딕" charset="0"/>
                        </a:rPr>
                        <a:t>정상</a:t>
                      </a:r>
                      <a:endParaRPr lang="en-US" sz="1050" b="1" kern="1200" dirty="0">
                        <a:solidFill>
                          <a:srgbClr val="FFFFFF"/>
                        </a:solidFill>
                        <a:latin typeface="맑은 고딕" pitchFamily="34" charset="0"/>
                        <a:ea typeface="맑은 고딕" pitchFamily="34" charset="-122"/>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r h="228600">
                <a:tc>
                  <a:txBody>
                    <a:bodyPr/>
                    <a:lstStyle/>
                    <a:p>
                      <a:pPr marL="0" indent="0" algn="ctr">
                        <a:buNone/>
                      </a:pPr>
                      <a:r>
                        <a:rPr lang="en-US" sz="1050" b="0" dirty="0">
                          <a:solidFill>
                            <a:srgbClr val="404040"/>
                          </a:solidFill>
                          <a:latin typeface="맑은 고딕" pitchFamily="34" charset="0"/>
                          <a:ea typeface="맑은 고딕" pitchFamily="34" charset="-122"/>
                          <a:cs typeface="맑은 고딕" pitchFamily="34" charset="-120"/>
                        </a:rPr>
                        <a:t>9 (15.4)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1F4E79"/>
                          </a:solidFill>
                          <a:latin typeface="맑은 고딕" pitchFamily="34" charset="0"/>
                          <a:ea typeface="맑은 고딕" pitchFamily="34" charset="-122"/>
                          <a:cs typeface="맑은 고딕" pitchFamily="34" charset="-120"/>
                        </a:rPr>
                        <a:t>4.7</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FFFFFF"/>
                          </a:solidFill>
                          <a:latin typeface="맑은 고딕" pitchFamily="34" charset="0"/>
                          <a:ea typeface="맑은 고딕" pitchFamily="34" charset="-122"/>
                          <a:cs typeface="맑은 고딕" pitchFamily="34" charset="-120"/>
                        </a:rPr>
                        <a:t>정상</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3"/>
                  </a:ext>
                </a:extLst>
              </a:tr>
              <a:tr h="228600">
                <a:tc>
                  <a:txBody>
                    <a:bodyPr/>
                    <a:lstStyle/>
                    <a:p>
                      <a:pPr marL="0" indent="0" algn="ctr">
                        <a:buNone/>
                      </a:pPr>
                      <a:r>
                        <a:rPr lang="en-US" sz="1050" b="0" dirty="0">
                          <a:solidFill>
                            <a:srgbClr val="404040"/>
                          </a:solidFill>
                          <a:latin typeface="맑은 고딕" pitchFamily="34" charset="0"/>
                          <a:ea typeface="맑은 고딕" pitchFamily="34" charset="-122"/>
                          <a:cs typeface="맑은 고딕" pitchFamily="34" charset="-120"/>
                        </a:rPr>
                        <a:t>12 (17.2)</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1F4E79"/>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FFFFFF"/>
                          </a:solidFill>
                          <a:latin typeface="맑은 고딕" pitchFamily="34" charset="0"/>
                          <a:ea typeface="맑은 고딕" pitchFamily="34" charset="-122"/>
                          <a:cs typeface="맑은 고딕" pitchFamily="34" charset="-120"/>
                        </a:rPr>
                        <a:t>정상</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4"/>
                  </a:ext>
                </a:extLst>
              </a:tr>
            </a:tbl>
          </a:graphicData>
        </a:graphic>
      </p:graphicFrame>
      <p:sp>
        <p:nvSpPr>
          <p:cNvPr id="11" name="Shape 7"/>
          <p:cNvSpPr/>
          <p:nvPr/>
        </p:nvSpPr>
        <p:spPr>
          <a:xfrm>
            <a:off x="5943600" y="4146804"/>
            <a:ext cx="548640" cy="91"/>
          </a:xfrm>
          <a:prstGeom prst="line">
            <a:avLst/>
          </a:prstGeom>
          <a:noFill/>
          <a:ln w="9525">
            <a:solidFill>
              <a:srgbClr val="A6A6A6"/>
            </a:solidFill>
            <a:prstDash val="solid"/>
          </a:ln>
        </p:spPr>
        <p:txBody>
          <a:bodyPr/>
          <a:lstStyle/>
          <a:p>
            <a:endParaRPr lang="ko-KR" altLang="en-US"/>
          </a:p>
        </p:txBody>
      </p:sp>
      <p:sp>
        <p:nvSpPr>
          <p:cNvPr id="12" name="Shape 8"/>
          <p:cNvSpPr/>
          <p:nvPr/>
        </p:nvSpPr>
        <p:spPr>
          <a:xfrm>
            <a:off x="7818120" y="4146804"/>
            <a:ext cx="594360" cy="91"/>
          </a:xfrm>
          <a:prstGeom prst="line">
            <a:avLst/>
          </a:prstGeom>
          <a:noFill/>
          <a:ln w="9525">
            <a:solidFill>
              <a:srgbClr val="A6A6A6"/>
            </a:solidFill>
            <a:prstDash val="solid"/>
            <a:tailEnd type="triangle"/>
          </a:ln>
        </p:spPr>
        <p:txBody>
          <a:bodyPr/>
          <a:lstStyle/>
          <a:p>
            <a:endParaRPr lang="ko-KR" altLang="en-US"/>
          </a:p>
        </p:txBody>
      </p:sp>
      <p:sp>
        <p:nvSpPr>
          <p:cNvPr id="13" name="Shape 9"/>
          <p:cNvSpPr/>
          <p:nvPr/>
        </p:nvSpPr>
        <p:spPr>
          <a:xfrm>
            <a:off x="5943600" y="4375404"/>
            <a:ext cx="548640" cy="91"/>
          </a:xfrm>
          <a:prstGeom prst="line">
            <a:avLst/>
          </a:prstGeom>
          <a:noFill/>
          <a:ln w="9525">
            <a:solidFill>
              <a:srgbClr val="A6A6A6"/>
            </a:solidFill>
            <a:prstDash val="solid"/>
          </a:ln>
        </p:spPr>
        <p:txBody>
          <a:bodyPr/>
          <a:lstStyle/>
          <a:p>
            <a:endParaRPr lang="ko-KR" altLang="en-US"/>
          </a:p>
        </p:txBody>
      </p:sp>
      <p:sp>
        <p:nvSpPr>
          <p:cNvPr id="14" name="Shape 10"/>
          <p:cNvSpPr/>
          <p:nvPr/>
        </p:nvSpPr>
        <p:spPr>
          <a:xfrm>
            <a:off x="7818120" y="4375404"/>
            <a:ext cx="594360" cy="91"/>
          </a:xfrm>
          <a:prstGeom prst="line">
            <a:avLst/>
          </a:prstGeom>
          <a:noFill/>
          <a:ln w="9525">
            <a:solidFill>
              <a:srgbClr val="A6A6A6"/>
            </a:solidFill>
            <a:prstDash val="solid"/>
            <a:tailEnd type="triangle"/>
          </a:ln>
        </p:spPr>
        <p:txBody>
          <a:bodyPr/>
          <a:lstStyle/>
          <a:p>
            <a:endParaRPr lang="ko-KR" altLang="en-US"/>
          </a:p>
        </p:txBody>
      </p:sp>
      <p:sp>
        <p:nvSpPr>
          <p:cNvPr id="15" name="Shape 11"/>
          <p:cNvSpPr/>
          <p:nvPr/>
        </p:nvSpPr>
        <p:spPr>
          <a:xfrm>
            <a:off x="5943600" y="4604004"/>
            <a:ext cx="548640" cy="91"/>
          </a:xfrm>
          <a:prstGeom prst="line">
            <a:avLst/>
          </a:prstGeom>
          <a:noFill/>
          <a:ln w="9525">
            <a:solidFill>
              <a:srgbClr val="A6A6A6"/>
            </a:solidFill>
            <a:prstDash val="solid"/>
          </a:ln>
        </p:spPr>
        <p:txBody>
          <a:bodyPr/>
          <a:lstStyle/>
          <a:p>
            <a:endParaRPr lang="ko-KR" altLang="en-US"/>
          </a:p>
        </p:txBody>
      </p:sp>
      <p:sp>
        <p:nvSpPr>
          <p:cNvPr id="16" name="Shape 12"/>
          <p:cNvSpPr/>
          <p:nvPr/>
        </p:nvSpPr>
        <p:spPr>
          <a:xfrm>
            <a:off x="7818120" y="4604004"/>
            <a:ext cx="594360" cy="91"/>
          </a:xfrm>
          <a:prstGeom prst="line">
            <a:avLst/>
          </a:prstGeom>
          <a:noFill/>
          <a:ln w="9525">
            <a:solidFill>
              <a:srgbClr val="A6A6A6"/>
            </a:solidFill>
            <a:prstDash val="solid"/>
            <a:tailEnd type="triangle"/>
          </a:ln>
        </p:spPr>
        <p:txBody>
          <a:bodyPr/>
          <a:lstStyle/>
          <a:p>
            <a:endParaRPr lang="ko-KR" altLang="en-US"/>
          </a:p>
        </p:txBody>
      </p:sp>
      <p:sp>
        <p:nvSpPr>
          <p:cNvPr id="17" name="Shape 13"/>
          <p:cNvSpPr/>
          <p:nvPr/>
        </p:nvSpPr>
        <p:spPr>
          <a:xfrm>
            <a:off x="5943600" y="4832604"/>
            <a:ext cx="548640" cy="91"/>
          </a:xfrm>
          <a:prstGeom prst="line">
            <a:avLst/>
          </a:prstGeom>
          <a:noFill/>
          <a:ln w="9525">
            <a:solidFill>
              <a:srgbClr val="A6A6A6"/>
            </a:solidFill>
            <a:prstDash val="solid"/>
          </a:ln>
        </p:spPr>
        <p:txBody>
          <a:bodyPr/>
          <a:lstStyle/>
          <a:p>
            <a:endParaRPr lang="ko-KR" altLang="en-US"/>
          </a:p>
        </p:txBody>
      </p:sp>
      <p:sp>
        <p:nvSpPr>
          <p:cNvPr id="18" name="Shape 14"/>
          <p:cNvSpPr/>
          <p:nvPr/>
        </p:nvSpPr>
        <p:spPr>
          <a:xfrm>
            <a:off x="7818120" y="4832604"/>
            <a:ext cx="594360" cy="91"/>
          </a:xfrm>
          <a:prstGeom prst="line">
            <a:avLst/>
          </a:prstGeom>
          <a:noFill/>
          <a:ln w="9525">
            <a:solidFill>
              <a:srgbClr val="A6A6A6"/>
            </a:solidFill>
            <a:prstDash val="solid"/>
            <a:tailEnd type="triangle"/>
          </a:ln>
        </p:spPr>
        <p:txBody>
          <a:bodyPr/>
          <a:lstStyle/>
          <a:p>
            <a:endParaRPr lang="ko-KR" altLang="en-US"/>
          </a:p>
        </p:txBody>
      </p:sp>
      <p:sp>
        <p:nvSpPr>
          <p:cNvPr id="19" name="Text 15"/>
          <p:cNvSpPr txBox="1"/>
          <p:nvPr/>
        </p:nvSpPr>
        <p:spPr>
          <a:xfrm>
            <a:off x="777240" y="4983480"/>
            <a:ext cx="3657600" cy="237744"/>
          </a:xfrm>
          <a:prstGeom prst="rect">
            <a:avLst/>
          </a:prstGeom>
          <a:noFill/>
          <a:ln/>
        </p:spPr>
        <p:txBody>
          <a:bodyPr wrap="square" lIns="0" tIns="0" rIns="0" bIns="0" rtlCol="0" anchor="ctr"/>
          <a:lstStyle/>
          <a:p>
            <a:pPr marL="0" indent="0" algn="l">
              <a:buNone/>
            </a:pPr>
            <a:r>
              <a:rPr lang="en-US" sz="1100" b="1" dirty="0">
                <a:solidFill>
                  <a:srgbClr val="C00000"/>
                </a:solidFill>
                <a:latin typeface="맑은 고딕" pitchFamily="34" charset="0"/>
                <a:ea typeface="맑은 고딕" pitchFamily="34" charset="-122"/>
                <a:cs typeface="맑은 고딕" pitchFamily="34" charset="-120"/>
              </a:rPr>
              <a:t>이상 기록 · 2022-07-17</a:t>
            </a:r>
            <a:endParaRPr lang="en-US" sz="1100" dirty="0"/>
          </a:p>
        </p:txBody>
      </p:sp>
      <p:graphicFrame>
        <p:nvGraphicFramePr>
          <p:cNvPr id="20" name="Table 2"/>
          <p:cNvGraphicFramePr>
            <a:graphicFrameLocks noGrp="1"/>
          </p:cNvGraphicFramePr>
          <p:nvPr/>
        </p:nvGraphicFramePr>
        <p:xfrm>
          <a:off x="777240" y="5239512"/>
          <a:ext cx="5120640" cy="114300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28600">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TimeStamp</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진동0</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진동1</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전류</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10:51:16.724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0.316</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0.205</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34.6</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10:51:16.824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-0.303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0.309</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70.3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10:51:16.924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-0.209</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0.247</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151.4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10:51:17.024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-0.103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0.253</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dirty="0">
                          <a:solidFill>
                            <a:srgbClr val="262626"/>
                          </a:solidFill>
                          <a:latin typeface="맑은 고딕" pitchFamily="34" charset="0"/>
                          <a:ea typeface="맑은 고딕" pitchFamily="34" charset="-122"/>
                          <a:cs typeface="맑은 고딕" pitchFamily="34" charset="-120"/>
                        </a:rPr>
                        <a:t>147.8</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1" name="Table 3"/>
          <p:cNvGraphicFramePr>
            <a:graphicFrameLocks noGrp="1"/>
          </p:cNvGraphicFramePr>
          <p:nvPr>
            <p:extLst>
              <p:ext uri="{D42A27DB-BD31-4B8C-83A1-F6EECF244321}">
                <p14:modId xmlns:p14="http://schemas.microsoft.com/office/powerpoint/2010/main" val="558584487"/>
              </p:ext>
            </p:extLst>
          </p:nvPr>
        </p:nvGraphicFramePr>
        <p:xfrm>
          <a:off x="8458200" y="5239512"/>
          <a:ext cx="3200400" cy="1143000"/>
        </p:xfrm>
        <a:graphic>
          <a:graphicData uri="http://schemas.openxmlformats.org/drawingml/2006/table">
            <a:tbl>
              <a:tblPr/>
              <a:tblGrid>
                <a:gridCol w="1051560">
                  <a:extLst>
                    <a:ext uri="{9D8B030D-6E8A-4147-A177-3AD203B41FA5}">
                      <a16:colId xmlns:a16="http://schemas.microsoft.com/office/drawing/2014/main" val="30003"/>
                    </a:ext>
                  </a:extLst>
                </a:gridCol>
                <a:gridCol w="868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228600">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입력 차원(θ)</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이상 점수</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판정</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228600">
                <a:tc>
                  <a:txBody>
                    <a:bodyPr/>
                    <a:lstStyle/>
                    <a:p>
                      <a:pPr marL="0" indent="0" algn="ctr">
                        <a:buNone/>
                      </a:pPr>
                      <a:r>
                        <a:rPr lang="en-US" sz="1050" b="0" kern="1200" dirty="0">
                          <a:solidFill>
                            <a:srgbClr val="404040"/>
                          </a:solidFill>
                          <a:latin typeface="맑은 고딕" pitchFamily="34" charset="0"/>
                          <a:ea typeface="맑은 고딕" pitchFamily="34" charset="-122"/>
                          <a:cs typeface="맑은 고딕" charset="0"/>
                        </a:rPr>
                        <a:t>3 (8.4)</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kern="1200" dirty="0">
                          <a:solidFill>
                            <a:srgbClr val="C00000"/>
                          </a:solidFill>
                          <a:latin typeface="맑은 고딕" pitchFamily="34" charset="0"/>
                          <a:ea typeface="맑은 고딕" pitchFamily="34" charset="-122"/>
                          <a:cs typeface="맑은 고딕" charset="0"/>
                        </a:rPr>
                        <a:t>14.2</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050" b="1" dirty="0" err="1">
                          <a:solidFill>
                            <a:srgbClr val="FFFFFF"/>
                          </a:solidFill>
                          <a:latin typeface="맑은 고딕" pitchFamily="34" charset="0"/>
                          <a:ea typeface="맑은 고딕" pitchFamily="34" charset="-122"/>
                          <a:cs typeface="맑은 고딕" pitchFamily="34" charset="-120"/>
                        </a:rPr>
                        <a:t>이상 → 경보</a:t>
                      </a:r>
                      <a:endParaRPr lang="en-US" altLang="ko-KR"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228600">
                <a:tc>
                  <a:txBody>
                    <a:bodyPr/>
                    <a:lstStyle/>
                    <a:p>
                      <a:pPr marL="0" indent="0" algn="ctr">
                        <a:buNone/>
                      </a:pPr>
                      <a:r>
                        <a:rPr lang="en-US" sz="1050" b="0" kern="1200" dirty="0">
                          <a:solidFill>
                            <a:srgbClr val="404040"/>
                          </a:solidFill>
                          <a:latin typeface="맑은 고딕" pitchFamily="34" charset="0"/>
                          <a:ea typeface="맑은 고딕" pitchFamily="34" charset="-122"/>
                          <a:cs typeface="맑은 고딕" charset="0"/>
                        </a:rPr>
                        <a:t>6 (12.7)</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kern="1200" dirty="0">
                          <a:solidFill>
                            <a:srgbClr val="C00000"/>
                          </a:solidFill>
                          <a:latin typeface="맑은 고딕" pitchFamily="34" charset="0"/>
                          <a:ea typeface="맑은 고딕" pitchFamily="34" charset="-122"/>
                          <a:cs typeface="맑은 고딕" charset="0"/>
                        </a:rPr>
                        <a:t>42.6</a:t>
                      </a: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050" b="1" dirty="0" err="1">
                          <a:solidFill>
                            <a:srgbClr val="FFFFFF"/>
                          </a:solidFill>
                          <a:latin typeface="맑은 고딕" pitchFamily="34" charset="0"/>
                          <a:ea typeface="맑은 고딕" pitchFamily="34" charset="-122"/>
                          <a:cs typeface="맑은 고딕" pitchFamily="34" charset="-120"/>
                        </a:rPr>
                        <a:t>이상 → 경보</a:t>
                      </a:r>
                      <a:endParaRPr lang="en-US" altLang="ko-KR"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accent2"/>
                    </a:solidFill>
                  </a:tcPr>
                </a:tc>
                <a:extLst>
                  <a:ext uri="{0D108BD9-81ED-4DB2-BD59-A6C34878D82A}">
                    <a16:rowId xmlns:a16="http://schemas.microsoft.com/office/drawing/2014/main" val="1071669788"/>
                  </a:ext>
                </a:extLst>
              </a:tr>
              <a:tr h="228600">
                <a:tc>
                  <a:txBody>
                    <a:bodyPr/>
                    <a:lstStyle/>
                    <a:p>
                      <a:pPr marL="0" indent="0" algn="ctr">
                        <a:buNone/>
                      </a:pPr>
                      <a:r>
                        <a:rPr lang="en-US" sz="1050" b="0" dirty="0">
                          <a:solidFill>
                            <a:srgbClr val="404040"/>
                          </a:solidFill>
                          <a:latin typeface="맑은 고딕" pitchFamily="34" charset="0"/>
                          <a:ea typeface="맑은 고딕" pitchFamily="34" charset="-122"/>
                          <a:cs typeface="맑은 고딕" pitchFamily="34" charset="-120"/>
                        </a:rPr>
                        <a:t>9 (15.4)</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C00000"/>
                          </a:solidFill>
                          <a:latin typeface="맑은 고딕" pitchFamily="34" charset="0"/>
                          <a:ea typeface="맑은 고딕" pitchFamily="34" charset="-122"/>
                          <a:cs typeface="맑은 고딕" pitchFamily="34" charset="-120"/>
                        </a:rPr>
                        <a:t>73.8</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FFFFFF"/>
                          </a:solidFill>
                          <a:latin typeface="맑은 고딕" pitchFamily="34" charset="0"/>
                          <a:ea typeface="맑은 고딕" pitchFamily="34" charset="-122"/>
                          <a:cs typeface="맑은 고딕" pitchFamily="34" charset="-120"/>
                        </a:rPr>
                        <a:t>이상 → 경보</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10003"/>
                  </a:ext>
                </a:extLst>
              </a:tr>
              <a:tr h="228600">
                <a:tc>
                  <a:txBody>
                    <a:bodyPr/>
                    <a:lstStyle/>
                    <a:p>
                      <a:pPr marL="0" indent="0" algn="ctr">
                        <a:buNone/>
                      </a:pPr>
                      <a:r>
                        <a:rPr lang="en-US" sz="1050" b="0" dirty="0">
                          <a:solidFill>
                            <a:srgbClr val="404040"/>
                          </a:solidFill>
                          <a:latin typeface="맑은 고딕" pitchFamily="34" charset="0"/>
                          <a:ea typeface="맑은 고딕" pitchFamily="34" charset="-122"/>
                          <a:cs typeface="맑은 고딕" pitchFamily="34" charset="-120"/>
                        </a:rPr>
                        <a:t>12 (17.2)</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C00000"/>
                          </a:solidFill>
                          <a:latin typeface="맑은 고딕" pitchFamily="34" charset="0"/>
                          <a:ea typeface="맑은 고딕" pitchFamily="34" charset="-122"/>
                          <a:cs typeface="맑은 고딕" pitchFamily="34" charset="-120"/>
                        </a:rPr>
                        <a:t>91.6</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50" b="1" dirty="0">
                          <a:solidFill>
                            <a:srgbClr val="FFFFFF"/>
                          </a:solidFill>
                          <a:latin typeface="맑은 고딕" pitchFamily="34" charset="0"/>
                          <a:ea typeface="맑은 고딕" pitchFamily="34" charset="-122"/>
                          <a:cs typeface="맑은 고딕" pitchFamily="34" charset="-120"/>
                        </a:rPr>
                        <a:t>이상 → 경보</a:t>
                      </a:r>
                      <a:endParaRPr lang="en-US" sz="1050" dirty="0">
                        <a:latin typeface="맑은 고딕" charset="0"/>
                        <a:ea typeface="맑은 고딕" charset="0"/>
                        <a:cs typeface="맑은 고딕"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extLst>
                  <a:ext uri="{0D108BD9-81ED-4DB2-BD59-A6C34878D82A}">
                    <a16:rowId xmlns:a16="http://schemas.microsoft.com/office/drawing/2014/main" val="10004"/>
                  </a:ext>
                </a:extLst>
              </a:tr>
            </a:tbl>
          </a:graphicData>
        </a:graphic>
      </p:graphicFrame>
      <p:sp>
        <p:nvSpPr>
          <p:cNvPr id="22" name="Shape 16"/>
          <p:cNvSpPr/>
          <p:nvPr/>
        </p:nvSpPr>
        <p:spPr>
          <a:xfrm>
            <a:off x="5943600" y="5582412"/>
            <a:ext cx="548640" cy="91"/>
          </a:xfrm>
          <a:prstGeom prst="line">
            <a:avLst/>
          </a:prstGeom>
          <a:noFill/>
          <a:ln w="9525">
            <a:solidFill>
              <a:srgbClr val="A6A6A6"/>
            </a:solidFill>
            <a:prstDash val="solid"/>
          </a:ln>
        </p:spPr>
        <p:txBody>
          <a:bodyPr/>
          <a:lstStyle/>
          <a:p>
            <a:endParaRPr lang="ko-KR" altLang="en-US"/>
          </a:p>
        </p:txBody>
      </p:sp>
      <p:sp>
        <p:nvSpPr>
          <p:cNvPr id="23" name="Shape 17"/>
          <p:cNvSpPr/>
          <p:nvPr/>
        </p:nvSpPr>
        <p:spPr>
          <a:xfrm>
            <a:off x="7818120" y="5582412"/>
            <a:ext cx="594360" cy="91"/>
          </a:xfrm>
          <a:prstGeom prst="line">
            <a:avLst/>
          </a:prstGeom>
          <a:noFill/>
          <a:ln w="9525">
            <a:solidFill>
              <a:srgbClr val="A6A6A6"/>
            </a:solidFill>
            <a:prstDash val="solid"/>
            <a:tailEnd type="triangle"/>
          </a:ln>
        </p:spPr>
        <p:txBody>
          <a:bodyPr/>
          <a:lstStyle/>
          <a:p>
            <a:endParaRPr lang="ko-KR" altLang="en-US"/>
          </a:p>
        </p:txBody>
      </p:sp>
      <p:sp>
        <p:nvSpPr>
          <p:cNvPr id="24" name="Shape 18"/>
          <p:cNvSpPr/>
          <p:nvPr/>
        </p:nvSpPr>
        <p:spPr>
          <a:xfrm>
            <a:off x="5943600" y="5811012"/>
            <a:ext cx="548640" cy="91"/>
          </a:xfrm>
          <a:prstGeom prst="line">
            <a:avLst/>
          </a:prstGeom>
          <a:noFill/>
          <a:ln w="9525">
            <a:solidFill>
              <a:srgbClr val="A6A6A6"/>
            </a:solidFill>
            <a:prstDash val="solid"/>
          </a:ln>
        </p:spPr>
        <p:txBody>
          <a:bodyPr/>
          <a:lstStyle/>
          <a:p>
            <a:endParaRPr lang="ko-KR" altLang="en-US"/>
          </a:p>
        </p:txBody>
      </p:sp>
      <p:sp>
        <p:nvSpPr>
          <p:cNvPr id="25" name="Shape 19"/>
          <p:cNvSpPr/>
          <p:nvPr/>
        </p:nvSpPr>
        <p:spPr>
          <a:xfrm>
            <a:off x="7818120" y="5811012"/>
            <a:ext cx="594360" cy="91"/>
          </a:xfrm>
          <a:prstGeom prst="line">
            <a:avLst/>
          </a:prstGeom>
          <a:noFill/>
          <a:ln w="9525">
            <a:solidFill>
              <a:srgbClr val="A6A6A6"/>
            </a:solidFill>
            <a:prstDash val="solid"/>
            <a:tailEnd type="triangle"/>
          </a:ln>
        </p:spPr>
        <p:txBody>
          <a:bodyPr/>
          <a:lstStyle/>
          <a:p>
            <a:endParaRPr lang="ko-KR" altLang="en-US"/>
          </a:p>
        </p:txBody>
      </p:sp>
      <p:sp>
        <p:nvSpPr>
          <p:cNvPr id="26" name="Shape 20"/>
          <p:cNvSpPr/>
          <p:nvPr/>
        </p:nvSpPr>
        <p:spPr>
          <a:xfrm>
            <a:off x="5943600" y="6039612"/>
            <a:ext cx="548640" cy="91"/>
          </a:xfrm>
          <a:prstGeom prst="line">
            <a:avLst/>
          </a:prstGeom>
          <a:noFill/>
          <a:ln w="9525">
            <a:solidFill>
              <a:srgbClr val="A6A6A6"/>
            </a:solidFill>
            <a:prstDash val="solid"/>
          </a:ln>
        </p:spPr>
        <p:txBody>
          <a:bodyPr/>
          <a:lstStyle/>
          <a:p>
            <a:endParaRPr lang="ko-KR" altLang="en-US"/>
          </a:p>
        </p:txBody>
      </p:sp>
      <p:sp>
        <p:nvSpPr>
          <p:cNvPr id="27" name="Shape 21"/>
          <p:cNvSpPr/>
          <p:nvPr/>
        </p:nvSpPr>
        <p:spPr>
          <a:xfrm>
            <a:off x="7818120" y="6039612"/>
            <a:ext cx="594360" cy="91"/>
          </a:xfrm>
          <a:prstGeom prst="line">
            <a:avLst/>
          </a:prstGeom>
          <a:noFill/>
          <a:ln w="9525">
            <a:solidFill>
              <a:srgbClr val="A6A6A6"/>
            </a:solidFill>
            <a:prstDash val="solid"/>
            <a:tailEnd type="triangle"/>
          </a:ln>
        </p:spPr>
        <p:txBody>
          <a:bodyPr/>
          <a:lstStyle/>
          <a:p>
            <a:endParaRPr lang="ko-KR" altLang="en-US"/>
          </a:p>
        </p:txBody>
      </p:sp>
      <p:sp>
        <p:nvSpPr>
          <p:cNvPr id="28" name="Shape 22"/>
          <p:cNvSpPr/>
          <p:nvPr/>
        </p:nvSpPr>
        <p:spPr>
          <a:xfrm>
            <a:off x="5943600" y="6268212"/>
            <a:ext cx="548640" cy="91"/>
          </a:xfrm>
          <a:prstGeom prst="line">
            <a:avLst/>
          </a:prstGeom>
          <a:noFill/>
          <a:ln w="9525">
            <a:solidFill>
              <a:srgbClr val="A6A6A6"/>
            </a:solidFill>
            <a:prstDash val="solid"/>
          </a:ln>
        </p:spPr>
        <p:txBody>
          <a:bodyPr/>
          <a:lstStyle/>
          <a:p>
            <a:endParaRPr lang="ko-KR" altLang="en-US"/>
          </a:p>
        </p:txBody>
      </p:sp>
      <p:sp>
        <p:nvSpPr>
          <p:cNvPr id="29" name="Shape 23"/>
          <p:cNvSpPr/>
          <p:nvPr/>
        </p:nvSpPr>
        <p:spPr>
          <a:xfrm>
            <a:off x="7818120" y="6268212"/>
            <a:ext cx="594360" cy="91"/>
          </a:xfrm>
          <a:prstGeom prst="line">
            <a:avLst/>
          </a:prstGeom>
          <a:noFill/>
          <a:ln w="9525">
            <a:solidFill>
              <a:srgbClr val="A6A6A6"/>
            </a:solidFill>
            <a:prstDash val="solid"/>
            <a:tailEnd type="triangle"/>
          </a:ln>
        </p:spPr>
        <p:txBody>
          <a:bodyPr/>
          <a:lstStyle/>
          <a:p>
            <a:endParaRPr lang="ko-KR" altLang="en-US"/>
          </a:p>
        </p:txBody>
      </p:sp>
      <p:sp>
        <p:nvSpPr>
          <p:cNvPr id="30" name="Shape 24"/>
          <p:cNvSpPr/>
          <p:nvPr/>
        </p:nvSpPr>
        <p:spPr>
          <a:xfrm>
            <a:off x="6537960" y="3703320"/>
            <a:ext cx="1234440" cy="2514600"/>
          </a:xfrm>
          <a:custGeom>
            <a:avLst/>
            <a:gdLst/>
            <a:ahLst/>
            <a:cxnLst/>
            <a:rect l="l" t="t" r="r" b="b"/>
            <a:pathLst>
              <a:path w="1234440" h="2514600">
                <a:moveTo>
                  <a:pt x="0" y="0"/>
                </a:moveTo>
                <a:lnTo>
                  <a:pt x="1234440" y="320040"/>
                </a:lnTo>
                <a:lnTo>
                  <a:pt x="1234440" y="2194560"/>
                </a:lnTo>
                <a:lnTo>
                  <a:pt x="0" y="2514600"/>
                </a:lnTo>
                <a:close/>
              </a:path>
            </a:pathLst>
          </a:custGeom>
          <a:solidFill>
            <a:srgbClr val="F79646"/>
          </a:solidFill>
          <a:ln w="19050">
            <a:solidFill>
              <a:srgbClr val="984807"/>
            </a:solidFill>
            <a:prstDash val="solid"/>
          </a:ln>
        </p:spPr>
        <p:txBody>
          <a:bodyPr/>
          <a:lstStyle/>
          <a:p>
            <a:endParaRPr lang="ko-KR" altLang="en-US"/>
          </a:p>
        </p:txBody>
      </p:sp>
      <p:sp>
        <p:nvSpPr>
          <p:cNvPr id="31" name="Text 25"/>
          <p:cNvSpPr txBox="1"/>
          <p:nvPr/>
        </p:nvSpPr>
        <p:spPr>
          <a:xfrm>
            <a:off x="6537960" y="3703320"/>
            <a:ext cx="1234440" cy="2514600"/>
          </a:xfrm>
          <a:prstGeom prst="rect">
            <a:avLst/>
          </a:prstGeom>
          <a:noFill/>
          <a:ln/>
        </p:spPr>
        <p:txBody>
          <a:bodyPr wrap="square" lIns="381" tIns="381" rIns="381" bIns="381" rtlCol="0" anchor="ctr"/>
          <a:lstStyle/>
          <a:p>
            <a:pPr marL="0" indent="0" algn="ctr">
              <a:spcAft>
                <a:spcPts val="600"/>
              </a:spcAft>
              <a:buNone/>
            </a:pPr>
            <a:r>
              <a:rPr lang="en-US" sz="1500" b="1" dirty="0">
                <a:solidFill>
                  <a:srgbClr val="000000"/>
                </a:solidFill>
                <a:latin typeface="맑은 고딕" pitchFamily="34" charset="0"/>
                <a:ea typeface="맑은 고딕" pitchFamily="34" charset="-122"/>
                <a:cs typeface="맑은 고딕" pitchFamily="34" charset="-120"/>
              </a:rPr>
              <a:t>GMM</a:t>
            </a:r>
            <a:endParaRPr lang="en-US" sz="1500" dirty="0"/>
          </a:p>
          <a:p>
            <a:pPr marL="0" indent="0" algn="ctr">
              <a:spcAft>
                <a:spcPts val="200"/>
              </a:spcAft>
              <a:buNone/>
            </a:pPr>
            <a:r>
              <a:rPr lang="en-US" sz="1050" dirty="0">
                <a:solidFill>
                  <a:srgbClr val="000000"/>
                </a:solidFill>
                <a:latin typeface="맑은 고딕" pitchFamily="34" charset="0"/>
                <a:ea typeface="맑은 고딕" pitchFamily="34" charset="-122"/>
                <a:cs typeface="맑은 고딕" pitchFamily="34" charset="-120"/>
              </a:rPr>
              <a:t>최근 4행(0.4초)</a:t>
            </a:r>
            <a:endParaRPr lang="en-US" sz="1500" dirty="0"/>
          </a:p>
          <a:p>
            <a:pPr marL="0" indent="0" algn="ctr">
              <a:spcAft>
                <a:spcPts val="200"/>
              </a:spcAft>
              <a:buNone/>
            </a:pPr>
            <a:r>
              <a:rPr lang="en-US" sz="1050" dirty="0">
                <a:solidFill>
                  <a:srgbClr val="000000"/>
                </a:solidFill>
                <a:latin typeface="맑은 고딕" pitchFamily="34" charset="0"/>
                <a:ea typeface="맑은 고딕" pitchFamily="34" charset="-122"/>
                <a:cs typeface="맑은 고딕" pitchFamily="34" charset="-120"/>
              </a:rPr>
              <a:t>→ s = −log p(z)</a:t>
            </a:r>
            <a:endParaRPr lang="en-US" sz="1500" dirty="0"/>
          </a:p>
          <a:p>
            <a:pPr marL="0" indent="0" algn="ctr">
              <a:buNone/>
            </a:pPr>
            <a:r>
              <a:rPr lang="en-US" sz="1050" dirty="0">
                <a:solidFill>
                  <a:srgbClr val="000000"/>
                </a:solidFill>
                <a:latin typeface="맑은 고딕" pitchFamily="34" charset="0"/>
                <a:ea typeface="맑은 고딕" pitchFamily="34" charset="-122"/>
                <a:cs typeface="맑은 고딕" pitchFamily="34" charset="-120"/>
              </a:rPr>
              <a:t>→ s &gt; θ(차원별)?</a:t>
            </a:r>
            <a:endParaRPr lang="en-US" sz="1500" dirty="0"/>
          </a:p>
        </p:txBody>
      </p:sp>
      <p:sp>
        <p:nvSpPr>
          <p:cNvPr id="33"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현장 활용성</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Field Deployment and Next Steps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현장에 적용하면 어떻게 쓸 수 있을까?</a:t>
            </a:r>
            <a:endParaRPr lang="en-US" sz="2100" dirty="0"/>
          </a:p>
        </p:txBody>
      </p:sp>
      <p:sp>
        <p:nvSpPr>
          <p:cNvPr id="5" name="bullets"/>
          <p:cNvSpPr txBox="1"/>
          <p:nvPr/>
        </p:nvSpPr>
        <p:spPr>
          <a:xfrm>
            <a:off x="1280160" y="2011680"/>
            <a:ext cx="10332720" cy="109728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운용 흐름: 0.1초 온라인 판단 → 경보 시 파형·점수·운전 조건 저장 → 작업자의 점검·정지 판단 지원</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확장 검증: 운전조건별 정상 분포·임계값, 동일 수집 조건의 독립 고장 기록으로 전류 </a:t>
            </a:r>
            <a:r>
              <a:rPr lang="en-US" sz="1600" dirty="0" err="1">
                <a:solidFill>
                  <a:srgbClr val="262626"/>
                </a:solidFill>
                <a:latin typeface="맑은 고딕" pitchFamily="34" charset="0"/>
                <a:ea typeface="맑은 고딕" pitchFamily="34" charset="-122"/>
                <a:cs typeface="맑은 고딕" pitchFamily="34" charset="-120"/>
              </a:rPr>
              <a:t>기여</a:t>
            </a:r>
            <a:r>
              <a:rPr lang="en-US" sz="1600" dirty="0">
                <a:solidFill>
                  <a:srgbClr val="262626"/>
                </a:solidFill>
                <a:latin typeface="맑은 고딕" pitchFamily="34" charset="0"/>
                <a:ea typeface="맑은 고딕" pitchFamily="34" charset="-122"/>
                <a:cs typeface="맑은 고딕" pitchFamily="34" charset="-120"/>
              </a:rPr>
              <a:t> </a:t>
            </a:r>
            <a:r>
              <a:rPr lang="en-US" sz="1600" dirty="0" err="1">
                <a:solidFill>
                  <a:srgbClr val="262626"/>
                </a:solidFill>
                <a:latin typeface="맑은 고딕" pitchFamily="34" charset="0"/>
                <a:ea typeface="맑은 고딕" pitchFamily="34" charset="-122"/>
                <a:cs typeface="맑은 고딕" pitchFamily="34" charset="-120"/>
              </a:rPr>
              <a:t>재평가</a:t>
            </a:r>
            <a:endParaRPr lang="en-US" sz="1600" dirty="0"/>
          </a:p>
          <a:p>
            <a:pPr marL="742950" lvl="1" indent="-285750">
              <a:spcAft>
                <a:spcPts val="600"/>
              </a:spcAft>
              <a:buSzPct val="100000"/>
              <a:buFont typeface="Wingdings" panose="05000000000000000000" pitchFamily="2" charset="2"/>
              <a:buChar char="ü"/>
            </a:pPr>
            <a:r>
              <a:rPr lang="en-US" sz="1400" dirty="0" err="1">
                <a:solidFill>
                  <a:srgbClr val="404040"/>
                </a:solidFill>
                <a:latin typeface="맑은 고딕" pitchFamily="34" charset="0"/>
                <a:ea typeface="맑은 고딕" pitchFamily="34" charset="-122"/>
                <a:cs typeface="맑은 고딕" pitchFamily="34" charset="-120"/>
              </a:rPr>
              <a:t>추론·통신·제어</a:t>
            </a:r>
            <a:r>
              <a:rPr lang="en-US" sz="1400" dirty="0">
                <a:solidFill>
                  <a:srgbClr val="404040"/>
                </a:solidFill>
                <a:latin typeface="맑은 고딕" pitchFamily="34" charset="0"/>
                <a:ea typeface="맑은 고딕" pitchFamily="34" charset="-122"/>
                <a:cs typeface="맑은 고딕" pitchFamily="34" charset="-120"/>
              </a:rPr>
              <a:t> 지연과 불량·비가동 감소 효과는 아직 측정하지 않음</a:t>
            </a:r>
            <a:endParaRPr lang="en-US" sz="1600" dirty="0"/>
          </a:p>
        </p:txBody>
      </p:sp>
      <p:sp>
        <p:nvSpPr>
          <p:cNvPr id="6" name="Shape 4"/>
          <p:cNvSpPr/>
          <p:nvPr/>
        </p:nvSpPr>
        <p:spPr>
          <a:xfrm>
            <a:off x="822960" y="3337560"/>
            <a:ext cx="1737360" cy="320040"/>
          </a:xfrm>
          <a:prstGeom prst="rect">
            <a:avLst/>
          </a:prstGeom>
          <a:solidFill>
            <a:srgbClr val="D9D9D9"/>
          </a:solidFill>
          <a:ln w="15875">
            <a:solidFill>
              <a:srgbClr val="000000"/>
            </a:solidFill>
            <a:prstDash val="solid"/>
          </a:ln>
        </p:spPr>
        <p:txBody>
          <a:bodyPr/>
          <a:lstStyle/>
          <a:p>
            <a:endParaRPr lang="ko-KR" altLang="en-US"/>
          </a:p>
        </p:txBody>
      </p:sp>
      <p:sp>
        <p:nvSpPr>
          <p:cNvPr id="7" name="Shape 5"/>
          <p:cNvSpPr/>
          <p:nvPr/>
        </p:nvSpPr>
        <p:spPr>
          <a:xfrm>
            <a:off x="914400" y="3657600"/>
            <a:ext cx="228600" cy="1920240"/>
          </a:xfrm>
          <a:prstGeom prst="rect">
            <a:avLst/>
          </a:prstGeom>
          <a:solidFill>
            <a:srgbClr val="FFFFFF"/>
          </a:solidFill>
          <a:ln w="15875">
            <a:solidFill>
              <a:srgbClr val="000000"/>
            </a:solidFill>
            <a:prstDash val="solid"/>
          </a:ln>
        </p:spPr>
        <p:txBody>
          <a:bodyPr/>
          <a:lstStyle/>
          <a:p>
            <a:endParaRPr lang="ko-KR" altLang="en-US"/>
          </a:p>
        </p:txBody>
      </p:sp>
      <p:sp>
        <p:nvSpPr>
          <p:cNvPr id="8" name="Shape 6"/>
          <p:cNvSpPr/>
          <p:nvPr/>
        </p:nvSpPr>
        <p:spPr>
          <a:xfrm>
            <a:off x="2240280" y="3657600"/>
            <a:ext cx="228600" cy="1920240"/>
          </a:xfrm>
          <a:prstGeom prst="rect">
            <a:avLst/>
          </a:prstGeom>
          <a:solidFill>
            <a:srgbClr val="FFFFFF"/>
          </a:solidFill>
          <a:ln w="15875">
            <a:solidFill>
              <a:srgbClr val="000000"/>
            </a:solidFill>
            <a:prstDash val="solid"/>
          </a:ln>
        </p:spPr>
        <p:txBody>
          <a:bodyPr/>
          <a:lstStyle/>
          <a:p>
            <a:endParaRPr lang="ko-KR" altLang="en-US"/>
          </a:p>
        </p:txBody>
      </p:sp>
      <p:sp>
        <p:nvSpPr>
          <p:cNvPr id="9" name="Shape 7"/>
          <p:cNvSpPr/>
          <p:nvPr/>
        </p:nvSpPr>
        <p:spPr>
          <a:xfrm>
            <a:off x="1143000" y="3657600"/>
            <a:ext cx="1097280" cy="109728"/>
          </a:xfrm>
          <a:prstGeom prst="rect">
            <a:avLst/>
          </a:prstGeom>
          <a:solidFill>
            <a:srgbClr val="FFFFFF"/>
          </a:solidFill>
          <a:ln w="9525">
            <a:solidFill>
              <a:srgbClr val="000000"/>
            </a:solidFill>
            <a:prstDash val="solid"/>
          </a:ln>
        </p:spPr>
        <p:txBody>
          <a:bodyPr/>
          <a:lstStyle/>
          <a:p>
            <a:endParaRPr lang="ko-KR" altLang="en-US"/>
          </a:p>
        </p:txBody>
      </p:sp>
      <p:sp>
        <p:nvSpPr>
          <p:cNvPr id="10" name="Shape 8"/>
          <p:cNvSpPr/>
          <p:nvPr/>
        </p:nvSpPr>
        <p:spPr>
          <a:xfrm>
            <a:off x="1691640" y="3767328"/>
            <a:ext cx="91" cy="301752"/>
          </a:xfrm>
          <a:prstGeom prst="line">
            <a:avLst/>
          </a:prstGeom>
          <a:noFill/>
          <a:ln w="31750">
            <a:solidFill>
              <a:srgbClr val="000000"/>
            </a:solidFill>
            <a:prstDash val="solid"/>
          </a:ln>
        </p:spPr>
        <p:txBody>
          <a:bodyPr/>
          <a:lstStyle/>
          <a:p>
            <a:endParaRPr lang="ko-KR" altLang="en-US"/>
          </a:p>
        </p:txBody>
      </p:sp>
      <p:sp>
        <p:nvSpPr>
          <p:cNvPr id="11" name="Shape 9"/>
          <p:cNvSpPr/>
          <p:nvPr/>
        </p:nvSpPr>
        <p:spPr>
          <a:xfrm>
            <a:off x="1188720" y="4069080"/>
            <a:ext cx="1005840" cy="274320"/>
          </a:xfrm>
          <a:prstGeom prst="rect">
            <a:avLst/>
          </a:prstGeom>
          <a:solidFill>
            <a:srgbClr val="BFBFBF"/>
          </a:solidFill>
          <a:ln w="15875">
            <a:solidFill>
              <a:srgbClr val="000000"/>
            </a:solidFill>
            <a:prstDash val="solid"/>
          </a:ln>
        </p:spPr>
        <p:txBody>
          <a:bodyPr/>
          <a:lstStyle/>
          <a:p>
            <a:endParaRPr lang="ko-KR" altLang="en-US"/>
          </a:p>
        </p:txBody>
      </p:sp>
      <p:sp>
        <p:nvSpPr>
          <p:cNvPr id="12" name="Shape 10"/>
          <p:cNvSpPr/>
          <p:nvPr/>
        </p:nvSpPr>
        <p:spPr>
          <a:xfrm>
            <a:off x="1143000" y="4937760"/>
            <a:ext cx="1097280" cy="274320"/>
          </a:xfrm>
          <a:prstGeom prst="rect">
            <a:avLst/>
          </a:prstGeom>
          <a:solidFill>
            <a:srgbClr val="D9D9D9"/>
          </a:solidFill>
          <a:ln w="15875">
            <a:solidFill>
              <a:srgbClr val="000000"/>
            </a:solidFill>
            <a:prstDash val="solid"/>
          </a:ln>
        </p:spPr>
        <p:txBody>
          <a:bodyPr/>
          <a:lstStyle/>
          <a:p>
            <a:endParaRPr lang="ko-KR" altLang="en-US"/>
          </a:p>
        </p:txBody>
      </p:sp>
      <p:sp>
        <p:nvSpPr>
          <p:cNvPr id="13" name="Shape 11"/>
          <p:cNvSpPr/>
          <p:nvPr/>
        </p:nvSpPr>
        <p:spPr>
          <a:xfrm>
            <a:off x="777240" y="5577840"/>
            <a:ext cx="1828800" cy="137160"/>
          </a:xfrm>
          <a:prstGeom prst="rect">
            <a:avLst/>
          </a:prstGeom>
          <a:solidFill>
            <a:srgbClr val="7F7F7F"/>
          </a:solidFill>
          <a:ln w="12700">
            <a:solidFill>
              <a:srgbClr val="000000"/>
            </a:solidFill>
            <a:prstDash val="solid"/>
          </a:ln>
        </p:spPr>
        <p:txBody>
          <a:bodyPr/>
          <a:lstStyle/>
          <a:p>
            <a:endParaRPr lang="ko-KR" altLang="en-US"/>
          </a:p>
        </p:txBody>
      </p:sp>
      <p:sp>
        <p:nvSpPr>
          <p:cNvPr id="14" name="Shape 12"/>
          <p:cNvSpPr/>
          <p:nvPr/>
        </p:nvSpPr>
        <p:spPr>
          <a:xfrm>
            <a:off x="2788920" y="4846320"/>
            <a:ext cx="640080" cy="502920"/>
          </a:xfrm>
          <a:prstGeom prst="rect">
            <a:avLst/>
          </a:prstGeom>
          <a:solidFill>
            <a:srgbClr val="D9D9D9"/>
          </a:solidFill>
          <a:ln w="15875">
            <a:solidFill>
              <a:srgbClr val="000000"/>
            </a:solidFill>
            <a:prstDash val="solid"/>
          </a:ln>
        </p:spPr>
        <p:txBody>
          <a:bodyPr/>
          <a:lstStyle/>
          <a:p>
            <a:endParaRPr lang="ko-KR" altLang="en-US"/>
          </a:p>
        </p:txBody>
      </p:sp>
      <p:sp>
        <p:nvSpPr>
          <p:cNvPr id="15" name="Text 13"/>
          <p:cNvSpPr txBox="1"/>
          <p:nvPr/>
        </p:nvSpPr>
        <p:spPr>
          <a:xfrm>
            <a:off x="2788920" y="4846320"/>
            <a:ext cx="640080" cy="502920"/>
          </a:xfrm>
          <a:prstGeom prst="rect">
            <a:avLst/>
          </a:prstGeom>
          <a:noFill/>
          <a:ln/>
        </p:spPr>
        <p:txBody>
          <a:bodyPr wrap="square" lIns="0" tIns="0" rIns="0" bIns="0" rtlCol="0" anchor="ctr"/>
          <a:lstStyle/>
          <a:p>
            <a:pPr marL="0" indent="0" algn="ctr">
              <a:buNone/>
            </a:pPr>
            <a:r>
              <a:rPr lang="en-US" sz="1050" b="1" dirty="0">
                <a:solidFill>
                  <a:srgbClr val="262626"/>
                </a:solidFill>
                <a:latin typeface="맑은 고딕" pitchFamily="34" charset="0"/>
                <a:ea typeface="맑은 고딕" pitchFamily="34" charset="-122"/>
                <a:cs typeface="맑은 고딕" pitchFamily="34" charset="-120"/>
              </a:rPr>
              <a:t>펌프</a:t>
            </a:r>
            <a:endParaRPr lang="en-US" sz="1050" dirty="0"/>
          </a:p>
        </p:txBody>
      </p:sp>
      <p:sp>
        <p:nvSpPr>
          <p:cNvPr id="16" name="Shape 14"/>
          <p:cNvSpPr/>
          <p:nvPr/>
        </p:nvSpPr>
        <p:spPr>
          <a:xfrm flipH="1">
            <a:off x="2468880" y="4983480"/>
            <a:ext cx="320040" cy="91"/>
          </a:xfrm>
          <a:prstGeom prst="line">
            <a:avLst/>
          </a:prstGeom>
          <a:noFill/>
          <a:ln w="19050">
            <a:solidFill>
              <a:srgbClr val="000000"/>
            </a:solidFill>
            <a:prstDash val="solid"/>
          </a:ln>
        </p:spPr>
        <p:txBody>
          <a:bodyPr/>
          <a:lstStyle/>
          <a:p>
            <a:endParaRPr lang="ko-KR" altLang="en-US"/>
          </a:p>
        </p:txBody>
      </p:sp>
      <p:sp>
        <p:nvSpPr>
          <p:cNvPr id="17" name="Shape 15"/>
          <p:cNvSpPr/>
          <p:nvPr/>
        </p:nvSpPr>
        <p:spPr>
          <a:xfrm flipV="1">
            <a:off x="3108960" y="3520440"/>
            <a:ext cx="91" cy="1325880"/>
          </a:xfrm>
          <a:prstGeom prst="line">
            <a:avLst/>
          </a:prstGeom>
          <a:noFill/>
          <a:ln w="19050">
            <a:solidFill>
              <a:srgbClr val="000000"/>
            </a:solidFill>
            <a:prstDash val="solid"/>
          </a:ln>
        </p:spPr>
        <p:txBody>
          <a:bodyPr/>
          <a:lstStyle/>
          <a:p>
            <a:endParaRPr lang="ko-KR" altLang="en-US"/>
          </a:p>
        </p:txBody>
      </p:sp>
      <p:sp>
        <p:nvSpPr>
          <p:cNvPr id="18" name="Shape 16"/>
          <p:cNvSpPr/>
          <p:nvPr/>
        </p:nvSpPr>
        <p:spPr>
          <a:xfrm flipH="1">
            <a:off x="2560320" y="3520440"/>
            <a:ext cx="548640" cy="91"/>
          </a:xfrm>
          <a:prstGeom prst="line">
            <a:avLst/>
          </a:prstGeom>
          <a:noFill/>
          <a:ln w="19050">
            <a:solidFill>
              <a:srgbClr val="000000"/>
            </a:solidFill>
            <a:prstDash val="solid"/>
            <a:tailEnd type="triangle"/>
          </a:ln>
        </p:spPr>
        <p:txBody>
          <a:bodyPr/>
          <a:lstStyle/>
          <a:p>
            <a:endParaRPr lang="ko-KR" altLang="en-US"/>
          </a:p>
        </p:txBody>
      </p:sp>
      <p:sp>
        <p:nvSpPr>
          <p:cNvPr id="19" name="Shape 17"/>
          <p:cNvSpPr/>
          <p:nvPr/>
        </p:nvSpPr>
        <p:spPr>
          <a:xfrm>
            <a:off x="2816352" y="4636008"/>
            <a:ext cx="182880" cy="155448"/>
          </a:xfrm>
          <a:prstGeom prst="triangle">
            <a:avLst/>
          </a:prstGeom>
          <a:solidFill>
            <a:srgbClr val="C00000"/>
          </a:solidFill>
          <a:ln w="12700">
            <a:solidFill>
              <a:srgbClr val="C00000"/>
            </a:solidFill>
            <a:prstDash val="solid"/>
          </a:ln>
        </p:spPr>
        <p:txBody>
          <a:bodyPr/>
          <a:lstStyle/>
          <a:p>
            <a:endParaRPr lang="ko-KR" altLang="en-US"/>
          </a:p>
        </p:txBody>
      </p:sp>
      <p:sp>
        <p:nvSpPr>
          <p:cNvPr id="20" name="Shape 18"/>
          <p:cNvSpPr/>
          <p:nvPr/>
        </p:nvSpPr>
        <p:spPr>
          <a:xfrm>
            <a:off x="3200400" y="4636008"/>
            <a:ext cx="182880" cy="155448"/>
          </a:xfrm>
          <a:prstGeom prst="triangle">
            <a:avLst/>
          </a:prstGeom>
          <a:solidFill>
            <a:srgbClr val="C00000"/>
          </a:solidFill>
          <a:ln w="12700">
            <a:solidFill>
              <a:srgbClr val="C00000"/>
            </a:solidFill>
            <a:prstDash val="solid"/>
          </a:ln>
        </p:spPr>
        <p:txBody>
          <a:bodyPr/>
          <a:lstStyle/>
          <a:p>
            <a:endParaRPr lang="ko-KR" altLang="en-US"/>
          </a:p>
        </p:txBody>
      </p:sp>
      <p:sp>
        <p:nvSpPr>
          <p:cNvPr id="21" name="Shape 19"/>
          <p:cNvSpPr/>
          <p:nvPr/>
        </p:nvSpPr>
        <p:spPr>
          <a:xfrm>
            <a:off x="3017520" y="5394960"/>
            <a:ext cx="164592" cy="164592"/>
          </a:xfrm>
          <a:prstGeom prst="ellipse">
            <a:avLst/>
          </a:prstGeom>
          <a:ln w="22225">
            <a:solidFill>
              <a:srgbClr val="1F4E79"/>
            </a:solidFill>
            <a:prstDash val="solid"/>
          </a:ln>
        </p:spPr>
        <p:txBody>
          <a:bodyPr/>
          <a:lstStyle/>
          <a:p>
            <a:endParaRPr lang="ko-KR" altLang="en-US"/>
          </a:p>
        </p:txBody>
      </p:sp>
      <p:sp>
        <p:nvSpPr>
          <p:cNvPr id="22" name="Text 20"/>
          <p:cNvSpPr txBox="1"/>
          <p:nvPr/>
        </p:nvSpPr>
        <p:spPr>
          <a:xfrm>
            <a:off x="731520" y="5760720"/>
            <a:ext cx="2743200" cy="237744"/>
          </a:xfrm>
          <a:prstGeom prst="rect">
            <a:avLst/>
          </a:prstGeom>
          <a:noFill/>
          <a:ln/>
        </p:spPr>
        <p:txBody>
          <a:bodyPr wrap="square" lIns="0" tIns="0" rIns="0" bIns="0" rtlCol="0" anchor="ctr"/>
          <a:lstStyle/>
          <a:p>
            <a:pPr marL="0" indent="0" algn="ctr">
              <a:buNone/>
            </a:pPr>
            <a:r>
              <a:rPr lang="en-US" sz="1200" b="1" dirty="0">
                <a:solidFill>
                  <a:srgbClr val="262626"/>
                </a:solidFill>
                <a:latin typeface="맑은 고딕" pitchFamily="34" charset="0"/>
                <a:ea typeface="맑은 고딕" pitchFamily="34" charset="-122"/>
                <a:cs typeface="맑은 고딕" pitchFamily="34" charset="-120"/>
              </a:rPr>
              <a:t>유압 프레스 + 펌프</a:t>
            </a:r>
            <a:endParaRPr lang="en-US" sz="1200" dirty="0"/>
          </a:p>
        </p:txBody>
      </p:sp>
      <p:sp>
        <p:nvSpPr>
          <p:cNvPr id="23" name="Text 21"/>
          <p:cNvSpPr txBox="1"/>
          <p:nvPr/>
        </p:nvSpPr>
        <p:spPr>
          <a:xfrm>
            <a:off x="731520" y="6007608"/>
            <a:ext cx="2743200" cy="219456"/>
          </a:xfrm>
          <a:prstGeom prst="rect">
            <a:avLst/>
          </a:prstGeom>
          <a:noFill/>
          <a:ln/>
        </p:spPr>
        <p:txBody>
          <a:bodyPr wrap="square" lIns="0" tIns="0" rIns="0" bIns="0" rtlCol="0" anchor="ctr"/>
          <a:lstStyle/>
          <a:p>
            <a:pPr marL="0" indent="0" algn="ctr">
              <a:buNone/>
            </a:pPr>
            <a:r>
              <a:rPr lang="en-US" sz="1000" dirty="0">
                <a:solidFill>
                  <a:srgbClr val="404040"/>
                </a:solidFill>
                <a:latin typeface="맑은 고딕" pitchFamily="34" charset="0"/>
                <a:ea typeface="맑은 고딕" pitchFamily="34" charset="-122"/>
                <a:cs typeface="맑은 고딕" pitchFamily="34" charset="-120"/>
              </a:rPr>
              <a:t>▲ 진동 2  ○ 전류 1</a:t>
            </a:r>
            <a:endParaRPr lang="en-US" sz="1000" dirty="0"/>
          </a:p>
        </p:txBody>
      </p:sp>
      <p:sp>
        <p:nvSpPr>
          <p:cNvPr id="24" name="Shape 22"/>
          <p:cNvSpPr/>
          <p:nvPr/>
        </p:nvSpPr>
        <p:spPr>
          <a:xfrm>
            <a:off x="3703320" y="4617720"/>
            <a:ext cx="868680" cy="91"/>
          </a:xfrm>
          <a:prstGeom prst="line">
            <a:avLst/>
          </a:prstGeom>
          <a:noFill/>
          <a:ln w="25400">
            <a:solidFill>
              <a:srgbClr val="000000"/>
            </a:solidFill>
            <a:prstDash val="solid"/>
            <a:tailEnd type="triangle"/>
          </a:ln>
        </p:spPr>
        <p:txBody>
          <a:bodyPr/>
          <a:lstStyle/>
          <a:p>
            <a:endParaRPr lang="ko-KR" altLang="en-US"/>
          </a:p>
        </p:txBody>
      </p:sp>
      <p:sp>
        <p:nvSpPr>
          <p:cNvPr id="25" name="Text 23"/>
          <p:cNvSpPr txBox="1"/>
          <p:nvPr/>
        </p:nvSpPr>
        <p:spPr>
          <a:xfrm>
            <a:off x="3611880" y="4297680"/>
            <a:ext cx="1097280" cy="237744"/>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0.1 s 스트림</a:t>
            </a:r>
            <a:endParaRPr lang="en-US" sz="1050" dirty="0"/>
          </a:p>
        </p:txBody>
      </p:sp>
      <p:sp>
        <p:nvSpPr>
          <p:cNvPr id="26" name="Shape 24"/>
          <p:cNvSpPr/>
          <p:nvPr/>
        </p:nvSpPr>
        <p:spPr>
          <a:xfrm>
            <a:off x="4663440" y="3749040"/>
            <a:ext cx="1920240" cy="1737360"/>
          </a:xfrm>
          <a:prstGeom prst="rect">
            <a:avLst/>
          </a:prstGeom>
          <a:solidFill>
            <a:srgbClr val="FFFFFF"/>
          </a:solidFill>
          <a:ln w="19050">
            <a:solidFill>
              <a:srgbClr val="000000"/>
            </a:solidFill>
            <a:prstDash val="solid"/>
          </a:ln>
        </p:spPr>
        <p:txBody>
          <a:bodyPr/>
          <a:lstStyle/>
          <a:p>
            <a:endParaRPr lang="ko-KR" altLang="en-US"/>
          </a:p>
        </p:txBody>
      </p:sp>
      <p:sp>
        <p:nvSpPr>
          <p:cNvPr id="27" name="Text 25"/>
          <p:cNvSpPr txBox="1"/>
          <p:nvPr/>
        </p:nvSpPr>
        <p:spPr>
          <a:xfrm>
            <a:off x="4663440" y="3776472"/>
            <a:ext cx="1920240" cy="274320"/>
          </a:xfrm>
          <a:prstGeom prst="rect">
            <a:avLst/>
          </a:prstGeom>
          <a:noFill/>
          <a:ln/>
        </p:spPr>
        <p:txBody>
          <a:bodyPr wrap="square" lIns="0" tIns="0" rIns="0" bIns="0" rtlCol="0" anchor="ctr"/>
          <a:lstStyle/>
          <a:p>
            <a:pPr marL="0" indent="0" algn="ctr">
              <a:buNone/>
            </a:pPr>
            <a:r>
              <a:rPr lang="en-US" sz="1250" b="1" dirty="0">
                <a:solidFill>
                  <a:srgbClr val="262626"/>
                </a:solidFill>
                <a:latin typeface="Times New Roman" pitchFamily="34" charset="0"/>
                <a:ea typeface="Times New Roman" pitchFamily="34" charset="-122"/>
                <a:cs typeface="Times New Roman" pitchFamily="34" charset="-120"/>
              </a:rPr>
              <a:t>Edge PC</a:t>
            </a:r>
            <a:endParaRPr lang="en-US" sz="1250" dirty="0"/>
          </a:p>
        </p:txBody>
      </p:sp>
      <p:sp>
        <p:nvSpPr>
          <p:cNvPr id="28" name="Shape 26"/>
          <p:cNvSpPr/>
          <p:nvPr/>
        </p:nvSpPr>
        <p:spPr>
          <a:xfrm>
            <a:off x="5029200" y="4142232"/>
            <a:ext cx="1188720" cy="868680"/>
          </a:xfrm>
          <a:custGeom>
            <a:avLst/>
            <a:gdLst/>
            <a:ahLst/>
            <a:cxnLst/>
            <a:rect l="l" t="t" r="r" b="b"/>
            <a:pathLst>
              <a:path w="1188720" h="868680">
                <a:moveTo>
                  <a:pt x="0" y="0"/>
                </a:moveTo>
                <a:lnTo>
                  <a:pt x="1188720" y="201168"/>
                </a:lnTo>
                <a:lnTo>
                  <a:pt x="1188720" y="667512"/>
                </a:lnTo>
                <a:lnTo>
                  <a:pt x="0" y="868680"/>
                </a:lnTo>
                <a:close/>
              </a:path>
            </a:pathLst>
          </a:custGeom>
          <a:solidFill>
            <a:srgbClr val="F79646"/>
          </a:solidFill>
          <a:ln w="15875">
            <a:solidFill>
              <a:srgbClr val="984807"/>
            </a:solidFill>
            <a:prstDash val="solid"/>
          </a:ln>
        </p:spPr>
        <p:txBody>
          <a:bodyPr/>
          <a:lstStyle/>
          <a:p>
            <a:endParaRPr lang="ko-KR" altLang="en-US"/>
          </a:p>
        </p:txBody>
      </p:sp>
      <p:sp>
        <p:nvSpPr>
          <p:cNvPr id="29" name="Text 27"/>
          <p:cNvSpPr txBox="1"/>
          <p:nvPr/>
        </p:nvSpPr>
        <p:spPr>
          <a:xfrm>
            <a:off x="5029200" y="4343400"/>
            <a:ext cx="1188720" cy="219456"/>
          </a:xfrm>
          <a:prstGeom prst="rect">
            <a:avLst/>
          </a:prstGeom>
          <a:noFill/>
          <a:ln/>
        </p:spPr>
        <p:txBody>
          <a:bodyPr wrap="square" lIns="0" tIns="0" rIns="0" bIns="0" rtlCol="0" anchor="ctr"/>
          <a:lstStyle/>
          <a:p>
            <a:pPr marL="0" indent="0" algn="ctr">
              <a:buNone/>
            </a:pPr>
            <a:r>
              <a:rPr lang="en-US" sz="1100" b="1" dirty="0">
                <a:solidFill>
                  <a:srgbClr val="262626"/>
                </a:solidFill>
                <a:latin typeface="맑은 고딕" pitchFamily="34" charset="0"/>
                <a:ea typeface="맑은 고딕" pitchFamily="34" charset="-122"/>
                <a:cs typeface="맑은 고딕" pitchFamily="34" charset="-120"/>
              </a:rPr>
              <a:t>GMM 점수</a:t>
            </a:r>
            <a:endParaRPr lang="en-US" sz="1100" dirty="0"/>
          </a:p>
        </p:txBody>
      </p:sp>
      <p:sp>
        <p:nvSpPr>
          <p:cNvPr id="30" name="Text 28"/>
          <p:cNvSpPr txBox="1"/>
          <p:nvPr/>
        </p:nvSpPr>
        <p:spPr>
          <a:xfrm>
            <a:off x="5029200" y="4581144"/>
            <a:ext cx="1188720" cy="219456"/>
          </a:xfrm>
          <a:prstGeom prst="rect">
            <a:avLst/>
          </a:prstGeom>
          <a:noFill/>
          <a:ln/>
        </p:spPr>
        <p:txBody>
          <a:bodyPr wrap="square" lIns="0" tIns="0" rIns="0" bIns="0" rtlCol="0" anchor="ctr"/>
          <a:lstStyle/>
          <a:p>
            <a:pPr marL="0" indent="0" algn="ctr">
              <a:buNone/>
            </a:pPr>
            <a:r>
              <a:rPr lang="en-US" sz="1100" b="1" i="1" dirty="0">
                <a:solidFill>
                  <a:srgbClr val="262626"/>
                </a:solidFill>
                <a:latin typeface="Times New Roman" pitchFamily="34" charset="0"/>
                <a:ea typeface="Times New Roman" pitchFamily="34" charset="-122"/>
                <a:cs typeface="Times New Roman" pitchFamily="34" charset="-120"/>
              </a:rPr>
              <a:t>s &gt; θ ?</a:t>
            </a:r>
            <a:endParaRPr lang="en-US" sz="1100" dirty="0"/>
          </a:p>
        </p:txBody>
      </p:sp>
      <p:sp>
        <p:nvSpPr>
          <p:cNvPr id="31" name="Text 29"/>
          <p:cNvSpPr txBox="1"/>
          <p:nvPr/>
        </p:nvSpPr>
        <p:spPr>
          <a:xfrm>
            <a:off x="4663440" y="5120640"/>
            <a:ext cx="1920240" cy="237744"/>
          </a:xfrm>
          <a:prstGeom prst="rect">
            <a:avLst/>
          </a:prstGeom>
          <a:noFill/>
          <a:ln/>
        </p:spPr>
        <p:txBody>
          <a:bodyPr wrap="square" lIns="0" tIns="0" rIns="0" bIns="0" rtlCol="0" anchor="ctr"/>
          <a:lstStyle/>
          <a:p>
            <a:pPr marL="0" indent="0" algn="ctr">
              <a:buNone/>
            </a:pPr>
            <a:r>
              <a:rPr lang="en-US" sz="1050" dirty="0">
                <a:solidFill>
                  <a:srgbClr val="404040"/>
                </a:solidFill>
                <a:latin typeface="맑은 고딕" pitchFamily="34" charset="0"/>
                <a:ea typeface="맑은 고딕" pitchFamily="34" charset="-122"/>
                <a:cs typeface="맑은 고딕" pitchFamily="34" charset="-120"/>
              </a:rPr>
              <a:t>정상/이상 판정</a:t>
            </a:r>
            <a:endParaRPr lang="en-US" sz="1050" dirty="0"/>
          </a:p>
        </p:txBody>
      </p:sp>
      <p:sp>
        <p:nvSpPr>
          <p:cNvPr id="32" name="Shape 30"/>
          <p:cNvSpPr/>
          <p:nvPr/>
        </p:nvSpPr>
        <p:spPr>
          <a:xfrm>
            <a:off x="6583680" y="4617720"/>
            <a:ext cx="320040" cy="91"/>
          </a:xfrm>
          <a:prstGeom prst="line">
            <a:avLst/>
          </a:prstGeom>
          <a:noFill/>
          <a:ln w="25400">
            <a:solidFill>
              <a:srgbClr val="000000"/>
            </a:solidFill>
            <a:prstDash val="solid"/>
          </a:ln>
        </p:spPr>
        <p:txBody>
          <a:bodyPr/>
          <a:lstStyle/>
          <a:p>
            <a:endParaRPr lang="ko-KR" altLang="en-US"/>
          </a:p>
        </p:txBody>
      </p:sp>
      <p:sp>
        <p:nvSpPr>
          <p:cNvPr id="33" name="Shape 31"/>
          <p:cNvSpPr/>
          <p:nvPr/>
        </p:nvSpPr>
        <p:spPr>
          <a:xfrm flipV="1">
            <a:off x="6903720" y="3703320"/>
            <a:ext cx="91" cy="914400"/>
          </a:xfrm>
          <a:prstGeom prst="line">
            <a:avLst/>
          </a:prstGeom>
          <a:noFill/>
          <a:ln w="25400">
            <a:solidFill>
              <a:srgbClr val="000000"/>
            </a:solidFill>
            <a:prstDash val="solid"/>
          </a:ln>
        </p:spPr>
        <p:txBody>
          <a:bodyPr/>
          <a:lstStyle/>
          <a:p>
            <a:endParaRPr lang="ko-KR" altLang="en-US"/>
          </a:p>
        </p:txBody>
      </p:sp>
      <p:sp>
        <p:nvSpPr>
          <p:cNvPr id="34" name="Shape 32"/>
          <p:cNvSpPr/>
          <p:nvPr/>
        </p:nvSpPr>
        <p:spPr>
          <a:xfrm>
            <a:off x="6903720" y="3703320"/>
            <a:ext cx="594360" cy="91"/>
          </a:xfrm>
          <a:prstGeom prst="line">
            <a:avLst/>
          </a:prstGeom>
          <a:noFill/>
          <a:ln w="25400">
            <a:solidFill>
              <a:srgbClr val="000000"/>
            </a:solidFill>
            <a:prstDash val="solid"/>
            <a:tailEnd type="triangle"/>
          </a:ln>
        </p:spPr>
        <p:txBody>
          <a:bodyPr/>
          <a:lstStyle/>
          <a:p>
            <a:endParaRPr lang="ko-KR" altLang="en-US"/>
          </a:p>
        </p:txBody>
      </p:sp>
      <p:sp>
        <p:nvSpPr>
          <p:cNvPr id="35" name="Shape 33"/>
          <p:cNvSpPr/>
          <p:nvPr/>
        </p:nvSpPr>
        <p:spPr>
          <a:xfrm>
            <a:off x="6583680" y="4617720"/>
            <a:ext cx="320040" cy="91"/>
          </a:xfrm>
          <a:prstGeom prst="line">
            <a:avLst/>
          </a:prstGeom>
          <a:noFill/>
          <a:ln w="25400">
            <a:solidFill>
              <a:srgbClr val="000000"/>
            </a:solidFill>
            <a:prstDash val="solid"/>
          </a:ln>
        </p:spPr>
        <p:txBody>
          <a:bodyPr/>
          <a:lstStyle/>
          <a:p>
            <a:endParaRPr lang="ko-KR" altLang="en-US"/>
          </a:p>
        </p:txBody>
      </p:sp>
      <p:sp>
        <p:nvSpPr>
          <p:cNvPr id="36" name="Shape 34"/>
          <p:cNvSpPr/>
          <p:nvPr/>
        </p:nvSpPr>
        <p:spPr>
          <a:xfrm>
            <a:off x="6903720" y="4617720"/>
            <a:ext cx="91" cy="137160"/>
          </a:xfrm>
          <a:prstGeom prst="line">
            <a:avLst/>
          </a:prstGeom>
          <a:noFill/>
          <a:ln w="25400">
            <a:solidFill>
              <a:srgbClr val="000000"/>
            </a:solidFill>
            <a:prstDash val="solid"/>
          </a:ln>
        </p:spPr>
        <p:txBody>
          <a:bodyPr/>
          <a:lstStyle/>
          <a:p>
            <a:endParaRPr lang="ko-KR" altLang="en-US"/>
          </a:p>
        </p:txBody>
      </p:sp>
      <p:sp>
        <p:nvSpPr>
          <p:cNvPr id="37" name="Shape 35"/>
          <p:cNvSpPr/>
          <p:nvPr/>
        </p:nvSpPr>
        <p:spPr>
          <a:xfrm>
            <a:off x="6903720" y="4754880"/>
            <a:ext cx="594360" cy="91"/>
          </a:xfrm>
          <a:prstGeom prst="line">
            <a:avLst/>
          </a:prstGeom>
          <a:noFill/>
          <a:ln w="25400">
            <a:solidFill>
              <a:srgbClr val="000000"/>
            </a:solidFill>
            <a:prstDash val="solid"/>
            <a:tailEnd type="triangle"/>
          </a:ln>
        </p:spPr>
        <p:txBody>
          <a:bodyPr/>
          <a:lstStyle/>
          <a:p>
            <a:endParaRPr lang="ko-KR" altLang="en-US"/>
          </a:p>
        </p:txBody>
      </p:sp>
      <p:sp>
        <p:nvSpPr>
          <p:cNvPr id="38" name="Shape 36"/>
          <p:cNvSpPr/>
          <p:nvPr/>
        </p:nvSpPr>
        <p:spPr>
          <a:xfrm>
            <a:off x="6583680" y="4617720"/>
            <a:ext cx="320040" cy="91"/>
          </a:xfrm>
          <a:prstGeom prst="line">
            <a:avLst/>
          </a:prstGeom>
          <a:noFill/>
          <a:ln w="25400">
            <a:solidFill>
              <a:srgbClr val="000000"/>
            </a:solidFill>
            <a:prstDash val="solid"/>
          </a:ln>
        </p:spPr>
        <p:txBody>
          <a:bodyPr/>
          <a:lstStyle/>
          <a:p>
            <a:endParaRPr lang="ko-KR" altLang="en-US"/>
          </a:p>
        </p:txBody>
      </p:sp>
      <p:sp>
        <p:nvSpPr>
          <p:cNvPr id="39" name="Shape 37"/>
          <p:cNvSpPr/>
          <p:nvPr/>
        </p:nvSpPr>
        <p:spPr>
          <a:xfrm>
            <a:off x="6903720" y="4617720"/>
            <a:ext cx="91" cy="1188720"/>
          </a:xfrm>
          <a:prstGeom prst="line">
            <a:avLst/>
          </a:prstGeom>
          <a:noFill/>
          <a:ln w="25400">
            <a:solidFill>
              <a:srgbClr val="000000"/>
            </a:solidFill>
            <a:prstDash val="solid"/>
          </a:ln>
        </p:spPr>
        <p:txBody>
          <a:bodyPr/>
          <a:lstStyle/>
          <a:p>
            <a:endParaRPr lang="ko-KR" altLang="en-US"/>
          </a:p>
        </p:txBody>
      </p:sp>
      <p:sp>
        <p:nvSpPr>
          <p:cNvPr id="40" name="Shape 38"/>
          <p:cNvSpPr/>
          <p:nvPr/>
        </p:nvSpPr>
        <p:spPr>
          <a:xfrm>
            <a:off x="6903720" y="5806440"/>
            <a:ext cx="594360" cy="91"/>
          </a:xfrm>
          <a:prstGeom prst="line">
            <a:avLst/>
          </a:prstGeom>
          <a:noFill/>
          <a:ln w="25400">
            <a:solidFill>
              <a:srgbClr val="000000"/>
            </a:solidFill>
            <a:prstDash val="solid"/>
            <a:tailEnd type="triangle"/>
          </a:ln>
        </p:spPr>
        <p:txBody>
          <a:bodyPr/>
          <a:lstStyle/>
          <a:p>
            <a:endParaRPr lang="ko-KR" altLang="en-US"/>
          </a:p>
        </p:txBody>
      </p:sp>
      <p:sp>
        <p:nvSpPr>
          <p:cNvPr id="41" name="Shape 39"/>
          <p:cNvSpPr/>
          <p:nvPr/>
        </p:nvSpPr>
        <p:spPr>
          <a:xfrm>
            <a:off x="7589520" y="3246120"/>
            <a:ext cx="329184" cy="914400"/>
          </a:xfrm>
          <a:prstGeom prst="rect">
            <a:avLst/>
          </a:prstGeom>
          <a:solidFill>
            <a:srgbClr val="FFFFFF"/>
          </a:solidFill>
          <a:ln w="12700">
            <a:solidFill>
              <a:srgbClr val="000000"/>
            </a:solidFill>
            <a:prstDash val="solid"/>
          </a:ln>
        </p:spPr>
        <p:txBody>
          <a:bodyPr/>
          <a:lstStyle/>
          <a:p>
            <a:endParaRPr lang="ko-KR" altLang="en-US"/>
          </a:p>
        </p:txBody>
      </p:sp>
      <p:sp>
        <p:nvSpPr>
          <p:cNvPr id="42" name="Shape 40"/>
          <p:cNvSpPr/>
          <p:nvPr/>
        </p:nvSpPr>
        <p:spPr>
          <a:xfrm>
            <a:off x="7644384" y="3291840"/>
            <a:ext cx="219456" cy="219456"/>
          </a:xfrm>
          <a:prstGeom prst="ellipse">
            <a:avLst/>
          </a:prstGeom>
          <a:solidFill>
            <a:srgbClr val="C00000"/>
          </a:solidFill>
          <a:ln w="12700">
            <a:solidFill>
              <a:srgbClr val="C00000"/>
            </a:solidFill>
            <a:prstDash val="solid"/>
          </a:ln>
        </p:spPr>
        <p:txBody>
          <a:bodyPr/>
          <a:lstStyle/>
          <a:p>
            <a:endParaRPr lang="ko-KR" altLang="en-US"/>
          </a:p>
        </p:txBody>
      </p:sp>
      <p:sp>
        <p:nvSpPr>
          <p:cNvPr id="43" name="Shape 41"/>
          <p:cNvSpPr/>
          <p:nvPr/>
        </p:nvSpPr>
        <p:spPr>
          <a:xfrm>
            <a:off x="7644384" y="3584448"/>
            <a:ext cx="219456" cy="219456"/>
          </a:xfrm>
          <a:prstGeom prst="ellipse">
            <a:avLst/>
          </a:prstGeom>
          <a:solidFill>
            <a:srgbClr val="BFBFBF"/>
          </a:solidFill>
          <a:ln w="12700">
            <a:solidFill>
              <a:srgbClr val="BFBFBF"/>
            </a:solidFill>
            <a:prstDash val="solid"/>
          </a:ln>
        </p:spPr>
        <p:txBody>
          <a:bodyPr/>
          <a:lstStyle/>
          <a:p>
            <a:endParaRPr lang="ko-KR" altLang="en-US"/>
          </a:p>
        </p:txBody>
      </p:sp>
      <p:sp>
        <p:nvSpPr>
          <p:cNvPr id="44" name="Shape 42"/>
          <p:cNvSpPr/>
          <p:nvPr/>
        </p:nvSpPr>
        <p:spPr>
          <a:xfrm>
            <a:off x="7644384" y="3877056"/>
            <a:ext cx="219456" cy="219456"/>
          </a:xfrm>
          <a:prstGeom prst="ellipse">
            <a:avLst/>
          </a:prstGeom>
          <a:solidFill>
            <a:srgbClr val="BFBFBF"/>
          </a:solidFill>
          <a:ln w="12700">
            <a:solidFill>
              <a:srgbClr val="BFBFBF"/>
            </a:solidFill>
            <a:prstDash val="solid"/>
          </a:ln>
        </p:spPr>
        <p:txBody>
          <a:bodyPr/>
          <a:lstStyle/>
          <a:p>
            <a:endParaRPr lang="ko-KR" altLang="en-US"/>
          </a:p>
        </p:txBody>
      </p:sp>
      <p:sp>
        <p:nvSpPr>
          <p:cNvPr id="45" name="Text 43"/>
          <p:cNvSpPr txBox="1"/>
          <p:nvPr/>
        </p:nvSpPr>
        <p:spPr>
          <a:xfrm>
            <a:off x="8092440" y="3429000"/>
            <a:ext cx="3657600" cy="274320"/>
          </a:xfrm>
          <a:prstGeom prst="rect">
            <a:avLst/>
          </a:prstGeom>
          <a:noFill/>
          <a:ln/>
        </p:spPr>
        <p:txBody>
          <a:bodyPr wrap="square" lIns="0" tIns="0" rIns="0" bIns="0" rtlCol="0" anchor="ctr"/>
          <a:lstStyle/>
          <a:p>
            <a:pPr marL="0" indent="0" algn="l">
              <a:buNone/>
            </a:pPr>
            <a:r>
              <a:rPr lang="en-US" sz="1250" b="1" dirty="0">
                <a:solidFill>
                  <a:srgbClr val="C00000"/>
                </a:solidFill>
                <a:latin typeface="맑은 고딕" pitchFamily="34" charset="0"/>
                <a:ea typeface="맑은 고딕" pitchFamily="34" charset="-122"/>
                <a:cs typeface="맑은 고딕" pitchFamily="34" charset="-120"/>
              </a:rPr>
              <a:t>경광등: 이상이면 즉시 적색</a:t>
            </a:r>
            <a:endParaRPr lang="en-US" sz="1250" dirty="0"/>
          </a:p>
        </p:txBody>
      </p:sp>
      <p:sp>
        <p:nvSpPr>
          <p:cNvPr id="46" name="Text 44"/>
          <p:cNvSpPr txBox="1"/>
          <p:nvPr/>
        </p:nvSpPr>
        <p:spPr>
          <a:xfrm>
            <a:off x="8092440" y="3721608"/>
            <a:ext cx="3657600" cy="237744"/>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새 관측마다 경보 판단 (현장 전달 지연은 미측정)</a:t>
            </a:r>
            <a:endParaRPr lang="en-US" sz="1100" dirty="0"/>
          </a:p>
        </p:txBody>
      </p:sp>
      <p:sp>
        <p:nvSpPr>
          <p:cNvPr id="47" name="Shape 45"/>
          <p:cNvSpPr/>
          <p:nvPr/>
        </p:nvSpPr>
        <p:spPr>
          <a:xfrm>
            <a:off x="7543800" y="4462272"/>
            <a:ext cx="457200" cy="384048"/>
          </a:xfrm>
          <a:prstGeom prst="rect">
            <a:avLst/>
          </a:prstGeom>
          <a:solidFill>
            <a:srgbClr val="FFFFFF"/>
          </a:solidFill>
          <a:ln w="12700">
            <a:solidFill>
              <a:srgbClr val="000000"/>
            </a:solidFill>
            <a:prstDash val="solid"/>
          </a:ln>
        </p:spPr>
        <p:txBody>
          <a:bodyPr/>
          <a:lstStyle/>
          <a:p>
            <a:endParaRPr lang="ko-KR" altLang="en-US"/>
          </a:p>
        </p:txBody>
      </p:sp>
      <p:sp>
        <p:nvSpPr>
          <p:cNvPr id="48" name="Shape 46"/>
          <p:cNvSpPr/>
          <p:nvPr/>
        </p:nvSpPr>
        <p:spPr>
          <a:xfrm>
            <a:off x="7589520" y="4507992"/>
            <a:ext cx="365760" cy="274320"/>
          </a:xfrm>
          <a:custGeom>
            <a:avLst/>
            <a:gdLst/>
            <a:ahLst/>
            <a:cxnLst/>
            <a:rect l="l" t="t" r="r" b="b"/>
            <a:pathLst>
              <a:path w="365760" h="274320">
                <a:moveTo>
                  <a:pt x="0" y="228600"/>
                </a:moveTo>
                <a:lnTo>
                  <a:pt x="91440" y="182880"/>
                </a:lnTo>
                <a:lnTo>
                  <a:pt x="164592" y="256032"/>
                </a:lnTo>
                <a:lnTo>
                  <a:pt x="237744" y="45720"/>
                </a:lnTo>
                <a:lnTo>
                  <a:pt x="310896" y="201168"/>
                </a:lnTo>
                <a:lnTo>
                  <a:pt x="365760" y="164592"/>
                </a:lnTo>
              </a:path>
            </a:pathLst>
          </a:custGeom>
          <a:ln w="12700">
            <a:solidFill>
              <a:srgbClr val="C00000"/>
            </a:solidFill>
            <a:prstDash val="solid"/>
          </a:ln>
        </p:spPr>
        <p:txBody>
          <a:bodyPr/>
          <a:lstStyle/>
          <a:p>
            <a:endParaRPr lang="ko-KR" altLang="en-US"/>
          </a:p>
        </p:txBody>
      </p:sp>
      <p:sp>
        <p:nvSpPr>
          <p:cNvPr id="49" name="Shape 47"/>
          <p:cNvSpPr/>
          <p:nvPr/>
        </p:nvSpPr>
        <p:spPr>
          <a:xfrm>
            <a:off x="7772400" y="4846320"/>
            <a:ext cx="91" cy="91440"/>
          </a:xfrm>
          <a:prstGeom prst="line">
            <a:avLst/>
          </a:prstGeom>
          <a:noFill/>
          <a:ln w="12700">
            <a:solidFill>
              <a:srgbClr val="000000"/>
            </a:solidFill>
            <a:prstDash val="solid"/>
          </a:ln>
        </p:spPr>
        <p:txBody>
          <a:bodyPr/>
          <a:lstStyle/>
          <a:p>
            <a:endParaRPr lang="ko-KR" altLang="en-US"/>
          </a:p>
        </p:txBody>
      </p:sp>
      <p:sp>
        <p:nvSpPr>
          <p:cNvPr id="50" name="Shape 48"/>
          <p:cNvSpPr/>
          <p:nvPr/>
        </p:nvSpPr>
        <p:spPr>
          <a:xfrm>
            <a:off x="7635240" y="4937760"/>
            <a:ext cx="274320" cy="91"/>
          </a:xfrm>
          <a:prstGeom prst="line">
            <a:avLst/>
          </a:prstGeom>
          <a:noFill/>
          <a:ln w="12700">
            <a:solidFill>
              <a:srgbClr val="000000"/>
            </a:solidFill>
            <a:prstDash val="solid"/>
          </a:ln>
        </p:spPr>
        <p:txBody>
          <a:bodyPr/>
          <a:lstStyle/>
          <a:p>
            <a:endParaRPr lang="ko-KR" altLang="en-US"/>
          </a:p>
        </p:txBody>
      </p:sp>
      <p:sp>
        <p:nvSpPr>
          <p:cNvPr id="51" name="Text 49"/>
          <p:cNvSpPr txBox="1"/>
          <p:nvPr/>
        </p:nvSpPr>
        <p:spPr>
          <a:xfrm>
            <a:off x="8092440" y="4480560"/>
            <a:ext cx="3657600" cy="274320"/>
          </a:xfrm>
          <a:prstGeom prst="rect">
            <a:avLst/>
          </a:prstGeom>
          <a:noFill/>
          <a:ln/>
        </p:spPr>
        <p:txBody>
          <a:bodyPr wrap="square" lIns="0" tIns="0" rIns="0" bIns="0" rtlCol="0" anchor="ctr"/>
          <a:lstStyle/>
          <a:p>
            <a:pPr marL="0" indent="0" algn="l">
              <a:buNone/>
            </a:pPr>
            <a:r>
              <a:rPr lang="en-US" sz="1250" b="1" dirty="0">
                <a:solidFill>
                  <a:srgbClr val="262626"/>
                </a:solidFill>
                <a:latin typeface="맑은 고딕" pitchFamily="34" charset="0"/>
                <a:ea typeface="맑은 고딕" pitchFamily="34" charset="-122"/>
                <a:cs typeface="맑은 고딕" pitchFamily="34" charset="-120"/>
              </a:rPr>
              <a:t>운전실 모니터: 점수·파형 실시간 표시</a:t>
            </a:r>
            <a:endParaRPr lang="en-US" sz="1250" dirty="0"/>
          </a:p>
        </p:txBody>
      </p:sp>
      <p:sp>
        <p:nvSpPr>
          <p:cNvPr id="52" name="Text 50"/>
          <p:cNvSpPr txBox="1"/>
          <p:nvPr/>
        </p:nvSpPr>
        <p:spPr>
          <a:xfrm>
            <a:off x="8092440" y="4773168"/>
            <a:ext cx="3657600" cy="237744"/>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작업자가 근거를 보고 점검·정지 결정</a:t>
            </a:r>
            <a:endParaRPr lang="en-US" sz="1100" dirty="0"/>
          </a:p>
        </p:txBody>
      </p:sp>
      <p:sp>
        <p:nvSpPr>
          <p:cNvPr id="53" name="Shape 51"/>
          <p:cNvSpPr/>
          <p:nvPr/>
        </p:nvSpPr>
        <p:spPr>
          <a:xfrm>
            <a:off x="7589520" y="5550408"/>
            <a:ext cx="347472" cy="457200"/>
          </a:xfrm>
          <a:prstGeom prst="can">
            <a:avLst/>
          </a:prstGeom>
          <a:solidFill>
            <a:srgbClr val="FFFFFF"/>
          </a:solidFill>
          <a:ln w="12700">
            <a:solidFill>
              <a:srgbClr val="000000"/>
            </a:solidFill>
            <a:prstDash val="solid"/>
          </a:ln>
        </p:spPr>
        <p:txBody>
          <a:bodyPr/>
          <a:lstStyle/>
          <a:p>
            <a:endParaRPr lang="ko-KR" altLang="en-US"/>
          </a:p>
        </p:txBody>
      </p:sp>
      <p:sp>
        <p:nvSpPr>
          <p:cNvPr id="54" name="Text 52"/>
          <p:cNvSpPr txBox="1"/>
          <p:nvPr/>
        </p:nvSpPr>
        <p:spPr>
          <a:xfrm>
            <a:off x="8092440" y="5532120"/>
            <a:ext cx="3840480" cy="274320"/>
          </a:xfrm>
          <a:prstGeom prst="rect">
            <a:avLst/>
          </a:prstGeom>
          <a:noFill/>
          <a:ln/>
        </p:spPr>
        <p:txBody>
          <a:bodyPr wrap="square" lIns="0" tIns="0" rIns="0" bIns="0" rtlCol="0" anchor="ctr"/>
          <a:lstStyle/>
          <a:p>
            <a:pPr marL="0" indent="0" algn="l">
              <a:buNone/>
            </a:pPr>
            <a:r>
              <a:rPr lang="en-US" sz="1250" b="1" dirty="0">
                <a:solidFill>
                  <a:srgbClr val="262626"/>
                </a:solidFill>
                <a:latin typeface="맑은 고딕" pitchFamily="34" charset="0"/>
                <a:ea typeface="맑은 고딕" pitchFamily="34" charset="-122"/>
                <a:cs typeface="맑은 고딕" pitchFamily="34" charset="-120"/>
              </a:rPr>
              <a:t>근거 로그: 경보 전후 파형·점수·운전 조건 저장</a:t>
            </a:r>
            <a:endParaRPr lang="en-US" sz="1250" dirty="0"/>
          </a:p>
        </p:txBody>
      </p:sp>
      <p:sp>
        <p:nvSpPr>
          <p:cNvPr id="55" name="Text 53"/>
          <p:cNvSpPr txBox="1"/>
          <p:nvPr/>
        </p:nvSpPr>
        <p:spPr>
          <a:xfrm>
            <a:off x="8092440" y="5824728"/>
            <a:ext cx="3657600" cy="237744"/>
          </a:xfrm>
          <a:prstGeom prst="rect">
            <a:avLst/>
          </a:prstGeom>
          <a:noFill/>
          <a:ln/>
        </p:spPr>
        <p:txBody>
          <a:bodyPr wrap="square" lIns="0" tIns="0" rIns="0" bIns="0" rtlCol="0" anchor="ctr"/>
          <a:lstStyle/>
          <a:p>
            <a:pPr marL="0" indent="0" algn="l">
              <a:buNone/>
            </a:pPr>
            <a:r>
              <a:rPr lang="en-US" sz="1100" dirty="0">
                <a:solidFill>
                  <a:srgbClr val="404040"/>
                </a:solidFill>
                <a:latin typeface="맑은 고딕" pitchFamily="34" charset="0"/>
                <a:ea typeface="맑은 고딕" pitchFamily="34" charset="-122"/>
                <a:cs typeface="맑은 고딕" pitchFamily="34" charset="-120"/>
              </a:rPr>
              <a:t>오경보 원인 추적, 임계값 재보정에 활용</a:t>
            </a:r>
            <a:endParaRPr lang="en-US" sz="1100" dirty="0"/>
          </a:p>
        </p:txBody>
      </p:sp>
      <p:sp>
        <p:nvSpPr>
          <p:cNvPr id="57"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22</a:t>
            </a:fld>
            <a:endParaRPr lang="en-US"/>
          </a:p>
        </p:txBody>
      </p:sp>
      <p:sp>
        <p:nvSpPr>
          <p:cNvPr id="58" name="Shape 901">
            <a:extLst>
              <a:ext uri="{FF2B5EF4-FFF2-40B4-BE49-F238E27FC236}">
                <a16:creationId xmlns:a16="http://schemas.microsoft.com/office/drawing/2014/main" id="{5C7A8101-4010-AA42-254C-11A3F628BD47}"/>
              </a:ext>
            </a:extLst>
          </p:cNvPr>
          <p:cNvSpPr/>
          <p:nvPr/>
        </p:nvSpPr>
        <p:spPr>
          <a:xfrm>
            <a:off x="10424160" y="2761488"/>
            <a:ext cx="1508760" cy="530352"/>
          </a:xfrm>
          <a:prstGeom prst="wedgeRoundRectCallout">
            <a:avLst>
              <a:gd name="adj1" fmla="val -3333"/>
              <a:gd name="adj2" fmla="val 101724"/>
              <a:gd name="adj3" fmla="val 16667"/>
            </a:avLst>
          </a:prstGeom>
          <a:solidFill>
            <a:srgbClr val="FFFFFF"/>
          </a:solidFill>
          <a:ln w="15875">
            <a:solidFill>
              <a:srgbClr val="C00000"/>
            </a:solidFill>
            <a:prstDash val="solid"/>
          </a:ln>
        </p:spPr>
        <p:txBody>
          <a:bodyPr wrap="square" lIns="36000" tIns="18000" rIns="36000" bIns="18000" rtlCol="0" anchor="ctr"/>
          <a:lstStyle/>
          <a:p>
            <a:pPr marL="0" indent="0" algn="ctr">
              <a:buNone/>
            </a:pPr>
            <a:r>
              <a:rPr lang="en-US" sz="1050" b="1" dirty="0">
                <a:solidFill>
                  <a:srgbClr val="C00000"/>
                </a:solidFill>
                <a:latin typeface="맑은 고딕" pitchFamily="34" charset="0"/>
                <a:ea typeface="맑은 고딕" pitchFamily="34" charset="-122"/>
                <a:cs typeface="맑은 고딕" pitchFamily="34" charset="-120"/>
              </a:rPr>
              <a:t>이상 경보!</a:t>
            </a:r>
          </a:p>
          <a:p>
            <a:pPr marL="0" indent="0" algn="ctr">
              <a:buNone/>
            </a:pPr>
            <a:r>
              <a:rPr lang="en-US" sz="950" dirty="0">
                <a:solidFill>
                  <a:srgbClr val="262626"/>
                </a:solidFill>
                <a:latin typeface="맑은 고딕" pitchFamily="34" charset="0"/>
                <a:ea typeface="맑은 고딕" pitchFamily="34" charset="-122"/>
                <a:cs typeface="맑은 고딕" pitchFamily="34" charset="-120"/>
              </a:rPr>
              <a:t>점검·정지 판단</a:t>
            </a:r>
          </a:p>
        </p:txBody>
      </p:sp>
      <p:sp>
        <p:nvSpPr>
          <p:cNvPr id="60" name="Shape 902">
            <a:extLst>
              <a:ext uri="{FF2B5EF4-FFF2-40B4-BE49-F238E27FC236}">
                <a16:creationId xmlns:a16="http://schemas.microsoft.com/office/drawing/2014/main" id="{3686F751-C944-BF52-FBC8-6B7AC9241865}"/>
              </a:ext>
            </a:extLst>
          </p:cNvPr>
          <p:cNvSpPr/>
          <p:nvPr/>
        </p:nvSpPr>
        <p:spPr>
          <a:xfrm flipH="1">
            <a:off x="10890870" y="3727369"/>
            <a:ext cx="86319" cy="253563"/>
          </a:xfrm>
          <a:prstGeom prst="line">
            <a:avLst/>
          </a:prstGeom>
          <a:noFill/>
          <a:ln w="38100">
            <a:solidFill>
              <a:srgbClr val="595959"/>
            </a:solidFill>
            <a:prstDash val="solid"/>
          </a:ln>
        </p:spPr>
        <p:txBody>
          <a:bodyPr/>
          <a:lstStyle/>
          <a:p>
            <a:endParaRPr lang="ko-KR" altLang="en-US"/>
          </a:p>
        </p:txBody>
      </p:sp>
      <p:sp>
        <p:nvSpPr>
          <p:cNvPr id="62" name="Shape 903">
            <a:extLst>
              <a:ext uri="{FF2B5EF4-FFF2-40B4-BE49-F238E27FC236}">
                <a16:creationId xmlns:a16="http://schemas.microsoft.com/office/drawing/2014/main" id="{AC114288-FDD2-7CBF-2FE2-67946FBB56FC}"/>
              </a:ext>
            </a:extLst>
          </p:cNvPr>
          <p:cNvSpPr/>
          <p:nvPr/>
        </p:nvSpPr>
        <p:spPr>
          <a:xfrm>
            <a:off x="10863895" y="3953957"/>
            <a:ext cx="53950" cy="53950"/>
          </a:xfrm>
          <a:prstGeom prst="ellipse">
            <a:avLst/>
          </a:prstGeom>
          <a:solidFill>
            <a:srgbClr val="FFFFFF"/>
          </a:solidFill>
          <a:ln w="12700">
            <a:solidFill>
              <a:srgbClr val="FFFFFF"/>
            </a:solidFill>
            <a:prstDash val="solid"/>
          </a:ln>
        </p:spPr>
        <p:txBody>
          <a:bodyPr/>
          <a:lstStyle/>
          <a:p>
            <a:endParaRPr lang="ko-KR" altLang="en-US"/>
          </a:p>
        </p:txBody>
      </p:sp>
      <p:sp>
        <p:nvSpPr>
          <p:cNvPr id="64" name="Shape 904">
            <a:extLst>
              <a:ext uri="{FF2B5EF4-FFF2-40B4-BE49-F238E27FC236}">
                <a16:creationId xmlns:a16="http://schemas.microsoft.com/office/drawing/2014/main" id="{9ED1F601-BB6E-2BAD-FB83-7A67248C9D07}"/>
              </a:ext>
            </a:extLst>
          </p:cNvPr>
          <p:cNvSpPr/>
          <p:nvPr/>
        </p:nvSpPr>
        <p:spPr>
          <a:xfrm flipV="1">
            <a:off x="11279307" y="3538545"/>
            <a:ext cx="140269" cy="188824"/>
          </a:xfrm>
          <a:prstGeom prst="line">
            <a:avLst/>
          </a:prstGeom>
          <a:noFill/>
          <a:ln w="38100">
            <a:solidFill>
              <a:srgbClr val="595959"/>
            </a:solidFill>
            <a:prstDash val="solid"/>
          </a:ln>
        </p:spPr>
        <p:txBody>
          <a:bodyPr/>
          <a:lstStyle/>
          <a:p>
            <a:endParaRPr lang="ko-KR" altLang="en-US"/>
          </a:p>
        </p:txBody>
      </p:sp>
      <p:sp>
        <p:nvSpPr>
          <p:cNvPr id="66" name="Shape 905">
            <a:extLst>
              <a:ext uri="{FF2B5EF4-FFF2-40B4-BE49-F238E27FC236}">
                <a16:creationId xmlns:a16="http://schemas.microsoft.com/office/drawing/2014/main" id="{C4F0C385-8A6A-6556-A72C-0704538E1ABD}"/>
              </a:ext>
            </a:extLst>
          </p:cNvPr>
          <p:cNvSpPr/>
          <p:nvPr/>
        </p:nvSpPr>
        <p:spPr>
          <a:xfrm>
            <a:off x="11392601" y="3511570"/>
            <a:ext cx="53950" cy="53950"/>
          </a:xfrm>
          <a:prstGeom prst="ellipse">
            <a:avLst/>
          </a:prstGeom>
          <a:solidFill>
            <a:srgbClr val="FFFFFF"/>
          </a:solidFill>
          <a:ln w="12700">
            <a:solidFill>
              <a:srgbClr val="FFFFFF"/>
            </a:solidFill>
            <a:prstDash val="solid"/>
          </a:ln>
        </p:spPr>
        <p:txBody>
          <a:bodyPr/>
          <a:lstStyle/>
          <a:p>
            <a:endParaRPr lang="ko-KR" altLang="en-US"/>
          </a:p>
        </p:txBody>
      </p:sp>
      <p:sp>
        <p:nvSpPr>
          <p:cNvPr id="68" name="Shape 906">
            <a:extLst>
              <a:ext uri="{FF2B5EF4-FFF2-40B4-BE49-F238E27FC236}">
                <a16:creationId xmlns:a16="http://schemas.microsoft.com/office/drawing/2014/main" id="{D910C818-F048-135F-5C9E-09F888EAF52C}"/>
              </a:ext>
            </a:extLst>
          </p:cNvPr>
          <p:cNvSpPr/>
          <p:nvPr/>
        </p:nvSpPr>
        <p:spPr>
          <a:xfrm>
            <a:off x="10993374" y="4078041"/>
            <a:ext cx="118689" cy="345277"/>
          </a:xfrm>
          <a:prstGeom prst="rect">
            <a:avLst/>
          </a:prstGeom>
          <a:solidFill>
            <a:srgbClr val="1F4E79"/>
          </a:solidFill>
          <a:ln w="9525">
            <a:solidFill>
              <a:srgbClr val="000000"/>
            </a:solidFill>
            <a:prstDash val="solid"/>
          </a:ln>
        </p:spPr>
        <p:txBody>
          <a:bodyPr/>
          <a:lstStyle/>
          <a:p>
            <a:endParaRPr lang="ko-KR" altLang="en-US"/>
          </a:p>
        </p:txBody>
      </p:sp>
      <p:sp>
        <p:nvSpPr>
          <p:cNvPr id="70" name="Shape 907">
            <a:extLst>
              <a:ext uri="{FF2B5EF4-FFF2-40B4-BE49-F238E27FC236}">
                <a16:creationId xmlns:a16="http://schemas.microsoft.com/office/drawing/2014/main" id="{BFD18582-4605-A9CF-2B28-ADB5D1C8A94B}"/>
              </a:ext>
            </a:extLst>
          </p:cNvPr>
          <p:cNvSpPr/>
          <p:nvPr/>
        </p:nvSpPr>
        <p:spPr>
          <a:xfrm>
            <a:off x="10982584" y="4423319"/>
            <a:ext cx="140269" cy="53950"/>
          </a:xfrm>
          <a:prstGeom prst="rect">
            <a:avLst/>
          </a:prstGeom>
          <a:solidFill>
            <a:srgbClr val="404040"/>
          </a:solidFill>
          <a:ln w="9525">
            <a:solidFill>
              <a:srgbClr val="000000"/>
            </a:solidFill>
            <a:prstDash val="solid"/>
          </a:ln>
        </p:spPr>
        <p:txBody>
          <a:bodyPr/>
          <a:lstStyle/>
          <a:p>
            <a:endParaRPr lang="ko-KR" altLang="en-US"/>
          </a:p>
        </p:txBody>
      </p:sp>
      <p:sp>
        <p:nvSpPr>
          <p:cNvPr id="72" name="Shape 908">
            <a:extLst>
              <a:ext uri="{FF2B5EF4-FFF2-40B4-BE49-F238E27FC236}">
                <a16:creationId xmlns:a16="http://schemas.microsoft.com/office/drawing/2014/main" id="{0D94300E-1317-CF3B-A470-75B29B0C263F}"/>
              </a:ext>
            </a:extLst>
          </p:cNvPr>
          <p:cNvSpPr/>
          <p:nvPr/>
        </p:nvSpPr>
        <p:spPr>
          <a:xfrm>
            <a:off x="11144433" y="4078041"/>
            <a:ext cx="118689" cy="345277"/>
          </a:xfrm>
          <a:prstGeom prst="rect">
            <a:avLst/>
          </a:prstGeom>
          <a:solidFill>
            <a:srgbClr val="1F4E79"/>
          </a:solidFill>
          <a:ln w="9525">
            <a:solidFill>
              <a:srgbClr val="000000"/>
            </a:solidFill>
            <a:prstDash val="solid"/>
          </a:ln>
        </p:spPr>
        <p:txBody>
          <a:bodyPr/>
          <a:lstStyle/>
          <a:p>
            <a:endParaRPr lang="ko-KR" altLang="en-US"/>
          </a:p>
        </p:txBody>
      </p:sp>
      <p:sp>
        <p:nvSpPr>
          <p:cNvPr id="74" name="Shape 909">
            <a:extLst>
              <a:ext uri="{FF2B5EF4-FFF2-40B4-BE49-F238E27FC236}">
                <a16:creationId xmlns:a16="http://schemas.microsoft.com/office/drawing/2014/main" id="{3BFA9D66-6BB5-2603-11E9-E94F999C3C37}"/>
              </a:ext>
            </a:extLst>
          </p:cNvPr>
          <p:cNvSpPr/>
          <p:nvPr/>
        </p:nvSpPr>
        <p:spPr>
          <a:xfrm>
            <a:off x="11133643" y="4423319"/>
            <a:ext cx="140269" cy="53950"/>
          </a:xfrm>
          <a:prstGeom prst="rect">
            <a:avLst/>
          </a:prstGeom>
          <a:solidFill>
            <a:srgbClr val="404040"/>
          </a:solidFill>
          <a:ln w="9525">
            <a:solidFill>
              <a:srgbClr val="000000"/>
            </a:solidFill>
            <a:prstDash val="solid"/>
          </a:ln>
        </p:spPr>
        <p:txBody>
          <a:bodyPr/>
          <a:lstStyle/>
          <a:p>
            <a:endParaRPr lang="ko-KR" altLang="en-US"/>
          </a:p>
        </p:txBody>
      </p:sp>
      <p:sp>
        <p:nvSpPr>
          <p:cNvPr id="76" name="Shape 910">
            <a:extLst>
              <a:ext uri="{FF2B5EF4-FFF2-40B4-BE49-F238E27FC236}">
                <a16:creationId xmlns:a16="http://schemas.microsoft.com/office/drawing/2014/main" id="{A6CF03E6-BB8E-B87C-C050-D4E460E81E39}"/>
              </a:ext>
            </a:extLst>
          </p:cNvPr>
          <p:cNvSpPr/>
          <p:nvPr/>
        </p:nvSpPr>
        <p:spPr>
          <a:xfrm>
            <a:off x="10977189" y="3689604"/>
            <a:ext cx="302118" cy="399227"/>
          </a:xfrm>
          <a:prstGeom prst="roundRect">
            <a:avLst/>
          </a:prstGeom>
          <a:solidFill>
            <a:srgbClr val="F79646"/>
          </a:solidFill>
          <a:ln w="9525">
            <a:solidFill>
              <a:srgbClr val="000000"/>
            </a:solidFill>
            <a:prstDash val="solid"/>
          </a:ln>
        </p:spPr>
        <p:txBody>
          <a:bodyPr/>
          <a:lstStyle/>
          <a:p>
            <a:endParaRPr lang="ko-KR" altLang="en-US"/>
          </a:p>
        </p:txBody>
      </p:sp>
      <p:sp>
        <p:nvSpPr>
          <p:cNvPr id="78" name="Shape 911">
            <a:extLst>
              <a:ext uri="{FF2B5EF4-FFF2-40B4-BE49-F238E27FC236}">
                <a16:creationId xmlns:a16="http://schemas.microsoft.com/office/drawing/2014/main" id="{F469D00F-9D8F-0B86-AF8E-884E42CC8DB7}"/>
              </a:ext>
            </a:extLst>
          </p:cNvPr>
          <p:cNvSpPr/>
          <p:nvPr/>
        </p:nvSpPr>
        <p:spPr>
          <a:xfrm>
            <a:off x="10977189" y="3802898"/>
            <a:ext cx="302118" cy="32370"/>
          </a:xfrm>
          <a:prstGeom prst="rect">
            <a:avLst/>
          </a:prstGeom>
          <a:solidFill>
            <a:srgbClr val="FFFFFF"/>
          </a:solidFill>
          <a:ln w="6350">
            <a:solidFill>
              <a:srgbClr val="7F7F7F"/>
            </a:solidFill>
            <a:prstDash val="solid"/>
          </a:ln>
        </p:spPr>
        <p:txBody>
          <a:bodyPr/>
          <a:lstStyle/>
          <a:p>
            <a:endParaRPr lang="ko-KR" altLang="en-US"/>
          </a:p>
        </p:txBody>
      </p:sp>
      <p:sp>
        <p:nvSpPr>
          <p:cNvPr id="80" name="Shape 912">
            <a:extLst>
              <a:ext uri="{FF2B5EF4-FFF2-40B4-BE49-F238E27FC236}">
                <a16:creationId xmlns:a16="http://schemas.microsoft.com/office/drawing/2014/main" id="{28983047-D24E-5D11-2A57-19EDCFB11C5D}"/>
              </a:ext>
            </a:extLst>
          </p:cNvPr>
          <p:cNvSpPr/>
          <p:nvPr/>
        </p:nvSpPr>
        <p:spPr>
          <a:xfrm>
            <a:off x="10977189" y="3932377"/>
            <a:ext cx="302118" cy="32370"/>
          </a:xfrm>
          <a:prstGeom prst="rect">
            <a:avLst/>
          </a:prstGeom>
          <a:solidFill>
            <a:srgbClr val="FFFFFF"/>
          </a:solidFill>
          <a:ln w="6350">
            <a:solidFill>
              <a:srgbClr val="7F7F7F"/>
            </a:solidFill>
            <a:prstDash val="solid"/>
          </a:ln>
        </p:spPr>
        <p:txBody>
          <a:bodyPr/>
          <a:lstStyle/>
          <a:p>
            <a:endParaRPr lang="ko-KR" altLang="en-US"/>
          </a:p>
        </p:txBody>
      </p:sp>
      <p:sp>
        <p:nvSpPr>
          <p:cNvPr id="82" name="Shape 913">
            <a:extLst>
              <a:ext uri="{FF2B5EF4-FFF2-40B4-BE49-F238E27FC236}">
                <a16:creationId xmlns:a16="http://schemas.microsoft.com/office/drawing/2014/main" id="{8F79A5CE-3FCC-0173-D5AC-3AA1D15B8B85}"/>
              </a:ext>
            </a:extLst>
          </p:cNvPr>
          <p:cNvSpPr/>
          <p:nvPr/>
        </p:nvSpPr>
        <p:spPr>
          <a:xfrm>
            <a:off x="11036534" y="3516965"/>
            <a:ext cx="183429" cy="183429"/>
          </a:xfrm>
          <a:prstGeom prst="ellipse">
            <a:avLst/>
          </a:prstGeom>
          <a:solidFill>
            <a:srgbClr val="FFFFFF"/>
          </a:solidFill>
          <a:ln w="12700">
            <a:solidFill>
              <a:srgbClr val="FFFFFF"/>
            </a:solidFill>
            <a:prstDash val="solid"/>
          </a:ln>
        </p:spPr>
        <p:txBody>
          <a:bodyPr/>
          <a:lstStyle/>
          <a:p>
            <a:endParaRPr lang="ko-KR" altLang="en-US"/>
          </a:p>
        </p:txBody>
      </p:sp>
      <p:sp>
        <p:nvSpPr>
          <p:cNvPr id="84" name="Shape 914">
            <a:extLst>
              <a:ext uri="{FF2B5EF4-FFF2-40B4-BE49-F238E27FC236}">
                <a16:creationId xmlns:a16="http://schemas.microsoft.com/office/drawing/2014/main" id="{8008096A-BA5A-B83D-283C-9B01AA1D7FAD}"/>
              </a:ext>
            </a:extLst>
          </p:cNvPr>
          <p:cNvSpPr/>
          <p:nvPr/>
        </p:nvSpPr>
        <p:spPr>
          <a:xfrm>
            <a:off x="11025528" y="3468195"/>
            <a:ext cx="205440" cy="102720"/>
          </a:xfrm>
          <a:custGeom>
            <a:avLst/>
            <a:gdLst/>
            <a:ahLst/>
            <a:cxnLst/>
            <a:rect l="l" t="t" r="r" b="b"/>
            <a:pathLst>
              <a:path w="205440" h="102720">
                <a:moveTo>
                  <a:pt x="0" y="102720"/>
                </a:moveTo>
                <a:lnTo>
                  <a:pt x="3500" y="76134"/>
                </a:lnTo>
                <a:lnTo>
                  <a:pt x="13762" y="51360"/>
                </a:lnTo>
                <a:lnTo>
                  <a:pt x="30086" y="30086"/>
                </a:lnTo>
                <a:lnTo>
                  <a:pt x="51360" y="13762"/>
                </a:lnTo>
                <a:lnTo>
                  <a:pt x="76134" y="3500"/>
                </a:lnTo>
                <a:lnTo>
                  <a:pt x="102720" y="0"/>
                </a:lnTo>
                <a:lnTo>
                  <a:pt x="129306" y="3500"/>
                </a:lnTo>
                <a:lnTo>
                  <a:pt x="154080" y="13762"/>
                </a:lnTo>
                <a:lnTo>
                  <a:pt x="175354" y="30086"/>
                </a:lnTo>
                <a:lnTo>
                  <a:pt x="191678" y="51360"/>
                </a:lnTo>
                <a:lnTo>
                  <a:pt x="201940" y="76134"/>
                </a:lnTo>
                <a:lnTo>
                  <a:pt x="205440" y="102720"/>
                </a:lnTo>
                <a:close/>
              </a:path>
            </a:pathLst>
          </a:custGeom>
          <a:solidFill>
            <a:srgbClr val="F79646"/>
          </a:solidFill>
          <a:ln w="9525">
            <a:solidFill>
              <a:srgbClr val="984807"/>
            </a:solidFill>
            <a:prstDash val="solid"/>
          </a:ln>
        </p:spPr>
        <p:txBody>
          <a:bodyPr/>
          <a:lstStyle/>
          <a:p>
            <a:endParaRPr lang="ko-KR" altLang="en-US"/>
          </a:p>
        </p:txBody>
      </p:sp>
      <p:sp>
        <p:nvSpPr>
          <p:cNvPr id="86" name="Shape 915">
            <a:extLst>
              <a:ext uri="{FF2B5EF4-FFF2-40B4-BE49-F238E27FC236}">
                <a16:creationId xmlns:a16="http://schemas.microsoft.com/office/drawing/2014/main" id="{B52EE596-4D8E-56A4-F35F-EF464FB41557}"/>
              </a:ext>
            </a:extLst>
          </p:cNvPr>
          <p:cNvSpPr/>
          <p:nvPr/>
        </p:nvSpPr>
        <p:spPr>
          <a:xfrm>
            <a:off x="10995262" y="3570915"/>
            <a:ext cx="265972" cy="23738"/>
          </a:xfrm>
          <a:prstGeom prst="rect">
            <a:avLst/>
          </a:prstGeom>
          <a:solidFill>
            <a:srgbClr val="F79646"/>
          </a:solidFill>
          <a:ln w="9525">
            <a:solidFill>
              <a:srgbClr val="984807"/>
            </a:solidFill>
            <a:prstDash val="solid"/>
          </a:ln>
        </p:spPr>
        <p:txBody>
          <a:bodyPr/>
          <a:lstStyle/>
          <a:p>
            <a:endParaRPr lang="ko-KR" altLang="en-US"/>
          </a:p>
        </p:txBody>
      </p:sp>
      <p:sp>
        <p:nvSpPr>
          <p:cNvPr id="87" name="화살표: 오른쪽 86">
            <a:extLst>
              <a:ext uri="{FF2B5EF4-FFF2-40B4-BE49-F238E27FC236}">
                <a16:creationId xmlns:a16="http://schemas.microsoft.com/office/drawing/2014/main" id="{23DB8393-01F2-BA47-876A-CEC5688482DF}"/>
              </a:ext>
            </a:extLst>
          </p:cNvPr>
          <p:cNvSpPr/>
          <p:nvPr/>
        </p:nvSpPr>
        <p:spPr>
          <a:xfrm>
            <a:off x="10284562" y="3639815"/>
            <a:ext cx="455727" cy="145298"/>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57E30AE4-EFC0-552F-19F5-F9113616F5E7}"/>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E13CB358-1106-02C1-C56F-42938FD754AB}"/>
              </a:ext>
            </a:extLst>
          </p:cNvPr>
          <p:cNvSpPr txBox="1"/>
          <p:nvPr/>
        </p:nvSpPr>
        <p:spPr>
          <a:xfrm>
            <a:off x="3446585" y="2767281"/>
            <a:ext cx="5298830" cy="1323439"/>
          </a:xfrm>
          <a:prstGeom prst="rect">
            <a:avLst/>
          </a:prstGeom>
          <a:noFill/>
        </p:spPr>
        <p:txBody>
          <a:bodyPr wrap="square" rtlCol="0">
            <a:spAutoFit/>
          </a:bodyPr>
          <a:lstStyle/>
          <a:p>
            <a:r>
              <a:rPr lang="ko-KR" altLang="en-US" sz="8000" dirty="0">
                <a:solidFill>
                  <a:schemeClr val="bg1"/>
                </a:solidFill>
              </a:rPr>
              <a:t>감사합니다</a:t>
            </a:r>
          </a:p>
        </p:txBody>
      </p:sp>
    </p:spTree>
    <p:extLst>
      <p:ext uri="{BB962C8B-B14F-4D97-AF65-F5344CB8AC3E}">
        <p14:creationId xmlns:p14="http://schemas.microsoft.com/office/powerpoint/2010/main" val="1041342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Error Analysis: Missed Detections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미탐은 언제, 왜 발생할까?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W=3 기본 미탐 71개 중 63개는 초기 미판정 → 최종 41개 추가 탐지 (63 → 22, seed 0)</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남은 미탐은 대부분 첫 경보 이후 발생: 진동이 작고 전류 변화가 완만해 정상 학습 패턴과 가까운 시점</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시점 미탐은 남아도 끝까지 놓친 이상 clip은 0 / 21 (seed 0·1·2 모두)</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24</a:t>
            </a:fld>
            <a:endParaRPr lang="en-US"/>
          </a:p>
        </p:txBody>
      </p:sp>
      <p:graphicFrame>
        <p:nvGraphicFramePr>
          <p:cNvPr id="26" name="chart_fn"/>
          <p:cNvGraphicFramePr>
            <a:graphicFrameLocks noGrp="1"/>
          </p:cNvGraphicFramePr>
          <p:nvPr/>
        </p:nvGraphicFramePr>
        <p:xfrm>
          <a:off x="777240" y="3200400"/>
          <a:ext cx="4343400" cy="3063240"/>
        </p:xfrm>
        <a:graphic>
          <a:graphicData uri="http://schemas.openxmlformats.org/drawingml/2006/chart">
            <c:chart xmlns:c="http://schemas.openxmlformats.org/drawingml/2006/chart" xmlns:r="http://schemas.openxmlformats.org/officeDocument/2006/relationships" r:id="rId2"/>
          </a:graphicData>
        </a:graphic>
      </p:graphicFrame>
      <p:sp>
        <p:nvSpPr>
          <p:cNvPr id="27" name="tbl_title"/>
          <p:cNvSpPr txBox="1"/>
          <p:nvPr/>
        </p:nvSpPr>
        <p:spPr>
          <a:xfrm>
            <a:off x="5349240" y="3200400"/>
            <a:ext cx="6217920" cy="274320"/>
          </a:xfrm>
          <a:prstGeom prst="rect">
            <a:avLst/>
          </a:prstGeom>
          <a:noFill/>
        </p:spPr>
        <p:txBody>
          <a:bodyPr wrap="square" lIns="0" tIns="0" rIns="0" bIns="0" anchor="t">
            <a:spAutoFit/>
          </a:bodyPr>
          <a:lstStyle/>
          <a:p>
            <a:pPr algn="l"/>
            <a:r>
              <a:rPr sz="1200" b="1">
                <a:solidFill>
                  <a:srgbClr val="262626"/>
                </a:solidFill>
                <a:latin typeface="맑은 고딕"/>
                <a:ea typeface="맑은 고딕"/>
                <a:cs typeface="맑은 고딕"/>
              </a:rPr>
              <a:t>놓친 시점 vs 잡은 시점: 최근 4관측 센서 특성 (중앙값, seed 0)</a:t>
            </a:r>
          </a:p>
        </p:txBody>
      </p:sp>
      <p:graphicFrame>
        <p:nvGraphicFramePr>
          <p:cNvPr id="28" name="tbl_fn"/>
          <p:cNvGraphicFramePr>
            <a:graphicFrameLocks noGrp="1"/>
          </p:cNvGraphicFramePr>
          <p:nvPr/>
        </p:nvGraphicFramePr>
        <p:xfrm>
          <a:off x="5349240" y="3520440"/>
          <a:ext cx="6217920" cy="1828800"/>
        </p:xfrm>
        <a:graphic>
          <a:graphicData uri="http://schemas.openxmlformats.org/drawingml/2006/table">
            <a:tbl>
              <a:tblPr/>
              <a:tblGrid>
                <a:gridCol w="2057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65760">
                <a:tc>
                  <a:txBody>
                    <a:bodyPr/>
                    <a:lstStyle/>
                    <a:p>
                      <a:pPr algn="ctr"/>
                      <a:r>
                        <a:rPr sz="1050" b="1">
                          <a:solidFill>
                            <a:srgbClr val="FFFFFF"/>
                          </a:solidFill>
                          <a:latin typeface="맑은 고딕"/>
                          <a:ea typeface="맑은 고딕"/>
                          <a:cs typeface="맑은 고딕"/>
                        </a:rPr>
                        <a:t>항목</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050" b="1">
                          <a:solidFill>
                            <a:srgbClr val="FFFFFF"/>
                          </a:solidFill>
                          <a:latin typeface="맑은 고딕"/>
                          <a:ea typeface="맑은 고딕"/>
                          <a:cs typeface="맑은 고딕"/>
                        </a:rPr>
                        <a:t>놓친 (8)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050" b="1">
                          <a:solidFill>
                            <a:srgbClr val="FFFFFF"/>
                          </a:solidFill>
                          <a:latin typeface="맑은 고딕"/>
                          <a:ea typeface="맑은 고딕"/>
                          <a:cs typeface="맑은 고딕"/>
                        </a:rPr>
                        <a:t>잡은 (529)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050" b="1">
                          <a:solidFill>
                            <a:srgbClr val="FFFFFF"/>
                          </a:solidFill>
                          <a:latin typeface="맑은 고딕"/>
                          <a:ea typeface="맑은 고딕"/>
                          <a:cs typeface="맑은 고딕"/>
                        </a:rPr>
                        <a:t>의미</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extLst>
                  <a:ext uri="{0D108BD9-81ED-4DB2-BD59-A6C34878D82A}">
                    <a16:rowId xmlns:a16="http://schemas.microsoft.com/office/drawing/2014/main" val="10000"/>
                  </a:ext>
                </a:extLst>
              </a:tr>
              <a:tr h="365760">
                <a:tc>
                  <a:txBody>
                    <a:bodyPr/>
                    <a:lstStyle/>
                    <a:p>
                      <a:pPr algn="ctr"/>
                      <a:r>
                        <a:rPr sz="1050" b="0">
                          <a:solidFill>
                            <a:srgbClr val="262626"/>
                          </a:solidFill>
                          <a:latin typeface="맑은 고딕"/>
                          <a:ea typeface="맑은 고딕"/>
                          <a:cs typeface="맑은 고딕"/>
                        </a:rPr>
                        <a:t>상부·하부 진동 최대 흔들림</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0.060·0.085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0.188·0.199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놓친 순간은 진동이 약 1/3로 작음</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1"/>
                  </a:ext>
                </a:extLst>
              </a:tr>
              <a:tr h="365760">
                <a:tc>
                  <a:txBody>
                    <a:bodyPr/>
                    <a:lstStyle/>
                    <a:p>
                      <a:pPr algn="ctr"/>
                      <a:r>
                        <a:rPr sz="1050" b="0">
                          <a:solidFill>
                            <a:srgbClr val="262626"/>
                          </a:solidFill>
                          <a:latin typeface="맑은 고딕"/>
                          <a:ea typeface="맑은 고딕"/>
                          <a:cs typeface="맑은 고딕"/>
                        </a:rPr>
                        <a:t>전류가 0.1초 사이 바뀐 양</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18.5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54.8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미탐 시점의 전류 변화가 더 완만</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2"/>
                  </a:ext>
                </a:extLst>
              </a:tr>
              <a:tr h="365760">
                <a:tc>
                  <a:txBody>
                    <a:bodyPr/>
                    <a:lstStyle/>
                    <a:p>
                      <a:pPr algn="ctr"/>
                      <a:r>
                        <a:rPr sz="1050" b="0">
                          <a:solidFill>
                            <a:srgbClr val="262626"/>
                          </a:solidFill>
                          <a:latin typeface="맑은 고딕"/>
                          <a:ea typeface="맑은 고딕"/>
                          <a:cs typeface="맑은 고딕"/>
                        </a:rPr>
                        <a:t>전류 절댓값 최댓값</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178.2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151.4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050" b="0">
                          <a:solidFill>
                            <a:srgbClr val="262626"/>
                          </a:solidFill>
                          <a:latin typeface="맑은 고딕"/>
                          <a:ea typeface="맑은 고딕"/>
                          <a:cs typeface="맑은 고딕"/>
                        </a:rPr>
                        <a:t>미탐에서 오히려 큼 → 크기만으로 구분 어려움</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3"/>
                  </a:ext>
                </a:extLst>
              </a:tr>
              <a:tr h="365760">
                <a:tc>
                  <a:txBody>
                    <a:bodyPr/>
                    <a:lstStyle/>
                    <a:p>
                      <a:pPr algn="ctr"/>
                      <a:r>
                        <a:rPr sz="1050" b="1">
                          <a:solidFill>
                            <a:srgbClr val="262626"/>
                          </a:solidFill>
                          <a:latin typeface="맑은 고딕"/>
                          <a:ea typeface="맑은 고딕"/>
                          <a:cs typeface="맑은 고딕"/>
                        </a:rPr>
                        <a:t>가장 비슷한 정상과의 거리</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050" b="1">
                          <a:solidFill>
                            <a:srgbClr val="262626"/>
                          </a:solidFill>
                          <a:latin typeface="맑은 고딕"/>
                          <a:ea typeface="맑은 고딕"/>
                          <a:cs typeface="맑은 고딕"/>
                        </a:rPr>
                        <a:t>1.24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050" b="1">
                          <a:solidFill>
                            <a:srgbClr val="262626"/>
                          </a:solidFill>
                          <a:latin typeface="맑은 고딕"/>
                          <a:ea typeface="맑은 고딕"/>
                          <a:cs typeface="맑은 고딕"/>
                        </a:rPr>
                        <a:t>2.88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050" b="1">
                          <a:solidFill>
                            <a:srgbClr val="262626"/>
                          </a:solidFill>
                          <a:latin typeface="맑은 고딕"/>
                          <a:ea typeface="맑은 고딕"/>
                          <a:cs typeface="맑은 고딕"/>
                        </a:rPr>
                        <a:t>놓친 순간은 정상과 아주 가까움</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extLst>
                  <a:ext uri="{0D108BD9-81ED-4DB2-BD59-A6C34878D82A}">
                    <a16:rowId xmlns:a16="http://schemas.microsoft.com/office/drawing/2014/main" val="10004"/>
                  </a:ext>
                </a:extLst>
              </a:tr>
            </a:tbl>
          </a:graphicData>
        </a:graphic>
      </p:graphicFrame>
      <p:sp>
        <p:nvSpPr>
          <p:cNvPr id="29" name="fn_takeaway"/>
          <p:cNvSpPr/>
          <p:nvPr/>
        </p:nvSpPr>
        <p:spPr>
          <a:xfrm>
            <a:off x="5349240" y="5440680"/>
            <a:ext cx="6217920" cy="822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n_takeaway_text"/>
          <p:cNvSpPr txBox="1"/>
          <p:nvPr/>
        </p:nvSpPr>
        <p:spPr>
          <a:xfrm>
            <a:off x="5532120" y="5550408"/>
            <a:ext cx="5897879" cy="640080"/>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정리: 놓친 순간은 '잠깐 정상처럼 보인' 순간</a:t>
            </a:r>
          </a:p>
          <a:p>
            <a:pPr algn="l"/>
            <a:r>
              <a:rPr sz="1150" b="0">
                <a:solidFill>
                  <a:srgbClr val="404040"/>
                </a:solidFill>
                <a:latin typeface="맑은 고딕"/>
                <a:ea typeface="맑은 고딕"/>
                <a:cs typeface="맑은 고딕"/>
              </a:rPr>
              <a:t>미탐은 정상 학습 분포에 더 가까움. 시점별 고장 징후 정답이 없어 물리적 원인 확정은 어려움</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Error Analysis: False Alarms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오경보는 어떤 정상 운전에서 발생할까?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seed 0: 정상 570번째 clip 10시점, 564번째 clip 1시점. seed 1·2: 570번째 clip만 경보</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seed 0 오경보 시점: 상부 진동 약 3.1배·전류 약 1.5배. 드문 정상 운전 조합에서 발생</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조건부 희귀도: 570번째 clip은 상부 진동, 564번째 clip은 진동 두 채널의 조합이 두드러짐</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25</a:t>
            </a:fld>
            <a:endParaRPr lang="en-US"/>
          </a:p>
        </p:txBody>
      </p:sp>
      <p:pic>
        <p:nvPicPr>
          <p:cNvPr id="26" name="cases" descr="ppt_cases_wide.png"/>
          <p:cNvPicPr>
            <a:picLocks noChangeAspect="1"/>
          </p:cNvPicPr>
          <p:nvPr/>
        </p:nvPicPr>
        <p:blipFill>
          <a:blip r:embed="rId2"/>
          <a:stretch>
            <a:fillRect/>
          </a:stretch>
        </p:blipFill>
        <p:spPr>
          <a:xfrm>
            <a:off x="868680" y="3200400"/>
            <a:ext cx="6949440" cy="2182468"/>
          </a:xfrm>
          <a:prstGeom prst="rect">
            <a:avLst/>
          </a:prstGeom>
        </p:spPr>
      </p:pic>
      <p:graphicFrame>
        <p:nvGraphicFramePr>
          <p:cNvPr id="27" name="chart_fp_ratio"/>
          <p:cNvGraphicFramePr>
            <a:graphicFrameLocks noGrp="1"/>
          </p:cNvGraphicFramePr>
          <p:nvPr/>
        </p:nvGraphicFramePr>
        <p:xfrm>
          <a:off x="8092440" y="3200400"/>
          <a:ext cx="342900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28" name="stat0"/>
          <p:cNvSpPr/>
          <p:nvPr/>
        </p:nvSpPr>
        <p:spPr>
          <a:xfrm>
            <a:off x="868680" y="5596128"/>
            <a:ext cx="5166360" cy="658368"/>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at1"/>
          <p:cNvSpPr/>
          <p:nvPr/>
        </p:nvSpPr>
        <p:spPr>
          <a:xfrm>
            <a:off x="6263640" y="5596128"/>
            <a:ext cx="5166360" cy="658368"/>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tat0_label"/>
          <p:cNvSpPr txBox="1"/>
          <p:nvPr/>
        </p:nvSpPr>
        <p:spPr>
          <a:xfrm>
            <a:off x="1097280" y="5596128"/>
            <a:ext cx="4754880" cy="658368"/>
          </a:xfrm>
          <a:prstGeom prst="rect">
            <a:avLst/>
          </a:prstGeom>
          <a:noFill/>
        </p:spPr>
        <p:txBody>
          <a:bodyPr wrap="square" lIns="0" tIns="0" rIns="0" bIns="0" anchor="ctr">
            <a:spAutoFit/>
          </a:bodyPr>
          <a:lstStyle/>
          <a:p>
            <a:pPr algn="l"/>
            <a:r>
              <a:rPr sz="1800" b="1">
                <a:solidFill>
                  <a:srgbClr val="C00000"/>
                </a:solidFill>
                <a:latin typeface="맑은 고딕"/>
                <a:ea typeface="맑은 고딕"/>
                <a:cs typeface="맑은 고딕"/>
              </a:rPr>
              <a:t>2 / 120   </a:t>
            </a:r>
            <a:r>
              <a:rPr sz="1300" b="0">
                <a:solidFill>
                  <a:srgbClr val="404040"/>
                </a:solidFill>
                <a:latin typeface="맑은 고딕"/>
                <a:ea typeface="맑은 고딕"/>
                <a:cs typeface="맑은 고딕"/>
              </a:rPr>
              <a:t>오경보가 발생한 정상 clip 수</a:t>
            </a:r>
          </a:p>
        </p:txBody>
      </p:sp>
      <p:sp>
        <p:nvSpPr>
          <p:cNvPr id="32" name="stat1_label"/>
          <p:cNvSpPr txBox="1"/>
          <p:nvPr/>
        </p:nvSpPr>
        <p:spPr>
          <a:xfrm>
            <a:off x="6492240" y="5596128"/>
            <a:ext cx="4754880" cy="658368"/>
          </a:xfrm>
          <a:prstGeom prst="rect">
            <a:avLst/>
          </a:prstGeom>
          <a:noFill/>
        </p:spPr>
        <p:txBody>
          <a:bodyPr wrap="square" lIns="0" tIns="0" rIns="0" bIns="0" anchor="ctr">
            <a:spAutoFit/>
          </a:bodyPr>
          <a:lstStyle/>
          <a:p>
            <a:pPr algn="l"/>
            <a:r>
              <a:rPr sz="1800" b="1">
                <a:solidFill>
                  <a:srgbClr val="C00000"/>
                </a:solidFill>
                <a:latin typeface="맑은 고딕"/>
                <a:ea typeface="맑은 고딕"/>
                <a:cs typeface="맑은 고딕"/>
              </a:rPr>
              <a:t>570번째 clip 공통   </a:t>
            </a:r>
            <a:r>
              <a:rPr sz="1300" b="0">
                <a:solidFill>
                  <a:srgbClr val="404040"/>
                </a:solidFill>
                <a:latin typeface="맑은 고딕"/>
                <a:ea typeface="맑은 고딕"/>
                <a:cs typeface="맑은 고딕"/>
              </a:rPr>
              <a:t>564번째 clip의 1시점 경보는 seed 0에서만 발생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Error Analysis: Summary</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모델은 언제 잘 작동하고, 언제 실패할까?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데이터에 압력·속도 등 공정 변수가 없어 공정조건을 센서 상태 조건으로 정의</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수치는 최종 GMM(초기 주변분포) 기준, seed 0·1·2 평균</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26</a:t>
            </a:fld>
            <a:endParaRPr lang="en-US"/>
          </a:p>
        </p:txBody>
      </p:sp>
      <p:sp>
        <p:nvSpPr>
          <p:cNvPr id="26" name="col_ok"/>
          <p:cNvSpPr txBox="1"/>
          <p:nvPr/>
        </p:nvSpPr>
        <p:spPr>
          <a:xfrm>
            <a:off x="914400" y="2971800"/>
            <a:ext cx="5029200" cy="320040"/>
          </a:xfrm>
          <a:prstGeom prst="rect">
            <a:avLst/>
          </a:prstGeom>
          <a:noFill/>
        </p:spPr>
        <p:txBody>
          <a:bodyPr wrap="square" lIns="0" tIns="0" rIns="0" bIns="0" anchor="t">
            <a:spAutoFit/>
          </a:bodyPr>
          <a:lstStyle/>
          <a:p>
            <a:pPr algn="l"/>
            <a:r>
              <a:rPr sz="1500" b="1">
                <a:solidFill>
                  <a:srgbClr val="1F4E79"/>
                </a:solidFill>
                <a:latin typeface="맑은 고딕"/>
                <a:ea typeface="맑은 고딕"/>
                <a:cs typeface="맑은 고딕"/>
              </a:rPr>
              <a:t>잘 작동하는 조건</a:t>
            </a:r>
          </a:p>
        </p:txBody>
      </p:sp>
      <p:sp>
        <p:nvSpPr>
          <p:cNvPr id="27" name="col_ng"/>
          <p:cNvSpPr txBox="1"/>
          <p:nvPr/>
        </p:nvSpPr>
        <p:spPr>
          <a:xfrm>
            <a:off x="6355080" y="2971800"/>
            <a:ext cx="5029200" cy="320040"/>
          </a:xfrm>
          <a:prstGeom prst="rect">
            <a:avLst/>
          </a:prstGeom>
          <a:noFill/>
        </p:spPr>
        <p:txBody>
          <a:bodyPr wrap="square" lIns="0" tIns="0" rIns="0" bIns="0" anchor="t">
            <a:spAutoFit/>
          </a:bodyPr>
          <a:lstStyle/>
          <a:p>
            <a:pPr algn="l"/>
            <a:r>
              <a:rPr sz="1500" b="1">
                <a:solidFill>
                  <a:srgbClr val="C00000"/>
                </a:solidFill>
                <a:latin typeface="맑은 고딕"/>
                <a:ea typeface="맑은 고딕"/>
                <a:cs typeface="맑은 고딕"/>
              </a:rPr>
              <a:t>실패하는 조건</a:t>
            </a:r>
          </a:p>
        </p:txBody>
      </p:sp>
      <p:sp>
        <p:nvSpPr>
          <p:cNvPr id="28" name="ok0"/>
          <p:cNvSpPr/>
          <p:nvPr/>
        </p:nvSpPr>
        <p:spPr>
          <a:xfrm>
            <a:off x="914400" y="3383280"/>
            <a:ext cx="5166360" cy="841248"/>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k0_num"/>
          <p:cNvSpPr txBox="1"/>
          <p:nvPr/>
        </p:nvSpPr>
        <p:spPr>
          <a:xfrm>
            <a:off x="1051560" y="3383280"/>
            <a:ext cx="1234440" cy="841248"/>
          </a:xfrm>
          <a:prstGeom prst="rect">
            <a:avLst/>
          </a:prstGeom>
          <a:noFill/>
        </p:spPr>
        <p:txBody>
          <a:bodyPr wrap="square" lIns="0" tIns="0" rIns="0" bIns="0" anchor="ctr">
            <a:spAutoFit/>
          </a:bodyPr>
          <a:lstStyle/>
          <a:p>
            <a:pPr algn="ctr"/>
            <a:r>
              <a:rPr sz="2200" b="1">
                <a:solidFill>
                  <a:srgbClr val="1F4E79"/>
                </a:solidFill>
                <a:latin typeface="맑은 고딕"/>
                <a:ea typeface="맑은 고딕"/>
                <a:cs typeface="맑은 고딕"/>
              </a:rPr>
              <a:t>100%</a:t>
            </a:r>
          </a:p>
        </p:txBody>
      </p:sp>
      <p:sp>
        <p:nvSpPr>
          <p:cNvPr id="30" name="ok0_text"/>
          <p:cNvSpPr txBox="1"/>
          <p:nvPr/>
        </p:nvSpPr>
        <p:spPr>
          <a:xfrm>
            <a:off x="2377440" y="349300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진동·전류가 함께 정상 범위를 벗어난 이상</a:t>
            </a:r>
          </a:p>
          <a:p>
            <a:pPr algn="l"/>
            <a:r>
              <a:rPr sz="1150" b="0">
                <a:solidFill>
                  <a:srgbClr val="404040"/>
                </a:solidFill>
                <a:latin typeface="맑은 고딕"/>
                <a:ea typeface="맑은 고딕"/>
                <a:cs typeface="맑은 고딕"/>
              </a:rPr>
              <a:t>이상 clip 21개 모두 0.5초 내 경보, 0.2초 내 85.7%</a:t>
            </a:r>
          </a:p>
        </p:txBody>
      </p:sp>
      <p:sp>
        <p:nvSpPr>
          <p:cNvPr id="31" name="ok1"/>
          <p:cNvSpPr/>
          <p:nvPr/>
        </p:nvSpPr>
        <p:spPr>
          <a:xfrm>
            <a:off x="914400" y="4343400"/>
            <a:ext cx="5166360" cy="841248"/>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k1_num"/>
          <p:cNvSpPr txBox="1"/>
          <p:nvPr/>
        </p:nvSpPr>
        <p:spPr>
          <a:xfrm>
            <a:off x="1051560" y="4343400"/>
            <a:ext cx="1234440" cy="841248"/>
          </a:xfrm>
          <a:prstGeom prst="rect">
            <a:avLst/>
          </a:prstGeom>
          <a:noFill/>
        </p:spPr>
        <p:txBody>
          <a:bodyPr wrap="square" lIns="0" tIns="0" rIns="0" bIns="0" anchor="ctr">
            <a:spAutoFit/>
          </a:bodyPr>
          <a:lstStyle/>
          <a:p>
            <a:pPr algn="ctr"/>
            <a:r>
              <a:rPr sz="2200" b="1">
                <a:solidFill>
                  <a:srgbClr val="1F4E79"/>
                </a:solidFill>
                <a:latin typeface="맑은 고딕"/>
                <a:ea typeface="맑은 고딕"/>
                <a:cs typeface="맑은 고딕"/>
              </a:rPr>
              <a:t>52%</a:t>
            </a:r>
          </a:p>
        </p:txBody>
      </p:sp>
      <p:sp>
        <p:nvSpPr>
          <p:cNvPr id="33" name="ok1_text"/>
          <p:cNvSpPr txBox="1"/>
          <p:nvPr/>
        </p:nvSpPr>
        <p:spPr>
          <a:xfrm>
            <a:off x="2377440" y="445312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clip 시작 직후 (0.0초 첫 관측)</a:t>
            </a:r>
          </a:p>
          <a:p>
            <a:pPr algn="l"/>
            <a:r>
              <a:rPr sz="1150" b="0">
                <a:solidFill>
                  <a:srgbClr val="404040"/>
                </a:solidFill>
                <a:latin typeface="맑은 고딕"/>
                <a:ea typeface="맑은 고딕"/>
                <a:cs typeface="맑은 고딕"/>
              </a:rPr>
              <a:t>관측된 센서만으로 판정, 11 / 21 clip 첫 관측에서 경보</a:t>
            </a:r>
          </a:p>
        </p:txBody>
      </p:sp>
      <p:sp>
        <p:nvSpPr>
          <p:cNvPr id="34" name="ok2"/>
          <p:cNvSpPr/>
          <p:nvPr/>
        </p:nvSpPr>
        <p:spPr>
          <a:xfrm>
            <a:off x="914400" y="5303520"/>
            <a:ext cx="5166360" cy="841248"/>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k2_num"/>
          <p:cNvSpPr txBox="1"/>
          <p:nvPr/>
        </p:nvSpPr>
        <p:spPr>
          <a:xfrm>
            <a:off x="1051560" y="5303520"/>
            <a:ext cx="1234440" cy="841248"/>
          </a:xfrm>
          <a:prstGeom prst="rect">
            <a:avLst/>
          </a:prstGeom>
          <a:noFill/>
        </p:spPr>
        <p:txBody>
          <a:bodyPr wrap="square" lIns="0" tIns="0" rIns="0" bIns="0" anchor="ctr">
            <a:spAutoFit/>
          </a:bodyPr>
          <a:lstStyle/>
          <a:p>
            <a:pPr algn="ctr"/>
            <a:r>
              <a:rPr sz="2200" b="1">
                <a:solidFill>
                  <a:srgbClr val="1F4E79"/>
                </a:solidFill>
                <a:latin typeface="맑은 고딕"/>
                <a:ea typeface="맑은 고딕"/>
                <a:cs typeface="맑은 고딕"/>
              </a:rPr>
              <a:t>2개</a:t>
            </a:r>
          </a:p>
        </p:txBody>
      </p:sp>
      <p:sp>
        <p:nvSpPr>
          <p:cNvPr id="36" name="ok2_text"/>
          <p:cNvSpPr txBox="1"/>
          <p:nvPr/>
        </p:nvSpPr>
        <p:spPr>
          <a:xfrm>
            <a:off x="2377440" y="541324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진동은 작고 전류만 변한 이상</a:t>
            </a:r>
          </a:p>
          <a:p>
            <a:pPr algn="l"/>
            <a:r>
              <a:rPr sz="1150" b="0">
                <a:solidFill>
                  <a:srgbClr val="404040"/>
                </a:solidFill>
                <a:latin typeface="맑은 고딕"/>
                <a:ea typeface="맑은 고딕"/>
                <a:cs typeface="맑은 고딕"/>
              </a:rPr>
              <a:t>진동만 모델이 놓친 20·21번째 clip을 3센서 모델은 탐지</a:t>
            </a:r>
          </a:p>
        </p:txBody>
      </p:sp>
      <p:sp>
        <p:nvSpPr>
          <p:cNvPr id="37" name="ng0"/>
          <p:cNvSpPr/>
          <p:nvPr/>
        </p:nvSpPr>
        <p:spPr>
          <a:xfrm>
            <a:off x="6355080" y="3383280"/>
            <a:ext cx="5166360" cy="841248"/>
          </a:xfrm>
          <a:prstGeom prst="roundRect">
            <a:avLst>
              <a:gd name="adj" fmla="val 8000"/>
            </a:avLst>
          </a:prstGeom>
          <a:solidFill>
            <a:srgbClr val="FB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ng0_num"/>
          <p:cNvSpPr txBox="1"/>
          <p:nvPr/>
        </p:nvSpPr>
        <p:spPr>
          <a:xfrm>
            <a:off x="6492240" y="3383280"/>
            <a:ext cx="1234440" cy="841248"/>
          </a:xfrm>
          <a:prstGeom prst="rect">
            <a:avLst/>
          </a:prstGeom>
          <a:noFill/>
        </p:spPr>
        <p:txBody>
          <a:bodyPr wrap="square" lIns="0" tIns="0" rIns="0" bIns="0" anchor="ctr">
            <a:spAutoFit/>
          </a:bodyPr>
          <a:lstStyle/>
          <a:p>
            <a:pPr algn="ctr"/>
            <a:r>
              <a:rPr sz="2200" b="1">
                <a:solidFill>
                  <a:srgbClr val="C00000"/>
                </a:solidFill>
                <a:latin typeface="맑은 고딕"/>
                <a:ea typeface="맑은 고딕"/>
                <a:cs typeface="맑은 고딕"/>
              </a:rPr>
              <a:t>4.9%</a:t>
            </a:r>
          </a:p>
        </p:txBody>
      </p:sp>
      <p:sp>
        <p:nvSpPr>
          <p:cNvPr id="39" name="ng0_text"/>
          <p:cNvSpPr txBox="1"/>
          <p:nvPr/>
        </p:nvSpPr>
        <p:spPr>
          <a:xfrm>
            <a:off x="7818120" y="349300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이상 중 진동이 일시적으로 정상 수준인 구간</a:t>
            </a:r>
          </a:p>
          <a:p>
            <a:pPr algn="l"/>
            <a:r>
              <a:rPr sz="1150" b="0">
                <a:solidFill>
                  <a:srgbClr val="404040"/>
                </a:solidFill>
                <a:latin typeface="맑은 고딕"/>
                <a:ea typeface="맑은 고딕"/>
                <a:cs typeface="맑은 고딕"/>
              </a:rPr>
              <a:t>시점 미탐 발생 (첫 경보 이후 대부분)</a:t>
            </a:r>
          </a:p>
        </p:txBody>
      </p:sp>
      <p:sp>
        <p:nvSpPr>
          <p:cNvPr id="40" name="ng1"/>
          <p:cNvSpPr/>
          <p:nvPr/>
        </p:nvSpPr>
        <p:spPr>
          <a:xfrm>
            <a:off x="6355080" y="4343400"/>
            <a:ext cx="5166360" cy="841248"/>
          </a:xfrm>
          <a:prstGeom prst="roundRect">
            <a:avLst>
              <a:gd name="adj" fmla="val 8000"/>
            </a:avLst>
          </a:prstGeom>
          <a:solidFill>
            <a:srgbClr val="FB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ng1_num"/>
          <p:cNvSpPr txBox="1"/>
          <p:nvPr/>
        </p:nvSpPr>
        <p:spPr>
          <a:xfrm>
            <a:off x="6492240" y="4343400"/>
            <a:ext cx="1234440" cy="841248"/>
          </a:xfrm>
          <a:prstGeom prst="rect">
            <a:avLst/>
          </a:prstGeom>
          <a:noFill/>
        </p:spPr>
        <p:txBody>
          <a:bodyPr wrap="square" lIns="0" tIns="0" rIns="0" bIns="0" anchor="ctr">
            <a:spAutoFit/>
          </a:bodyPr>
          <a:lstStyle/>
          <a:p>
            <a:pPr algn="ctr"/>
            <a:r>
              <a:rPr sz="2200" b="1">
                <a:solidFill>
                  <a:srgbClr val="C00000"/>
                </a:solidFill>
                <a:latin typeface="맑은 고딕"/>
                <a:ea typeface="맑은 고딕"/>
                <a:cs typeface="맑은 고딕"/>
              </a:rPr>
              <a:t>평균 1.3 clip</a:t>
            </a:r>
          </a:p>
        </p:txBody>
      </p:sp>
      <p:sp>
        <p:nvSpPr>
          <p:cNvPr id="42" name="ng1_text"/>
          <p:cNvSpPr txBox="1"/>
          <p:nvPr/>
        </p:nvSpPr>
        <p:spPr>
          <a:xfrm>
            <a:off x="7818120" y="445312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정상이지만 전류·진동이 평소보다 큰 운전</a:t>
            </a:r>
          </a:p>
          <a:p>
            <a:pPr algn="l"/>
            <a:r>
              <a:rPr sz="1150" b="0">
                <a:solidFill>
                  <a:srgbClr val="404040"/>
                </a:solidFill>
                <a:latin typeface="맑은 고딕"/>
                <a:ea typeface="맑은 고딕"/>
                <a:cs typeface="맑은 고딕"/>
              </a:rPr>
              <a:t>정상 120 clip 중 평균 1.3 clip 경보</a:t>
            </a:r>
          </a:p>
        </p:txBody>
      </p:sp>
      <p:sp>
        <p:nvSpPr>
          <p:cNvPr id="43" name="ng2"/>
          <p:cNvSpPr/>
          <p:nvPr/>
        </p:nvSpPr>
        <p:spPr>
          <a:xfrm>
            <a:off x="6355080" y="5303520"/>
            <a:ext cx="5166360" cy="841248"/>
          </a:xfrm>
          <a:prstGeom prst="roundRect">
            <a:avLst>
              <a:gd name="adj" fmla="val 8000"/>
            </a:avLst>
          </a:prstGeom>
          <a:solidFill>
            <a:srgbClr val="FB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ng2_num"/>
          <p:cNvSpPr txBox="1"/>
          <p:nvPr/>
        </p:nvSpPr>
        <p:spPr>
          <a:xfrm>
            <a:off x="6492240" y="5303520"/>
            <a:ext cx="1234440" cy="841248"/>
          </a:xfrm>
          <a:prstGeom prst="rect">
            <a:avLst/>
          </a:prstGeom>
          <a:noFill/>
        </p:spPr>
        <p:txBody>
          <a:bodyPr wrap="square" lIns="0" tIns="0" rIns="0" bIns="0" anchor="ctr">
            <a:spAutoFit/>
          </a:bodyPr>
          <a:lstStyle/>
          <a:p>
            <a:pPr algn="ctr"/>
            <a:r>
              <a:rPr sz="2200" b="1">
                <a:solidFill>
                  <a:srgbClr val="C00000"/>
                </a:solidFill>
                <a:latin typeface="맑은 고딕"/>
                <a:ea typeface="맑은 고딕"/>
                <a:cs typeface="맑은 고딕"/>
              </a:rPr>
              <a:t>평균 21.7</a:t>
            </a:r>
          </a:p>
        </p:txBody>
      </p:sp>
      <p:sp>
        <p:nvSpPr>
          <p:cNvPr id="45" name="ng2_text"/>
          <p:cNvSpPr txBox="1"/>
          <p:nvPr/>
        </p:nvSpPr>
        <p:spPr>
          <a:xfrm>
            <a:off x="7818120" y="5413248"/>
            <a:ext cx="3566160" cy="658368"/>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clip 처음 3시점의 남은 미탐</a:t>
            </a:r>
          </a:p>
          <a:p>
            <a:pPr algn="l"/>
            <a:r>
              <a:rPr sz="1150" b="0">
                <a:solidFill>
                  <a:srgbClr val="404040"/>
                </a:solidFill>
                <a:latin typeface="맑은 고딕"/>
                <a:ea typeface="맑은 고딕"/>
                <a:cs typeface="맑은 고딕"/>
              </a:rPr>
              <a:t>관측 1~3개만으로는 정상과 구분이 어려운 시점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Robustness to Current Recording Format</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전류 기록 형식이 특이한데, 결과가 그 형식 때문일까?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이상 구간 전류값은 1.1920929 간격으로 기록(정상은 1.9%만) → 형식을 통일·제거한 조건에서 재학습해 비교</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형식 통제 후 최종 F1 0.965 유지. 레벨 제거 후 0.942, 기본 모델끼리는 Mahalanobis가 소폭 우세</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격자 간격은 정상 전류 표준편차의 0.94% → 연속 밀도 모델은 이산적인 기록 형식에 민감하지 않음</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27</a:t>
            </a:fld>
            <a:endParaRPr lang="en-US"/>
          </a:p>
        </p:txBody>
      </p:sp>
      <p:graphicFrame>
        <p:nvGraphicFramePr>
          <p:cNvPr id="26" name="chart_robust"/>
          <p:cNvGraphicFramePr>
            <a:graphicFrameLocks noGrp="1"/>
          </p:cNvGraphicFramePr>
          <p:nvPr/>
        </p:nvGraphicFramePr>
        <p:xfrm>
          <a:off x="868680" y="3200400"/>
          <a:ext cx="6903720"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27" name="tbl_title"/>
          <p:cNvSpPr txBox="1"/>
          <p:nvPr/>
        </p:nvSpPr>
        <p:spPr>
          <a:xfrm>
            <a:off x="7863840" y="3246120"/>
            <a:ext cx="3611880" cy="274320"/>
          </a:xfrm>
          <a:prstGeom prst="rect">
            <a:avLst/>
          </a:prstGeom>
          <a:noFill/>
        </p:spPr>
        <p:txBody>
          <a:bodyPr wrap="square" lIns="0" tIns="0" rIns="0" bIns="0" anchor="t">
            <a:spAutoFit/>
          </a:bodyPr>
          <a:lstStyle/>
          <a:p>
            <a:pPr algn="l"/>
            <a:r>
              <a:rPr sz="1200" b="1">
                <a:solidFill>
                  <a:srgbClr val="262626"/>
                </a:solidFill>
                <a:latin typeface="맑은 고딕"/>
                <a:ea typeface="맑은 고딕"/>
                <a:cs typeface="맑은 고딕"/>
              </a:rPr>
              <a:t>실험 조건과 최종 GMM F1</a:t>
            </a:r>
          </a:p>
        </p:txBody>
      </p:sp>
      <p:graphicFrame>
        <p:nvGraphicFramePr>
          <p:cNvPr id="28" name="tbl_cond"/>
          <p:cNvGraphicFramePr>
            <a:graphicFrameLocks noGrp="1"/>
          </p:cNvGraphicFramePr>
          <p:nvPr/>
        </p:nvGraphicFramePr>
        <p:xfrm>
          <a:off x="7863840" y="3584448"/>
          <a:ext cx="3611880" cy="2304288"/>
        </p:xfrm>
        <a:graphic>
          <a:graphicData uri="http://schemas.openxmlformats.org/drawingml/2006/table">
            <a:tbl>
              <a:tblPr/>
              <a:tblGrid>
                <a:gridCol w="27432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84048">
                <a:tc>
                  <a:txBody>
                    <a:bodyPr/>
                    <a:lstStyle/>
                    <a:p>
                      <a:pPr algn="ctr"/>
                      <a:r>
                        <a:rPr sz="1100" b="1">
                          <a:solidFill>
                            <a:srgbClr val="FFFFFF"/>
                          </a:solidFill>
                          <a:latin typeface="맑은 고딕"/>
                          <a:ea typeface="맑은 고딕"/>
                          <a:cs typeface="맑은 고딕"/>
                        </a:rPr>
                        <a:t>조건</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100" b="1">
                          <a:solidFill>
                            <a:srgbClr val="FFFFFF"/>
                          </a:solidFill>
                          <a:latin typeface="맑은 고딕"/>
                          <a:ea typeface="맑은 고딕"/>
                          <a:cs typeface="맑은 고딕"/>
                        </a:rPr>
                        <a:t>F1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extLst>
                  <a:ext uri="{0D108BD9-81ED-4DB2-BD59-A6C34878D82A}">
                    <a16:rowId xmlns:a16="http://schemas.microsoft.com/office/drawing/2014/main" val="10000"/>
                  </a:ext>
                </a:extLst>
              </a:tr>
              <a:tr h="384048">
                <a:tc>
                  <a:txBody>
                    <a:bodyPr/>
                    <a:lstStyle/>
                    <a:p>
                      <a:pPr algn="ctr"/>
                      <a:r>
                        <a:rPr sz="1100" b="0">
                          <a:solidFill>
                            <a:srgbClr val="262626"/>
                          </a:solidFill>
                          <a:latin typeface="맑은 고딕"/>
                          <a:ea typeface="맑은 고딕"/>
                          <a:cs typeface="맑은 고딕"/>
                        </a:rPr>
                        <a:t>원본</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100" b="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1"/>
                  </a:ext>
                </a:extLst>
              </a:tr>
              <a:tr h="384048">
                <a:tc>
                  <a:txBody>
                    <a:bodyPr/>
                    <a:lstStyle/>
                    <a:p>
                      <a:pPr algn="ctr"/>
                      <a:r>
                        <a:rPr sz="1100" b="0">
                          <a:solidFill>
                            <a:srgbClr val="262626"/>
                          </a:solidFill>
                          <a:latin typeface="맑은 고딕"/>
                          <a:ea typeface="맑은 고딕"/>
                          <a:cs typeface="맑은 고딕"/>
                        </a:rPr>
                        <a:t>정상 전류를 같은 간격으로 반올림</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100" b="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2"/>
                  </a:ext>
                </a:extLst>
              </a:tr>
              <a:tr h="384048">
                <a:tc>
                  <a:txBody>
                    <a:bodyPr/>
                    <a:lstStyle/>
                    <a:p>
                      <a:pPr algn="ctr"/>
                      <a:r>
                        <a:rPr sz="1100" b="0">
                          <a:solidFill>
                            <a:srgbClr val="262626"/>
                          </a:solidFill>
                          <a:latin typeface="맑은 고딕"/>
                          <a:ea typeface="맑은 고딕"/>
                          <a:cs typeface="맑은 고딕"/>
                        </a:rPr>
                        <a:t>이상 전류 격자 제거 (±간격/2 잡음)</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100" b="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3"/>
                  </a:ext>
                </a:extLst>
              </a:tr>
              <a:tr h="384048">
                <a:tc>
                  <a:txBody>
                    <a:bodyPr/>
                    <a:lstStyle/>
                    <a:p>
                      <a:pPr algn="ctr"/>
                      <a:r>
                        <a:rPr sz="1100" b="0">
                          <a:solidFill>
                            <a:srgbClr val="262626"/>
                          </a:solidFill>
                          <a:latin typeface="맑은 고딕"/>
                          <a:ea typeface="맑은 고딕"/>
                          <a:cs typeface="맑은 고딕"/>
                        </a:rPr>
                        <a:t>전류 레벨 제거 (창 내 1차 차분만)</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100" b="0">
                          <a:solidFill>
                            <a:srgbClr val="262626"/>
                          </a:solidFill>
                          <a:latin typeface="맑은 고딕"/>
                          <a:ea typeface="맑은 고딕"/>
                          <a:cs typeface="맑은 고딕"/>
                        </a:rPr>
                        <a:t>0.942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4"/>
                  </a:ext>
                </a:extLst>
              </a:tr>
              <a:tr h="384048">
                <a:tc>
                  <a:txBody>
                    <a:bodyPr/>
                    <a:lstStyle/>
                    <a:p>
                      <a:pPr algn="ctr"/>
                      <a:r>
                        <a:rPr sz="1100" b="0">
                          <a:solidFill>
                            <a:srgbClr val="262626"/>
                          </a:solidFill>
                          <a:latin typeface="맑은 고딕"/>
                          <a:ea typeface="맑은 고딕"/>
                          <a:cs typeface="맑은 고딕"/>
                        </a:rPr>
                        <a:t>참고: 진동만 입력</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100" b="0">
                          <a:solidFill>
                            <a:srgbClr val="262626"/>
                          </a:solidFill>
                          <a:latin typeface="맑은 고딕"/>
                          <a:ea typeface="맑은 고딕"/>
                          <a:cs typeface="맑은 고딕"/>
                        </a:rPr>
                        <a:t>0.839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9" name="note"/>
          <p:cNvSpPr txBox="1"/>
          <p:nvPr/>
        </p:nvSpPr>
        <p:spPr>
          <a:xfrm>
            <a:off x="7863840" y="5943600"/>
            <a:ext cx="3611880" cy="320040"/>
          </a:xfrm>
          <a:prstGeom prst="rect">
            <a:avLst/>
          </a:prstGeom>
          <a:noFill/>
        </p:spPr>
        <p:txBody>
          <a:bodyPr wrap="square" lIns="0" tIns="0" rIns="0" bIns="0" anchor="t">
            <a:spAutoFit/>
          </a:bodyPr>
          <a:lstStyle/>
          <a:p>
            <a:pPr algn="l"/>
            <a:r>
              <a:rPr sz="1000" b="0">
                <a:solidFill>
                  <a:srgbClr val="7F7F7F"/>
                </a:solidFill>
                <a:latin typeface="맑은 고딕"/>
                <a:ea typeface="맑은 고딕"/>
                <a:cs typeface="맑은 고딕"/>
              </a:rPr>
              <a:t>GMM·IsolationForest는 seed 0·1·2 평균, 나머지는 결정론적 1회</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Variable Interaction</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센서 간 관계를 함께 보면 더 잘 잡을까?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센서별 독립 모델 → 센서 간 관계 추가 → 센서·시점 공분산 → 혼합 공분산 순으로 F1이 단계적으로 상승</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W=3 진동만 모델이 놓친 20·21번째 clip을 3센서 모델은 모두 0.5초 내 경보</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단일 변수의 크기보다 변수 간 결합 패턴이 이상 판별에 중요</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28</a:t>
            </a:fld>
            <a:endParaRPr lang="en-US"/>
          </a:p>
        </p:txBody>
      </p:sp>
      <p:graphicFrame>
        <p:nvGraphicFramePr>
          <p:cNvPr id="26" name="chart_interaction"/>
          <p:cNvGraphicFramePr>
            <a:graphicFrameLocks noGrp="1"/>
          </p:cNvGraphicFramePr>
          <p:nvPr/>
        </p:nvGraphicFramePr>
        <p:xfrm>
          <a:off x="868680" y="3200400"/>
          <a:ext cx="6492240"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27" name="tbl_title"/>
          <p:cNvSpPr txBox="1"/>
          <p:nvPr/>
        </p:nvSpPr>
        <p:spPr>
          <a:xfrm>
            <a:off x="7635240" y="3246120"/>
            <a:ext cx="3931920" cy="274320"/>
          </a:xfrm>
          <a:prstGeom prst="rect">
            <a:avLst/>
          </a:prstGeom>
          <a:noFill/>
        </p:spPr>
        <p:txBody>
          <a:bodyPr wrap="square" lIns="0" tIns="0" rIns="0" bIns="0" anchor="t">
            <a:spAutoFit/>
          </a:bodyPr>
          <a:lstStyle/>
          <a:p>
            <a:pPr algn="l"/>
            <a:r>
              <a:rPr sz="1200" b="1">
                <a:solidFill>
                  <a:srgbClr val="262626"/>
                </a:solidFill>
                <a:latin typeface="맑은 고딕"/>
                <a:ea typeface="맑은 고딕"/>
                <a:cs typeface="맑은 고딕"/>
              </a:rPr>
              <a:t>진동만으로는 놓친 이상 clip의 시점 탐지율</a:t>
            </a:r>
          </a:p>
        </p:txBody>
      </p:sp>
      <p:graphicFrame>
        <p:nvGraphicFramePr>
          <p:cNvPr id="28" name="tbl_quiet"/>
          <p:cNvGraphicFramePr>
            <a:graphicFrameLocks noGrp="1"/>
          </p:cNvGraphicFramePr>
          <p:nvPr/>
        </p:nvGraphicFramePr>
        <p:xfrm>
          <a:off x="7635240" y="3584448"/>
          <a:ext cx="3931920" cy="1536192"/>
        </p:xfrm>
        <a:graphic>
          <a:graphicData uri="http://schemas.openxmlformats.org/drawingml/2006/table">
            <a:tbl>
              <a:tblPr/>
              <a:tblGrid>
                <a:gridCol w="14630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84048">
                <a:tc>
                  <a:txBody>
                    <a:bodyPr/>
                    <a:lstStyle/>
                    <a:p>
                      <a:pPr algn="ctr"/>
                      <a:r>
                        <a:rPr sz="1200" b="1">
                          <a:solidFill>
                            <a:srgbClr val="FFFFFF"/>
                          </a:solidFill>
                          <a:latin typeface="맑은 고딕"/>
                          <a:ea typeface="맑은 고딕"/>
                          <a:cs typeface="맑은 고딕"/>
                        </a:rPr>
                        <a:t>이상 clip</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진동만</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3센서 (최종)</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extLst>
                  <a:ext uri="{0D108BD9-81ED-4DB2-BD59-A6C34878D82A}">
                    <a16:rowId xmlns:a16="http://schemas.microsoft.com/office/drawing/2014/main" val="10000"/>
                  </a:ext>
                </a:extLst>
              </a:tr>
              <a:tr h="384048">
                <a:tc>
                  <a:txBody>
                    <a:bodyPr/>
                    <a:lstStyle/>
                    <a:p>
                      <a:pPr algn="ctr"/>
                      <a:r>
                        <a:rPr sz="1200" b="0">
                          <a:solidFill>
                            <a:srgbClr val="262626"/>
                          </a:solidFill>
                          <a:latin typeface="맑은 고딕"/>
                          <a:ea typeface="맑은 고딕"/>
                          <a:cs typeface="맑은 고딕"/>
                        </a:rPr>
                        <a:t>이상 데이터 4번째 (진동만도 탐지)</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87.1%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1"/>
                  </a:ext>
                </a:extLst>
              </a:tr>
              <a:tr h="384048">
                <a:tc>
                  <a:txBody>
                    <a:bodyPr/>
                    <a:lstStyle/>
                    <a:p>
                      <a:pPr algn="ctr"/>
                      <a:r>
                        <a:rPr sz="1200" b="0">
                          <a:solidFill>
                            <a:srgbClr val="262626"/>
                          </a:solidFill>
                          <a:latin typeface="맑은 고딕"/>
                          <a:ea typeface="맑은 고딕"/>
                          <a:cs typeface="맑은 고딕"/>
                        </a:rPr>
                        <a:t>이상 데이터 20번째</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80.0%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2"/>
                  </a:ext>
                </a:extLst>
              </a:tr>
              <a:tr h="384048">
                <a:tc>
                  <a:txBody>
                    <a:bodyPr/>
                    <a:lstStyle/>
                    <a:p>
                      <a:pPr algn="ctr"/>
                      <a:r>
                        <a:rPr sz="1200" b="0">
                          <a:solidFill>
                            <a:srgbClr val="262626"/>
                          </a:solidFill>
                          <a:latin typeface="맑은 고딕"/>
                          <a:ea typeface="맑은 고딕"/>
                          <a:cs typeface="맑은 고딕"/>
                        </a:rPr>
                        <a:t>이상 데이터 21번째</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66.7%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9" name="ablation_note"/>
          <p:cNvSpPr/>
          <p:nvPr/>
        </p:nvSpPr>
        <p:spPr>
          <a:xfrm>
            <a:off x="7635240" y="5349240"/>
            <a:ext cx="393192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blation_note_text"/>
          <p:cNvSpPr txBox="1"/>
          <p:nvPr/>
        </p:nvSpPr>
        <p:spPr>
          <a:xfrm>
            <a:off x="7818119" y="5458968"/>
            <a:ext cx="3611880" cy="594359"/>
          </a:xfrm>
          <a:prstGeom prst="rect">
            <a:avLst/>
          </a:prstGeom>
          <a:noFill/>
        </p:spPr>
        <p:txBody>
          <a:bodyPr wrap="square" lIns="0" tIns="0" rIns="0" bIns="0" anchor="ctr">
            <a:spAutoFit/>
          </a:bodyPr>
          <a:lstStyle/>
          <a:p>
            <a:pPr algn="l"/>
            <a:r>
              <a:rPr sz="1300" b="1">
                <a:solidFill>
                  <a:srgbClr val="262626"/>
                </a:solidFill>
                <a:latin typeface="맑은 고딕"/>
                <a:ea typeface="맑은 고딕"/>
                <a:cs typeface="맑은 고딕"/>
              </a:rPr>
              <a:t>전류만 0.955 · 진동만 0.839 · 3센서 0.965</a:t>
            </a:r>
          </a:p>
          <a:p>
            <a:pPr algn="l"/>
            <a:r>
              <a:rPr sz="1150" b="0">
                <a:solidFill>
                  <a:srgbClr val="404040"/>
                </a:solidFill>
                <a:latin typeface="맑은 고딕"/>
                <a:ea typeface="맑은 고딕"/>
                <a:cs typeface="맑은 고딕"/>
              </a:rPr>
              <a:t>두 센서를 함께 쓸 때 미탐률이 가장 낮음 (4.9%)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Effect of Window Length: All Methods</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W(과거 시점 수)를 바꾸면 방법별 성능은 어떻게 달라질까?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기존 방법은 W가 길수록 대기 구간이 미탐으로 쌓여 하락, 최종 GMM은 W≥3에서도 F1 0.95~0.97 유지</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모든 테스트 시점 기준 F1, seed 반복 방법(GMM·MLP·LSTM·GRU·AE)은 seed 0·1·2 평균</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29</a:t>
            </a:fld>
            <a:endParaRPr lang="en-US"/>
          </a:p>
        </p:txBody>
      </p:sp>
      <p:graphicFrame>
        <p:nvGraphicFramePr>
          <p:cNvPr id="26" name="tbl_w_all"/>
          <p:cNvGraphicFramePr>
            <a:graphicFrameLocks noGrp="1"/>
          </p:cNvGraphicFramePr>
          <p:nvPr/>
        </p:nvGraphicFramePr>
        <p:xfrm>
          <a:off x="868680" y="2926080"/>
          <a:ext cx="10625328" cy="3369564"/>
        </p:xfrm>
        <a:graphic>
          <a:graphicData uri="http://schemas.openxmlformats.org/drawingml/2006/table">
            <a:tbl>
              <a:tblPr/>
              <a:tblGrid>
                <a:gridCol w="1737360">
                  <a:extLst>
                    <a:ext uri="{9D8B030D-6E8A-4147-A177-3AD203B41FA5}">
                      <a16:colId xmlns:a16="http://schemas.microsoft.com/office/drawing/2014/main" val="20000"/>
                    </a:ext>
                  </a:extLst>
                </a:gridCol>
                <a:gridCol w="987552">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gridCol w="987552">
                  <a:extLst>
                    <a:ext uri="{9D8B030D-6E8A-4147-A177-3AD203B41FA5}">
                      <a16:colId xmlns:a16="http://schemas.microsoft.com/office/drawing/2014/main" val="20005"/>
                    </a:ext>
                  </a:extLst>
                </a:gridCol>
                <a:gridCol w="987552">
                  <a:extLst>
                    <a:ext uri="{9D8B030D-6E8A-4147-A177-3AD203B41FA5}">
                      <a16:colId xmlns:a16="http://schemas.microsoft.com/office/drawing/2014/main" val="20006"/>
                    </a:ext>
                  </a:extLst>
                </a:gridCol>
                <a:gridCol w="987552">
                  <a:extLst>
                    <a:ext uri="{9D8B030D-6E8A-4147-A177-3AD203B41FA5}">
                      <a16:colId xmlns:a16="http://schemas.microsoft.com/office/drawing/2014/main" val="20007"/>
                    </a:ext>
                  </a:extLst>
                </a:gridCol>
                <a:gridCol w="987552">
                  <a:extLst>
                    <a:ext uri="{9D8B030D-6E8A-4147-A177-3AD203B41FA5}">
                      <a16:colId xmlns:a16="http://schemas.microsoft.com/office/drawing/2014/main" val="20008"/>
                    </a:ext>
                  </a:extLst>
                </a:gridCol>
                <a:gridCol w="987552">
                  <a:extLst>
                    <a:ext uri="{9D8B030D-6E8A-4147-A177-3AD203B41FA5}">
                      <a16:colId xmlns:a16="http://schemas.microsoft.com/office/drawing/2014/main" val="20009"/>
                    </a:ext>
                  </a:extLst>
                </a:gridCol>
              </a:tblGrid>
              <a:tr h="306324">
                <a:tc>
                  <a:txBody>
                    <a:bodyPr/>
                    <a:lstStyle/>
                    <a:p>
                      <a:pPr algn="ctr"/>
                      <a:r>
                        <a:rPr sz="1200" b="1">
                          <a:solidFill>
                            <a:srgbClr val="FFFFFF"/>
                          </a:solidFill>
                          <a:latin typeface="맑은 고딕"/>
                          <a:ea typeface="맑은 고딕"/>
                          <a:cs typeface="맑은 고딕"/>
                        </a:rPr>
                        <a:t>방법</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W=10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W=15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W=30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extLst>
                  <a:ext uri="{0D108BD9-81ED-4DB2-BD59-A6C34878D82A}">
                    <a16:rowId xmlns:a16="http://schemas.microsoft.com/office/drawing/2014/main" val="10000"/>
                  </a:ext>
                </a:extLst>
              </a:tr>
              <a:tr h="306324">
                <a:tc>
                  <a:txBody>
                    <a:bodyPr/>
                    <a:lstStyle/>
                    <a:p>
                      <a:pPr algn="ctr"/>
                      <a:r>
                        <a:rPr sz="1200" b="1">
                          <a:solidFill>
                            <a:srgbClr val="262626"/>
                          </a:solidFill>
                          <a:latin typeface="맑은 고딕"/>
                          <a:ea typeface="맑은 고딕"/>
                          <a:cs typeface="맑은 고딕"/>
                        </a:rPr>
                        <a:t>GMM (최종)</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0.681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0.939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0.954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tc>
                  <a:txBody>
                    <a:bodyPr/>
                    <a:lstStyle/>
                    <a:p>
                      <a:pPr algn="ctr"/>
                      <a:r>
                        <a:rPr sz="1200" b="1">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BE5E5"/>
                    </a:solidFill>
                  </a:tcPr>
                </a:tc>
                <a:extLst>
                  <a:ext uri="{0D108BD9-81ED-4DB2-BD59-A6C34878D82A}">
                    <a16:rowId xmlns:a16="http://schemas.microsoft.com/office/drawing/2014/main" val="10001"/>
                  </a:ext>
                </a:extLst>
              </a:tr>
              <a:tr h="306324">
                <a:tc>
                  <a:txBody>
                    <a:bodyPr/>
                    <a:lstStyle/>
                    <a:p>
                      <a:pPr algn="ctr"/>
                      <a:r>
                        <a:rPr sz="1200" b="0">
                          <a:solidFill>
                            <a:srgbClr val="262626"/>
                          </a:solidFill>
                          <a:latin typeface="맑은 고딕"/>
                          <a:ea typeface="맑은 고딕"/>
                          <a:cs typeface="맑은 고딕"/>
                        </a:rPr>
                        <a:t>GMM (기본)</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0.917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0.928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0.893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0.839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0.799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0.391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2"/>
                  </a:ext>
                </a:extLst>
              </a:tr>
              <a:tr h="306324">
                <a:tc>
                  <a:txBody>
                    <a:bodyPr/>
                    <a:lstStyle/>
                    <a:p>
                      <a:pPr algn="ctr"/>
                      <a:r>
                        <a:rPr sz="1200" b="0">
                          <a:solidFill>
                            <a:srgbClr val="262626"/>
                          </a:solidFill>
                          <a:latin typeface="맑은 고딕"/>
                          <a:ea typeface="맑은 고딕"/>
                          <a:cs typeface="맑은 고딕"/>
                        </a:rPr>
                        <a:t>Mahalanobis</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0.635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0.895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0.923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0.895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0.840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0.801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0.702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0.391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3"/>
                  </a:ext>
                </a:extLst>
              </a:tr>
              <a:tr h="306324">
                <a:tc>
                  <a:txBody>
                    <a:bodyPr/>
                    <a:lstStyle/>
                    <a:p>
                      <a:pPr algn="ctr"/>
                      <a:r>
                        <a:rPr sz="1200" b="0">
                          <a:solidFill>
                            <a:srgbClr val="262626"/>
                          </a:solidFill>
                          <a:latin typeface="맑은 고딕"/>
                          <a:ea typeface="맑은 고딕"/>
                          <a:cs typeface="맑은 고딕"/>
                        </a:rPr>
                        <a:t>VAR_Ridge</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0.568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0.622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0.611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0.809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0.385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4"/>
                  </a:ext>
                </a:extLst>
              </a:tr>
              <a:tr h="306324">
                <a:tc>
                  <a:txBody>
                    <a:bodyPr/>
                    <a:lstStyle/>
                    <a:p>
                      <a:pPr algn="ctr"/>
                      <a:r>
                        <a:rPr sz="1200" b="0">
                          <a:solidFill>
                            <a:srgbClr val="262626"/>
                          </a:solidFill>
                          <a:latin typeface="맑은 고딕"/>
                          <a:ea typeface="맑은 고딕"/>
                          <a:cs typeface="맑은 고딕"/>
                        </a:rPr>
                        <a:t>MLP</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0.550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0.642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0.640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0.735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0.810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0.377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5"/>
                  </a:ext>
                </a:extLst>
              </a:tr>
              <a:tr h="306324">
                <a:tc>
                  <a:txBody>
                    <a:bodyPr/>
                    <a:lstStyle/>
                    <a:p>
                      <a:pPr algn="ctr"/>
                      <a:r>
                        <a:rPr sz="1200" b="0">
                          <a:solidFill>
                            <a:srgbClr val="262626"/>
                          </a:solidFill>
                          <a:latin typeface="맑은 고딕"/>
                          <a:ea typeface="맑은 고딕"/>
                          <a:cs typeface="맑은 고딕"/>
                        </a:rPr>
                        <a:t>LSTM</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0.563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0.670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0.638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0.738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0.797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0.685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0.592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0.356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6"/>
                  </a:ext>
                </a:extLst>
              </a:tr>
              <a:tr h="306324">
                <a:tc>
                  <a:txBody>
                    <a:bodyPr/>
                    <a:lstStyle/>
                    <a:p>
                      <a:pPr algn="ctr"/>
                      <a:r>
                        <a:rPr sz="1200" b="0">
                          <a:solidFill>
                            <a:srgbClr val="262626"/>
                          </a:solidFill>
                          <a:latin typeface="맑은 고딕"/>
                          <a:ea typeface="맑은 고딕"/>
                          <a:cs typeface="맑은 고딕"/>
                        </a:rPr>
                        <a:t>GRU</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0.561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0.662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0.729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0.683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0.597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0.379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7"/>
                  </a:ext>
                </a:extLst>
              </a:tr>
              <a:tr h="306324">
                <a:tc>
                  <a:txBody>
                    <a:bodyPr/>
                    <a:lstStyle/>
                    <a:p>
                      <a:pPr algn="ctr"/>
                      <a:r>
                        <a:rPr sz="1200" b="0">
                          <a:solidFill>
                            <a:srgbClr val="262626"/>
                          </a:solidFill>
                          <a:latin typeface="맑은 고딕"/>
                          <a:ea typeface="맑은 고딕"/>
                          <a:cs typeface="맑은 고딕"/>
                        </a:rPr>
                        <a:t>PCA</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0.496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0.683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0.779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0.764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0.774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0.388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8"/>
                  </a:ext>
                </a:extLst>
              </a:tr>
              <a:tr h="306324">
                <a:tc>
                  <a:txBody>
                    <a:bodyPr/>
                    <a:lstStyle/>
                    <a:p>
                      <a:pPr algn="ctr"/>
                      <a:r>
                        <a:rPr sz="1200" b="0">
                          <a:solidFill>
                            <a:srgbClr val="262626"/>
                          </a:solidFill>
                          <a:latin typeface="맑은 고딕"/>
                          <a:ea typeface="맑은 고딕"/>
                          <a:cs typeface="맑은 고딕"/>
                        </a:rPr>
                        <a:t>AutoEncoder</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0.618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0.754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0.734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0.601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0.386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9"/>
                  </a:ext>
                </a:extLst>
              </a:tr>
              <a:tr h="306324">
                <a:tc>
                  <a:txBody>
                    <a:bodyPr/>
                    <a:lstStyle/>
                    <a:p>
                      <a:pPr algn="ctr"/>
                      <a:r>
                        <a:rPr sz="1200" b="0">
                          <a:solidFill>
                            <a:srgbClr val="262626"/>
                          </a:solidFill>
                          <a:latin typeface="맑은 고딕"/>
                          <a:ea typeface="맑은 고딕"/>
                          <a:cs typeface="맑은 고딕"/>
                        </a:rPr>
                        <a:t>LOF</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0.681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0.742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0.830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0.859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0.820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0.786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0.692</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0.593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0.384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10"/>
                  </a:ext>
                </a:extLst>
              </a:tr>
            </a:tbl>
          </a:graphicData>
        </a:graphic>
      </p:graphicFrame>
      <p:sp>
        <p:nvSpPr>
          <p:cNvPr id="27" name="note"/>
          <p:cNvSpPr txBox="1"/>
          <p:nvPr/>
        </p:nvSpPr>
        <p:spPr>
          <a:xfrm>
            <a:off x="868680" y="6400800"/>
            <a:ext cx="10607040" cy="274320"/>
          </a:xfrm>
          <a:prstGeom prst="rect">
            <a:avLst/>
          </a:prstGeom>
          <a:noFill/>
        </p:spPr>
        <p:txBody>
          <a:bodyPr wrap="square" lIns="0" tIns="0" rIns="0" bIns="0" anchor="t">
            <a:spAutoFit/>
          </a:bodyPr>
          <a:lstStyle/>
          <a:p>
            <a:pPr algn="l"/>
            <a:r>
              <a:rPr sz="1050" b="0">
                <a:solidFill>
                  <a:srgbClr val="7F7F7F"/>
                </a:solidFill>
                <a:latin typeface="맑은 고딕"/>
                <a:ea typeface="맑은 고딕"/>
                <a:cs typeface="맑은 고딕"/>
              </a:rPr>
              <a:t>최종 GMM은 clip 처음 W개 시점을 관측된 값의 주변분포로 판정, 나머지 방법은 W개 시점을 기다린 뒤 판정 (W=30의 최대 가능 F1 0.391)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부록</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Effect of Window Length: Final GMM Detail</a:t>
            </a:r>
            <a:endParaRPr lang="en-US" sz="1800" dirty="0"/>
          </a:p>
        </p:txBody>
      </p:sp>
      <p:sp>
        <p:nvSpPr>
          <p:cNvPr id="4" name="question"/>
          <p:cNvSpPr txBox="1"/>
          <p:nvPr/>
        </p:nvSpPr>
        <p:spPr>
          <a:xfrm>
            <a:off x="1005840" y="1444752"/>
            <a:ext cx="10607040" cy="475488"/>
          </a:xfrm>
          <a:prstGeom prst="rect">
            <a:avLst/>
          </a:prstGeom>
          <a:noFill/>
          <a:ln/>
        </p:spPr>
        <p:txBody>
          <a:bodyPr wrap="square" lIns="0" tIns="0" rIns="0" bIns="0" rtlCol="0" anchor="ctr"/>
          <a:lstStyle/>
          <a:p>
            <a:pPr marL="0" indent="0">
              <a:buNone/>
            </a:pPr>
            <a:r>
              <a:rPr lang="en-US" sz="2100" dirty="0">
                <a:solidFill>
                  <a:srgbClr val="1F4E79"/>
                </a:solidFill>
                <a:latin typeface="맑은 고딕" pitchFamily="34" charset="0"/>
                <a:ea typeface="맑은 고딕" pitchFamily="34" charset="-122"/>
                <a:cs typeface="맑은 고딕" pitchFamily="34" charset="-120"/>
              </a:rPr>
              <a:t>❖  </a:t>
            </a:r>
            <a:r>
              <a:rPr lang="en-US" sz="2100" dirty="0">
                <a:solidFill>
                  <a:srgbClr val="262626"/>
                </a:solidFill>
                <a:latin typeface="맑은 고딕" pitchFamily="34" charset="0"/>
                <a:ea typeface="맑은 고딕" pitchFamily="34" charset="-122"/>
                <a:cs typeface="맑은 고딕" pitchFamily="34" charset="-120"/>
              </a:rPr>
              <a:t>최종 GMM에서 W를 바꾸면 무엇이 달라질까?</a:t>
            </a:r>
            <a:endParaRPr lang="en-US" sz="2100" dirty="0"/>
          </a:p>
        </p:txBody>
      </p:sp>
      <p:sp>
        <p:nvSpPr>
          <p:cNvPr id="5" name="bullets"/>
          <p:cNvSpPr txBox="1"/>
          <p:nvPr/>
        </p:nvSpPr>
        <p:spPr>
          <a:xfrm>
            <a:off x="1280160" y="2012400"/>
            <a:ext cx="10332720" cy="1188720"/>
          </a:xfrm>
          <a:prstGeom prst="rect">
            <a:avLst/>
          </a:prstGeom>
          <a:noFill/>
          <a:ln/>
        </p:spPr>
        <p:txBody>
          <a:bodyPr wrap="square" lIns="0" tIns="0" rIns="0" bIns="0" rtlCol="0" anchor="t"/>
          <a:lstStyle/>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W≥3에서 F1 0.954~0.966, 첫 경보 약 0.11초로 W와 거의 무관 → 기다리는 비용이 사라짐</a:t>
            </a:r>
            <a:endParaRPr lang="en-US" sz="1600" dirty="0"/>
          </a:p>
          <a:p>
            <a:pPr marL="254000" indent="-254000">
              <a:spcAft>
                <a:spcPts val="600"/>
              </a:spcAft>
              <a:buSzPct val="100000"/>
              <a:buChar char="•"/>
            </a:pPr>
            <a:r>
              <a:rPr lang="en-US" sz="1600" dirty="0">
                <a:solidFill>
                  <a:srgbClr val="262626"/>
                </a:solidFill>
                <a:latin typeface="맑은 고딕" pitchFamily="34" charset="0"/>
                <a:ea typeface="맑은 고딕" pitchFamily="34" charset="-122"/>
                <a:cs typeface="맑은 고딕" pitchFamily="34" charset="-120"/>
              </a:rPr>
              <a:t>기존 W 비교를 참고해 최종 W=3 채택. 독립 검증은 향후 수행</a:t>
            </a:r>
            <a:endParaRPr lang="en-US" sz="1600" dirty="0"/>
          </a:p>
          <a:p>
            <a:pPr marL="508000" indent="-254000">
              <a:spcAft>
                <a:spcPts val="600"/>
              </a:spcAft>
              <a:buSzPct val="100000"/>
              <a:buChar char="✓"/>
            </a:pPr>
            <a:r>
              <a:rPr lang="en-US" sz="1400" dirty="0">
                <a:solidFill>
                  <a:srgbClr val="404040"/>
                </a:solidFill>
                <a:latin typeface="맑은 고딕" pitchFamily="34" charset="0"/>
                <a:ea typeface="맑은 고딕" pitchFamily="34" charset="-122"/>
                <a:cs typeface="맑은 고딕" pitchFamily="34" charset="-120"/>
              </a:rPr>
              <a:t>seed 0·1·2 평균</a:t>
            </a: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30</a:t>
            </a:fld>
            <a:endParaRPr lang="en-US"/>
          </a:p>
        </p:txBody>
      </p:sp>
      <p:graphicFrame>
        <p:nvGraphicFramePr>
          <p:cNvPr id="26" name="tbl_w_final"/>
          <p:cNvGraphicFramePr>
            <a:graphicFrameLocks noGrp="1"/>
          </p:cNvGraphicFramePr>
          <p:nvPr>
            <p:extLst>
              <p:ext uri="{D42A27DB-BD31-4B8C-83A1-F6EECF244321}">
                <p14:modId xmlns:p14="http://schemas.microsoft.com/office/powerpoint/2010/main" val="1037311821"/>
              </p:ext>
            </p:extLst>
          </p:nvPr>
        </p:nvGraphicFramePr>
        <p:xfrm>
          <a:off x="1508760" y="3154680"/>
          <a:ext cx="9235440" cy="306324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06324">
                <a:tc>
                  <a:txBody>
                    <a:bodyPr/>
                    <a:lstStyle/>
                    <a:p>
                      <a:pPr algn="ctr"/>
                      <a:r>
                        <a:rPr sz="1200" b="1">
                          <a:solidFill>
                            <a:srgbClr val="FFFFFF"/>
                          </a:solidFill>
                          <a:latin typeface="맑은 고딕"/>
                          <a:ea typeface="맑은 고딕"/>
                          <a:cs typeface="맑은 고딕"/>
                        </a:rPr>
                        <a:t>W</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F1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오경보 FP (시점)</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경보한 정상 클립</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0.5초 내 경보 클립</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tc>
                  <a:txBody>
                    <a:bodyPr/>
                    <a:lstStyle/>
                    <a:p>
                      <a:pPr algn="ctr"/>
                      <a:r>
                        <a:rPr sz="1200" b="1">
                          <a:solidFill>
                            <a:srgbClr val="FFFFFF"/>
                          </a:solidFill>
                          <a:latin typeface="맑은 고딕"/>
                          <a:ea typeface="맑은 고딕"/>
                          <a:cs typeface="맑은 고딕"/>
                        </a:rPr>
                        <a:t>평균 첫 경보</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1F4E79"/>
                    </a:solidFill>
                  </a:tcPr>
                </a:tc>
                <a:extLst>
                  <a:ext uri="{0D108BD9-81ED-4DB2-BD59-A6C34878D82A}">
                    <a16:rowId xmlns:a16="http://schemas.microsoft.com/office/drawing/2014/main" val="10000"/>
                  </a:ext>
                </a:extLst>
              </a:tr>
              <a:tr h="306324">
                <a:tc>
                  <a:txBody>
                    <a:bodyPr/>
                    <a:lstStyle/>
                    <a:p>
                      <a:pPr algn="ctr"/>
                      <a:r>
                        <a:rPr sz="1200" b="0" dirty="0">
                          <a:solidFill>
                            <a:srgbClr val="262626"/>
                          </a:solidFill>
                          <a:latin typeface="맑은 고딕"/>
                          <a:ea typeface="맑은 고딕"/>
                          <a:cs typeface="맑은 고딕"/>
                        </a:rPr>
                        <a:t>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0.681</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8.0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2.7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71.4%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0.29초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1"/>
                  </a:ext>
                </a:extLst>
              </a:tr>
              <a:tr h="306324">
                <a:tc>
                  <a:txBody>
                    <a:bodyPr/>
                    <a:lstStyle/>
                    <a:p>
                      <a:pPr algn="ctr"/>
                      <a:r>
                        <a:rPr sz="1200" b="0" dirty="0">
                          <a:solidFill>
                            <a:srgbClr val="262626"/>
                          </a:solidFill>
                          <a:latin typeface="맑은 고딕"/>
                          <a:ea typeface="맑은 고딕"/>
                          <a:cs typeface="맑은 고딕"/>
                        </a:rPr>
                        <a:t>2 </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tc>
                  <a:txBody>
                    <a:bodyPr/>
                    <a:lstStyle/>
                    <a:p>
                      <a:pPr algn="ctr"/>
                      <a:r>
                        <a:rPr sz="1200" b="0" dirty="0">
                          <a:solidFill>
                            <a:srgbClr val="262626"/>
                          </a:solidFill>
                          <a:latin typeface="맑은 고딕"/>
                          <a:ea typeface="맑은 고딕"/>
                          <a:cs typeface="맑은 고딕"/>
                        </a:rPr>
                        <a:t>0.939</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tc>
                  <a:txBody>
                    <a:bodyPr/>
                    <a:lstStyle/>
                    <a:p>
                      <a:pPr algn="ctr"/>
                      <a:r>
                        <a:rPr sz="1200" b="0" dirty="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tc>
                  <a:txBody>
                    <a:bodyPr/>
                    <a:lstStyle/>
                    <a:p>
                      <a:pPr algn="ctr"/>
                      <a:r>
                        <a:rPr sz="1200" b="0" dirty="0">
                          <a:solidFill>
                            <a:srgbClr val="262626"/>
                          </a:solidFill>
                          <a:latin typeface="맑은 고딕"/>
                          <a:ea typeface="맑은 고딕"/>
                          <a:cs typeface="맑은 고딕"/>
                        </a:rPr>
                        <a:t>2.0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tc>
                  <a:txBody>
                    <a:bodyPr/>
                    <a:lstStyle/>
                    <a:p>
                      <a:pPr algn="ctr"/>
                      <a:r>
                        <a:rPr sz="1200" b="0" dirty="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tc>
                  <a:txBody>
                    <a:bodyPr/>
                    <a:lstStyle/>
                    <a:p>
                      <a:pPr algn="ctr"/>
                      <a:r>
                        <a:rPr sz="1200" b="0" dirty="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bg1"/>
                    </a:solidFill>
                  </a:tcPr>
                </a:tc>
                <a:extLst>
                  <a:ext uri="{0D108BD9-81ED-4DB2-BD59-A6C34878D82A}">
                    <a16:rowId xmlns:a16="http://schemas.microsoft.com/office/drawing/2014/main" val="10002"/>
                  </a:ext>
                </a:extLst>
              </a:tr>
              <a:tr h="306324">
                <a:tc>
                  <a:txBody>
                    <a:bodyPr/>
                    <a:lstStyle/>
                    <a:p>
                      <a:pPr algn="ctr"/>
                      <a:r>
                        <a:rPr sz="1200" b="1" dirty="0">
                          <a:solidFill>
                            <a:srgbClr val="262626"/>
                          </a:solidFill>
                          <a:latin typeface="맑은 고딕"/>
                          <a:ea typeface="맑은 고딕"/>
                          <a:cs typeface="맑은 고딕"/>
                        </a:rPr>
                        <a:t>3</a:t>
                      </a:r>
                      <a:r>
                        <a:rPr lang="en-US" sz="1200" b="1" dirty="0">
                          <a:solidFill>
                            <a:srgbClr val="262626"/>
                          </a:solidFill>
                          <a:latin typeface="맑은 고딕"/>
                          <a:ea typeface="맑은 고딕"/>
                          <a:cs typeface="맑은 고딕"/>
                        </a:rPr>
                        <a:t>(</a:t>
                      </a:r>
                      <a:r>
                        <a:rPr lang="ko-KR" altLang="en-US" sz="1200" b="1" dirty="0">
                          <a:solidFill>
                            <a:srgbClr val="262626"/>
                          </a:solidFill>
                          <a:latin typeface="맑은 고딕"/>
                          <a:ea typeface="맑은 고딕"/>
                          <a:cs typeface="맑은 고딕"/>
                        </a:rPr>
                        <a:t>채택</a:t>
                      </a:r>
                      <a:r>
                        <a:rPr lang="en-US" altLang="ko-KR" sz="1200" b="1" dirty="0">
                          <a:solidFill>
                            <a:srgbClr val="262626"/>
                          </a:solidFill>
                          <a:latin typeface="맑은 고딕"/>
                          <a:ea typeface="맑은 고딕"/>
                          <a:cs typeface="맑은 고딕"/>
                        </a:rPr>
                        <a:t>)</a:t>
                      </a:r>
                      <a:endParaRPr sz="1200" b="1" dirty="0">
                        <a:solidFill>
                          <a:srgbClr val="262626"/>
                        </a:solidFill>
                        <a:latin typeface="맑은 고딕"/>
                        <a:ea typeface="맑은 고딕"/>
                        <a:cs typeface="맑은 고딕"/>
                      </a:endParaRP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tc>
                  <a:txBody>
                    <a:bodyPr/>
                    <a:lstStyle/>
                    <a:p>
                      <a:pPr algn="ctr"/>
                      <a:r>
                        <a:rPr sz="1200" b="1" dirty="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tc>
                  <a:txBody>
                    <a:bodyPr/>
                    <a:lstStyle/>
                    <a:p>
                      <a:pPr algn="ctr"/>
                      <a:r>
                        <a:rPr sz="1200" b="1" dirty="0">
                          <a:solidFill>
                            <a:srgbClr val="262626"/>
                          </a:solidFill>
                          <a:latin typeface="맑은 고딕"/>
                          <a:ea typeface="맑은 고딕"/>
                          <a:cs typeface="맑은 고딕"/>
                        </a:rPr>
                        <a:t>11.7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tc>
                  <a:txBody>
                    <a:bodyPr/>
                    <a:lstStyle/>
                    <a:p>
                      <a:pPr algn="ctr"/>
                      <a:r>
                        <a:rPr sz="1200" b="1" dirty="0">
                          <a:solidFill>
                            <a:srgbClr val="262626"/>
                          </a:solidFill>
                          <a:latin typeface="맑은 고딕"/>
                          <a:ea typeface="맑은 고딕"/>
                          <a:cs typeface="맑은 고딕"/>
                        </a:rPr>
                        <a:t>1.3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tc>
                  <a:txBody>
                    <a:bodyPr/>
                    <a:lstStyle/>
                    <a:p>
                      <a:pPr algn="ctr"/>
                      <a:r>
                        <a:rPr sz="1200" b="1" dirty="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tc>
                  <a:txBody>
                    <a:bodyPr/>
                    <a:lstStyle/>
                    <a:p>
                      <a:pPr algn="ctr"/>
                      <a:r>
                        <a:rPr sz="1200" b="1" dirty="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chemeClr val="accent6">
                        <a:lumMod val="90000"/>
                      </a:schemeClr>
                    </a:solidFill>
                  </a:tcPr>
                </a:tc>
                <a:extLst>
                  <a:ext uri="{0D108BD9-81ED-4DB2-BD59-A6C34878D82A}">
                    <a16:rowId xmlns:a16="http://schemas.microsoft.com/office/drawing/2014/main" val="10003"/>
                  </a:ext>
                </a:extLst>
              </a:tr>
              <a:tr h="306324">
                <a:tc>
                  <a:txBody>
                    <a:bodyPr/>
                    <a:lstStyle/>
                    <a:p>
                      <a:pPr algn="ctr"/>
                      <a:r>
                        <a:rPr sz="1200" b="0">
                          <a:solidFill>
                            <a:srgbClr val="262626"/>
                          </a:solidFill>
                          <a:latin typeface="맑은 고딕"/>
                          <a:ea typeface="맑은 고딕"/>
                          <a:cs typeface="맑은 고딕"/>
                        </a:rPr>
                        <a:t>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0.964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dirty="0">
                          <a:solidFill>
                            <a:srgbClr val="262626"/>
                          </a:solidFill>
                          <a:latin typeface="맑은 고딕"/>
                          <a:ea typeface="맑은 고딕"/>
                          <a:cs typeface="맑은 고딕"/>
                        </a:rPr>
                        <a:t>20.0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dirty="0">
                          <a:solidFill>
                            <a:srgbClr val="262626"/>
                          </a:solidFill>
                          <a:latin typeface="맑은 고딕"/>
                          <a:ea typeface="맑은 고딕"/>
                          <a:cs typeface="맑은 고딕"/>
                        </a:rPr>
                        <a:t>1.3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dirty="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dirty="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4"/>
                  </a:ext>
                </a:extLst>
              </a:tr>
              <a:tr h="306324">
                <a:tc>
                  <a:txBody>
                    <a:bodyPr/>
                    <a:lstStyle/>
                    <a:p>
                      <a:pPr algn="ctr"/>
                      <a:r>
                        <a:rPr sz="1200" b="0">
                          <a:solidFill>
                            <a:srgbClr val="262626"/>
                          </a:solidFill>
                          <a:latin typeface="맑은 고딕"/>
                          <a:ea typeface="맑은 고딕"/>
                          <a:cs typeface="맑은 고딕"/>
                        </a:rPr>
                        <a:t>8</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19.7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5"/>
                  </a:ext>
                </a:extLst>
              </a:tr>
              <a:tr h="306324">
                <a:tc>
                  <a:txBody>
                    <a:bodyPr/>
                    <a:lstStyle/>
                    <a:p>
                      <a:pPr algn="ctr"/>
                      <a:r>
                        <a:rPr sz="1200" b="0">
                          <a:solidFill>
                            <a:srgbClr val="262626"/>
                          </a:solidFill>
                          <a:latin typeface="맑은 고딕"/>
                          <a:ea typeface="맑은 고딕"/>
                          <a:cs typeface="맑은 고딕"/>
                        </a:rPr>
                        <a:t>10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0.963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23.0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0.10초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6"/>
                  </a:ext>
                </a:extLst>
              </a:tr>
              <a:tr h="306324">
                <a:tc>
                  <a:txBody>
                    <a:bodyPr/>
                    <a:lstStyle/>
                    <a:p>
                      <a:pPr algn="ctr"/>
                      <a:r>
                        <a:rPr sz="1200" b="0">
                          <a:solidFill>
                            <a:srgbClr val="262626"/>
                          </a:solidFill>
                          <a:latin typeface="맑은 고딕"/>
                          <a:ea typeface="맑은 고딕"/>
                          <a:cs typeface="맑은 고딕"/>
                        </a:rPr>
                        <a:t>15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0.954</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33.0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7"/>
                  </a:ext>
                </a:extLst>
              </a:tr>
              <a:tr h="306324">
                <a:tc>
                  <a:txBody>
                    <a:bodyPr/>
                    <a:lstStyle/>
                    <a:p>
                      <a:pPr algn="ctr"/>
                      <a:r>
                        <a:rPr sz="1200" b="0">
                          <a:solidFill>
                            <a:srgbClr val="262626"/>
                          </a:solidFill>
                          <a:latin typeface="맑은 고딕"/>
                          <a:ea typeface="맑은 고딕"/>
                          <a:cs typeface="맑은 고딕"/>
                        </a:rPr>
                        <a:t>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0.966</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18.7</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8"/>
                  </a:ext>
                </a:extLst>
              </a:tr>
              <a:tr h="306324">
                <a:tc>
                  <a:txBody>
                    <a:bodyPr/>
                    <a:lstStyle/>
                    <a:p>
                      <a:pPr algn="ctr"/>
                      <a:r>
                        <a:rPr sz="1200" b="0">
                          <a:solidFill>
                            <a:srgbClr val="262626"/>
                          </a:solidFill>
                          <a:latin typeface="맑은 고딕"/>
                          <a:ea typeface="맑은 고딕"/>
                          <a:cs typeface="맑은 고딕"/>
                        </a:rPr>
                        <a:t>30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0.965</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18.3</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 / 120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a:solidFill>
                            <a:srgbClr val="262626"/>
                          </a:solidFill>
                          <a:latin typeface="맑은 고딕"/>
                          <a:ea typeface="맑은 고딕"/>
                          <a:cs typeface="맑은 고딕"/>
                        </a:rPr>
                        <a:t>100%</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tc>
                  <a:txBody>
                    <a:bodyPr/>
                    <a:lstStyle/>
                    <a:p>
                      <a:pPr algn="ctr"/>
                      <a:r>
                        <a:rPr sz="1200" b="0" dirty="0">
                          <a:solidFill>
                            <a:srgbClr val="262626"/>
                          </a:solidFill>
                          <a:latin typeface="맑은 고딕"/>
                          <a:ea typeface="맑은 고딕"/>
                          <a:cs typeface="맑은 고딕"/>
                        </a:rPr>
                        <a:t>0.11초</a:t>
                      </a:r>
                    </a:p>
                  </a:txBody>
                  <a:tcPr marL="54864" marR="54864" marT="18288" marB="18288" anchor="ctr">
                    <a:lnL w="9525" cap="flat" cmpd="sng" algn="ctr">
                      <a:solidFill>
                        <a:srgbClr val="BFCBDA"/>
                      </a:solidFill>
                      <a:prstDash val="solid"/>
                    </a:lnL>
                    <a:lnR w="9525" cap="flat" cmpd="sng" algn="ctr">
                      <a:solidFill>
                        <a:srgbClr val="BFCBDA"/>
                      </a:solidFill>
                      <a:prstDash val="solid"/>
                    </a:lnR>
                    <a:lnT w="9525" cap="flat" cmpd="sng" algn="ctr">
                      <a:solidFill>
                        <a:srgbClr val="BFCBDA"/>
                      </a:solidFill>
                      <a:prstDash val="solid"/>
                    </a:lnT>
                    <a:lnB w="9525" cap="flat" cmpd="sng" algn="ctr">
                      <a:solidFill>
                        <a:srgbClr val="BFCBDA"/>
                      </a:solidFill>
                      <a:prstDash val="soli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05840" y="329184"/>
            <a:ext cx="10515600" cy="676656"/>
          </a:xfrm>
          <a:prstGeom prst="rect">
            <a:avLst/>
          </a:prstGeom>
          <a:noFill/>
          <a:ln/>
        </p:spPr>
        <p:txBody>
          <a:bodyPr wrap="square" lIns="0" tIns="0" rIns="0" bIns="0" rtlCol="0" anchor="ctr"/>
          <a:lstStyle/>
          <a:p>
            <a:r>
              <a:rPr lang="ko-KR" altLang="en-US" dirty="0">
                <a:latin typeface="+mj-ea"/>
                <a:ea typeface="+mj-ea"/>
              </a:rPr>
              <a:t>참고 문헌</a:t>
            </a:r>
            <a:endParaRPr lang="en-US" dirty="0">
              <a:latin typeface="+mj-ea"/>
              <a:ea typeface="+mj-ea"/>
            </a:endParaRPr>
          </a:p>
        </p:txBody>
      </p:sp>
      <p:sp>
        <p:nvSpPr>
          <p:cNvPr id="3" name="Text 1"/>
          <p:cNvSpPr>
            <a:spLocks noGrp="1"/>
          </p:cNvSpPr>
          <p:nvPr>
            <p:ph type="body" idx="102" hasCustomPrompt="1"/>
          </p:nvPr>
        </p:nvSpPr>
        <p:spPr>
          <a:xfrm>
            <a:off x="1005840" y="987552"/>
            <a:ext cx="10515600" cy="384048"/>
          </a:xfrm>
          <a:prstGeom prst="rect">
            <a:avLst/>
          </a:prstGeom>
          <a:noFill/>
          <a:ln/>
        </p:spPr>
        <p:txBody>
          <a:bodyPr wrap="square" lIns="0" tIns="0" rIns="0" bIns="0" rtlCol="0" anchor="ctr"/>
          <a:lstStyle/>
          <a:p>
            <a:pPr marL="0" indent="0" algn="l">
              <a:buNone/>
            </a:pPr>
            <a:r>
              <a:rPr lang="en-US" sz="1800" dirty="0">
                <a:solidFill>
                  <a:srgbClr val="7F7F7F"/>
                </a:solidFill>
                <a:latin typeface="Times New Roman" pitchFamily="34" charset="0"/>
                <a:ea typeface="Times New Roman" pitchFamily="34" charset="-122"/>
                <a:cs typeface="Times New Roman" pitchFamily="34" charset="-120"/>
              </a:rPr>
              <a:t>Anomaly Detection, Evaluation, and GMM</a:t>
            </a:r>
            <a:endParaRPr lang="en-US" sz="1800" dirty="0"/>
          </a:p>
        </p:txBody>
      </p:sp>
      <p:sp>
        <p:nvSpPr>
          <p:cNvPr id="4" name="Text 2"/>
          <p:cNvSpPr txBox="1"/>
          <p:nvPr/>
        </p:nvSpPr>
        <p:spPr>
          <a:xfrm>
            <a:off x="1005840" y="1645920"/>
            <a:ext cx="10515600" cy="438912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Pang, G. et al. (2021). Deep Learning for Anomaly Detection: A Review. ACM Computing Surveys. DOI 10.1145/3439950</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Hundman, K. et al. (2018). Detecting Spacecraft Anomalies Using LSTMs and Nonparametric Dynamic Thresholding. KDD</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Malhotra, P. et al. (2016). LSTM-based Encoder-Decoder for Multi-sensor Anomaly Detection. ICML Workshop</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Kim, S. et al. (2022). Towards a Rigorous Evaluation of Time-series Anomaly Detection. AAAI</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Stanford CS229. Mixtures of Gaussians and the EM Algorithm (lecture notes)</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scikit-learn documentation. Gaussian mixture models: EM, covariance types, BIC</a:t>
            </a:r>
            <a:endParaRPr lang="en-US" sz="1400" dirty="0"/>
          </a:p>
          <a:p>
            <a:pPr marL="254000" indent="-254000">
              <a:spcAft>
                <a:spcPts val="10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Feintool. Successful Fineblanking (process forces and sensor-based monitoring)</a:t>
            </a:r>
          </a:p>
          <a:p>
            <a:pPr marL="254000" indent="-254000">
              <a:spcAft>
                <a:spcPts val="1000"/>
              </a:spcAft>
              <a:buSzPct val="100000"/>
              <a:buFontTx/>
              <a:buChar char="•"/>
            </a:pPr>
            <a:r>
              <a:rPr lang="en-US" altLang="ko-KR" sz="1400" dirty="0">
                <a:solidFill>
                  <a:srgbClr val="262626"/>
                </a:solidFill>
                <a:latin typeface="Times New Roman" pitchFamily="34" charset="0"/>
                <a:cs typeface="Times New Roman" pitchFamily="34" charset="-120"/>
              </a:rPr>
              <a:t>Serradilla et al., (2021). </a:t>
            </a:r>
            <a:r>
              <a:rPr lang="ko-KR" altLang="ko-KR" sz="1400" dirty="0" err="1">
                <a:solidFill>
                  <a:srgbClr val="262626"/>
                </a:solidFill>
                <a:latin typeface="Times New Roman" pitchFamily="34" charset="0"/>
                <a:cs typeface="Times New Roman" pitchFamily="34" charset="-120"/>
              </a:rPr>
              <a:t>Adaptable</a:t>
            </a:r>
            <a:r>
              <a:rPr lang="ko-KR" altLang="ko-KR" sz="1400" dirty="0">
                <a:solidFill>
                  <a:srgbClr val="262626"/>
                </a:solidFill>
                <a:latin typeface="Times New Roman" pitchFamily="34" charset="0"/>
                <a:cs typeface="Times New Roman" pitchFamily="34" charset="-120"/>
              </a:rPr>
              <a:t> and </a:t>
            </a:r>
            <a:r>
              <a:rPr lang="ko-KR" altLang="ko-KR" sz="1400" dirty="0" err="1">
                <a:solidFill>
                  <a:srgbClr val="262626"/>
                </a:solidFill>
                <a:latin typeface="Times New Roman" pitchFamily="34" charset="0"/>
                <a:cs typeface="Times New Roman" pitchFamily="34" charset="-120"/>
              </a:rPr>
              <a:t>Explainable</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Predictive</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Maintenance</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Semi-Supervised</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Deep</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Learning</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for</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Anomaly</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Detection</a:t>
            </a:r>
            <a:r>
              <a:rPr lang="ko-KR" altLang="ko-KR" sz="1400" dirty="0">
                <a:solidFill>
                  <a:srgbClr val="262626"/>
                </a:solidFill>
                <a:latin typeface="Times New Roman" pitchFamily="34" charset="0"/>
                <a:cs typeface="Times New Roman" pitchFamily="34" charset="-120"/>
              </a:rPr>
              <a:t> and </a:t>
            </a:r>
            <a:r>
              <a:rPr lang="ko-KR" altLang="ko-KR" sz="1400" dirty="0" err="1">
                <a:solidFill>
                  <a:srgbClr val="262626"/>
                </a:solidFill>
                <a:latin typeface="Times New Roman" pitchFamily="34" charset="0"/>
                <a:cs typeface="Times New Roman" pitchFamily="34" charset="-120"/>
              </a:rPr>
              <a:t>Diagnosis</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in</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Press</a:t>
            </a:r>
            <a:r>
              <a:rPr lang="ko-KR" altLang="ko-KR" sz="1400" dirty="0">
                <a:solidFill>
                  <a:srgbClr val="262626"/>
                </a:solidFill>
                <a:latin typeface="Times New Roman" pitchFamily="34" charset="0"/>
                <a:cs typeface="Times New Roman" pitchFamily="34" charset="-120"/>
              </a:rPr>
              <a:t> </a:t>
            </a:r>
            <a:r>
              <a:rPr lang="ko-KR" altLang="ko-KR" sz="1400" dirty="0" err="1">
                <a:solidFill>
                  <a:srgbClr val="262626"/>
                </a:solidFill>
                <a:latin typeface="Times New Roman" pitchFamily="34" charset="0"/>
                <a:cs typeface="Times New Roman" pitchFamily="34" charset="-120"/>
              </a:rPr>
              <a:t>Machine</a:t>
            </a:r>
            <a:r>
              <a:rPr lang="ko-KR" altLang="ko-KR" sz="1400" dirty="0">
                <a:solidFill>
                  <a:srgbClr val="262626"/>
                </a:solidFill>
                <a:latin typeface="Times New Roman" pitchFamily="34" charset="0"/>
                <a:cs typeface="Times New Roman" pitchFamily="34" charset="-120"/>
              </a:rPr>
              <a:t> Data</a:t>
            </a:r>
            <a:r>
              <a:rPr lang="en-US" altLang="ko-KR" sz="1400" dirty="0">
                <a:solidFill>
                  <a:srgbClr val="262626"/>
                </a:solidFill>
                <a:latin typeface="Times New Roman" pitchFamily="34" charset="0"/>
                <a:cs typeface="Times New Roman" pitchFamily="34" charset="-120"/>
              </a:rPr>
              <a:t>.</a:t>
            </a:r>
            <a:r>
              <a:rPr lang="en-US" altLang="ko-KR" b="1" dirty="0"/>
              <a:t> </a:t>
            </a:r>
            <a:r>
              <a:rPr lang="en-US" altLang="ko-KR" sz="1400" dirty="0">
                <a:solidFill>
                  <a:srgbClr val="262626"/>
                </a:solidFill>
                <a:latin typeface="Times New Roman" pitchFamily="34" charset="0"/>
                <a:cs typeface="Times New Roman" pitchFamily="34" charset="-120"/>
              </a:rPr>
              <a:t>Applied Science</a:t>
            </a:r>
            <a:endParaRPr lang="ko-KR" altLang="ko-KR" sz="1400" dirty="0">
              <a:solidFill>
                <a:srgbClr val="262626"/>
              </a:solidFill>
              <a:latin typeface="Times New Roman" pitchFamily="34" charset="0"/>
              <a:cs typeface="Times New Roman" pitchFamily="34" charset="-120"/>
            </a:endParaRPr>
          </a:p>
          <a:p>
            <a:pPr marL="254000" indent="-254000">
              <a:spcAft>
                <a:spcPts val="1000"/>
              </a:spcAft>
              <a:buSzPct val="100000"/>
              <a:buChar char="•"/>
            </a:pPr>
            <a:endParaRPr lang="en-US" sz="1400" dirty="0"/>
          </a:p>
        </p:txBody>
      </p:sp>
      <p:sp>
        <p:nvSpPr>
          <p:cNvPr id="25" name="Slide Number Placeholder 0"/>
          <p:cNvSpPr>
            <a:spLocks noGrp="1"/>
          </p:cNvSpPr>
          <p:nvPr>
            <p:ph type="sldNum" sz="quarter" idx="4294967295"/>
          </p:nvPr>
        </p:nvSpPr>
        <p:spPr>
          <a:xfrm>
            <a:off x="113842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7F7F"/>
                </a:solidFill>
                <a:latin typeface="맑은 고딕"/>
                <a:ea typeface="맑은 고딕"/>
                <a:cs typeface="맑은 고딕"/>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KAMP Hydraulic Pump">
  <a:themeElements>
    <a:clrScheme name="KAMP Hydraulic Pump">
      <a:dk1>
        <a:srgbClr val="1A1A1A"/>
      </a:dk1>
      <a:lt1>
        <a:srgbClr val="FFFFFF"/>
      </a:lt1>
      <a:dk2>
        <a:srgbClr val="1F4E79"/>
      </a:dk2>
      <a:lt2>
        <a:srgbClr val="EEF3F8"/>
      </a:lt2>
      <a:accent1>
        <a:srgbClr val="1F4E79"/>
      </a:accent1>
      <a:accent2>
        <a:srgbClr val="C00000"/>
      </a:accent2>
      <a:accent3>
        <a:srgbClr val="7F7F7F"/>
      </a:accent3>
      <a:accent4>
        <a:srgbClr val="5B9BD5"/>
      </a:accent4>
      <a:accent5>
        <a:srgbClr val="D6E4F0"/>
      </a:accent5>
      <a:accent6>
        <a:srgbClr val="FBE5E5"/>
      </a:accent6>
      <a:hlink>
        <a:srgbClr val="0563C1"/>
      </a:hlink>
      <a:folHlink>
        <a:srgbClr val="954F72"/>
      </a:folHlink>
    </a:clrScheme>
    <a:fontScheme name="KAMP Hydraulic Pump">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861</TotalTime>
  <Words>5479</Words>
  <Application>Microsoft Office PowerPoint</Application>
  <PresentationFormat>와이드스크린</PresentationFormat>
  <Paragraphs>1150</Paragraphs>
  <Slides>31</Slides>
  <Notes>22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31</vt:i4>
      </vt:variant>
    </vt:vector>
  </HeadingPairs>
  <TitlesOfParts>
    <vt:vector size="37" baseType="lpstr">
      <vt:lpstr>맑은 고딕</vt:lpstr>
      <vt:lpstr>Arial</vt:lpstr>
      <vt:lpstr>Cambria Math</vt:lpstr>
      <vt:lpstr>Times New Roman</vt:lpstr>
      <vt:lpstr>Wingdings</vt:lpstr>
      <vt:lpstr>KAMP Hydraulic Pump</vt:lpstr>
      <vt:lpstr>Gaussian Mixture Model을 활용한 유압프레스 공정의 조기 이상 탐지</vt:lpstr>
      <vt:lpstr>목차</vt:lpstr>
      <vt:lpstr>서론</vt:lpstr>
      <vt:lpstr>서론</vt:lpstr>
      <vt:lpstr>사전지식</vt:lpstr>
      <vt:lpstr>사전지식</vt:lpstr>
      <vt:lpstr>사전지식</vt:lpstr>
      <vt:lpstr>사전지식</vt:lpstr>
      <vt:lpstr>제안방법론</vt:lpstr>
      <vt:lpstr>제안방법론</vt:lpstr>
      <vt:lpstr>제안방법론</vt:lpstr>
      <vt:lpstr>제안방법론</vt:lpstr>
      <vt:lpstr>제안방법론</vt:lpstr>
      <vt:lpstr>실험</vt:lpstr>
      <vt:lpstr>실험</vt:lpstr>
      <vt:lpstr>실험</vt:lpstr>
      <vt:lpstr>실험</vt:lpstr>
      <vt:lpstr>실험</vt:lpstr>
      <vt:lpstr>실험</vt:lpstr>
      <vt:lpstr>실험</vt:lpstr>
      <vt:lpstr>현장 활용성</vt:lpstr>
      <vt:lpstr>현장 활용성</vt:lpstr>
      <vt:lpstr>PowerPoint 프레젠테이션</vt:lpstr>
      <vt:lpstr>부록</vt:lpstr>
      <vt:lpstr>부록</vt:lpstr>
      <vt:lpstr>부록</vt:lpstr>
      <vt:lpstr>부록</vt:lpstr>
      <vt:lpstr>부록</vt:lpstr>
      <vt:lpstr>부록</vt:lpstr>
      <vt:lpstr>부록</vt:lpstr>
      <vt:lpstr>참고 문헌</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파인블랭킹 프레스 유압펌프 조기 이상탐지</dc:title>
  <dc:subject>PptxGenJS Presentation</dc:subject>
  <dc:creator>KAMP 소성가공 공모전 팀</dc:creator>
  <cp:lastModifiedBy>최정우 [학부 / 산업경영공학부]</cp:lastModifiedBy>
  <cp:revision>78</cp:revision>
  <dcterms:created xsi:type="dcterms:W3CDTF">2026-10-07T06:40:46Z</dcterms:created>
  <dcterms:modified xsi:type="dcterms:W3CDTF">2026-10-08T02:23:20Z</dcterms:modified>
</cp:coreProperties>
</file>